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CF13FB7-0205-41BE-8397-3389DFF363E2}">
  <a:tblStyle styleId="{2CF13FB7-0205-41BE-8397-3389DFF363E2}"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0" Type="http://schemas.openxmlformats.org/officeDocument/2006/relationships/slide" Target="slides/slide25.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lvl1pPr indent="-228600" lvl="0" marL="4572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
        <p:nvSpPr>
          <p:cNvPr id="5" name="Google Shape;5;n"/>
          <p:cNvSpPr txBox="1"/>
          <p:nvPr>
            <p:ph idx="3" type="hdr"/>
          </p:nvPr>
        </p:nvSpPr>
        <p:spPr>
          <a:xfrm>
            <a:off x="0" y="0"/>
            <a:ext cx="3280680" cy="53424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
        <p:nvSpPr>
          <p:cNvPr id="6" name="Google Shape;6;n"/>
          <p:cNvSpPr txBox="1"/>
          <p:nvPr>
            <p:ph idx="10" type="dt"/>
          </p:nvPr>
        </p:nvSpPr>
        <p:spPr>
          <a:xfrm>
            <a:off x="4278960" y="0"/>
            <a:ext cx="3280680" cy="534240"/>
          </a:xfrm>
          <a:prstGeom prst="rect">
            <a:avLst/>
          </a:prstGeom>
          <a:noFill/>
          <a:ln>
            <a:noFill/>
          </a:ln>
        </p:spPr>
        <p:txBody>
          <a:bodyPr anchorCtr="0" anchor="t" bIns="0" lIns="0" spcFirstLastPara="1" rIns="0" wrap="square" tIns="0">
            <a:noAutofit/>
          </a:bodyPr>
          <a:lstStyle>
            <a:lvl1pPr lvl="0" marR="0" rtl="0" algn="r">
              <a:lnSpc>
                <a:spcPct val="100000"/>
              </a:lnSpc>
              <a:spcBef>
                <a:spcPts val="0"/>
              </a:spcBef>
              <a:spcAft>
                <a:spcPts val="0"/>
              </a:spcAft>
              <a:buClr>
                <a:srgbClr val="000000"/>
              </a:buClr>
              <a:buSzPts val="1400"/>
              <a:buFont typeface="Times New Roman"/>
              <a:buNone/>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10157400"/>
            <a:ext cx="3280680" cy="534240"/>
          </a:xfrm>
          <a:prstGeom prst="rect">
            <a:avLst/>
          </a:prstGeom>
          <a:noFill/>
          <a:ln>
            <a:noFill/>
          </a:ln>
        </p:spPr>
        <p:txBody>
          <a:bodyPr anchorCtr="0" anchor="b" bIns="0" lIns="0" spcFirstLastPara="1" rIns="0" wrap="square" tIns="0">
            <a:noAutofit/>
          </a:bodyPr>
          <a:lstStyle>
            <a:lvl1pPr lvl="0" marR="0" rtl="0" algn="l">
              <a:lnSpc>
                <a:spcPct val="100000"/>
              </a:lnSpc>
              <a:spcBef>
                <a:spcPts val="0"/>
              </a:spcBef>
              <a:spcAft>
                <a:spcPts val="0"/>
              </a:spcAft>
              <a:buClr>
                <a:srgbClr val="000000"/>
              </a:buClr>
              <a:buSzPts val="1400"/>
              <a:buFont typeface="Times New Roman"/>
              <a:buNone/>
              <a:defRPr b="0" i="0" spc="0" sz="1400" u="none" cap="none" strike="noStrike">
                <a:solidFill>
                  <a:srgbClr val="000000"/>
                </a:solidFill>
                <a:latin typeface="Times New Roman"/>
                <a:ea typeface="Times New Roman"/>
                <a:cs typeface="Times New Roman"/>
                <a:sym typeface="Times New Roman"/>
              </a:defRPr>
            </a:lvl1pPr>
            <a:lvl2pPr lvl="1"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
        <p:nvSpPr>
          <p:cNvPr id="8" name="Google Shape;8;n"/>
          <p:cNvSpPr txBox="1"/>
          <p:nvPr>
            <p:ph idx="12" type="sldNum"/>
          </p:nvPr>
        </p:nvSpPr>
        <p:spPr>
          <a:xfrm>
            <a:off x="4278960" y="10157400"/>
            <a:ext cx="3280680" cy="534240"/>
          </a:xfrm>
          <a:prstGeom prst="rect">
            <a:avLst/>
          </a:prstGeom>
          <a:noFill/>
          <a:ln>
            <a:noFill/>
          </a:ln>
        </p:spPr>
        <p:txBody>
          <a:bodyPr anchorCtr="0" anchor="b" bIns="0" lIns="0" spcFirstLastPara="1" rIns="0" wrap="square" tIns="0">
            <a:noAutofit/>
          </a:bodyPr>
          <a:lstStyle/>
          <a:p>
            <a:pPr indent="0" lvl="0" marL="0" marR="0" rtl="0" algn="r">
              <a:lnSpc>
                <a:spcPct val="100000"/>
              </a:lnSpc>
              <a:spcBef>
                <a:spcPts val="0"/>
              </a:spcBef>
              <a:spcAft>
                <a:spcPts val="0"/>
              </a:spcAft>
              <a:buClr>
                <a:srgbClr val="000000"/>
              </a:buClr>
              <a:buSzPts val="1400"/>
              <a:buFont typeface="Times New Roman"/>
              <a:buNone/>
            </a:pPr>
            <a:fld id="{00000000-1234-1234-1234-123412341234}" type="slidenum">
              <a:rPr b="0" i="0" lang="en-US" spc="0" sz="1400" u="none" cap="none" strike="noStrike">
                <a:solidFill>
                  <a:srgbClr val="000000"/>
                </a:solidFill>
                <a:latin typeface="Times New Roman"/>
                <a:ea typeface="Times New Roman"/>
                <a:cs typeface="Times New Roman"/>
                <a:sym typeface="Times New Roman"/>
              </a:rPr>
              <a:t>‹#›</a:t>
            </a:fld>
            <a:endParaRPr b="0" i="0" spc="0" sz="1400" u="none" cap="none" strike="noStrike">
              <a:solidFill>
                <a:srgbClr val="000000"/>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 name="Google Shape;22;p1: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Presentamos todos juntos. Una frase cada uno: quién soy y qué parte llevé. Musicfy recomienda artistas a partir de cómo describes tu música. Hicimos dos apps que resuelven lo mismo: la App 1 a mano y la App 2 con Spec Kit, IA y Clerk.</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2: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2: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Seguimos el orden que pide el enunciado: necesidad, arquitectura y contrato, ERS, App 1, Spec Kit y App 2, pruebas, despliegues, comparativa y conclusiones. Cada bloque lo presenta quien lo hizo.</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3: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2" name="Google Shape;102;p3: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 necesidad es pequeña y real: descubrir artistas parecidos a los que te gustan y saber por qué. El enunciado obliga a una pantalla, un formulario, una función y una API de IA, y prohíbe bases de datos, historial o login propio. En la App 2 la identidad la pone Clerk, dentro de la misma pantalla.</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4: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p4: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Es el flujo obligatorio del enunciado. El frontend nunca habla con la IA: todo pasa por FastAPI, que es el único que tiene la clave. En la App 2 se añade Clerk: el frontend obtiene un token y el backend lo comprueba con las claves públicas de Clerk antes de llamar a Gemini.</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5: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5: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El contrato es el mismo en las dos apps: un campo tastes de hasta 500 caracteres. La respuesta es resultado o un error con código y mensaje. La App 2 solo añade la cabecera Authorization y el 401. El ejemplo de respuesta es real, sacado de la prueba en Vercel.</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6: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6" name="Google Shape;236;p6: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Las tecnologías obligatorias son Python con FastAPI, Vue o React con Tailwind, pytest y una API de IA. Elegimos Vue con Tailwind y la API de Gemini. La App 2 vive en su propia carpeta, creada vacía con Spec Kit, sin copiar código de la App 1. Toda la documentación está en docs.</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7: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8" name="Google Shape;248;p7: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Cinco requisitos funcionales comunes y uno más en la App 2 para la autenticación, como sugiere el enunciado. Cada uno tiene su ficha en la ERS con criterios Dado, cuando, entonces, y está enlazado con una prueba de la PR-01 a la PR-23.</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8: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8: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Los no funcionales son medibles: dónde vive la clave, cuánto se espera a la IA, que no se guarde nada y la accesibilidad a 320 píxeles. A la derecha está el camino de una petición: si falla un control, no llega a la IA. Ocultar el botón no basta: el backend vuelve a comprobarlo todo.</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9: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0" name="Google Shape;330;p9: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Hay un caso principal: pedir recomendaciones. Incluye validar la entrada y consultar la IA, y en la App 2 también verificar el token. Las tres alternativas de la ERS acaban en un aviso de error: entrada no válida 422, fallo de la IA 502 o 504, y sin sesión 401. Clerk y Gemini son sistemas externos distintos.</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10: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7" name="Google Shape;377;p10: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Lo importante es el orden: el token se comprueba antes de hacer nada. Si no es válido, se responde 401 y Gemini ni se entera. Solo con un token válido se valida la entrada y se hace una única llamada a la IA. Clerk y Gemini son dos servicios distintos que no se mezclan.</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p11: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4" name="Google Shape;424;p11: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Así se comporta la pantalla. Sin sesión el botón está desactivado. Al pulsar Recomendar se bloquea para evitar dobles envíos. Tanto el resultado como el error vuelven al formulario, sin acumular resultados. Si cierras sesión mientras esperas, la respuesta se descarta: lo añadió la IA y lo aceptamos porque cumple la ERS.</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12: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6" name="Google Shape;466;p12: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El backend es pequeño a propósito: un endpoint, validación con Pydantic y una función que llama a la IA, separada para poder simularla en las pruebas. Empezamos con OpenRouter, nos dio un 402 por la reserva de saldo, lo arreglamos limitando los tokens y, cuando se agotó el saldo en Vercel, cambiamos a Gemini. Siempre una sola API de IA.</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3: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13: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Llevé el frontend de la App 1. Una sola pantalla con aspecto de tele antigua. Los géneros y el texto libre se juntan en un único campo para no cambiar el contrato del backend. La respuesta de la IA es contenido no confiable, así que nunca la pintamos como HTML. La captura es de la app desplegada en Vercel.</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14: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7" name="Google Shape;507;p14: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El historial muestra el proceso real: primero la estructura, luego backend y pruebas, frontend, Vercel, y después la App 2. El dato clave para Spec Kit: la especificación, el plan y las tareas entran el 25/10 y el primer código de la App 2 el 27/10. Quedan Docker, EC2 y las etiquetas de entrega.</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15: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4" name="Google Shape;554;p15: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En la App 2 no empezamos programando, sino documentando. La constitución fija las reglas que la IA no puede saltarse. La especificación sale de nuestra ERS. Plan, tareas y commit, y solo entonces se implementa por fases. La IA escribió el código en unos 11 minutos; lo caro fue revisarlo y probarlo.</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16: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16: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Esta es la respuesta a qué propuso mal la IA. Acertó en el alcance y en las pruebas. Se desvió porque su plan usaba versiones antiguas de las librerías. Y falló en dos cosas que solo salieron al ejecutarla de verdad: el .env y el vercel.json. Sus 59 pruebas no lo detectaron porque no prueban la configuración real.</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17: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17: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Creé la aplicación de Clerk con acceso por correo y Google. El token viaja en la cabecera Authorization y el backend lo verifica con las claves públicas de Clerk, sin decodificarlo a ciegas: firma, emisor, caducidad y origen. Si vence el token, el backend responde 401 y no llama a la IA.</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p18: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8" name="Google Shape;668;p18: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Las pruebas nunca llaman a Gemini: simulamos la función que habla con la IA, así no gastamos créditos y podemos provocar fallos. El mock comprueba que se llama una sola vez con la entrada válida y ninguna con la inválida. En la App 2 también se simula el verificador de Clerk. La IA hizo 59 pruebas, pero no detectaron el fallo del .env.</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19: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4" name="Google Shape;694;p19: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 App 1 es un único proyecto con dos servicios: el frontend llama a /api con ruta relativa y no hace falta CORS. La App 2 sigue el plan de Spec Kit con dos proyectos, así que necesita CORS con la cabecera Authorization. En las dos probamos desde la URL pública un caso válido y uno de error.</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3" name="Shape 713"/>
        <p:cNvGrpSpPr/>
        <p:nvPr/>
      </p:nvGrpSpPr>
      <p:grpSpPr>
        <a:xfrm>
          <a:off x="0" y="0"/>
          <a:ext cx="0" cy="0"/>
          <a:chOff x="0" y="0"/>
          <a:chExt cx="0" cy="0"/>
        </a:xfrm>
      </p:grpSpPr>
      <p:sp>
        <p:nvSpPr>
          <p:cNvPr id="714" name="Google Shape;714;p20: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5" name="Google Shape;715;p20: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Así quedaría el despliegue final, con los archivos que ya generó la IA: dos contenedores, Caddy delante con HTTPS automático y FastAPI detrás, sin exponer su puerto. Solo se abren 80 y 443, y SSH desde nuestra IP. PENDIENTE: completar con la URL real, la región, la instancia y la captura cuando Mario termine el despliegue.</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h28831d384f6b0405_1_7: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6" name="Google Shape;756;h28831d384f6b0405_1_7:notes"/>
          <p:cNvSpPr txBox="1"/>
          <p:nvPr>
            <p:ph idx="1" type="body"/>
          </p:nvPr>
        </p:nvSpPr>
        <p:spPr>
          <a:xfrm>
            <a:off x="756000" y="5078520"/>
            <a:ext cx="6047700" cy="48111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Así quedaría el despliegue final, con los archivos que ya generó la IA: dos contenedores, Caddy delante con HTTPS automático y FastAPI detrás, sin exponer su puerto. Solo se abren 80 y 443, y SSH desde nuestra IP. PENDIENTE: completar con la URL real, la región, la instancia y la captura cuando Mario termine el despliegue.</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1" name="Shape 791"/>
        <p:cNvGrpSpPr/>
        <p:nvPr/>
      </p:nvGrpSpPr>
      <p:grpSpPr>
        <a:xfrm>
          <a:off x="0" y="0"/>
          <a:ext cx="0" cy="0"/>
          <a:chOff x="0" y="0"/>
          <a:chExt cx="0" cy="0"/>
        </a:xfrm>
      </p:grpSpPr>
      <p:sp>
        <p:nvSpPr>
          <p:cNvPr id="792" name="Google Shape;792;p21: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3" name="Google Shape;793;p21: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Lo verde está comprobado y documentado en despliegues.md y pruebas.md. Lo amarillo depende del despliegue en EC2 y hay que actualizarlo antes de la exposición. Recordad borrar los recursos de AWS al terminar, incluidos discos e IP reservadas.</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0" name="Shape 830"/>
        <p:cNvGrpSpPr/>
        <p:nvPr/>
      </p:nvGrpSpPr>
      <p:grpSpPr>
        <a:xfrm>
          <a:off x="0" y="0"/>
          <a:ext cx="0" cy="0"/>
          <a:chOff x="0" y="0"/>
          <a:chExt cx="0" cy="0"/>
        </a:xfrm>
      </p:grpSpPr>
      <p:sp>
        <p:nvSpPr>
          <p:cNvPr id="831" name="Google Shape;831;p22: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2" name="Google Shape;832;p22: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Comparamos con los mismos escenarios de aceptación y separando Clerk e infraestructura, como pide el enunciado. No damos por hecho que la App 2 sea mejor: la IA es mucho más rápida escribiendo, pero el tiempo se va en revisar, y sus fallos fueron de configuración real. Los tiempos de la App 1 son estimaciones.</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23: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1" name="Google Shape;851;p23: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Son los cinco puntos mínimos de la demo del enunciado. Tened abiertas las URLs antes de empezar: App 1 en Vercel, App 2 en Vercel y EC2, una terminal con pytest y GitHub con el historial. Si algo externo falla, enseñamos las capturas diciendo que son capturas.</a:t>
            </a:r>
            <a:endParaRPr b="0" sz="2000" u="none" strike="noStrik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2" name="Shape 892"/>
        <p:cNvGrpSpPr/>
        <p:nvPr/>
      </p:nvGrpSpPr>
      <p:grpSpPr>
        <a:xfrm>
          <a:off x="0" y="0"/>
          <a:ext cx="0" cy="0"/>
          <a:chOff x="0" y="0"/>
          <a:chExt cx="0" cy="0"/>
        </a:xfrm>
      </p:grpSpPr>
      <p:sp>
        <p:nvSpPr>
          <p:cNvPr id="893" name="Google Shape;893;p24:notes"/>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4" name="Google Shape;894;p24:notes"/>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Cerramos con lo que hemos aprendido, siempre con datos de las dos apps. En las preguntas, cada uno explica su parte: dónde vive la clave, qué comprueba el mock, qué pasa si vence el token, qué propuso mal la IA y qué cambia entre Vercel y EC2.</a:t>
            </a:r>
            <a:endParaRPr b="0" sz="2000" u="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dk1"/>
        </a:solidFill>
      </p:bgPr>
    </p:bg>
    <p:spTree>
      <p:nvGrpSpPr>
        <p:cNvPr id="10" name="Shape 10"/>
        <p:cNvGrpSpPr/>
        <p:nvPr/>
      </p:nvGrpSpPr>
      <p:grpSpPr>
        <a:xfrm>
          <a:off x="0" y="0"/>
          <a:ext cx="0" cy="0"/>
          <a:chOff x="0" y="0"/>
          <a:chExt cx="0" cy="0"/>
        </a:xfrm>
      </p:grpSpPr>
      <p:sp>
        <p:nvSpPr>
          <p:cNvPr id="11" name="Google Shape;11;p2"/>
          <p:cNvSpPr txBox="1"/>
          <p:nvPr>
            <p:ph type="title"/>
          </p:nvPr>
        </p:nvSpPr>
        <p:spPr>
          <a:xfrm>
            <a:off x="685800" y="3749040"/>
            <a:ext cx="7131960" cy="54828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
        <p:nvSpPr>
          <p:cNvPr id="12" name="Google Shape;12;p2"/>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p:cSld name="CONTENIDO">
    <p:bg>
      <p:bgPr>
        <a:solidFill>
          <a:schemeClr val="dk1"/>
        </a:solidFill>
      </p:bgPr>
    </p:bg>
    <p:spTree>
      <p:nvGrpSpPr>
        <p:cNvPr id="13" name="Shape 13"/>
        <p:cNvGrpSpPr/>
        <p:nvPr/>
      </p:nvGrpSpPr>
      <p:grpSpPr>
        <a:xfrm>
          <a:off x="0" y="0"/>
          <a:ext cx="0" cy="0"/>
          <a:chOff x="0" y="0"/>
          <a:chExt cx="0" cy="0"/>
        </a:xfrm>
      </p:grpSpPr>
      <p:sp>
        <p:nvSpPr>
          <p:cNvPr id="14" name="Google Shape;14;p3"/>
          <p:cNvSpPr txBox="1"/>
          <p:nvPr>
            <p:ph type="title"/>
          </p:nvPr>
        </p:nvSpPr>
        <p:spPr>
          <a:xfrm>
            <a:off x="548640" y="320040"/>
            <a:ext cx="8503560" cy="77688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sp>
        <p:nvSpPr>
          <p:cNvPr id="15" name="Google Shape;15;p3"/>
          <p:cNvSpPr txBox="1"/>
          <p:nvPr>
            <p:ph idx="1" type="body"/>
          </p:nvPr>
        </p:nvSpPr>
        <p:spPr>
          <a:xfrm>
            <a:off x="9052560" y="502920"/>
            <a:ext cx="2605680" cy="41112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800"/>
              <a:buFont typeface="Arial"/>
              <a:buNone/>
              <a:defRPr b="0" i="0" spc="0" sz="1800" u="none" cap="none" strike="noStrike">
                <a:solidFill>
                  <a:srgbClr val="000000"/>
                </a:solidFill>
                <a:latin typeface="Arial"/>
                <a:ea typeface="Arial"/>
                <a:cs typeface="Arial"/>
                <a:sym typeface="Arial"/>
              </a:defRPr>
            </a:lvl9pPr>
          </a:lstStyle>
          <a:p/>
        </p:txBody>
      </p:sp>
      <p:pic>
        <p:nvPicPr>
          <p:cNvPr descr="/home/claude/deck/assets/logo.png" id="16" name="Google Shape;16;p3"/>
          <p:cNvPicPr preferRelativeResize="0"/>
          <p:nvPr/>
        </p:nvPicPr>
        <p:blipFill rotWithShape="1">
          <a:blip r:embed="rId2">
            <a:alphaModFix/>
          </a:blip>
          <a:srcRect b="0" l="0" r="0" t="0"/>
          <a:stretch/>
        </p:blipFill>
        <p:spPr>
          <a:xfrm>
            <a:off x="548640" y="6336720"/>
            <a:ext cx="795240" cy="301320"/>
          </a:xfrm>
          <a:prstGeom prst="rect">
            <a:avLst/>
          </a:prstGeom>
          <a:noFill/>
          <a:ln>
            <a:noFill/>
          </a:ln>
        </p:spPr>
      </p:pic>
      <p:sp>
        <p:nvSpPr>
          <p:cNvPr id="17" name="Google Shape;17;p3"/>
          <p:cNvSpPr/>
          <p:nvPr/>
        </p:nvSpPr>
        <p:spPr>
          <a:xfrm>
            <a:off x="1463040" y="6336720"/>
            <a:ext cx="5028840" cy="301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alibri"/>
                <a:ea typeface="Calibri"/>
                <a:cs typeface="Calibri"/>
                <a:sym typeface="Calibri"/>
              </a:rPr>
              <a:t>Musicfy · UD1 · Mini aplicación web con una API de IA</a:t>
            </a:r>
            <a:endParaRPr b="0" i="0" spc="0" sz="1000" u="none" cap="none" strike="noStrike">
              <a:solidFill>
                <a:srgbClr val="FFFFFF"/>
              </a:solidFill>
              <a:latin typeface="Arial"/>
              <a:ea typeface="Arial"/>
              <a:cs typeface="Arial"/>
              <a:sym typeface="Arial"/>
            </a:endParaRPr>
          </a:p>
        </p:txBody>
      </p:sp>
      <p:sp>
        <p:nvSpPr>
          <p:cNvPr id="18" name="Google Shape;18;p3"/>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lvl1pPr indent="0" lvl="0"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1pPr>
            <a:lvl2pPr indent="0" lvl="1"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2pPr>
            <a:lvl3pPr indent="0" lvl="2"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3pPr>
            <a:lvl4pPr indent="0" lvl="3"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4pPr>
            <a:lvl5pPr indent="0" lvl="4"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5pPr>
            <a:lvl6pPr indent="0" lvl="5"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6pPr>
            <a:lvl7pPr indent="0" lvl="6"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7pPr>
            <a:lvl8pPr indent="0" lvl="7"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8pPr>
            <a:lvl9pPr indent="0" lvl="8" marL="0" marR="0" rtl="0" algn="r">
              <a:lnSpc>
                <a:spcPct val="100000"/>
              </a:lnSpc>
              <a:spcBef>
                <a:spcPts val="0"/>
              </a:spcBef>
              <a:spcAft>
                <a:spcPts val="0"/>
              </a:spcAft>
              <a:buClr>
                <a:schemeClr val="lt2"/>
              </a:buClr>
              <a:buSzPts val="1000"/>
              <a:buFont typeface="Calibri"/>
              <a:buNone/>
              <a:defRPr b="0" i="0" spc="0" sz="1000" u="none" cap="none" strike="noStrike">
                <a:solidFill>
                  <a:schemeClr val="lt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solidFill>
                <a:srgbClr val="FFFFFF"/>
              </a:solidFill>
              <a:latin typeface="Times New Roman"/>
              <a:ea typeface="Times New Roman"/>
              <a:cs typeface="Times New Roman"/>
              <a:sym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rgbClr val="FFFFFF"/>
        </a:solidFill>
      </p:bgPr>
    </p:bg>
    <p:spTree>
      <p:nvGrpSpPr>
        <p:cNvPr id="19" name="Shape 1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5"/>
          <p:cNvSpPr/>
          <p:nvPr/>
        </p:nvSpPr>
        <p:spPr>
          <a:xfrm>
            <a:off x="685800" y="548640"/>
            <a:ext cx="73148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alibri"/>
                <a:ea typeface="Calibri"/>
                <a:cs typeface="Calibri"/>
                <a:sym typeface="Calibri"/>
              </a:rPr>
              <a:t>PRÁCTICA UD1 · MINI APLICACIÓN WEB CON UNA API DE IA</a:t>
            </a:r>
            <a:endParaRPr b="0" i="0" spc="0" sz="1300" u="none" cap="none" strike="noStrike">
              <a:solidFill>
                <a:srgbClr val="FFFFFF"/>
              </a:solidFill>
              <a:latin typeface="Arial"/>
              <a:ea typeface="Arial"/>
              <a:cs typeface="Arial"/>
              <a:sym typeface="Arial"/>
            </a:endParaRPr>
          </a:p>
        </p:txBody>
      </p:sp>
      <p:pic>
        <p:nvPicPr>
          <p:cNvPr descr="Logo de Musicfy" id="25" name="Google Shape;25;p5"/>
          <p:cNvPicPr preferRelativeResize="0"/>
          <p:nvPr/>
        </p:nvPicPr>
        <p:blipFill rotWithShape="1">
          <a:blip r:embed="rId3">
            <a:alphaModFix/>
          </a:blip>
          <a:srcRect b="0" l="0" r="0" t="0"/>
          <a:stretch/>
        </p:blipFill>
        <p:spPr>
          <a:xfrm>
            <a:off x="457200" y="1234440"/>
            <a:ext cx="6309000" cy="2395440"/>
          </a:xfrm>
          <a:prstGeom prst="rect">
            <a:avLst/>
          </a:prstGeom>
          <a:noFill/>
          <a:ln>
            <a:noFill/>
          </a:ln>
        </p:spPr>
      </p:pic>
      <p:sp>
        <p:nvSpPr>
          <p:cNvPr id="26" name="Google Shape;26;p5"/>
          <p:cNvSpPr txBox="1"/>
          <p:nvPr>
            <p:ph type="title"/>
          </p:nvPr>
        </p:nvSpPr>
        <p:spPr>
          <a:xfrm>
            <a:off x="685800" y="3749040"/>
            <a:ext cx="7131960" cy="5482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2600"/>
              <a:buFont typeface="Calibri"/>
              <a:buNone/>
            </a:pPr>
            <a:r>
              <a:rPr b="0" lang="en-US" sz="2600" u="none" strike="noStrike">
                <a:solidFill>
                  <a:schemeClr val="lt1"/>
                </a:solidFill>
                <a:latin typeface="Calibri"/>
                <a:ea typeface="Calibri"/>
                <a:cs typeface="Calibri"/>
                <a:sym typeface="Calibri"/>
              </a:rPr>
              <a:t>Recomendador musical con inteligencia artificial</a:t>
            </a:r>
            <a:endParaRPr b="0" sz="2600" u="none" strike="noStrike">
              <a:solidFill>
                <a:schemeClr val="dk1"/>
              </a:solidFill>
              <a:latin typeface="Calibri"/>
              <a:ea typeface="Calibri"/>
              <a:cs typeface="Calibri"/>
              <a:sym typeface="Calibri"/>
            </a:endParaRPr>
          </a:p>
        </p:txBody>
      </p:sp>
      <p:sp>
        <p:nvSpPr>
          <p:cNvPr id="27" name="Google Shape;27;p5"/>
          <p:cNvSpPr/>
          <p:nvPr/>
        </p:nvSpPr>
        <p:spPr>
          <a:xfrm>
            <a:off x="685800" y="4434840"/>
            <a:ext cx="667476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0" i="0" lang="en-US" spc="0" sz="1600" u="none" cap="none" strike="noStrike">
                <a:solidFill>
                  <a:schemeClr val="lt2"/>
                </a:solidFill>
                <a:latin typeface="Calibri"/>
                <a:ea typeface="Calibri"/>
                <a:cs typeface="Calibri"/>
                <a:sym typeface="Calibri"/>
              </a:rPr>
              <a:t>Dos aplicaciones equivalentes: la App 1, hecha a mano, y la App 2, desarrollada con GitHub Spec Kit e IA y protegida con Clerk.</a:t>
            </a:r>
            <a:endParaRPr b="0" i="0" spc="0" sz="1600" u="none" cap="none" strike="noStrike">
              <a:solidFill>
                <a:srgbClr val="FFFFFF"/>
              </a:solidFill>
              <a:latin typeface="Arial"/>
              <a:ea typeface="Arial"/>
              <a:cs typeface="Arial"/>
              <a:sym typeface="Arial"/>
            </a:endParaRPr>
          </a:p>
        </p:txBody>
      </p:sp>
      <p:sp>
        <p:nvSpPr>
          <p:cNvPr id="28" name="Google Shape;28;p5"/>
          <p:cNvSpPr/>
          <p:nvPr/>
        </p:nvSpPr>
        <p:spPr>
          <a:xfrm>
            <a:off x="8001000" y="1325880"/>
            <a:ext cx="1782720" cy="438480"/>
          </a:xfrm>
          <a:prstGeom prst="roundRect">
            <a:avLst>
              <a:gd fmla="val 50000" name="adj"/>
            </a:avLst>
          </a:prstGeom>
          <a:solidFill>
            <a:schemeClr val="accent1"/>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9" name="Google Shape;29;p5"/>
          <p:cNvSpPr/>
          <p:nvPr/>
        </p:nvSpPr>
        <p:spPr>
          <a:xfrm>
            <a:off x="8001000" y="1325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Vue 3</a:t>
            </a:r>
            <a:endParaRPr b="0" i="0" spc="0" sz="1300" u="none" cap="none" strike="noStrike">
              <a:solidFill>
                <a:srgbClr val="FFFFFF"/>
              </a:solidFill>
              <a:latin typeface="Arial"/>
              <a:ea typeface="Arial"/>
              <a:cs typeface="Arial"/>
              <a:sym typeface="Arial"/>
            </a:endParaRPr>
          </a:p>
        </p:txBody>
      </p:sp>
      <p:sp>
        <p:nvSpPr>
          <p:cNvPr id="30" name="Google Shape;30;p5"/>
          <p:cNvSpPr/>
          <p:nvPr/>
        </p:nvSpPr>
        <p:spPr>
          <a:xfrm>
            <a:off x="9875520" y="1325880"/>
            <a:ext cx="1782720" cy="43848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1" name="Google Shape;31;p5"/>
          <p:cNvSpPr/>
          <p:nvPr/>
        </p:nvSpPr>
        <p:spPr>
          <a:xfrm>
            <a:off x="9875520" y="1325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alibri"/>
                <a:ea typeface="Calibri"/>
                <a:cs typeface="Calibri"/>
                <a:sym typeface="Calibri"/>
              </a:rPr>
              <a:t>Tailwind CSS</a:t>
            </a:r>
            <a:endParaRPr b="0" i="0" spc="0" sz="1300" u="none" cap="none" strike="noStrike">
              <a:solidFill>
                <a:srgbClr val="FFFFFF"/>
              </a:solidFill>
              <a:latin typeface="Arial"/>
              <a:ea typeface="Arial"/>
              <a:cs typeface="Arial"/>
              <a:sym typeface="Arial"/>
            </a:endParaRPr>
          </a:p>
        </p:txBody>
      </p:sp>
      <p:sp>
        <p:nvSpPr>
          <p:cNvPr id="32" name="Google Shape;32;p5"/>
          <p:cNvSpPr/>
          <p:nvPr/>
        </p:nvSpPr>
        <p:spPr>
          <a:xfrm>
            <a:off x="8001000" y="1892880"/>
            <a:ext cx="1782720" cy="438480"/>
          </a:xfrm>
          <a:prstGeom prst="roundRect">
            <a:avLst>
              <a:gd fmla="val 50000" name="adj"/>
            </a:avLst>
          </a:prstGeom>
          <a:solidFill>
            <a:schemeClr val="dk2"/>
          </a:solidFill>
          <a:ln cap="flat" cmpd="sng" w="1270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3" name="Google Shape;33;p5"/>
          <p:cNvSpPr/>
          <p:nvPr/>
        </p:nvSpPr>
        <p:spPr>
          <a:xfrm>
            <a:off x="8001000" y="1892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FastAPI</a:t>
            </a:r>
            <a:endParaRPr b="0" i="0" spc="0" sz="1300" u="none" cap="none" strike="noStrike">
              <a:solidFill>
                <a:srgbClr val="FFFFFF"/>
              </a:solidFill>
              <a:latin typeface="Arial"/>
              <a:ea typeface="Arial"/>
              <a:cs typeface="Arial"/>
              <a:sym typeface="Arial"/>
            </a:endParaRPr>
          </a:p>
        </p:txBody>
      </p:sp>
      <p:sp>
        <p:nvSpPr>
          <p:cNvPr id="34" name="Google Shape;34;p5"/>
          <p:cNvSpPr/>
          <p:nvPr/>
        </p:nvSpPr>
        <p:spPr>
          <a:xfrm>
            <a:off x="9875520" y="1892880"/>
            <a:ext cx="1782720" cy="438480"/>
          </a:xfrm>
          <a:prstGeom prst="roundRect">
            <a:avLst>
              <a:gd fmla="val 50000" name="adj"/>
            </a:avLst>
          </a:prstGeom>
          <a:solidFill>
            <a:schemeClr val="dk2"/>
          </a:solidFill>
          <a:ln cap="flat" cmpd="sng" w="1270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5" name="Google Shape;35;p5"/>
          <p:cNvSpPr/>
          <p:nvPr/>
        </p:nvSpPr>
        <p:spPr>
          <a:xfrm>
            <a:off x="9875520" y="1892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Pydantic v2</a:t>
            </a:r>
            <a:endParaRPr b="0" i="0" spc="0" sz="1300" u="none" cap="none" strike="noStrike">
              <a:solidFill>
                <a:srgbClr val="FFFFFF"/>
              </a:solidFill>
              <a:latin typeface="Arial"/>
              <a:ea typeface="Arial"/>
              <a:cs typeface="Arial"/>
              <a:sym typeface="Arial"/>
            </a:endParaRPr>
          </a:p>
        </p:txBody>
      </p:sp>
      <p:sp>
        <p:nvSpPr>
          <p:cNvPr id="36" name="Google Shape;36;p5"/>
          <p:cNvSpPr/>
          <p:nvPr/>
        </p:nvSpPr>
        <p:spPr>
          <a:xfrm>
            <a:off x="8001000" y="2459880"/>
            <a:ext cx="1782720" cy="438480"/>
          </a:xfrm>
          <a:prstGeom prst="roundRect">
            <a:avLst>
              <a:gd fmla="val 50000" name="adj"/>
            </a:avLst>
          </a:prstGeom>
          <a:solidFill>
            <a:schemeClr val="dk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7" name="Google Shape;37;p5"/>
          <p:cNvSpPr/>
          <p:nvPr/>
        </p:nvSpPr>
        <p:spPr>
          <a:xfrm>
            <a:off x="8001000" y="2459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API de Gemini</a:t>
            </a:r>
            <a:endParaRPr b="0" i="0" spc="0" sz="1300" u="none" cap="none" strike="noStrike">
              <a:solidFill>
                <a:srgbClr val="FFFFFF"/>
              </a:solidFill>
              <a:latin typeface="Arial"/>
              <a:ea typeface="Arial"/>
              <a:cs typeface="Arial"/>
              <a:sym typeface="Arial"/>
            </a:endParaRPr>
          </a:p>
        </p:txBody>
      </p:sp>
      <p:sp>
        <p:nvSpPr>
          <p:cNvPr id="38" name="Google Shape;38;p5"/>
          <p:cNvSpPr/>
          <p:nvPr/>
        </p:nvSpPr>
        <p:spPr>
          <a:xfrm>
            <a:off x="9875520" y="2459880"/>
            <a:ext cx="1782720" cy="438480"/>
          </a:xfrm>
          <a:prstGeom prst="roundRect">
            <a:avLst>
              <a:gd fmla="val 50000" name="adj"/>
            </a:avLst>
          </a:prstGeom>
          <a:solidFill>
            <a:schemeClr val="dk2"/>
          </a:solidFill>
          <a:ln cap="flat" cmpd="sng" w="1270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9" name="Google Shape;39;p5"/>
          <p:cNvSpPr/>
          <p:nvPr/>
        </p:nvSpPr>
        <p:spPr>
          <a:xfrm>
            <a:off x="9875520" y="2459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pytest + mocks</a:t>
            </a:r>
            <a:endParaRPr b="0" i="0" spc="0" sz="1300" u="none" cap="none" strike="noStrike">
              <a:solidFill>
                <a:srgbClr val="FFFFFF"/>
              </a:solidFill>
              <a:latin typeface="Arial"/>
              <a:ea typeface="Arial"/>
              <a:cs typeface="Arial"/>
              <a:sym typeface="Arial"/>
            </a:endParaRPr>
          </a:p>
        </p:txBody>
      </p:sp>
      <p:sp>
        <p:nvSpPr>
          <p:cNvPr id="40" name="Google Shape;40;p5"/>
          <p:cNvSpPr/>
          <p:nvPr/>
        </p:nvSpPr>
        <p:spPr>
          <a:xfrm>
            <a:off x="8001000" y="3026520"/>
            <a:ext cx="1782720" cy="438480"/>
          </a:xfrm>
          <a:prstGeom prst="roundRect">
            <a:avLst>
              <a:gd fmla="val 50000" name="adj"/>
            </a:avLst>
          </a:prstGeom>
          <a:solidFill>
            <a:schemeClr val="dk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1" name="Google Shape;41;p5"/>
          <p:cNvSpPr/>
          <p:nvPr/>
        </p:nvSpPr>
        <p:spPr>
          <a:xfrm>
            <a:off x="8001000" y="3026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Clerk</a:t>
            </a:r>
            <a:endParaRPr b="0" i="0" spc="0" sz="1300" u="none" cap="none" strike="noStrike">
              <a:solidFill>
                <a:srgbClr val="FFFFFF"/>
              </a:solidFill>
              <a:latin typeface="Arial"/>
              <a:ea typeface="Arial"/>
              <a:cs typeface="Arial"/>
              <a:sym typeface="Arial"/>
            </a:endParaRPr>
          </a:p>
        </p:txBody>
      </p:sp>
      <p:sp>
        <p:nvSpPr>
          <p:cNvPr id="42" name="Google Shape;42;p5"/>
          <p:cNvSpPr/>
          <p:nvPr/>
        </p:nvSpPr>
        <p:spPr>
          <a:xfrm>
            <a:off x="9875520" y="3026520"/>
            <a:ext cx="1782720" cy="438480"/>
          </a:xfrm>
          <a:prstGeom prst="roundRect">
            <a:avLst>
              <a:gd fmla="val 50000" name="adj"/>
            </a:avLst>
          </a:prstGeom>
          <a:solidFill>
            <a:schemeClr val="dk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3" name="Google Shape;43;p5"/>
          <p:cNvSpPr/>
          <p:nvPr/>
        </p:nvSpPr>
        <p:spPr>
          <a:xfrm>
            <a:off x="9875520" y="3026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GitHub Spec Kit</a:t>
            </a:r>
            <a:endParaRPr b="0" i="0" spc="0" sz="1300" u="none" cap="none" strike="noStrike">
              <a:solidFill>
                <a:srgbClr val="FFFFFF"/>
              </a:solidFill>
              <a:latin typeface="Arial"/>
              <a:ea typeface="Arial"/>
              <a:cs typeface="Arial"/>
              <a:sym typeface="Arial"/>
            </a:endParaRPr>
          </a:p>
        </p:txBody>
      </p:sp>
      <p:sp>
        <p:nvSpPr>
          <p:cNvPr id="44" name="Google Shape;44;p5"/>
          <p:cNvSpPr/>
          <p:nvPr/>
        </p:nvSpPr>
        <p:spPr>
          <a:xfrm>
            <a:off x="8001000" y="3593520"/>
            <a:ext cx="1782720" cy="438480"/>
          </a:xfrm>
          <a:prstGeom prst="roundRect">
            <a:avLst>
              <a:gd fmla="val 50000" name="adj"/>
            </a:avLst>
          </a:prstGeom>
          <a:solidFill>
            <a:schemeClr val="dk2"/>
          </a:solidFill>
          <a:ln cap="flat" cmpd="sng" w="12700">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5" name="Google Shape;45;p5"/>
          <p:cNvSpPr/>
          <p:nvPr/>
        </p:nvSpPr>
        <p:spPr>
          <a:xfrm>
            <a:off x="8001000" y="3593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3"/>
                </a:solidFill>
                <a:latin typeface="Calibri"/>
                <a:ea typeface="Calibri"/>
                <a:cs typeface="Calibri"/>
                <a:sym typeface="Calibri"/>
              </a:rPr>
              <a:t>Vercel</a:t>
            </a:r>
            <a:endParaRPr b="0" i="0" spc="0" sz="1300" u="none" cap="none" strike="noStrike">
              <a:solidFill>
                <a:srgbClr val="FFFFFF"/>
              </a:solidFill>
              <a:latin typeface="Arial"/>
              <a:ea typeface="Arial"/>
              <a:cs typeface="Arial"/>
              <a:sym typeface="Arial"/>
            </a:endParaRPr>
          </a:p>
        </p:txBody>
      </p:sp>
      <p:sp>
        <p:nvSpPr>
          <p:cNvPr id="46" name="Google Shape;46;p5"/>
          <p:cNvSpPr/>
          <p:nvPr/>
        </p:nvSpPr>
        <p:spPr>
          <a:xfrm>
            <a:off x="9875520" y="3593520"/>
            <a:ext cx="1782720" cy="438480"/>
          </a:xfrm>
          <a:prstGeom prst="roundRect">
            <a:avLst>
              <a:gd fmla="val 50000" name="adj"/>
            </a:avLst>
          </a:prstGeom>
          <a:solidFill>
            <a:schemeClr val="dk2"/>
          </a:solidFill>
          <a:ln cap="flat" cmpd="sng" w="12700">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7" name="Google Shape;47;p5"/>
          <p:cNvSpPr/>
          <p:nvPr/>
        </p:nvSpPr>
        <p:spPr>
          <a:xfrm>
            <a:off x="9875520" y="3593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3"/>
                </a:solidFill>
                <a:latin typeface="Calibri"/>
                <a:ea typeface="Calibri"/>
                <a:cs typeface="Calibri"/>
                <a:sym typeface="Calibri"/>
              </a:rPr>
              <a:t>Docker + AWS EC2</a:t>
            </a:r>
            <a:endParaRPr b="0" i="0" spc="0" sz="1300" u="none" cap="none" strike="noStrike">
              <a:solidFill>
                <a:srgbClr val="FFFFFF"/>
              </a:solidFill>
              <a:latin typeface="Arial"/>
              <a:ea typeface="Arial"/>
              <a:cs typeface="Arial"/>
              <a:sym typeface="Arial"/>
            </a:endParaRPr>
          </a:p>
        </p:txBody>
      </p:sp>
      <p:sp>
        <p:nvSpPr>
          <p:cNvPr id="48" name="Google Shape;48;p5"/>
          <p:cNvSpPr/>
          <p:nvPr/>
        </p:nvSpPr>
        <p:spPr>
          <a:xfrm>
            <a:off x="685800" y="5349240"/>
            <a:ext cx="3520080" cy="776880"/>
          </a:xfrm>
          <a:prstGeom prst="roundRect">
            <a:avLst>
              <a:gd fmla="val 14118"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9" name="Google Shape;49;p5"/>
          <p:cNvSpPr/>
          <p:nvPr/>
        </p:nvSpPr>
        <p:spPr>
          <a:xfrm>
            <a:off x="868680" y="5349240"/>
            <a:ext cx="320004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David Molina Castillo</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ERS, pruebas y comparativa</a:t>
            </a:r>
            <a:endParaRPr b="0" i="0" spc="0" sz="1200" u="none" cap="none" strike="noStrike">
              <a:solidFill>
                <a:srgbClr val="FFFFFF"/>
              </a:solidFill>
              <a:latin typeface="Arial"/>
              <a:ea typeface="Arial"/>
              <a:cs typeface="Arial"/>
              <a:sym typeface="Arial"/>
            </a:endParaRPr>
          </a:p>
        </p:txBody>
      </p:sp>
      <p:sp>
        <p:nvSpPr>
          <p:cNvPr id="50" name="Google Shape;50;p5"/>
          <p:cNvSpPr/>
          <p:nvPr/>
        </p:nvSpPr>
        <p:spPr>
          <a:xfrm>
            <a:off x="4343400" y="5349240"/>
            <a:ext cx="3520080" cy="776880"/>
          </a:xfrm>
          <a:prstGeom prst="roundRect">
            <a:avLst>
              <a:gd fmla="val 14118"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1" name="Google Shape;51;p5"/>
          <p:cNvSpPr/>
          <p:nvPr/>
        </p:nvSpPr>
        <p:spPr>
          <a:xfrm>
            <a:off x="4526280" y="5349240"/>
            <a:ext cx="320004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Mario Luna Lopez</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Backend, Clerk, Docker y EC2</a:t>
            </a:r>
            <a:endParaRPr b="0" i="0" spc="0" sz="1200" u="none" cap="none" strike="noStrike">
              <a:solidFill>
                <a:srgbClr val="FFFFFF"/>
              </a:solidFill>
              <a:latin typeface="Arial"/>
              <a:ea typeface="Arial"/>
              <a:cs typeface="Arial"/>
              <a:sym typeface="Arial"/>
            </a:endParaRPr>
          </a:p>
        </p:txBody>
      </p:sp>
      <p:sp>
        <p:nvSpPr>
          <p:cNvPr id="52" name="Google Shape;52;p5"/>
          <p:cNvSpPr/>
          <p:nvPr/>
        </p:nvSpPr>
        <p:spPr>
          <a:xfrm>
            <a:off x="8001000" y="5349240"/>
            <a:ext cx="3520080" cy="776880"/>
          </a:xfrm>
          <a:prstGeom prst="roundRect">
            <a:avLst>
              <a:gd fmla="val 14118"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3" name="Google Shape;53;p5"/>
          <p:cNvSpPr/>
          <p:nvPr/>
        </p:nvSpPr>
        <p:spPr>
          <a:xfrm>
            <a:off x="8183880" y="5349240"/>
            <a:ext cx="320004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Jose Antonio Nieto Perez</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Frontend, Vercel y Spec Kit</a:t>
            </a:r>
            <a:endParaRPr b="0" i="0" spc="0" sz="1200" u="none" cap="none" strike="noStrike">
              <a:solidFill>
                <a:srgbClr val="FFFFFF"/>
              </a:solidFill>
              <a:latin typeface="Arial"/>
              <a:ea typeface="Arial"/>
              <a:cs typeface="Arial"/>
              <a:sym typeface="Arial"/>
            </a:endParaRPr>
          </a:p>
        </p:txBody>
      </p:sp>
      <p:sp>
        <p:nvSpPr>
          <p:cNvPr id="54" name="Google Shape;54;p5"/>
          <p:cNvSpPr/>
          <p:nvPr/>
        </p:nvSpPr>
        <p:spPr>
          <a:xfrm>
            <a:off x="685800" y="6355080"/>
            <a:ext cx="107895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Desarrollo de componentes software para sistemas de aprendizaje automático · Docente: Francisco Manuel Matías Prados</a:t>
            </a:r>
            <a:endParaRPr b="0" i="0" spc="0" sz="1100" u="none" cap="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6"/>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Índice y reparto</a:t>
            </a:r>
            <a:endParaRPr b="0" sz="3400" u="none" strike="noStrike">
              <a:solidFill>
                <a:schemeClr val="dk1"/>
              </a:solidFill>
              <a:latin typeface="Calibri"/>
              <a:ea typeface="Calibri"/>
              <a:cs typeface="Calibri"/>
              <a:sym typeface="Calibri"/>
            </a:endParaRPr>
          </a:p>
        </p:txBody>
      </p:sp>
      <p:sp>
        <p:nvSpPr>
          <p:cNvPr id="60" name="Google Shape;60;p6"/>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8–10 MINUTOS</a:t>
            </a:r>
            <a:endParaRPr b="0" i="0" sz="1200" u="none" cap="none" strike="noStrike">
              <a:solidFill>
                <a:schemeClr val="dk1"/>
              </a:solidFill>
              <a:latin typeface="Calibri"/>
              <a:ea typeface="Calibri"/>
              <a:cs typeface="Calibri"/>
              <a:sym typeface="Calibri"/>
            </a:endParaRPr>
          </a:p>
        </p:txBody>
      </p:sp>
      <p:sp>
        <p:nvSpPr>
          <p:cNvPr id="61" name="Google Shape;61;p6"/>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2" name="Google Shape;62;p6"/>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63" name="Google Shape;63;p6"/>
          <p:cNvSpPr/>
          <p:nvPr/>
        </p:nvSpPr>
        <p:spPr>
          <a:xfrm>
            <a:off x="54864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4" name="Google Shape;64;p6"/>
          <p:cNvSpPr/>
          <p:nvPr/>
        </p:nvSpPr>
        <p:spPr>
          <a:xfrm>
            <a:off x="777240" y="160020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5" name="Google Shape;65;p6"/>
          <p:cNvSpPr/>
          <p:nvPr/>
        </p:nvSpPr>
        <p:spPr>
          <a:xfrm>
            <a:off x="777240" y="160020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01</a:t>
            </a:r>
            <a:endParaRPr b="0" i="0" spc="0" sz="1400" u="none" cap="none" strike="noStrike">
              <a:solidFill>
                <a:srgbClr val="FFFFFF"/>
              </a:solidFill>
              <a:latin typeface="Arial"/>
              <a:ea typeface="Arial"/>
              <a:cs typeface="Arial"/>
              <a:sym typeface="Arial"/>
            </a:endParaRPr>
          </a:p>
        </p:txBody>
      </p:sp>
      <p:sp>
        <p:nvSpPr>
          <p:cNvPr id="66" name="Google Shape;66;p6"/>
          <p:cNvSpPr/>
          <p:nvPr/>
        </p:nvSpPr>
        <p:spPr>
          <a:xfrm>
            <a:off x="1371600" y="160020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Proyecto y arquitectura</a:t>
            </a:r>
            <a:endParaRPr b="0" i="0" spc="0" sz="1800" u="none" cap="none" strike="noStrike">
              <a:solidFill>
                <a:srgbClr val="FFFFFF"/>
              </a:solidFill>
              <a:latin typeface="Arial"/>
              <a:ea typeface="Arial"/>
              <a:cs typeface="Arial"/>
              <a:sym typeface="Arial"/>
            </a:endParaRPr>
          </a:p>
        </p:txBody>
      </p:sp>
      <p:sp>
        <p:nvSpPr>
          <p:cNvPr id="67" name="Google Shape;67;p6"/>
          <p:cNvSpPr/>
          <p:nvPr/>
        </p:nvSpPr>
        <p:spPr>
          <a:xfrm>
            <a:off x="822960" y="214884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Necesidad y alcance</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Arquitectura y flujo</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Contrato de la API</a:t>
            </a:r>
            <a:endParaRPr b="0" i="0" spc="0" sz="1300" u="none" cap="none" strike="noStrike">
              <a:solidFill>
                <a:srgbClr val="FFFFFF"/>
              </a:solidFill>
              <a:latin typeface="Arial"/>
              <a:ea typeface="Arial"/>
              <a:cs typeface="Arial"/>
              <a:sym typeface="Arial"/>
            </a:endParaRPr>
          </a:p>
        </p:txBody>
      </p:sp>
      <p:sp>
        <p:nvSpPr>
          <p:cNvPr id="68" name="Google Shape;68;p6"/>
          <p:cNvSpPr/>
          <p:nvPr/>
        </p:nvSpPr>
        <p:spPr>
          <a:xfrm>
            <a:off x="822960" y="312732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David · Mario</a:t>
            </a:r>
            <a:endParaRPr b="0" i="0" spc="0" sz="1200" u="none" cap="none" strike="noStrike">
              <a:solidFill>
                <a:srgbClr val="FFFFFF"/>
              </a:solidFill>
              <a:latin typeface="Arial"/>
              <a:ea typeface="Arial"/>
              <a:cs typeface="Arial"/>
              <a:sym typeface="Arial"/>
            </a:endParaRPr>
          </a:p>
        </p:txBody>
      </p:sp>
      <p:sp>
        <p:nvSpPr>
          <p:cNvPr id="69" name="Google Shape;69;p6"/>
          <p:cNvSpPr/>
          <p:nvPr/>
        </p:nvSpPr>
        <p:spPr>
          <a:xfrm>
            <a:off x="434340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0" name="Google Shape;70;p6"/>
          <p:cNvSpPr/>
          <p:nvPr/>
        </p:nvSpPr>
        <p:spPr>
          <a:xfrm>
            <a:off x="4572000" y="160020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1" name="Google Shape;71;p6"/>
          <p:cNvSpPr/>
          <p:nvPr/>
        </p:nvSpPr>
        <p:spPr>
          <a:xfrm>
            <a:off x="4572000" y="160020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02</a:t>
            </a:r>
            <a:endParaRPr b="0" i="0" spc="0" sz="1400" u="none" cap="none" strike="noStrike">
              <a:solidFill>
                <a:srgbClr val="FFFFFF"/>
              </a:solidFill>
              <a:latin typeface="Arial"/>
              <a:ea typeface="Arial"/>
              <a:cs typeface="Arial"/>
              <a:sym typeface="Arial"/>
            </a:endParaRPr>
          </a:p>
        </p:txBody>
      </p:sp>
      <p:sp>
        <p:nvSpPr>
          <p:cNvPr id="72" name="Google Shape;72;p6"/>
          <p:cNvSpPr/>
          <p:nvPr/>
        </p:nvSpPr>
        <p:spPr>
          <a:xfrm>
            <a:off x="5166360" y="160020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ERS y requisitos</a:t>
            </a:r>
            <a:endParaRPr b="0" i="0" spc="0" sz="1800" u="none" cap="none" strike="noStrike">
              <a:solidFill>
                <a:srgbClr val="FFFFFF"/>
              </a:solidFill>
              <a:latin typeface="Arial"/>
              <a:ea typeface="Arial"/>
              <a:cs typeface="Arial"/>
              <a:sym typeface="Arial"/>
            </a:endParaRPr>
          </a:p>
        </p:txBody>
      </p:sp>
      <p:sp>
        <p:nvSpPr>
          <p:cNvPr id="73" name="Google Shape;73;p6"/>
          <p:cNvSpPr/>
          <p:nvPr/>
        </p:nvSpPr>
        <p:spPr>
          <a:xfrm>
            <a:off x="4617720" y="214884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Stack y estructura</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Requisitos funcionales</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No funcionales y seguridad</a:t>
            </a:r>
            <a:endParaRPr b="0" i="0" spc="0" sz="1300" u="none" cap="none" strike="noStrike">
              <a:solidFill>
                <a:srgbClr val="FFFFFF"/>
              </a:solidFill>
              <a:latin typeface="Arial"/>
              <a:ea typeface="Arial"/>
              <a:cs typeface="Arial"/>
              <a:sym typeface="Arial"/>
            </a:endParaRPr>
          </a:p>
        </p:txBody>
      </p:sp>
      <p:sp>
        <p:nvSpPr>
          <p:cNvPr id="74" name="Google Shape;74;p6"/>
          <p:cNvSpPr/>
          <p:nvPr/>
        </p:nvSpPr>
        <p:spPr>
          <a:xfrm>
            <a:off x="4617720" y="312732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David</a:t>
            </a:r>
            <a:endParaRPr b="0" i="0" spc="0" sz="1200" u="none" cap="none" strike="noStrike">
              <a:solidFill>
                <a:srgbClr val="FFFFFF"/>
              </a:solidFill>
              <a:latin typeface="Arial"/>
              <a:ea typeface="Arial"/>
              <a:cs typeface="Arial"/>
              <a:sym typeface="Arial"/>
            </a:endParaRPr>
          </a:p>
        </p:txBody>
      </p:sp>
      <p:sp>
        <p:nvSpPr>
          <p:cNvPr id="75" name="Google Shape;75;p6"/>
          <p:cNvSpPr/>
          <p:nvPr/>
        </p:nvSpPr>
        <p:spPr>
          <a:xfrm>
            <a:off x="813816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6" name="Google Shape;76;p6"/>
          <p:cNvSpPr/>
          <p:nvPr/>
        </p:nvSpPr>
        <p:spPr>
          <a:xfrm>
            <a:off x="8366760" y="160020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7" name="Google Shape;77;p6"/>
          <p:cNvSpPr/>
          <p:nvPr/>
        </p:nvSpPr>
        <p:spPr>
          <a:xfrm>
            <a:off x="8366760" y="160020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03</a:t>
            </a:r>
            <a:endParaRPr b="0" i="0" spc="0" sz="1400" u="none" cap="none" strike="noStrike">
              <a:solidFill>
                <a:srgbClr val="FFFFFF"/>
              </a:solidFill>
              <a:latin typeface="Arial"/>
              <a:ea typeface="Arial"/>
              <a:cs typeface="Arial"/>
              <a:sym typeface="Arial"/>
            </a:endParaRPr>
          </a:p>
        </p:txBody>
      </p:sp>
      <p:sp>
        <p:nvSpPr>
          <p:cNvPr id="78" name="Google Shape;78;p6"/>
          <p:cNvSpPr/>
          <p:nvPr/>
        </p:nvSpPr>
        <p:spPr>
          <a:xfrm>
            <a:off x="8961120" y="160020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Diagramas</a:t>
            </a:r>
            <a:endParaRPr b="0" i="0" spc="0" sz="1800" u="none" cap="none" strike="noStrike">
              <a:solidFill>
                <a:srgbClr val="FFFFFF"/>
              </a:solidFill>
              <a:latin typeface="Arial"/>
              <a:ea typeface="Arial"/>
              <a:cs typeface="Arial"/>
              <a:sym typeface="Arial"/>
            </a:endParaRPr>
          </a:p>
        </p:txBody>
      </p:sp>
      <p:sp>
        <p:nvSpPr>
          <p:cNvPr id="79" name="Google Shape;79;p6"/>
          <p:cNvSpPr/>
          <p:nvPr/>
        </p:nvSpPr>
        <p:spPr>
          <a:xfrm>
            <a:off x="8412480" y="214884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Casos de uso</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Secuencia con Clerk</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Estados del frontend</a:t>
            </a:r>
            <a:endParaRPr b="0" i="0" spc="0" sz="1300" u="none" cap="none" strike="noStrike">
              <a:solidFill>
                <a:srgbClr val="FFFFFF"/>
              </a:solidFill>
              <a:latin typeface="Arial"/>
              <a:ea typeface="Arial"/>
              <a:cs typeface="Arial"/>
              <a:sym typeface="Arial"/>
            </a:endParaRPr>
          </a:p>
        </p:txBody>
      </p:sp>
      <p:sp>
        <p:nvSpPr>
          <p:cNvPr id="80" name="Google Shape;80;p6"/>
          <p:cNvSpPr/>
          <p:nvPr/>
        </p:nvSpPr>
        <p:spPr>
          <a:xfrm>
            <a:off x="8412480" y="312732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David · Mario · Jose</a:t>
            </a:r>
            <a:endParaRPr b="0" i="0" spc="0" sz="1200" u="none" cap="none" strike="noStrike">
              <a:solidFill>
                <a:srgbClr val="FFFFFF"/>
              </a:solidFill>
              <a:latin typeface="Arial"/>
              <a:ea typeface="Arial"/>
              <a:cs typeface="Arial"/>
              <a:sym typeface="Arial"/>
            </a:endParaRPr>
          </a:p>
        </p:txBody>
      </p:sp>
      <p:sp>
        <p:nvSpPr>
          <p:cNvPr id="81" name="Google Shape;81;p6"/>
          <p:cNvSpPr/>
          <p:nvPr/>
        </p:nvSpPr>
        <p:spPr>
          <a:xfrm>
            <a:off x="54864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2" name="Google Shape;82;p6"/>
          <p:cNvSpPr/>
          <p:nvPr/>
        </p:nvSpPr>
        <p:spPr>
          <a:xfrm>
            <a:off x="777240" y="397764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3" name="Google Shape;83;p6"/>
          <p:cNvSpPr/>
          <p:nvPr/>
        </p:nvSpPr>
        <p:spPr>
          <a:xfrm>
            <a:off x="777240" y="397764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04</a:t>
            </a:r>
            <a:endParaRPr b="0" i="0" spc="0" sz="1400" u="none" cap="none" strike="noStrike">
              <a:solidFill>
                <a:srgbClr val="FFFFFF"/>
              </a:solidFill>
              <a:latin typeface="Arial"/>
              <a:ea typeface="Arial"/>
              <a:cs typeface="Arial"/>
              <a:sym typeface="Arial"/>
            </a:endParaRPr>
          </a:p>
        </p:txBody>
      </p:sp>
      <p:sp>
        <p:nvSpPr>
          <p:cNvPr id="84" name="Google Shape;84;p6"/>
          <p:cNvSpPr/>
          <p:nvPr/>
        </p:nvSpPr>
        <p:spPr>
          <a:xfrm>
            <a:off x="1371600" y="397764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App 1: hecha a mano</a:t>
            </a:r>
            <a:endParaRPr b="0" i="0" spc="0" sz="1800" u="none" cap="none" strike="noStrike">
              <a:solidFill>
                <a:srgbClr val="FFFFFF"/>
              </a:solidFill>
              <a:latin typeface="Arial"/>
              <a:ea typeface="Arial"/>
              <a:cs typeface="Arial"/>
              <a:sym typeface="Arial"/>
            </a:endParaRPr>
          </a:p>
        </p:txBody>
      </p:sp>
      <p:sp>
        <p:nvSpPr>
          <p:cNvPr id="85" name="Google Shape;85;p6"/>
          <p:cNvSpPr/>
          <p:nvPr/>
        </p:nvSpPr>
        <p:spPr>
          <a:xfrm>
            <a:off x="822960" y="452628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Backend e IA</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Frontend y diseño</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Evolución en Git</a:t>
            </a:r>
            <a:endParaRPr b="0" i="0" spc="0" sz="1300" u="none" cap="none" strike="noStrike">
              <a:solidFill>
                <a:srgbClr val="FFFFFF"/>
              </a:solidFill>
              <a:latin typeface="Arial"/>
              <a:ea typeface="Arial"/>
              <a:cs typeface="Arial"/>
              <a:sym typeface="Arial"/>
            </a:endParaRPr>
          </a:p>
        </p:txBody>
      </p:sp>
      <p:sp>
        <p:nvSpPr>
          <p:cNvPr id="86" name="Google Shape;86;p6"/>
          <p:cNvSpPr/>
          <p:nvPr/>
        </p:nvSpPr>
        <p:spPr>
          <a:xfrm>
            <a:off x="822960" y="550476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Mario · Jose</a:t>
            </a:r>
            <a:endParaRPr b="0" i="0" spc="0" sz="1200" u="none" cap="none" strike="noStrike">
              <a:solidFill>
                <a:srgbClr val="FFFFFF"/>
              </a:solidFill>
              <a:latin typeface="Arial"/>
              <a:ea typeface="Arial"/>
              <a:cs typeface="Arial"/>
              <a:sym typeface="Arial"/>
            </a:endParaRPr>
          </a:p>
        </p:txBody>
      </p:sp>
      <p:sp>
        <p:nvSpPr>
          <p:cNvPr id="87" name="Google Shape;87;p6"/>
          <p:cNvSpPr/>
          <p:nvPr/>
        </p:nvSpPr>
        <p:spPr>
          <a:xfrm>
            <a:off x="434340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8" name="Google Shape;88;p6"/>
          <p:cNvSpPr/>
          <p:nvPr/>
        </p:nvSpPr>
        <p:spPr>
          <a:xfrm>
            <a:off x="4572000" y="397764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9" name="Google Shape;89;p6"/>
          <p:cNvSpPr/>
          <p:nvPr/>
        </p:nvSpPr>
        <p:spPr>
          <a:xfrm>
            <a:off x="4572000" y="397764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05</a:t>
            </a:r>
            <a:endParaRPr b="0" i="0" spc="0" sz="1400" u="none" cap="none" strike="noStrike">
              <a:solidFill>
                <a:srgbClr val="FFFFFF"/>
              </a:solidFill>
              <a:latin typeface="Arial"/>
              <a:ea typeface="Arial"/>
              <a:cs typeface="Arial"/>
              <a:sym typeface="Arial"/>
            </a:endParaRPr>
          </a:p>
        </p:txBody>
      </p:sp>
      <p:sp>
        <p:nvSpPr>
          <p:cNvPr id="90" name="Google Shape;90;p6"/>
          <p:cNvSpPr/>
          <p:nvPr/>
        </p:nvSpPr>
        <p:spPr>
          <a:xfrm>
            <a:off x="5166360" y="397764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App 2: Spec Kit y Clerk</a:t>
            </a:r>
            <a:endParaRPr b="0" i="0" spc="0" sz="1800" u="none" cap="none" strike="noStrike">
              <a:solidFill>
                <a:srgbClr val="FFFFFF"/>
              </a:solidFill>
              <a:latin typeface="Arial"/>
              <a:ea typeface="Arial"/>
              <a:cs typeface="Arial"/>
              <a:sym typeface="Arial"/>
            </a:endParaRPr>
          </a:p>
        </p:txBody>
      </p:sp>
      <p:sp>
        <p:nvSpPr>
          <p:cNvPr id="91" name="Google Shape;91;p6"/>
          <p:cNvSpPr/>
          <p:nvPr/>
        </p:nvSpPr>
        <p:spPr>
          <a:xfrm>
            <a:off x="4617720" y="452628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Proceso con Spec Kit</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Revisión de la IA</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Autenticación con Clerk</a:t>
            </a:r>
            <a:endParaRPr b="0" i="0" spc="0" sz="1300" u="none" cap="none" strike="noStrike">
              <a:solidFill>
                <a:srgbClr val="FFFFFF"/>
              </a:solidFill>
              <a:latin typeface="Arial"/>
              <a:ea typeface="Arial"/>
              <a:cs typeface="Arial"/>
              <a:sym typeface="Arial"/>
            </a:endParaRPr>
          </a:p>
        </p:txBody>
      </p:sp>
      <p:sp>
        <p:nvSpPr>
          <p:cNvPr id="92" name="Google Shape;92;p6"/>
          <p:cNvSpPr/>
          <p:nvPr/>
        </p:nvSpPr>
        <p:spPr>
          <a:xfrm>
            <a:off x="4617720" y="550476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Jose · Mario</a:t>
            </a:r>
            <a:endParaRPr b="0" i="0" spc="0" sz="1200" u="none" cap="none" strike="noStrike">
              <a:solidFill>
                <a:srgbClr val="FFFFFF"/>
              </a:solidFill>
              <a:latin typeface="Arial"/>
              <a:ea typeface="Arial"/>
              <a:cs typeface="Arial"/>
              <a:sym typeface="Arial"/>
            </a:endParaRPr>
          </a:p>
        </p:txBody>
      </p:sp>
      <p:sp>
        <p:nvSpPr>
          <p:cNvPr id="93" name="Google Shape;93;p6"/>
          <p:cNvSpPr/>
          <p:nvPr/>
        </p:nvSpPr>
        <p:spPr>
          <a:xfrm>
            <a:off x="813816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4" name="Google Shape;94;p6"/>
          <p:cNvSpPr/>
          <p:nvPr/>
        </p:nvSpPr>
        <p:spPr>
          <a:xfrm>
            <a:off x="8366760" y="397764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5" name="Google Shape;95;p6"/>
          <p:cNvSpPr/>
          <p:nvPr/>
        </p:nvSpPr>
        <p:spPr>
          <a:xfrm>
            <a:off x="8366760" y="397764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06</a:t>
            </a:r>
            <a:endParaRPr b="0" i="0" spc="0" sz="1400" u="none" cap="none" strike="noStrike">
              <a:solidFill>
                <a:srgbClr val="FFFFFF"/>
              </a:solidFill>
              <a:latin typeface="Arial"/>
              <a:ea typeface="Arial"/>
              <a:cs typeface="Arial"/>
              <a:sym typeface="Arial"/>
            </a:endParaRPr>
          </a:p>
        </p:txBody>
      </p:sp>
      <p:sp>
        <p:nvSpPr>
          <p:cNvPr id="96" name="Google Shape;96;p6"/>
          <p:cNvSpPr/>
          <p:nvPr/>
        </p:nvSpPr>
        <p:spPr>
          <a:xfrm>
            <a:off x="8961120" y="397764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Calidad, despliegue y cierre</a:t>
            </a:r>
            <a:endParaRPr b="0" i="0" spc="0" sz="1800" u="none" cap="none" strike="noStrike">
              <a:solidFill>
                <a:srgbClr val="FFFFFF"/>
              </a:solidFill>
              <a:latin typeface="Arial"/>
              <a:ea typeface="Arial"/>
              <a:cs typeface="Arial"/>
              <a:sym typeface="Arial"/>
            </a:endParaRPr>
          </a:p>
        </p:txBody>
      </p:sp>
      <p:sp>
        <p:nvSpPr>
          <p:cNvPr id="97" name="Google Shape;97;p6"/>
          <p:cNvSpPr/>
          <p:nvPr/>
        </p:nvSpPr>
        <p:spPr>
          <a:xfrm>
            <a:off x="8412480" y="452628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Pruebas con pytest</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Vercel, Docker y EC2</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i="0" lang="en-US" spc="0" sz="1300" u="none" cap="none" strike="noStrike">
                <a:solidFill>
                  <a:schemeClr val="lt2"/>
                </a:solidFill>
                <a:latin typeface="Calibri"/>
                <a:ea typeface="Calibri"/>
                <a:cs typeface="Calibri"/>
                <a:sym typeface="Calibri"/>
              </a:rPr>
              <a:t>Comparativa, demo y conclusiones</a:t>
            </a:r>
            <a:endParaRPr b="0" i="0" spc="0" sz="1300" u="none" cap="none" strike="noStrike">
              <a:solidFill>
                <a:srgbClr val="FFFFFF"/>
              </a:solidFill>
              <a:latin typeface="Arial"/>
              <a:ea typeface="Arial"/>
              <a:cs typeface="Arial"/>
              <a:sym typeface="Arial"/>
            </a:endParaRPr>
          </a:p>
        </p:txBody>
      </p:sp>
      <p:sp>
        <p:nvSpPr>
          <p:cNvPr id="98" name="Google Shape;98;p6"/>
          <p:cNvSpPr/>
          <p:nvPr/>
        </p:nvSpPr>
        <p:spPr>
          <a:xfrm>
            <a:off x="8412480" y="550476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David · Mario · Jose</a:t>
            </a:r>
            <a:endParaRPr b="0" i="0" spc="0" sz="1200" u="none" cap="none" strike="noStrike">
              <a:solidFill>
                <a:srgbClr val="FFFFFF"/>
              </a:solidFill>
              <a:latin typeface="Arial"/>
              <a:ea typeface="Arial"/>
              <a:cs typeface="Arial"/>
              <a:sym typeface="Arial"/>
            </a:endParaRPr>
          </a:p>
        </p:txBody>
      </p:sp>
      <p:sp>
        <p:nvSpPr>
          <p:cNvPr id="99" name="Google Shape;99;p6"/>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7"/>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¿Qué es Musicfy?</a:t>
            </a:r>
            <a:endParaRPr b="0" sz="3400" u="none" strike="noStrike">
              <a:solidFill>
                <a:schemeClr val="dk1"/>
              </a:solidFill>
              <a:latin typeface="Calibri"/>
              <a:ea typeface="Calibri"/>
              <a:cs typeface="Calibri"/>
              <a:sym typeface="Calibri"/>
            </a:endParaRPr>
          </a:p>
        </p:txBody>
      </p:sp>
      <p:sp>
        <p:nvSpPr>
          <p:cNvPr id="105" name="Google Shape;105;p7"/>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NECESIDAD Y ALCANCE</a:t>
            </a:r>
            <a:endParaRPr b="0" i="0" sz="1200" u="none" cap="none" strike="noStrike">
              <a:solidFill>
                <a:schemeClr val="dk1"/>
              </a:solidFill>
              <a:latin typeface="Calibri"/>
              <a:ea typeface="Calibri"/>
              <a:cs typeface="Calibri"/>
              <a:sym typeface="Calibri"/>
            </a:endParaRPr>
          </a:p>
        </p:txBody>
      </p:sp>
      <p:sp>
        <p:nvSpPr>
          <p:cNvPr id="106" name="Google Shape;106;p7"/>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07" name="Google Shape;107;p7"/>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108" name="Google Shape;108;p7"/>
          <p:cNvSpPr/>
          <p:nvPr/>
        </p:nvSpPr>
        <p:spPr>
          <a:xfrm>
            <a:off x="548640" y="1325880"/>
            <a:ext cx="11109600" cy="868320"/>
          </a:xfrm>
          <a:prstGeom prst="roundRect">
            <a:avLst>
              <a:gd fmla="val 12632"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09" name="Google Shape;109;p7"/>
          <p:cNvSpPr/>
          <p:nvPr/>
        </p:nvSpPr>
        <p:spPr>
          <a:xfrm>
            <a:off x="822960" y="1325880"/>
            <a:ext cx="10606680" cy="868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700"/>
              <a:buFont typeface="Arial"/>
              <a:buNone/>
            </a:pPr>
            <a:r>
              <a:rPr b="1" i="0" lang="en-US" spc="0" sz="1700" u="none" cap="none" strike="noStrike">
                <a:solidFill>
                  <a:schemeClr val="lt1"/>
                </a:solidFill>
                <a:latin typeface="Calibri"/>
                <a:ea typeface="Calibri"/>
                <a:cs typeface="Calibri"/>
                <a:sym typeface="Calibri"/>
              </a:rPr>
              <a:t>Describe con tus palabras la música que te gusta </a:t>
            </a:r>
            <a:r>
              <a:rPr b="0" i="0" lang="en-US" spc="0" sz="1700" u="none" cap="none" strike="noStrike">
                <a:solidFill>
                  <a:schemeClr val="lt2"/>
                </a:solidFill>
                <a:latin typeface="Calibri"/>
                <a:ea typeface="Calibri"/>
                <a:cs typeface="Calibri"/>
                <a:sym typeface="Calibri"/>
              </a:rPr>
              <a:t>y recibe en la misma pantalla entre 3 y 5 artistas recomendados, con el porqué y una canción para empezar.</a:t>
            </a:r>
            <a:endParaRPr b="0" i="0" spc="0" sz="1700" u="none" cap="none" strike="noStrike">
              <a:solidFill>
                <a:srgbClr val="FFFFFF"/>
              </a:solidFill>
              <a:latin typeface="Arial"/>
              <a:ea typeface="Arial"/>
              <a:cs typeface="Arial"/>
              <a:sym typeface="Arial"/>
            </a:endParaRPr>
          </a:p>
        </p:txBody>
      </p:sp>
      <p:sp>
        <p:nvSpPr>
          <p:cNvPr id="110" name="Google Shape;110;p7"/>
          <p:cNvSpPr/>
          <p:nvPr/>
        </p:nvSpPr>
        <p:spPr>
          <a:xfrm>
            <a:off x="548640" y="2423160"/>
            <a:ext cx="5486040" cy="3657240"/>
          </a:xfrm>
          <a:prstGeom prst="roundRect">
            <a:avLst>
              <a:gd fmla="val 3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11" name="Google Shape;111;p7"/>
          <p:cNvSpPr/>
          <p:nvPr/>
        </p:nvSpPr>
        <p:spPr>
          <a:xfrm>
            <a:off x="822960" y="2606040"/>
            <a:ext cx="493740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1"/>
                </a:solidFill>
                <a:latin typeface="Calibri"/>
                <a:ea typeface="Calibri"/>
                <a:cs typeface="Calibri"/>
                <a:sym typeface="Calibri"/>
              </a:rPr>
              <a:t>La necesidad</a:t>
            </a:r>
            <a:endParaRPr b="0" i="0" spc="0" sz="2000" u="none" cap="none" strike="noStrike">
              <a:solidFill>
                <a:srgbClr val="FFFFFF"/>
              </a:solidFill>
              <a:latin typeface="Arial"/>
              <a:ea typeface="Arial"/>
              <a:cs typeface="Arial"/>
              <a:sym typeface="Arial"/>
            </a:endParaRPr>
          </a:p>
        </p:txBody>
      </p:sp>
      <p:sp>
        <p:nvSpPr>
          <p:cNvPr id="112" name="Google Shape;112;p7"/>
          <p:cNvSpPr/>
          <p:nvPr/>
        </p:nvSpPr>
        <p:spPr>
          <a:xfrm>
            <a:off x="822960" y="3108960"/>
            <a:ext cx="4937400" cy="283428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Descubrir artistas nuevos suele obligar a buscar en varias fuentes.</a:t>
            </a:r>
            <a:endParaRPr b="0" i="0" spc="0" sz="1400" u="none" cap="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Las recomendaciones habituales no explican por qué encajan contigo.</a:t>
            </a:r>
            <a:endParaRPr b="0" i="0" spc="0" sz="1400" u="none" cap="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Usuario: cualquier persona que quiera descubrir música parecida a la que ya le gusta.</a:t>
            </a:r>
            <a:endParaRPr b="0" i="0" spc="0" sz="1400" u="none" cap="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App 2: solo con sesión iniciada, para evitar usos anónimos de la IA.</a:t>
            </a:r>
            <a:endParaRPr b="0" i="0" spc="0" sz="1400" u="none" cap="none" strike="noStrike">
              <a:solidFill>
                <a:srgbClr val="FFFFFF"/>
              </a:solidFill>
              <a:latin typeface="Arial"/>
              <a:ea typeface="Arial"/>
              <a:cs typeface="Arial"/>
              <a:sym typeface="Arial"/>
            </a:endParaRPr>
          </a:p>
        </p:txBody>
      </p:sp>
      <p:sp>
        <p:nvSpPr>
          <p:cNvPr id="113" name="Google Shape;113;p7"/>
          <p:cNvSpPr/>
          <p:nvPr/>
        </p:nvSpPr>
        <p:spPr>
          <a:xfrm>
            <a:off x="6263640" y="2423160"/>
            <a:ext cx="5394600" cy="3657240"/>
          </a:xfrm>
          <a:prstGeom prst="roundRect">
            <a:avLst>
              <a:gd fmla="val 3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14" name="Google Shape;114;p7"/>
          <p:cNvSpPr/>
          <p:nvPr/>
        </p:nvSpPr>
        <p:spPr>
          <a:xfrm>
            <a:off x="6537960" y="2606040"/>
            <a:ext cx="484596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1"/>
                </a:solidFill>
                <a:latin typeface="Calibri"/>
                <a:ea typeface="Calibri"/>
                <a:cs typeface="Calibri"/>
                <a:sym typeface="Calibri"/>
              </a:rPr>
              <a:t>Regla de simplicidad</a:t>
            </a:r>
            <a:endParaRPr b="0" i="0" spc="0" sz="2000" u="none" cap="none" strike="noStrike">
              <a:solidFill>
                <a:srgbClr val="FFFFFF"/>
              </a:solidFill>
              <a:latin typeface="Arial"/>
              <a:ea typeface="Arial"/>
              <a:cs typeface="Arial"/>
              <a:sym typeface="Arial"/>
            </a:endParaRPr>
          </a:p>
        </p:txBody>
      </p:sp>
      <p:sp>
        <p:nvSpPr>
          <p:cNvPr id="115" name="Google Shape;115;p7"/>
          <p:cNvSpPr/>
          <p:nvPr/>
        </p:nvSpPr>
        <p:spPr>
          <a:xfrm>
            <a:off x="6537960" y="310896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16" name="Google Shape;116;p7"/>
          <p:cNvSpPr/>
          <p:nvPr/>
        </p:nvSpPr>
        <p:spPr>
          <a:xfrm>
            <a:off x="6720840" y="310896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pc="0" sz="3000" u="none" cap="none" strike="noStrike">
                <a:solidFill>
                  <a:schemeClr val="accent1"/>
                </a:solidFill>
                <a:latin typeface="Calibri"/>
                <a:ea typeface="Calibri"/>
                <a:cs typeface="Calibri"/>
                <a:sym typeface="Calibri"/>
              </a:rPr>
              <a:t>1  </a:t>
            </a:r>
            <a:r>
              <a:rPr b="1" i="0" lang="en-US" spc="0" sz="1600" u="none" cap="none" strike="noStrike">
                <a:solidFill>
                  <a:schemeClr val="lt1"/>
                </a:solidFill>
                <a:latin typeface="Calibri"/>
                <a:ea typeface="Calibri"/>
                <a:cs typeface="Calibri"/>
                <a:sym typeface="Calibri"/>
              </a:rPr>
              <a:t>pantalla</a:t>
            </a:r>
            <a:endParaRPr b="0" i="0" spc="0" sz="1600" u="none" cap="none" strike="noStrike">
              <a:solidFill>
                <a:srgbClr val="FFFFFF"/>
              </a:solidFill>
              <a:latin typeface="Arial"/>
              <a:ea typeface="Arial"/>
              <a:cs typeface="Arial"/>
              <a:sym typeface="Arial"/>
            </a:endParaRPr>
          </a:p>
        </p:txBody>
      </p:sp>
      <p:sp>
        <p:nvSpPr>
          <p:cNvPr id="117" name="Google Shape;117;p7"/>
          <p:cNvSpPr/>
          <p:nvPr/>
        </p:nvSpPr>
        <p:spPr>
          <a:xfrm>
            <a:off x="9006840" y="310896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18" name="Google Shape;118;p7"/>
          <p:cNvSpPr/>
          <p:nvPr/>
        </p:nvSpPr>
        <p:spPr>
          <a:xfrm>
            <a:off x="9189720" y="310896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pc="0" sz="3000" u="none" cap="none" strike="noStrike">
                <a:solidFill>
                  <a:schemeClr val="accent1"/>
                </a:solidFill>
                <a:latin typeface="Calibri"/>
                <a:ea typeface="Calibri"/>
                <a:cs typeface="Calibri"/>
                <a:sym typeface="Calibri"/>
              </a:rPr>
              <a:t>1  </a:t>
            </a:r>
            <a:r>
              <a:rPr b="1" i="0" lang="en-US" spc="0" sz="1600" u="none" cap="none" strike="noStrike">
                <a:solidFill>
                  <a:schemeClr val="lt1"/>
                </a:solidFill>
                <a:latin typeface="Calibri"/>
                <a:ea typeface="Calibri"/>
                <a:cs typeface="Calibri"/>
                <a:sym typeface="Calibri"/>
              </a:rPr>
              <a:t>formulario</a:t>
            </a:r>
            <a:endParaRPr b="0" i="0" spc="0" sz="1600" u="none" cap="none" strike="noStrike">
              <a:solidFill>
                <a:srgbClr val="FFFFFF"/>
              </a:solidFill>
              <a:latin typeface="Arial"/>
              <a:ea typeface="Arial"/>
              <a:cs typeface="Arial"/>
              <a:sym typeface="Arial"/>
            </a:endParaRPr>
          </a:p>
        </p:txBody>
      </p:sp>
      <p:sp>
        <p:nvSpPr>
          <p:cNvPr id="119" name="Google Shape;119;p7"/>
          <p:cNvSpPr/>
          <p:nvPr/>
        </p:nvSpPr>
        <p:spPr>
          <a:xfrm>
            <a:off x="6537960" y="406908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20" name="Google Shape;120;p7"/>
          <p:cNvSpPr/>
          <p:nvPr/>
        </p:nvSpPr>
        <p:spPr>
          <a:xfrm>
            <a:off x="6720840" y="406908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pc="0" sz="3000" u="none" cap="none" strike="noStrike">
                <a:solidFill>
                  <a:schemeClr val="accent1"/>
                </a:solidFill>
                <a:latin typeface="Calibri"/>
                <a:ea typeface="Calibri"/>
                <a:cs typeface="Calibri"/>
                <a:sym typeface="Calibri"/>
              </a:rPr>
              <a:t>1  </a:t>
            </a:r>
            <a:r>
              <a:rPr b="1" i="0" lang="en-US" spc="0" sz="1600" u="none" cap="none" strike="noStrike">
                <a:solidFill>
                  <a:schemeClr val="lt1"/>
                </a:solidFill>
                <a:latin typeface="Calibri"/>
                <a:ea typeface="Calibri"/>
                <a:cs typeface="Calibri"/>
                <a:sym typeface="Calibri"/>
              </a:rPr>
              <a:t>función útil</a:t>
            </a:r>
            <a:endParaRPr b="0" i="0" spc="0" sz="1600" u="none" cap="none" strike="noStrike">
              <a:solidFill>
                <a:srgbClr val="FFFFFF"/>
              </a:solidFill>
              <a:latin typeface="Arial"/>
              <a:ea typeface="Arial"/>
              <a:cs typeface="Arial"/>
              <a:sym typeface="Arial"/>
            </a:endParaRPr>
          </a:p>
        </p:txBody>
      </p:sp>
      <p:sp>
        <p:nvSpPr>
          <p:cNvPr id="121" name="Google Shape;121;p7"/>
          <p:cNvSpPr/>
          <p:nvPr/>
        </p:nvSpPr>
        <p:spPr>
          <a:xfrm>
            <a:off x="9006840" y="406908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22" name="Google Shape;122;p7"/>
          <p:cNvSpPr/>
          <p:nvPr/>
        </p:nvSpPr>
        <p:spPr>
          <a:xfrm>
            <a:off x="9189720" y="406908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000"/>
              <a:buFont typeface="Arial"/>
              <a:buNone/>
            </a:pPr>
            <a:r>
              <a:rPr b="1" i="0" lang="en-US" spc="0" sz="3000" u="none" cap="none" strike="noStrike">
                <a:solidFill>
                  <a:schemeClr val="accent1"/>
                </a:solidFill>
                <a:latin typeface="Calibri"/>
                <a:ea typeface="Calibri"/>
                <a:cs typeface="Calibri"/>
                <a:sym typeface="Calibri"/>
              </a:rPr>
              <a:t>1  </a:t>
            </a:r>
            <a:r>
              <a:rPr b="1" i="0" lang="en-US" spc="0" sz="1600" u="none" cap="none" strike="noStrike">
                <a:solidFill>
                  <a:schemeClr val="lt1"/>
                </a:solidFill>
                <a:latin typeface="Calibri"/>
                <a:ea typeface="Calibri"/>
                <a:cs typeface="Calibri"/>
                <a:sym typeface="Calibri"/>
              </a:rPr>
              <a:t>API de IA</a:t>
            </a:r>
            <a:endParaRPr b="0" i="0" spc="0" sz="1600" u="none" cap="none" strike="noStrike">
              <a:solidFill>
                <a:srgbClr val="FFFFFF"/>
              </a:solidFill>
              <a:latin typeface="Arial"/>
              <a:ea typeface="Arial"/>
              <a:cs typeface="Arial"/>
              <a:sym typeface="Arial"/>
            </a:endParaRPr>
          </a:p>
        </p:txBody>
      </p:sp>
      <p:sp>
        <p:nvSpPr>
          <p:cNvPr id="123" name="Google Shape;123;p7"/>
          <p:cNvSpPr/>
          <p:nvPr/>
        </p:nvSpPr>
        <p:spPr>
          <a:xfrm>
            <a:off x="6537960" y="5120640"/>
            <a:ext cx="484596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Fuera del alcance: </a:t>
            </a:r>
            <a:r>
              <a:rPr b="0" i="0" lang="en-US" spc="0" sz="1300" u="none" cap="none" strike="noStrike">
                <a:solidFill>
                  <a:schemeClr val="lt2"/>
                </a:solidFill>
                <a:latin typeface="Calibri"/>
                <a:ea typeface="Calibri"/>
                <a:cs typeface="Calibri"/>
                <a:sym typeface="Calibri"/>
              </a:rPr>
              <a:t>bases de datos y localStorage, historial y chat, login propio o varias pantallas.</a:t>
            </a:r>
            <a:endParaRPr b="0" i="0" spc="0" sz="1300" u="none" cap="none" strike="noStrike">
              <a:solidFill>
                <a:srgbClr val="FFFFFF"/>
              </a:solidFill>
              <a:latin typeface="Arial"/>
              <a:ea typeface="Arial"/>
              <a:cs typeface="Arial"/>
              <a:sym typeface="Arial"/>
            </a:endParaRPr>
          </a:p>
        </p:txBody>
      </p:sp>
      <p:sp>
        <p:nvSpPr>
          <p:cNvPr id="124" name="Google Shape;124;p7"/>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8"/>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Arquitectura y flujo</a:t>
            </a:r>
            <a:endParaRPr b="0" sz="3400" u="none" strike="noStrike">
              <a:solidFill>
                <a:schemeClr val="dk1"/>
              </a:solidFill>
              <a:latin typeface="Calibri"/>
              <a:ea typeface="Calibri"/>
              <a:cs typeface="Calibri"/>
              <a:sym typeface="Calibri"/>
            </a:endParaRPr>
          </a:p>
        </p:txBody>
      </p:sp>
      <p:sp>
        <p:nvSpPr>
          <p:cNvPr id="130" name="Google Shape;130;p8"/>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 DE CONTEXTO</a:t>
            </a:r>
            <a:endParaRPr b="0" i="0" sz="1200" u="none" cap="none" strike="noStrike">
              <a:solidFill>
                <a:schemeClr val="dk1"/>
              </a:solidFill>
              <a:latin typeface="Calibri"/>
              <a:ea typeface="Calibri"/>
              <a:cs typeface="Calibri"/>
              <a:sym typeface="Calibri"/>
            </a:endParaRPr>
          </a:p>
        </p:txBody>
      </p:sp>
      <p:sp>
        <p:nvSpPr>
          <p:cNvPr id="131" name="Google Shape;131;p8"/>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32" name="Google Shape;132;p8"/>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133" name="Google Shape;133;p8"/>
          <p:cNvSpPr/>
          <p:nvPr/>
        </p:nvSpPr>
        <p:spPr>
          <a:xfrm>
            <a:off x="548640" y="2331720"/>
            <a:ext cx="1737000" cy="959760"/>
          </a:xfrm>
          <a:prstGeom prst="roundRect">
            <a:avLst>
              <a:gd fmla="val 11429"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34" name="Google Shape;134;p8"/>
          <p:cNvSpPr/>
          <p:nvPr/>
        </p:nvSpPr>
        <p:spPr>
          <a:xfrm>
            <a:off x="621720" y="2331720"/>
            <a:ext cx="159084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Usuario</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navegador</a:t>
            </a:r>
            <a:endParaRPr b="0" i="0" spc="0" sz="1100" u="none" cap="none" strike="noStrike">
              <a:solidFill>
                <a:srgbClr val="FFFFFF"/>
              </a:solidFill>
              <a:latin typeface="Arial"/>
              <a:ea typeface="Arial"/>
              <a:cs typeface="Arial"/>
              <a:sym typeface="Arial"/>
            </a:endParaRPr>
          </a:p>
        </p:txBody>
      </p:sp>
      <p:sp>
        <p:nvSpPr>
          <p:cNvPr id="135" name="Google Shape;135;p8"/>
          <p:cNvSpPr/>
          <p:nvPr/>
        </p:nvSpPr>
        <p:spPr>
          <a:xfrm>
            <a:off x="2926080" y="2331720"/>
            <a:ext cx="2377080" cy="959760"/>
          </a:xfrm>
          <a:prstGeom prst="roundRect">
            <a:avLst>
              <a:gd fmla="val 11429"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36" name="Google Shape;136;p8"/>
          <p:cNvSpPr/>
          <p:nvPr/>
        </p:nvSpPr>
        <p:spPr>
          <a:xfrm>
            <a:off x="2999160" y="2331720"/>
            <a:ext cx="223092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1"/>
                </a:solidFill>
                <a:latin typeface="Calibri"/>
                <a:ea typeface="Calibri"/>
                <a:cs typeface="Calibri"/>
                <a:sym typeface="Calibri"/>
              </a:rPr>
              <a:t>Frontend SPA</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Vue 3 + Tailwind</a:t>
            </a:r>
            <a:endParaRPr b="0" i="0" spc="0" sz="1100" u="none" cap="none" strike="noStrike">
              <a:solidFill>
                <a:srgbClr val="FFFFFF"/>
              </a:solidFill>
              <a:latin typeface="Arial"/>
              <a:ea typeface="Arial"/>
              <a:cs typeface="Arial"/>
              <a:sym typeface="Arial"/>
            </a:endParaRPr>
          </a:p>
        </p:txBody>
      </p:sp>
      <p:sp>
        <p:nvSpPr>
          <p:cNvPr id="137" name="Google Shape;137;p8"/>
          <p:cNvSpPr/>
          <p:nvPr/>
        </p:nvSpPr>
        <p:spPr>
          <a:xfrm>
            <a:off x="5943600" y="2331720"/>
            <a:ext cx="2377080" cy="959760"/>
          </a:xfrm>
          <a:prstGeom prst="roundRect">
            <a:avLst>
              <a:gd fmla="val 11429"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38" name="Google Shape;138;p8"/>
          <p:cNvSpPr/>
          <p:nvPr/>
        </p:nvSpPr>
        <p:spPr>
          <a:xfrm>
            <a:off x="6016680" y="2331720"/>
            <a:ext cx="223092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Backend FastAPI</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valida y llama a la IA</a:t>
            </a:r>
            <a:endParaRPr b="0" i="0" spc="0" sz="1100" u="none" cap="none" strike="noStrike">
              <a:solidFill>
                <a:srgbClr val="FFFFFF"/>
              </a:solidFill>
              <a:latin typeface="Arial"/>
              <a:ea typeface="Arial"/>
              <a:cs typeface="Arial"/>
              <a:sym typeface="Arial"/>
            </a:endParaRPr>
          </a:p>
        </p:txBody>
      </p:sp>
      <p:sp>
        <p:nvSpPr>
          <p:cNvPr id="139" name="Google Shape;139;p8"/>
          <p:cNvSpPr/>
          <p:nvPr/>
        </p:nvSpPr>
        <p:spPr>
          <a:xfrm>
            <a:off x="8961120" y="2331720"/>
            <a:ext cx="2697120" cy="959760"/>
          </a:xfrm>
          <a:prstGeom prst="roundRect">
            <a:avLst>
              <a:gd fmla="val 11429"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40" name="Google Shape;140;p8"/>
          <p:cNvSpPr/>
          <p:nvPr/>
        </p:nvSpPr>
        <p:spPr>
          <a:xfrm>
            <a:off x="9034200" y="2331720"/>
            <a:ext cx="255096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2"/>
                </a:solidFill>
                <a:latin typeface="Calibri"/>
                <a:ea typeface="Calibri"/>
                <a:cs typeface="Calibri"/>
                <a:sym typeface="Calibri"/>
              </a:rPr>
              <a:t>API de Gemini</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gemini-3.5-flash-lite</a:t>
            </a:r>
            <a:endParaRPr b="0" i="0" spc="0" sz="1100" u="none" cap="none" strike="noStrike">
              <a:solidFill>
                <a:srgbClr val="FFFFFF"/>
              </a:solidFill>
              <a:latin typeface="Arial"/>
              <a:ea typeface="Arial"/>
              <a:cs typeface="Arial"/>
              <a:sym typeface="Arial"/>
            </a:endParaRPr>
          </a:p>
        </p:txBody>
      </p:sp>
      <p:sp>
        <p:nvSpPr>
          <p:cNvPr id="141" name="Google Shape;141;p8"/>
          <p:cNvSpPr/>
          <p:nvPr/>
        </p:nvSpPr>
        <p:spPr>
          <a:xfrm>
            <a:off x="4206240" y="1325880"/>
            <a:ext cx="3291480" cy="548280"/>
          </a:xfrm>
          <a:prstGeom prst="roundRect">
            <a:avLst>
              <a:gd fmla="val 20000" name="adj"/>
            </a:avLst>
          </a:prstGeom>
          <a:solidFill>
            <a:schemeClr val="dk2"/>
          </a:solidFill>
          <a:ln cap="flat" cmpd="sng" w="15875">
            <a:solidFill>
              <a:srgbClr val="9B8CFF"/>
            </a:solidFill>
            <a:prstDash val="dash"/>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42" name="Google Shape;142;p8"/>
          <p:cNvSpPr/>
          <p:nvPr/>
        </p:nvSpPr>
        <p:spPr>
          <a:xfrm>
            <a:off x="4279320" y="1325880"/>
            <a:ext cx="3145320" cy="548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Clerk · solo App 2</a:t>
            </a:r>
            <a:endParaRPr b="0" i="0" spc="0" sz="1300" u="none" cap="none" strike="noStrike">
              <a:solidFill>
                <a:srgbClr val="FFFFFF"/>
              </a:solidFill>
              <a:latin typeface="Arial"/>
              <a:ea typeface="Arial"/>
              <a:cs typeface="Arial"/>
              <a:sym typeface="Arial"/>
            </a:endParaRPr>
          </a:p>
        </p:txBody>
      </p:sp>
      <p:cxnSp>
        <p:nvCxnSpPr>
          <p:cNvPr id="143" name="Google Shape;143;p8"/>
          <p:cNvCxnSpPr/>
          <p:nvPr/>
        </p:nvCxnSpPr>
        <p:spPr>
          <a:xfrm>
            <a:off x="4754880" y="1874520"/>
            <a:ext cx="360" cy="457200"/>
          </a:xfrm>
          <a:prstGeom prst="straightConnector1">
            <a:avLst/>
          </a:prstGeom>
          <a:noFill/>
          <a:ln cap="flat" cmpd="sng" w="15875">
            <a:solidFill>
              <a:srgbClr val="9B8CFF"/>
            </a:solidFill>
            <a:prstDash val="dash"/>
            <a:round/>
            <a:headEnd len="sm" w="sm" type="none"/>
            <a:tailEnd len="sm" w="sm" type="none"/>
          </a:ln>
        </p:spPr>
      </p:cxnSp>
      <p:cxnSp>
        <p:nvCxnSpPr>
          <p:cNvPr id="144" name="Google Shape;144;p8"/>
          <p:cNvCxnSpPr/>
          <p:nvPr/>
        </p:nvCxnSpPr>
        <p:spPr>
          <a:xfrm>
            <a:off x="6949440" y="1874520"/>
            <a:ext cx="360" cy="457200"/>
          </a:xfrm>
          <a:prstGeom prst="straightConnector1">
            <a:avLst/>
          </a:prstGeom>
          <a:noFill/>
          <a:ln cap="flat" cmpd="sng" w="15875">
            <a:solidFill>
              <a:srgbClr val="9B8CFF"/>
            </a:solidFill>
            <a:prstDash val="dash"/>
            <a:round/>
            <a:headEnd len="sm" w="sm" type="none"/>
            <a:tailEnd len="sm" w="sm" type="none"/>
          </a:ln>
        </p:spPr>
      </p:cxnSp>
      <p:sp>
        <p:nvSpPr>
          <p:cNvPr id="145" name="Google Shape;145;p8"/>
          <p:cNvSpPr/>
          <p:nvPr/>
        </p:nvSpPr>
        <p:spPr>
          <a:xfrm>
            <a:off x="4160520" y="1965960"/>
            <a:ext cx="548280" cy="27396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US" spc="0" sz="1000" u="none" cap="none" strike="noStrike">
                <a:solidFill>
                  <a:schemeClr val="accent2"/>
                </a:solidFill>
                <a:latin typeface="Calibri"/>
                <a:ea typeface="Calibri"/>
                <a:cs typeface="Calibri"/>
                <a:sym typeface="Calibri"/>
              </a:rPr>
              <a:t>token</a:t>
            </a:r>
            <a:endParaRPr b="0" i="0" spc="0" sz="1000" u="none" cap="none" strike="noStrike">
              <a:solidFill>
                <a:srgbClr val="FFFFFF"/>
              </a:solidFill>
              <a:latin typeface="Arial"/>
              <a:ea typeface="Arial"/>
              <a:cs typeface="Arial"/>
              <a:sym typeface="Arial"/>
            </a:endParaRPr>
          </a:p>
        </p:txBody>
      </p:sp>
      <p:sp>
        <p:nvSpPr>
          <p:cNvPr id="146" name="Google Shape;146;p8"/>
          <p:cNvSpPr/>
          <p:nvPr/>
        </p:nvSpPr>
        <p:spPr>
          <a:xfrm>
            <a:off x="7022520" y="1965960"/>
            <a:ext cx="54828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accent2"/>
                </a:solidFill>
                <a:latin typeface="Calibri"/>
                <a:ea typeface="Calibri"/>
                <a:cs typeface="Calibri"/>
                <a:sym typeface="Calibri"/>
              </a:rPr>
              <a:t>JWKS</a:t>
            </a:r>
            <a:endParaRPr b="0" i="0" spc="0" sz="1000" u="none" cap="none" strike="noStrike">
              <a:solidFill>
                <a:srgbClr val="FFFFFF"/>
              </a:solidFill>
              <a:latin typeface="Arial"/>
              <a:ea typeface="Arial"/>
              <a:cs typeface="Arial"/>
              <a:sym typeface="Arial"/>
            </a:endParaRPr>
          </a:p>
        </p:txBody>
      </p:sp>
      <p:cxnSp>
        <p:nvCxnSpPr>
          <p:cNvPr id="147" name="Google Shape;147;p8"/>
          <p:cNvCxnSpPr/>
          <p:nvPr/>
        </p:nvCxnSpPr>
        <p:spPr>
          <a:xfrm>
            <a:off x="2286000" y="2633400"/>
            <a:ext cx="640080" cy="360"/>
          </a:xfrm>
          <a:prstGeom prst="straightConnector1">
            <a:avLst/>
          </a:prstGeom>
          <a:noFill/>
          <a:ln cap="flat" cmpd="sng" w="15875">
            <a:solidFill>
              <a:srgbClr val="E86CCA"/>
            </a:solidFill>
            <a:prstDash val="solid"/>
            <a:round/>
            <a:headEnd len="sm" w="sm" type="none"/>
            <a:tailEnd len="med" w="med" type="triangle"/>
          </a:ln>
        </p:spPr>
      </p:cxnSp>
      <p:sp>
        <p:nvSpPr>
          <p:cNvPr id="148" name="Google Shape;148;p8"/>
          <p:cNvSpPr/>
          <p:nvPr/>
        </p:nvSpPr>
        <p:spPr>
          <a:xfrm>
            <a:off x="2468880" y="2496240"/>
            <a:ext cx="273960" cy="273960"/>
          </a:xfrm>
          <a:prstGeom prst="ellipse">
            <a:avLst/>
          </a:prstGeom>
          <a:solidFill>
            <a:schemeClr val="accen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49" name="Google Shape;149;p8"/>
          <p:cNvSpPr/>
          <p:nvPr/>
        </p:nvSpPr>
        <p:spPr>
          <a:xfrm>
            <a:off x="2468880" y="249624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1</a:t>
            </a:r>
            <a:endParaRPr b="0" i="0" spc="0" sz="1100" u="none" cap="none" strike="noStrike">
              <a:solidFill>
                <a:srgbClr val="FFFFFF"/>
              </a:solidFill>
              <a:latin typeface="Arial"/>
              <a:ea typeface="Arial"/>
              <a:cs typeface="Arial"/>
              <a:sym typeface="Arial"/>
            </a:endParaRPr>
          </a:p>
        </p:txBody>
      </p:sp>
      <p:cxnSp>
        <p:nvCxnSpPr>
          <p:cNvPr id="150" name="Google Shape;150;p8"/>
          <p:cNvCxnSpPr/>
          <p:nvPr/>
        </p:nvCxnSpPr>
        <p:spPr>
          <a:xfrm>
            <a:off x="5303520" y="2633400"/>
            <a:ext cx="640080" cy="360"/>
          </a:xfrm>
          <a:prstGeom prst="straightConnector1">
            <a:avLst/>
          </a:prstGeom>
          <a:noFill/>
          <a:ln cap="flat" cmpd="sng" w="15875">
            <a:solidFill>
              <a:srgbClr val="E86CCA"/>
            </a:solidFill>
            <a:prstDash val="solid"/>
            <a:round/>
            <a:headEnd len="sm" w="sm" type="none"/>
            <a:tailEnd len="med" w="med" type="triangle"/>
          </a:ln>
        </p:spPr>
      </p:cxnSp>
      <p:sp>
        <p:nvSpPr>
          <p:cNvPr id="151" name="Google Shape;151;p8"/>
          <p:cNvSpPr/>
          <p:nvPr/>
        </p:nvSpPr>
        <p:spPr>
          <a:xfrm>
            <a:off x="5486400" y="2496240"/>
            <a:ext cx="273960" cy="273960"/>
          </a:xfrm>
          <a:prstGeom prst="ellipse">
            <a:avLst/>
          </a:prstGeom>
          <a:solidFill>
            <a:schemeClr val="accen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52" name="Google Shape;152;p8"/>
          <p:cNvSpPr/>
          <p:nvPr/>
        </p:nvSpPr>
        <p:spPr>
          <a:xfrm>
            <a:off x="5486400" y="249624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2</a:t>
            </a:r>
            <a:endParaRPr b="0" i="0" spc="0" sz="1100" u="none" cap="none" strike="noStrike">
              <a:solidFill>
                <a:srgbClr val="FFFFFF"/>
              </a:solidFill>
              <a:latin typeface="Arial"/>
              <a:ea typeface="Arial"/>
              <a:cs typeface="Arial"/>
              <a:sym typeface="Arial"/>
            </a:endParaRPr>
          </a:p>
        </p:txBody>
      </p:sp>
      <p:cxnSp>
        <p:nvCxnSpPr>
          <p:cNvPr id="153" name="Google Shape;153;p8"/>
          <p:cNvCxnSpPr/>
          <p:nvPr/>
        </p:nvCxnSpPr>
        <p:spPr>
          <a:xfrm>
            <a:off x="8321040" y="2633400"/>
            <a:ext cx="640080" cy="360"/>
          </a:xfrm>
          <a:prstGeom prst="straightConnector1">
            <a:avLst/>
          </a:prstGeom>
          <a:noFill/>
          <a:ln cap="flat" cmpd="sng" w="15875">
            <a:solidFill>
              <a:srgbClr val="E86CCA"/>
            </a:solidFill>
            <a:prstDash val="solid"/>
            <a:round/>
            <a:headEnd len="sm" w="sm" type="none"/>
            <a:tailEnd len="med" w="med" type="triangle"/>
          </a:ln>
        </p:spPr>
      </p:cxnSp>
      <p:sp>
        <p:nvSpPr>
          <p:cNvPr id="154" name="Google Shape;154;p8"/>
          <p:cNvSpPr/>
          <p:nvPr/>
        </p:nvSpPr>
        <p:spPr>
          <a:xfrm>
            <a:off x="8503920" y="2496240"/>
            <a:ext cx="273960" cy="273960"/>
          </a:xfrm>
          <a:prstGeom prst="ellipse">
            <a:avLst/>
          </a:prstGeom>
          <a:solidFill>
            <a:schemeClr val="accen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55" name="Google Shape;155;p8"/>
          <p:cNvSpPr/>
          <p:nvPr/>
        </p:nvSpPr>
        <p:spPr>
          <a:xfrm>
            <a:off x="8503920" y="249624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3</a:t>
            </a:r>
            <a:endParaRPr b="0" i="0" spc="0" sz="1100" u="none" cap="none" strike="noStrike">
              <a:solidFill>
                <a:srgbClr val="FFFFFF"/>
              </a:solidFill>
              <a:latin typeface="Arial"/>
              <a:ea typeface="Arial"/>
              <a:cs typeface="Arial"/>
              <a:sym typeface="Arial"/>
            </a:endParaRPr>
          </a:p>
        </p:txBody>
      </p:sp>
      <p:cxnSp>
        <p:nvCxnSpPr>
          <p:cNvPr id="156" name="Google Shape;156;p8"/>
          <p:cNvCxnSpPr/>
          <p:nvPr/>
        </p:nvCxnSpPr>
        <p:spPr>
          <a:xfrm flipH="1">
            <a:off x="8321040" y="3017520"/>
            <a:ext cx="640080" cy="360"/>
          </a:xfrm>
          <a:prstGeom prst="straightConnector1">
            <a:avLst/>
          </a:prstGeom>
          <a:noFill/>
          <a:ln cap="flat" cmpd="sng" w="15875">
            <a:solidFill>
              <a:srgbClr val="A9A9BF"/>
            </a:solidFill>
            <a:prstDash val="dash"/>
            <a:round/>
            <a:headEnd len="sm" w="sm" type="none"/>
            <a:tailEnd len="med" w="med" type="triangle"/>
          </a:ln>
        </p:spPr>
      </p:cxnSp>
      <p:sp>
        <p:nvSpPr>
          <p:cNvPr id="157" name="Google Shape;157;p8"/>
          <p:cNvSpPr/>
          <p:nvPr/>
        </p:nvSpPr>
        <p:spPr>
          <a:xfrm>
            <a:off x="8503920" y="2880360"/>
            <a:ext cx="273960" cy="273960"/>
          </a:xfrm>
          <a:prstGeom prst="ellipse">
            <a:avLst/>
          </a:prstGeom>
          <a:solidFill>
            <a:schemeClr val="l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158" name="Google Shape;158;p8"/>
          <p:cNvSpPr/>
          <p:nvPr/>
        </p:nvSpPr>
        <p:spPr>
          <a:xfrm>
            <a:off x="8503920" y="288036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4</a:t>
            </a:r>
            <a:endParaRPr b="0" i="0" spc="0" sz="1100" u="none" cap="none" strike="noStrike">
              <a:solidFill>
                <a:srgbClr val="FFFFFF"/>
              </a:solidFill>
              <a:latin typeface="Arial"/>
              <a:ea typeface="Arial"/>
              <a:cs typeface="Arial"/>
              <a:sym typeface="Arial"/>
            </a:endParaRPr>
          </a:p>
        </p:txBody>
      </p:sp>
      <p:cxnSp>
        <p:nvCxnSpPr>
          <p:cNvPr id="159" name="Google Shape;159;p8"/>
          <p:cNvCxnSpPr/>
          <p:nvPr/>
        </p:nvCxnSpPr>
        <p:spPr>
          <a:xfrm flipH="1">
            <a:off x="5303520" y="3017520"/>
            <a:ext cx="640080" cy="360"/>
          </a:xfrm>
          <a:prstGeom prst="straightConnector1">
            <a:avLst/>
          </a:prstGeom>
          <a:noFill/>
          <a:ln cap="flat" cmpd="sng" w="15875">
            <a:solidFill>
              <a:srgbClr val="A9A9BF"/>
            </a:solidFill>
            <a:prstDash val="dash"/>
            <a:round/>
            <a:headEnd len="sm" w="sm" type="none"/>
            <a:tailEnd len="med" w="med" type="triangle"/>
          </a:ln>
        </p:spPr>
      </p:cxnSp>
      <p:sp>
        <p:nvSpPr>
          <p:cNvPr id="160" name="Google Shape;160;p8"/>
          <p:cNvSpPr/>
          <p:nvPr/>
        </p:nvSpPr>
        <p:spPr>
          <a:xfrm>
            <a:off x="5486400" y="2880360"/>
            <a:ext cx="273960" cy="273960"/>
          </a:xfrm>
          <a:prstGeom prst="ellipse">
            <a:avLst/>
          </a:prstGeom>
          <a:solidFill>
            <a:schemeClr val="l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161" name="Google Shape;161;p8"/>
          <p:cNvSpPr/>
          <p:nvPr/>
        </p:nvSpPr>
        <p:spPr>
          <a:xfrm>
            <a:off x="5486400" y="288036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5</a:t>
            </a:r>
            <a:endParaRPr b="0" i="0" spc="0" sz="1100" u="none" cap="none" strike="noStrike">
              <a:solidFill>
                <a:srgbClr val="FFFFFF"/>
              </a:solidFill>
              <a:latin typeface="Arial"/>
              <a:ea typeface="Arial"/>
              <a:cs typeface="Arial"/>
              <a:sym typeface="Arial"/>
            </a:endParaRPr>
          </a:p>
        </p:txBody>
      </p:sp>
      <p:cxnSp>
        <p:nvCxnSpPr>
          <p:cNvPr id="162" name="Google Shape;162;p8"/>
          <p:cNvCxnSpPr/>
          <p:nvPr/>
        </p:nvCxnSpPr>
        <p:spPr>
          <a:xfrm flipH="1">
            <a:off x="2286000" y="3017520"/>
            <a:ext cx="640080" cy="360"/>
          </a:xfrm>
          <a:prstGeom prst="straightConnector1">
            <a:avLst/>
          </a:prstGeom>
          <a:noFill/>
          <a:ln cap="flat" cmpd="sng" w="15875">
            <a:solidFill>
              <a:srgbClr val="A9A9BF"/>
            </a:solidFill>
            <a:prstDash val="dash"/>
            <a:round/>
            <a:headEnd len="sm" w="sm" type="none"/>
            <a:tailEnd len="med" w="med" type="triangle"/>
          </a:ln>
        </p:spPr>
      </p:cxnSp>
      <p:sp>
        <p:nvSpPr>
          <p:cNvPr id="163" name="Google Shape;163;p8"/>
          <p:cNvSpPr/>
          <p:nvPr/>
        </p:nvSpPr>
        <p:spPr>
          <a:xfrm>
            <a:off x="2468880" y="2880360"/>
            <a:ext cx="273960" cy="273960"/>
          </a:xfrm>
          <a:prstGeom prst="ellipse">
            <a:avLst/>
          </a:prstGeom>
          <a:solidFill>
            <a:schemeClr val="l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164" name="Google Shape;164;p8"/>
          <p:cNvSpPr/>
          <p:nvPr/>
        </p:nvSpPr>
        <p:spPr>
          <a:xfrm>
            <a:off x="2468880" y="288036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6</a:t>
            </a:r>
            <a:endParaRPr b="0" i="0" spc="0" sz="1100" u="none" cap="none" strike="noStrike">
              <a:solidFill>
                <a:srgbClr val="FFFFFF"/>
              </a:solidFill>
              <a:latin typeface="Arial"/>
              <a:ea typeface="Arial"/>
              <a:cs typeface="Arial"/>
              <a:sym typeface="Arial"/>
            </a:endParaRPr>
          </a:p>
        </p:txBody>
      </p:sp>
      <p:sp>
        <p:nvSpPr>
          <p:cNvPr id="165" name="Google Shape;165;p8"/>
          <p:cNvSpPr/>
          <p:nvPr/>
        </p:nvSpPr>
        <p:spPr>
          <a:xfrm>
            <a:off x="54864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66" name="Google Shape;166;p8"/>
          <p:cNvSpPr/>
          <p:nvPr/>
        </p:nvSpPr>
        <p:spPr>
          <a:xfrm>
            <a:off x="731520" y="3931920"/>
            <a:ext cx="383760" cy="347040"/>
          </a:xfrm>
          <a:prstGeom prst="roundRect">
            <a:avLst>
              <a:gd fmla="val 21053"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67" name="Google Shape;167;p8"/>
          <p:cNvSpPr/>
          <p:nvPr/>
        </p:nvSpPr>
        <p:spPr>
          <a:xfrm>
            <a:off x="73152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1</a:t>
            </a:r>
            <a:endParaRPr b="0" i="0" spc="0" sz="1300" u="none" cap="none" strike="noStrike">
              <a:solidFill>
                <a:srgbClr val="FFFFFF"/>
              </a:solidFill>
              <a:latin typeface="Arial"/>
              <a:ea typeface="Arial"/>
              <a:cs typeface="Arial"/>
              <a:sym typeface="Arial"/>
            </a:endParaRPr>
          </a:p>
        </p:txBody>
      </p:sp>
      <p:sp>
        <p:nvSpPr>
          <p:cNvPr id="168" name="Google Shape;168;p8"/>
          <p:cNvSpPr/>
          <p:nvPr/>
        </p:nvSpPr>
        <p:spPr>
          <a:xfrm>
            <a:off x="73152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El usuario elige géneros y escribe sus gustos en el único formulario.</a:t>
            </a:r>
            <a:endParaRPr b="0" i="0" spc="0" sz="1300" u="none" cap="none" strike="noStrike">
              <a:solidFill>
                <a:srgbClr val="FFFFFF"/>
              </a:solidFill>
              <a:latin typeface="Arial"/>
              <a:ea typeface="Arial"/>
              <a:cs typeface="Arial"/>
              <a:sym typeface="Arial"/>
            </a:endParaRPr>
          </a:p>
        </p:txBody>
      </p:sp>
      <p:sp>
        <p:nvSpPr>
          <p:cNvPr id="169" name="Google Shape;169;p8"/>
          <p:cNvSpPr/>
          <p:nvPr/>
        </p:nvSpPr>
        <p:spPr>
          <a:xfrm>
            <a:off x="241416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70" name="Google Shape;170;p8"/>
          <p:cNvSpPr/>
          <p:nvPr/>
        </p:nvSpPr>
        <p:spPr>
          <a:xfrm>
            <a:off x="2597040" y="3931920"/>
            <a:ext cx="383760" cy="347040"/>
          </a:xfrm>
          <a:prstGeom prst="roundRect">
            <a:avLst>
              <a:gd fmla="val 21053"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71" name="Google Shape;171;p8"/>
          <p:cNvSpPr/>
          <p:nvPr/>
        </p:nvSpPr>
        <p:spPr>
          <a:xfrm>
            <a:off x="259704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2</a:t>
            </a:r>
            <a:endParaRPr b="0" i="0" spc="0" sz="1300" u="none" cap="none" strike="noStrike">
              <a:solidFill>
                <a:srgbClr val="FFFFFF"/>
              </a:solidFill>
              <a:latin typeface="Arial"/>
              <a:ea typeface="Arial"/>
              <a:cs typeface="Arial"/>
              <a:sym typeface="Arial"/>
            </a:endParaRPr>
          </a:p>
        </p:txBody>
      </p:sp>
      <p:sp>
        <p:nvSpPr>
          <p:cNvPr id="172" name="Google Shape;172;p8"/>
          <p:cNvSpPr/>
          <p:nvPr/>
        </p:nvSpPr>
        <p:spPr>
          <a:xfrm>
            <a:off x="259704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La SPA envía POST /api/recommend con JSON (y el token de Clerk en la App 2).</a:t>
            </a:r>
            <a:endParaRPr b="0" i="0" spc="0" sz="1300" u="none" cap="none" strike="noStrike">
              <a:solidFill>
                <a:srgbClr val="FFFFFF"/>
              </a:solidFill>
              <a:latin typeface="Arial"/>
              <a:ea typeface="Arial"/>
              <a:cs typeface="Arial"/>
              <a:sym typeface="Arial"/>
            </a:endParaRPr>
          </a:p>
        </p:txBody>
      </p:sp>
      <p:sp>
        <p:nvSpPr>
          <p:cNvPr id="173" name="Google Shape;173;p8"/>
          <p:cNvSpPr/>
          <p:nvPr/>
        </p:nvSpPr>
        <p:spPr>
          <a:xfrm>
            <a:off x="427932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74" name="Google Shape;174;p8"/>
          <p:cNvSpPr/>
          <p:nvPr/>
        </p:nvSpPr>
        <p:spPr>
          <a:xfrm>
            <a:off x="4462200" y="3931920"/>
            <a:ext cx="383760" cy="347040"/>
          </a:xfrm>
          <a:prstGeom prst="roundRect">
            <a:avLst>
              <a:gd fmla="val 21053"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75" name="Google Shape;175;p8"/>
          <p:cNvSpPr/>
          <p:nvPr/>
        </p:nvSpPr>
        <p:spPr>
          <a:xfrm>
            <a:off x="446220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3</a:t>
            </a:r>
            <a:endParaRPr b="0" i="0" spc="0" sz="1300" u="none" cap="none" strike="noStrike">
              <a:solidFill>
                <a:srgbClr val="FFFFFF"/>
              </a:solidFill>
              <a:latin typeface="Arial"/>
              <a:ea typeface="Arial"/>
              <a:cs typeface="Arial"/>
              <a:sym typeface="Arial"/>
            </a:endParaRPr>
          </a:p>
        </p:txBody>
      </p:sp>
      <p:sp>
        <p:nvSpPr>
          <p:cNvPr id="176" name="Google Shape;176;p8"/>
          <p:cNvSpPr/>
          <p:nvPr/>
        </p:nvSpPr>
        <p:spPr>
          <a:xfrm>
            <a:off x="446220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FastAPI verifica el token, valida con Pydantic y hace una sola llamada a Gemini.</a:t>
            </a:r>
            <a:endParaRPr b="0" i="0" spc="0" sz="1300" u="none" cap="none" strike="noStrike">
              <a:solidFill>
                <a:srgbClr val="FFFFFF"/>
              </a:solidFill>
              <a:latin typeface="Arial"/>
              <a:ea typeface="Arial"/>
              <a:cs typeface="Arial"/>
              <a:sym typeface="Arial"/>
            </a:endParaRPr>
          </a:p>
        </p:txBody>
      </p:sp>
      <p:sp>
        <p:nvSpPr>
          <p:cNvPr id="177" name="Google Shape;177;p8"/>
          <p:cNvSpPr/>
          <p:nvPr/>
        </p:nvSpPr>
        <p:spPr>
          <a:xfrm>
            <a:off x="614484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78" name="Google Shape;178;p8"/>
          <p:cNvSpPr/>
          <p:nvPr/>
        </p:nvSpPr>
        <p:spPr>
          <a:xfrm>
            <a:off x="6327720" y="3931920"/>
            <a:ext cx="383760" cy="347040"/>
          </a:xfrm>
          <a:prstGeom prst="roundRect">
            <a:avLst>
              <a:gd fmla="val 21053" name="adj"/>
            </a:avLst>
          </a:prstGeom>
          <a:solidFill>
            <a:schemeClr val="l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179" name="Google Shape;179;p8"/>
          <p:cNvSpPr/>
          <p:nvPr/>
        </p:nvSpPr>
        <p:spPr>
          <a:xfrm>
            <a:off x="632772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4</a:t>
            </a:r>
            <a:endParaRPr b="0" i="0" spc="0" sz="1300" u="none" cap="none" strike="noStrike">
              <a:solidFill>
                <a:srgbClr val="FFFFFF"/>
              </a:solidFill>
              <a:latin typeface="Arial"/>
              <a:ea typeface="Arial"/>
              <a:cs typeface="Arial"/>
              <a:sym typeface="Arial"/>
            </a:endParaRPr>
          </a:p>
        </p:txBody>
      </p:sp>
      <p:sp>
        <p:nvSpPr>
          <p:cNvPr id="180" name="Google Shape;180;p8"/>
          <p:cNvSpPr/>
          <p:nvPr/>
        </p:nvSpPr>
        <p:spPr>
          <a:xfrm>
            <a:off x="632772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Gemini devuelve el texto de las recomendaciones.</a:t>
            </a:r>
            <a:endParaRPr b="0" i="0" spc="0" sz="1300" u="none" cap="none" strike="noStrike">
              <a:solidFill>
                <a:srgbClr val="FFFFFF"/>
              </a:solidFill>
              <a:latin typeface="Arial"/>
              <a:ea typeface="Arial"/>
              <a:cs typeface="Arial"/>
              <a:sym typeface="Arial"/>
            </a:endParaRPr>
          </a:p>
        </p:txBody>
      </p:sp>
      <p:sp>
        <p:nvSpPr>
          <p:cNvPr id="181" name="Google Shape;181;p8"/>
          <p:cNvSpPr/>
          <p:nvPr/>
        </p:nvSpPr>
        <p:spPr>
          <a:xfrm>
            <a:off x="801000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82" name="Google Shape;182;p8"/>
          <p:cNvSpPr/>
          <p:nvPr/>
        </p:nvSpPr>
        <p:spPr>
          <a:xfrm>
            <a:off x="8192880" y="3931920"/>
            <a:ext cx="383760" cy="347040"/>
          </a:xfrm>
          <a:prstGeom prst="roundRect">
            <a:avLst>
              <a:gd fmla="val 21053" name="adj"/>
            </a:avLst>
          </a:prstGeom>
          <a:solidFill>
            <a:schemeClr val="l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183" name="Google Shape;183;p8"/>
          <p:cNvSpPr/>
          <p:nvPr/>
        </p:nvSpPr>
        <p:spPr>
          <a:xfrm>
            <a:off x="819288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5</a:t>
            </a:r>
            <a:endParaRPr b="0" i="0" spc="0" sz="1300" u="none" cap="none" strike="noStrike">
              <a:solidFill>
                <a:srgbClr val="FFFFFF"/>
              </a:solidFill>
              <a:latin typeface="Arial"/>
              <a:ea typeface="Arial"/>
              <a:cs typeface="Arial"/>
              <a:sym typeface="Arial"/>
            </a:endParaRPr>
          </a:p>
        </p:txBody>
      </p:sp>
      <p:sp>
        <p:nvSpPr>
          <p:cNvPr id="184" name="Google Shape;184;p8"/>
          <p:cNvSpPr/>
          <p:nvPr/>
        </p:nvSpPr>
        <p:spPr>
          <a:xfrm>
            <a:off x="819288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FastAPI lo envuelve en {"resultado"} o en un error JSON controlado.</a:t>
            </a:r>
            <a:endParaRPr b="0" i="0" spc="0" sz="1300" u="none" cap="none" strike="noStrike">
              <a:solidFill>
                <a:srgbClr val="FFFFFF"/>
              </a:solidFill>
              <a:latin typeface="Arial"/>
              <a:ea typeface="Arial"/>
              <a:cs typeface="Arial"/>
              <a:sym typeface="Arial"/>
            </a:endParaRPr>
          </a:p>
        </p:txBody>
      </p:sp>
      <p:sp>
        <p:nvSpPr>
          <p:cNvPr id="185" name="Google Shape;185;p8"/>
          <p:cNvSpPr/>
          <p:nvPr/>
        </p:nvSpPr>
        <p:spPr>
          <a:xfrm>
            <a:off x="987552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86" name="Google Shape;186;p8"/>
          <p:cNvSpPr/>
          <p:nvPr/>
        </p:nvSpPr>
        <p:spPr>
          <a:xfrm>
            <a:off x="10058400" y="3931920"/>
            <a:ext cx="383760" cy="347040"/>
          </a:xfrm>
          <a:prstGeom prst="roundRect">
            <a:avLst>
              <a:gd fmla="val 21053" name="adj"/>
            </a:avLst>
          </a:prstGeom>
          <a:solidFill>
            <a:schemeClr val="l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187" name="Google Shape;187;p8"/>
          <p:cNvSpPr/>
          <p:nvPr/>
        </p:nvSpPr>
        <p:spPr>
          <a:xfrm>
            <a:off x="1005840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6</a:t>
            </a:r>
            <a:endParaRPr b="0" i="0" spc="0" sz="1300" u="none" cap="none" strike="noStrike">
              <a:solidFill>
                <a:srgbClr val="FFFFFF"/>
              </a:solidFill>
              <a:latin typeface="Arial"/>
              <a:ea typeface="Arial"/>
              <a:cs typeface="Arial"/>
              <a:sym typeface="Arial"/>
            </a:endParaRPr>
          </a:p>
        </p:txBody>
      </p:sp>
      <p:sp>
        <p:nvSpPr>
          <p:cNvPr id="188" name="Google Shape;188;p8"/>
          <p:cNvSpPr/>
          <p:nvPr/>
        </p:nvSpPr>
        <p:spPr>
          <a:xfrm>
            <a:off x="1005840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La SPA lo muestra como texto en la misma pantalla.</a:t>
            </a:r>
            <a:endParaRPr b="0" i="0" spc="0" sz="1300" u="none" cap="none" strike="noStrike">
              <a:solidFill>
                <a:srgbClr val="FFFFFF"/>
              </a:solidFill>
              <a:latin typeface="Arial"/>
              <a:ea typeface="Arial"/>
              <a:cs typeface="Arial"/>
              <a:sym typeface="Arial"/>
            </a:endParaRPr>
          </a:p>
        </p:txBody>
      </p:sp>
      <p:sp>
        <p:nvSpPr>
          <p:cNvPr id="189" name="Google Shape;189;p8"/>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9"/>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Contrato de la API</a:t>
            </a:r>
            <a:endParaRPr b="0" sz="3400" u="none" strike="noStrike">
              <a:solidFill>
                <a:schemeClr val="dk1"/>
              </a:solidFill>
              <a:latin typeface="Calibri"/>
              <a:ea typeface="Calibri"/>
              <a:cs typeface="Calibri"/>
              <a:sym typeface="Calibri"/>
            </a:endParaRPr>
          </a:p>
        </p:txBody>
      </p:sp>
      <p:sp>
        <p:nvSpPr>
          <p:cNvPr id="195" name="Google Shape;195;p9"/>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POST /api/recommend</a:t>
            </a:r>
            <a:endParaRPr b="0" i="0" sz="1200" u="none" cap="none" strike="noStrike">
              <a:solidFill>
                <a:schemeClr val="dk1"/>
              </a:solidFill>
              <a:latin typeface="Calibri"/>
              <a:ea typeface="Calibri"/>
              <a:cs typeface="Calibri"/>
              <a:sym typeface="Calibri"/>
            </a:endParaRPr>
          </a:p>
        </p:txBody>
      </p:sp>
      <p:sp>
        <p:nvSpPr>
          <p:cNvPr id="196" name="Google Shape;196;p9"/>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197" name="Google Shape;197;p9"/>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198" name="Google Shape;198;p9"/>
          <p:cNvSpPr/>
          <p:nvPr/>
        </p:nvSpPr>
        <p:spPr>
          <a:xfrm>
            <a:off x="548640" y="1325880"/>
            <a:ext cx="5668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1"/>
                </a:solidFill>
                <a:latin typeface="Calibri"/>
                <a:ea typeface="Calibri"/>
                <a:cs typeface="Calibri"/>
                <a:sym typeface="Calibri"/>
              </a:rPr>
              <a:t>Petición</a:t>
            </a:r>
            <a:endParaRPr b="0" i="0" spc="0" sz="1400" u="none" cap="none" strike="noStrike">
              <a:solidFill>
                <a:srgbClr val="FFFFFF"/>
              </a:solidFill>
              <a:latin typeface="Arial"/>
              <a:ea typeface="Arial"/>
              <a:cs typeface="Arial"/>
              <a:sym typeface="Arial"/>
            </a:endParaRPr>
          </a:p>
        </p:txBody>
      </p:sp>
      <p:sp>
        <p:nvSpPr>
          <p:cNvPr id="199" name="Google Shape;199;p9"/>
          <p:cNvSpPr/>
          <p:nvPr/>
        </p:nvSpPr>
        <p:spPr>
          <a:xfrm>
            <a:off x="548640" y="1691640"/>
            <a:ext cx="5806080" cy="1599840"/>
          </a:xfrm>
          <a:prstGeom prst="roundRect">
            <a:avLst>
              <a:gd fmla="val 4571"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00" name="Google Shape;200;p9"/>
          <p:cNvSpPr/>
          <p:nvPr/>
        </p:nvSpPr>
        <p:spPr>
          <a:xfrm>
            <a:off x="731520" y="1828800"/>
            <a:ext cx="5440320" cy="1325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POST /api/recommend</a:t>
            </a:r>
            <a:endParaRPr b="0" i="0" spc="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Authorization: Bearer &lt;token&gt;   ← solo App 2</a:t>
            </a:r>
            <a:endParaRPr b="0" i="0" spc="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t/>
            </a:r>
            <a:endParaRPr b="0" i="0" spc="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 "tastes": "Géneros: Electrónica, Flamenco, Metal.</a:t>
            </a:r>
            <a:endParaRPr b="0" i="0" spc="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             Además: Me gusta la musica de los 2000s" }</a:t>
            </a:r>
            <a:endParaRPr b="0" i="0" spc="0" sz="1200" u="none" cap="none" strike="noStrike">
              <a:solidFill>
                <a:srgbClr val="FFFFFF"/>
              </a:solidFill>
              <a:latin typeface="Arial"/>
              <a:ea typeface="Arial"/>
              <a:cs typeface="Arial"/>
              <a:sym typeface="Arial"/>
            </a:endParaRPr>
          </a:p>
        </p:txBody>
      </p:sp>
      <p:sp>
        <p:nvSpPr>
          <p:cNvPr id="201" name="Google Shape;201;p9"/>
          <p:cNvSpPr/>
          <p:nvPr/>
        </p:nvSpPr>
        <p:spPr>
          <a:xfrm>
            <a:off x="548640" y="3474720"/>
            <a:ext cx="5668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6"/>
                </a:solidFill>
                <a:latin typeface="Calibri"/>
                <a:ea typeface="Calibri"/>
                <a:cs typeface="Calibri"/>
                <a:sym typeface="Calibri"/>
              </a:rPr>
              <a:t>Respuesta 200 (de la demo en Vercel)</a:t>
            </a:r>
            <a:endParaRPr b="0" i="0" spc="0" sz="1400" u="none" cap="none" strike="noStrike">
              <a:solidFill>
                <a:srgbClr val="FFFFFF"/>
              </a:solidFill>
              <a:latin typeface="Arial"/>
              <a:ea typeface="Arial"/>
              <a:cs typeface="Arial"/>
              <a:sym typeface="Arial"/>
            </a:endParaRPr>
          </a:p>
        </p:txBody>
      </p:sp>
      <p:sp>
        <p:nvSpPr>
          <p:cNvPr id="202" name="Google Shape;202;p9"/>
          <p:cNvSpPr/>
          <p:nvPr/>
        </p:nvSpPr>
        <p:spPr>
          <a:xfrm>
            <a:off x="548640" y="3840480"/>
            <a:ext cx="5806080" cy="959760"/>
          </a:xfrm>
          <a:prstGeom prst="roundRect">
            <a:avLst>
              <a:gd fmla="val 7619"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03" name="Google Shape;203;p9"/>
          <p:cNvSpPr/>
          <p:nvPr/>
        </p:nvSpPr>
        <p:spPr>
          <a:xfrm>
            <a:off x="731520" y="3977640"/>
            <a:ext cx="5440320" cy="6854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 "resultado": "1. Rodrigo y Gabriela – Dúo acústico</a:t>
            </a:r>
            <a:endParaRPr b="0" i="0" spc="0" sz="12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   mexicano que fusiona el flamenco con el metal…" }</a:t>
            </a:r>
            <a:endParaRPr b="0" i="0" spc="0" sz="1200" u="none" cap="none" strike="noStrike">
              <a:solidFill>
                <a:srgbClr val="FFFFFF"/>
              </a:solidFill>
              <a:latin typeface="Arial"/>
              <a:ea typeface="Arial"/>
              <a:cs typeface="Arial"/>
              <a:sym typeface="Arial"/>
            </a:endParaRPr>
          </a:p>
        </p:txBody>
      </p:sp>
      <p:sp>
        <p:nvSpPr>
          <p:cNvPr id="204" name="Google Shape;204;p9"/>
          <p:cNvSpPr/>
          <p:nvPr/>
        </p:nvSpPr>
        <p:spPr>
          <a:xfrm>
            <a:off x="548640" y="5029200"/>
            <a:ext cx="5806080" cy="1005480"/>
          </a:xfrm>
          <a:prstGeom prst="roundRect">
            <a:avLst>
              <a:gd fmla="val 10909" name="adj"/>
            </a:avLst>
          </a:prstGeom>
          <a:solidFill>
            <a:schemeClr val="dk2"/>
          </a:solidFill>
          <a:ln cap="flat" cmpd="sng" w="9525">
            <a:solidFill>
              <a:schemeClr val="accent1">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05" name="Google Shape;205;p9"/>
          <p:cNvSpPr/>
          <p:nvPr/>
        </p:nvSpPr>
        <p:spPr>
          <a:xfrm>
            <a:off x="777240" y="5029200"/>
            <a:ext cx="5394600" cy="1005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1"/>
                </a:solidFill>
                <a:latin typeface="Calibri"/>
                <a:ea typeface="Calibri"/>
                <a:cs typeface="Calibri"/>
                <a:sym typeface="Calibri"/>
              </a:rPr>
              <a:t>El modelo devuelve texto: FastAPI lo envuelve en JSON y el frontend lo pinta como texto, nunca como HTML.</a:t>
            </a:r>
            <a:endParaRPr b="0" i="0" spc="0" sz="1400" u="none" cap="none" strike="noStrike">
              <a:solidFill>
                <a:srgbClr val="FFFFFF"/>
              </a:solidFill>
              <a:latin typeface="Arial"/>
              <a:ea typeface="Arial"/>
              <a:cs typeface="Arial"/>
              <a:sym typeface="Arial"/>
            </a:endParaRPr>
          </a:p>
        </p:txBody>
      </p:sp>
      <p:sp>
        <p:nvSpPr>
          <p:cNvPr id="206" name="Google Shape;206;p9"/>
          <p:cNvSpPr/>
          <p:nvPr/>
        </p:nvSpPr>
        <p:spPr>
          <a:xfrm>
            <a:off x="6629400" y="1325880"/>
            <a:ext cx="50288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1"/>
                </a:solidFill>
                <a:latin typeface="Calibri"/>
                <a:ea typeface="Calibri"/>
                <a:cs typeface="Calibri"/>
                <a:sym typeface="Calibri"/>
              </a:rPr>
              <a:t>Códigos de respuesta</a:t>
            </a:r>
            <a:endParaRPr b="0" i="0" spc="0" sz="1400" u="none" cap="none" strike="noStrike">
              <a:solidFill>
                <a:srgbClr val="FFFFFF"/>
              </a:solidFill>
              <a:latin typeface="Arial"/>
              <a:ea typeface="Arial"/>
              <a:cs typeface="Arial"/>
              <a:sym typeface="Arial"/>
            </a:endParaRPr>
          </a:p>
        </p:txBody>
      </p:sp>
      <p:sp>
        <p:nvSpPr>
          <p:cNvPr id="207" name="Google Shape;207;p9"/>
          <p:cNvSpPr/>
          <p:nvPr/>
        </p:nvSpPr>
        <p:spPr>
          <a:xfrm>
            <a:off x="6629400" y="169164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08" name="Google Shape;208;p9"/>
          <p:cNvSpPr/>
          <p:nvPr/>
        </p:nvSpPr>
        <p:spPr>
          <a:xfrm>
            <a:off x="6748200" y="1783080"/>
            <a:ext cx="566640" cy="347040"/>
          </a:xfrm>
          <a:prstGeom prst="roundRect">
            <a:avLst>
              <a:gd fmla="val 21053"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209" name="Google Shape;209;p9"/>
          <p:cNvSpPr/>
          <p:nvPr/>
        </p:nvSpPr>
        <p:spPr>
          <a:xfrm>
            <a:off x="6748200" y="178308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200</a:t>
            </a:r>
            <a:endParaRPr b="0" i="0" spc="0" sz="1300" u="none" cap="none" strike="noStrike">
              <a:solidFill>
                <a:srgbClr val="FFFFFF"/>
              </a:solidFill>
              <a:latin typeface="Arial"/>
              <a:ea typeface="Arial"/>
              <a:cs typeface="Arial"/>
              <a:sym typeface="Arial"/>
            </a:endParaRPr>
          </a:p>
        </p:txBody>
      </p:sp>
      <p:sp>
        <p:nvSpPr>
          <p:cNvPr id="210" name="Google Shape;210;p9"/>
          <p:cNvSpPr/>
          <p:nvPr/>
        </p:nvSpPr>
        <p:spPr>
          <a:xfrm>
            <a:off x="7452360" y="171000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accent6"/>
                </a:solidFill>
                <a:latin typeface="Consolas"/>
                <a:ea typeface="Consolas"/>
                <a:cs typeface="Consolas"/>
                <a:sym typeface="Consolas"/>
              </a:rPr>
              <a:t>resultado</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Recomendaciones de la IA</a:t>
            </a:r>
            <a:endParaRPr b="0" i="0" spc="0" sz="1200" u="none" cap="none" strike="noStrike">
              <a:solidFill>
                <a:srgbClr val="FFFFFF"/>
              </a:solidFill>
              <a:latin typeface="Arial"/>
              <a:ea typeface="Arial"/>
              <a:cs typeface="Arial"/>
              <a:sym typeface="Arial"/>
            </a:endParaRPr>
          </a:p>
        </p:txBody>
      </p:sp>
      <p:sp>
        <p:nvSpPr>
          <p:cNvPr id="211" name="Google Shape;211;p9"/>
          <p:cNvSpPr/>
          <p:nvPr/>
        </p:nvSpPr>
        <p:spPr>
          <a:xfrm>
            <a:off x="6629400" y="229500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12" name="Google Shape;212;p9"/>
          <p:cNvSpPr/>
          <p:nvPr/>
        </p:nvSpPr>
        <p:spPr>
          <a:xfrm>
            <a:off x="6748200" y="2386440"/>
            <a:ext cx="56664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13" name="Google Shape;213;p9"/>
          <p:cNvSpPr/>
          <p:nvPr/>
        </p:nvSpPr>
        <p:spPr>
          <a:xfrm>
            <a:off x="6748200" y="238644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401</a:t>
            </a:r>
            <a:endParaRPr b="0" i="0" spc="0" sz="1300" u="none" cap="none" strike="noStrike">
              <a:solidFill>
                <a:srgbClr val="FFFFFF"/>
              </a:solidFill>
              <a:latin typeface="Arial"/>
              <a:ea typeface="Arial"/>
              <a:cs typeface="Arial"/>
              <a:sym typeface="Arial"/>
            </a:endParaRPr>
          </a:p>
        </p:txBody>
      </p:sp>
      <p:sp>
        <p:nvSpPr>
          <p:cNvPr id="214" name="Google Shape;214;p9"/>
          <p:cNvSpPr/>
          <p:nvPr/>
        </p:nvSpPr>
        <p:spPr>
          <a:xfrm>
            <a:off x="7452360" y="231336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accent2"/>
                </a:solidFill>
                <a:latin typeface="Consolas"/>
                <a:ea typeface="Consolas"/>
                <a:cs typeface="Consolas"/>
                <a:sym typeface="Consolas"/>
              </a:rPr>
              <a:t>NO_AUTORIZADO</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App 2: sin token, inválido o caducado</a:t>
            </a:r>
            <a:endParaRPr b="0" i="0" spc="0" sz="1200" u="none" cap="none" strike="noStrike">
              <a:solidFill>
                <a:srgbClr val="FFFFFF"/>
              </a:solidFill>
              <a:latin typeface="Arial"/>
              <a:ea typeface="Arial"/>
              <a:cs typeface="Arial"/>
              <a:sym typeface="Arial"/>
            </a:endParaRPr>
          </a:p>
        </p:txBody>
      </p:sp>
      <p:sp>
        <p:nvSpPr>
          <p:cNvPr id="215" name="Google Shape;215;p9"/>
          <p:cNvSpPr/>
          <p:nvPr/>
        </p:nvSpPr>
        <p:spPr>
          <a:xfrm>
            <a:off x="6629400" y="289872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16" name="Google Shape;216;p9"/>
          <p:cNvSpPr/>
          <p:nvPr/>
        </p:nvSpPr>
        <p:spPr>
          <a:xfrm>
            <a:off x="6748200" y="2990160"/>
            <a:ext cx="566640" cy="347040"/>
          </a:xfrm>
          <a:prstGeom prst="roundRect">
            <a:avLst>
              <a:gd fmla="val 21053" name="adj"/>
            </a:avLst>
          </a:prstGeom>
          <a:solidFill>
            <a:schemeClr val="accent4"/>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217" name="Google Shape;217;p9"/>
          <p:cNvSpPr/>
          <p:nvPr/>
        </p:nvSpPr>
        <p:spPr>
          <a:xfrm>
            <a:off x="6748200" y="299016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422</a:t>
            </a:r>
            <a:endParaRPr b="0" i="0" spc="0" sz="1300" u="none" cap="none" strike="noStrike">
              <a:solidFill>
                <a:srgbClr val="FFFFFF"/>
              </a:solidFill>
              <a:latin typeface="Arial"/>
              <a:ea typeface="Arial"/>
              <a:cs typeface="Arial"/>
              <a:sym typeface="Arial"/>
            </a:endParaRPr>
          </a:p>
        </p:txBody>
      </p:sp>
      <p:sp>
        <p:nvSpPr>
          <p:cNvPr id="218" name="Google Shape;218;p9"/>
          <p:cNvSpPr/>
          <p:nvPr/>
        </p:nvSpPr>
        <p:spPr>
          <a:xfrm>
            <a:off x="7452360" y="291708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accent4"/>
                </a:solidFill>
                <a:latin typeface="Consolas"/>
                <a:ea typeface="Consolas"/>
                <a:cs typeface="Consolas"/>
                <a:sym typeface="Consolas"/>
              </a:rPr>
              <a:t>validación</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Vacío, solo espacios o más de 500 caracteres</a:t>
            </a:r>
            <a:endParaRPr b="0" i="0" spc="0" sz="1200" u="none" cap="none" strike="noStrike">
              <a:solidFill>
                <a:srgbClr val="FFFFFF"/>
              </a:solidFill>
              <a:latin typeface="Arial"/>
              <a:ea typeface="Arial"/>
              <a:cs typeface="Arial"/>
              <a:sym typeface="Arial"/>
            </a:endParaRPr>
          </a:p>
        </p:txBody>
      </p:sp>
      <p:sp>
        <p:nvSpPr>
          <p:cNvPr id="219" name="Google Shape;219;p9"/>
          <p:cNvSpPr/>
          <p:nvPr/>
        </p:nvSpPr>
        <p:spPr>
          <a:xfrm>
            <a:off x="6629400" y="350208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20" name="Google Shape;220;p9"/>
          <p:cNvSpPr/>
          <p:nvPr/>
        </p:nvSpPr>
        <p:spPr>
          <a:xfrm>
            <a:off x="6748200" y="3593520"/>
            <a:ext cx="566640" cy="347040"/>
          </a:xfrm>
          <a:prstGeom prst="roundRect">
            <a:avLst>
              <a:gd fmla="val 21053" name="adj"/>
            </a:avLst>
          </a:prstGeom>
          <a:solidFill>
            <a:schemeClr val="accent5"/>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21" name="Google Shape;221;p9"/>
          <p:cNvSpPr/>
          <p:nvPr/>
        </p:nvSpPr>
        <p:spPr>
          <a:xfrm>
            <a:off x="6748200" y="359352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502</a:t>
            </a:r>
            <a:endParaRPr b="0" i="0" spc="0" sz="1300" u="none" cap="none" strike="noStrike">
              <a:solidFill>
                <a:srgbClr val="FFFFFF"/>
              </a:solidFill>
              <a:latin typeface="Arial"/>
              <a:ea typeface="Arial"/>
              <a:cs typeface="Arial"/>
              <a:sym typeface="Arial"/>
            </a:endParaRPr>
          </a:p>
        </p:txBody>
      </p:sp>
      <p:sp>
        <p:nvSpPr>
          <p:cNvPr id="222" name="Google Shape;222;p9"/>
          <p:cNvSpPr/>
          <p:nvPr/>
        </p:nvSpPr>
        <p:spPr>
          <a:xfrm>
            <a:off x="7452360" y="352044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accent5"/>
                </a:solidFill>
                <a:latin typeface="Consolas"/>
                <a:ea typeface="Consolas"/>
                <a:cs typeface="Consolas"/>
                <a:sym typeface="Consolas"/>
              </a:rPr>
              <a:t>IA_NO_DISPONIBLE · RESPUESTA_INVALIDA</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Gemini falla o responde sin texto</a:t>
            </a:r>
            <a:endParaRPr b="0" i="0" spc="0" sz="1200" u="none" cap="none" strike="noStrike">
              <a:solidFill>
                <a:srgbClr val="FFFFFF"/>
              </a:solidFill>
              <a:latin typeface="Arial"/>
              <a:ea typeface="Arial"/>
              <a:cs typeface="Arial"/>
              <a:sym typeface="Arial"/>
            </a:endParaRPr>
          </a:p>
        </p:txBody>
      </p:sp>
      <p:sp>
        <p:nvSpPr>
          <p:cNvPr id="223" name="Google Shape;223;p9"/>
          <p:cNvSpPr/>
          <p:nvPr/>
        </p:nvSpPr>
        <p:spPr>
          <a:xfrm>
            <a:off x="6629400" y="410580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24" name="Google Shape;224;p9"/>
          <p:cNvSpPr/>
          <p:nvPr/>
        </p:nvSpPr>
        <p:spPr>
          <a:xfrm>
            <a:off x="6748200" y="4197240"/>
            <a:ext cx="566640" cy="347040"/>
          </a:xfrm>
          <a:prstGeom prst="roundRect">
            <a:avLst>
              <a:gd fmla="val 21053" name="adj"/>
            </a:avLst>
          </a:prstGeom>
          <a:solidFill>
            <a:schemeClr val="accent5"/>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25" name="Google Shape;225;p9"/>
          <p:cNvSpPr/>
          <p:nvPr/>
        </p:nvSpPr>
        <p:spPr>
          <a:xfrm>
            <a:off x="6748200" y="419724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504</a:t>
            </a:r>
            <a:endParaRPr b="0" i="0" spc="0" sz="1300" u="none" cap="none" strike="noStrike">
              <a:solidFill>
                <a:srgbClr val="FFFFFF"/>
              </a:solidFill>
              <a:latin typeface="Arial"/>
              <a:ea typeface="Arial"/>
              <a:cs typeface="Arial"/>
              <a:sym typeface="Arial"/>
            </a:endParaRPr>
          </a:p>
        </p:txBody>
      </p:sp>
      <p:sp>
        <p:nvSpPr>
          <p:cNvPr id="226" name="Google Shape;226;p9"/>
          <p:cNvSpPr/>
          <p:nvPr/>
        </p:nvSpPr>
        <p:spPr>
          <a:xfrm>
            <a:off x="7452360" y="412380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accent5"/>
                </a:solidFill>
                <a:latin typeface="Consolas"/>
                <a:ea typeface="Consolas"/>
                <a:cs typeface="Consolas"/>
                <a:sym typeface="Consolas"/>
              </a:rPr>
              <a:t>TIMEOUT</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Gemini tarda más de 25 s</a:t>
            </a:r>
            <a:endParaRPr b="0" i="0" spc="0" sz="1200" u="none" cap="none" strike="noStrike">
              <a:solidFill>
                <a:srgbClr val="FFFFFF"/>
              </a:solidFill>
              <a:latin typeface="Arial"/>
              <a:ea typeface="Arial"/>
              <a:cs typeface="Arial"/>
              <a:sym typeface="Arial"/>
            </a:endParaRPr>
          </a:p>
        </p:txBody>
      </p:sp>
      <p:sp>
        <p:nvSpPr>
          <p:cNvPr id="227" name="Google Shape;227;p9"/>
          <p:cNvSpPr/>
          <p:nvPr/>
        </p:nvSpPr>
        <p:spPr>
          <a:xfrm>
            <a:off x="6629400" y="470916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28" name="Google Shape;228;p9"/>
          <p:cNvSpPr/>
          <p:nvPr/>
        </p:nvSpPr>
        <p:spPr>
          <a:xfrm>
            <a:off x="6748200" y="4800600"/>
            <a:ext cx="566640" cy="347040"/>
          </a:xfrm>
          <a:prstGeom prst="roundRect">
            <a:avLst>
              <a:gd fmla="val 21053" name="adj"/>
            </a:avLst>
          </a:prstGeom>
          <a:solidFill>
            <a:schemeClr val="accent5"/>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29" name="Google Shape;229;p9"/>
          <p:cNvSpPr/>
          <p:nvPr/>
        </p:nvSpPr>
        <p:spPr>
          <a:xfrm>
            <a:off x="6748200" y="480060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500</a:t>
            </a:r>
            <a:endParaRPr b="0" i="0" spc="0" sz="1300" u="none" cap="none" strike="noStrike">
              <a:solidFill>
                <a:srgbClr val="FFFFFF"/>
              </a:solidFill>
              <a:latin typeface="Arial"/>
              <a:ea typeface="Arial"/>
              <a:cs typeface="Arial"/>
              <a:sym typeface="Arial"/>
            </a:endParaRPr>
          </a:p>
        </p:txBody>
      </p:sp>
      <p:sp>
        <p:nvSpPr>
          <p:cNvPr id="230" name="Google Shape;230;p9"/>
          <p:cNvSpPr/>
          <p:nvPr/>
        </p:nvSpPr>
        <p:spPr>
          <a:xfrm>
            <a:off x="7452360" y="472752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accent5"/>
                </a:solidFill>
                <a:latin typeface="Consolas"/>
                <a:ea typeface="Consolas"/>
                <a:cs typeface="Consolas"/>
                <a:sym typeface="Consolas"/>
              </a:rPr>
              <a:t>ERROR_INTERNO</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Fallo inesperado, sin detalles internos</a:t>
            </a:r>
            <a:endParaRPr b="0" i="0" spc="0" sz="1200" u="none" cap="none" strike="noStrike">
              <a:solidFill>
                <a:srgbClr val="FFFFFF"/>
              </a:solidFill>
              <a:latin typeface="Arial"/>
              <a:ea typeface="Arial"/>
              <a:cs typeface="Arial"/>
              <a:sym typeface="Arial"/>
            </a:endParaRPr>
          </a:p>
        </p:txBody>
      </p:sp>
      <p:sp>
        <p:nvSpPr>
          <p:cNvPr id="231" name="Google Shape;231;p9"/>
          <p:cNvSpPr/>
          <p:nvPr/>
        </p:nvSpPr>
        <p:spPr>
          <a:xfrm>
            <a:off x="6629400" y="5440680"/>
            <a:ext cx="5028840" cy="594000"/>
          </a:xfrm>
          <a:prstGeom prst="roundRect">
            <a:avLst>
              <a:gd fmla="val 12308"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32" name="Google Shape;232;p9"/>
          <p:cNvSpPr/>
          <p:nvPr/>
        </p:nvSpPr>
        <p:spPr>
          <a:xfrm>
            <a:off x="6812280" y="5577840"/>
            <a:ext cx="46630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1"/>
                </a:solidFill>
                <a:latin typeface="Consolas"/>
                <a:ea typeface="Consolas"/>
                <a:cs typeface="Consolas"/>
                <a:sym typeface="Consolas"/>
              </a:rPr>
              <a:t>{"error": {"codigo": "TIMEOUT", "mensaje": "…"}}</a:t>
            </a:r>
            <a:endParaRPr b="0" i="0" spc="0" sz="1200" u="none" cap="none" strike="noStrike">
              <a:solidFill>
                <a:srgbClr val="FFFFFF"/>
              </a:solidFill>
              <a:latin typeface="Arial"/>
              <a:ea typeface="Arial"/>
              <a:cs typeface="Arial"/>
              <a:sym typeface="Arial"/>
            </a:endParaRPr>
          </a:p>
        </p:txBody>
      </p:sp>
      <p:sp>
        <p:nvSpPr>
          <p:cNvPr id="233" name="Google Shape;233;p9"/>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10"/>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Stack y estructura del repositorio</a:t>
            </a:r>
            <a:endParaRPr b="0" sz="3400" u="none" strike="noStrike">
              <a:solidFill>
                <a:schemeClr val="dk1"/>
              </a:solidFill>
              <a:latin typeface="Calibri"/>
              <a:ea typeface="Calibri"/>
              <a:cs typeface="Calibri"/>
              <a:sym typeface="Calibri"/>
            </a:endParaRPr>
          </a:p>
        </p:txBody>
      </p:sp>
      <p:sp>
        <p:nvSpPr>
          <p:cNvPr id="239" name="Google Shape;239;p10"/>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TECNOLOGÍAS</a:t>
            </a:r>
            <a:endParaRPr b="0" i="0" sz="1200" u="none" cap="none" strike="noStrike">
              <a:solidFill>
                <a:schemeClr val="dk1"/>
              </a:solidFill>
              <a:latin typeface="Calibri"/>
              <a:ea typeface="Calibri"/>
              <a:cs typeface="Calibri"/>
              <a:sym typeface="Calibri"/>
            </a:endParaRPr>
          </a:p>
        </p:txBody>
      </p:sp>
      <p:sp>
        <p:nvSpPr>
          <p:cNvPr id="240" name="Google Shape;240;p10"/>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41" name="Google Shape;241;p10"/>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graphicFrame>
        <p:nvGraphicFramePr>
          <p:cNvPr id="242" name="Google Shape;242;p10"/>
          <p:cNvGraphicFramePr/>
          <p:nvPr/>
        </p:nvGraphicFramePr>
        <p:xfrm>
          <a:off x="548640" y="1371600"/>
          <a:ext cx="3000000" cy="3000000"/>
        </p:xfrm>
        <a:graphic>
          <a:graphicData uri="http://schemas.openxmlformats.org/drawingml/2006/table">
            <a:tbl>
              <a:tblPr>
                <a:noFill/>
                <a:tableStyleId>{2CF13FB7-0205-41BE-8397-3389DFF363E2}</a:tableStyleId>
              </a:tblPr>
              <a:tblGrid>
                <a:gridCol w="1600200"/>
                <a:gridCol w="2148850"/>
                <a:gridCol w="2560325"/>
              </a:tblGrid>
              <a:tr h="43885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0B0B12"/>
                          </a:solidFill>
                          <a:latin typeface="Calibri"/>
                          <a:ea typeface="Calibri"/>
                          <a:cs typeface="Calibri"/>
                          <a:sym typeface="Calibri"/>
                        </a:rPr>
                        <a:t>Capa</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0B0B12"/>
                          </a:solidFill>
                          <a:latin typeface="Calibri"/>
                          <a:ea typeface="Calibri"/>
                          <a:cs typeface="Calibri"/>
                          <a:sym typeface="Calibri"/>
                        </a:rPr>
                        <a:t>Tecnología</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0B0B12"/>
                          </a:solidFill>
                          <a:latin typeface="Calibri"/>
                          <a:ea typeface="Calibri"/>
                          <a:cs typeface="Calibri"/>
                          <a:sym typeface="Calibri"/>
                        </a:rPr>
                        <a:t>Para qué</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Frontend</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Vue 3.5 + Vite 8</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SPA de una sola pantalla</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Estilos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Tailwind CSS 4</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Adaptable a móvil, foco visible</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Backend</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FastAPI + Pydantic v2</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Validación y contrato JSON</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Cliente IA</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httpx asíncrono</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Timeout de 25 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IA</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API de Gemini</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gemini-3.5-flash-lite, 600 tokens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Pruebas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pytest + mocks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Sin llamar a la IA real</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Identidad (App 2)</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Clerk + PyJWT</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Token verificado con JWKS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Desarrollo App 2</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Spec Kit + Claude Code</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De la especificación al código</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A9A9BF"/>
                          </a:solidFill>
                          <a:latin typeface="Calibri"/>
                          <a:ea typeface="Calibri"/>
                          <a:cs typeface="Calibri"/>
                          <a:sym typeface="Calibri"/>
                        </a:rPr>
                        <a:t>Despliegue</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Vercel · Docker + Caddy</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App 1 y App 2 · EC2 con HTTPS</a:t>
                      </a:r>
                      <a:endParaRPr b="0" spc="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bl>
          </a:graphicData>
        </a:graphic>
      </p:graphicFrame>
      <p:sp>
        <p:nvSpPr>
          <p:cNvPr id="243" name="Google Shape;243;p10"/>
          <p:cNvSpPr/>
          <p:nvPr/>
        </p:nvSpPr>
        <p:spPr>
          <a:xfrm>
            <a:off x="7086600" y="1371600"/>
            <a:ext cx="4571640" cy="4663080"/>
          </a:xfrm>
          <a:prstGeom prst="roundRect">
            <a:avLst>
              <a:gd fmla="val 1600"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44" name="Google Shape;244;p10"/>
          <p:cNvSpPr/>
          <p:nvPr/>
        </p:nvSpPr>
        <p:spPr>
          <a:xfrm>
            <a:off x="7269480" y="1508760"/>
            <a:ext cx="4205880" cy="4388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ProyectoWebIA/</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app1-Musicfy/       hecha a mano</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backend/        main.py · ai_client.py</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frontend/       Vue + Tailwind</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app2-Musicfy/       proyecto nuevo</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.specify/       constitución</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specs/          spec · plan · tasks</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backend/        app/ · tests/ (59)</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frontend/       Vue + Clerk · Caddy</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 docker-compose.yml</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docs/               ERS · pruebas · proceso</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comparativa · uso-ia</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despliegues · evidencias</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portal/             portal de prácticas</a:t>
            </a:r>
            <a:endParaRPr b="0" i="0" spc="0" sz="11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1"/>
                </a:solidFill>
                <a:latin typeface="Consolas"/>
                <a:ea typeface="Consolas"/>
                <a:cs typeface="Consolas"/>
                <a:sym typeface="Consolas"/>
              </a:rPr>
              <a:t>└── vercel.json         App 1: 1 proyecto</a:t>
            </a:r>
            <a:endParaRPr b="0" i="0" spc="0" sz="1100" u="none" cap="none" strike="noStrike">
              <a:solidFill>
                <a:srgbClr val="FFFFFF"/>
              </a:solidFill>
              <a:latin typeface="Arial"/>
              <a:ea typeface="Arial"/>
              <a:cs typeface="Arial"/>
              <a:sym typeface="Arial"/>
            </a:endParaRPr>
          </a:p>
        </p:txBody>
      </p:sp>
      <p:sp>
        <p:nvSpPr>
          <p:cNvPr id="245" name="Google Shape;245;p10"/>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11"/>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Requisitos funcionales</a:t>
            </a:r>
            <a:endParaRPr b="0" sz="3400" u="none" strike="noStrike">
              <a:solidFill>
                <a:schemeClr val="dk1"/>
              </a:solidFill>
              <a:latin typeface="Calibri"/>
              <a:ea typeface="Calibri"/>
              <a:cs typeface="Calibri"/>
              <a:sym typeface="Calibri"/>
            </a:endParaRPr>
          </a:p>
        </p:txBody>
      </p:sp>
      <p:sp>
        <p:nvSpPr>
          <p:cNvPr id="251" name="Google Shape;251;p11"/>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RF-01 … RF-06</a:t>
            </a:r>
            <a:endParaRPr b="0" i="0" sz="1200" u="none" cap="none" strike="noStrike">
              <a:solidFill>
                <a:schemeClr val="dk1"/>
              </a:solidFill>
              <a:latin typeface="Calibri"/>
              <a:ea typeface="Calibri"/>
              <a:cs typeface="Calibri"/>
              <a:sym typeface="Calibri"/>
            </a:endParaRPr>
          </a:p>
        </p:txBody>
      </p:sp>
      <p:sp>
        <p:nvSpPr>
          <p:cNvPr id="252" name="Google Shape;252;p11"/>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53" name="Google Shape;253;p11"/>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254" name="Google Shape;254;p11"/>
          <p:cNvSpPr/>
          <p:nvPr/>
        </p:nvSpPr>
        <p:spPr>
          <a:xfrm>
            <a:off x="54864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55" name="Google Shape;255;p11"/>
          <p:cNvSpPr/>
          <p:nvPr/>
        </p:nvSpPr>
        <p:spPr>
          <a:xfrm>
            <a:off x="822960" y="160020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onsolas"/>
                <a:ea typeface="Consolas"/>
                <a:cs typeface="Consolas"/>
                <a:sym typeface="Consolas"/>
              </a:rPr>
              <a:t>RF-01</a:t>
            </a:r>
            <a:endParaRPr b="0" i="0" spc="0" sz="1300" u="none" cap="none" strike="noStrike">
              <a:solidFill>
                <a:srgbClr val="FFFFFF"/>
              </a:solidFill>
              <a:latin typeface="Arial"/>
              <a:ea typeface="Arial"/>
              <a:cs typeface="Arial"/>
              <a:sym typeface="Arial"/>
            </a:endParaRPr>
          </a:p>
        </p:txBody>
      </p:sp>
      <p:sp>
        <p:nvSpPr>
          <p:cNvPr id="256" name="Google Shape;256;p11"/>
          <p:cNvSpPr/>
          <p:nvPr/>
        </p:nvSpPr>
        <p:spPr>
          <a:xfrm>
            <a:off x="822960" y="201168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Introducir los gustos</a:t>
            </a:r>
            <a:endParaRPr b="0" i="0" spc="0" sz="1800" u="none" cap="none" strike="noStrike">
              <a:solidFill>
                <a:srgbClr val="FFFFFF"/>
              </a:solidFill>
              <a:latin typeface="Arial"/>
              <a:ea typeface="Arial"/>
              <a:cs typeface="Arial"/>
              <a:sym typeface="Arial"/>
            </a:endParaRPr>
          </a:p>
        </p:txBody>
      </p:sp>
      <p:sp>
        <p:nvSpPr>
          <p:cNvPr id="257" name="Google Shape;257;p11"/>
          <p:cNvSpPr/>
          <p:nvPr/>
        </p:nvSpPr>
        <p:spPr>
          <a:xfrm>
            <a:off x="822960" y="246888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12 botones de género (máximo 5) y texto libre, que se unen en un único campo tastes.</a:t>
            </a:r>
            <a:endParaRPr b="0" i="0" spc="0" sz="1300" u="none" cap="none" strike="noStrike">
              <a:solidFill>
                <a:srgbClr val="FFFFFF"/>
              </a:solidFill>
              <a:latin typeface="Arial"/>
              <a:ea typeface="Arial"/>
              <a:cs typeface="Arial"/>
              <a:sym typeface="Arial"/>
            </a:endParaRPr>
          </a:p>
        </p:txBody>
      </p:sp>
      <p:sp>
        <p:nvSpPr>
          <p:cNvPr id="258" name="Google Shape;258;p11"/>
          <p:cNvSpPr/>
          <p:nvPr/>
        </p:nvSpPr>
        <p:spPr>
          <a:xfrm>
            <a:off x="434340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59" name="Google Shape;259;p11"/>
          <p:cNvSpPr/>
          <p:nvPr/>
        </p:nvSpPr>
        <p:spPr>
          <a:xfrm>
            <a:off x="4617720" y="160020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onsolas"/>
                <a:ea typeface="Consolas"/>
                <a:cs typeface="Consolas"/>
                <a:sym typeface="Consolas"/>
              </a:rPr>
              <a:t>RF-02</a:t>
            </a:r>
            <a:endParaRPr b="0" i="0" spc="0" sz="1300" u="none" cap="none" strike="noStrike">
              <a:solidFill>
                <a:srgbClr val="FFFFFF"/>
              </a:solidFill>
              <a:latin typeface="Arial"/>
              <a:ea typeface="Arial"/>
              <a:cs typeface="Arial"/>
              <a:sym typeface="Arial"/>
            </a:endParaRPr>
          </a:p>
        </p:txBody>
      </p:sp>
      <p:sp>
        <p:nvSpPr>
          <p:cNvPr id="260" name="Google Shape;260;p11"/>
          <p:cNvSpPr/>
          <p:nvPr/>
        </p:nvSpPr>
        <p:spPr>
          <a:xfrm>
            <a:off x="4617720" y="201168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Validar la entrada</a:t>
            </a:r>
            <a:endParaRPr b="0" i="0" spc="0" sz="1800" u="none" cap="none" strike="noStrike">
              <a:solidFill>
                <a:srgbClr val="FFFFFF"/>
              </a:solidFill>
              <a:latin typeface="Arial"/>
              <a:ea typeface="Arial"/>
              <a:cs typeface="Arial"/>
              <a:sym typeface="Arial"/>
            </a:endParaRPr>
          </a:p>
        </p:txBody>
      </p:sp>
      <p:sp>
        <p:nvSpPr>
          <p:cNvPr id="261" name="Google Shape;261;p11"/>
          <p:cNvSpPr/>
          <p:nvPr/>
        </p:nvSpPr>
        <p:spPr>
          <a:xfrm>
            <a:off x="4617720" y="246888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De 1 a 500 caracteres tras quitar espacios. Si no, 422 sin llamar a la IA.</a:t>
            </a:r>
            <a:endParaRPr b="0" i="0" spc="0" sz="1300" u="none" cap="none" strike="noStrike">
              <a:solidFill>
                <a:srgbClr val="FFFFFF"/>
              </a:solidFill>
              <a:latin typeface="Arial"/>
              <a:ea typeface="Arial"/>
              <a:cs typeface="Arial"/>
              <a:sym typeface="Arial"/>
            </a:endParaRPr>
          </a:p>
        </p:txBody>
      </p:sp>
      <p:sp>
        <p:nvSpPr>
          <p:cNvPr id="262" name="Google Shape;262;p11"/>
          <p:cNvSpPr/>
          <p:nvPr/>
        </p:nvSpPr>
        <p:spPr>
          <a:xfrm>
            <a:off x="813816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63" name="Google Shape;263;p11"/>
          <p:cNvSpPr/>
          <p:nvPr/>
        </p:nvSpPr>
        <p:spPr>
          <a:xfrm>
            <a:off x="8412480" y="160020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onsolas"/>
                <a:ea typeface="Consolas"/>
                <a:cs typeface="Consolas"/>
                <a:sym typeface="Consolas"/>
              </a:rPr>
              <a:t>RF-03</a:t>
            </a:r>
            <a:endParaRPr b="0" i="0" spc="0" sz="1300" u="none" cap="none" strike="noStrike">
              <a:solidFill>
                <a:srgbClr val="FFFFFF"/>
              </a:solidFill>
              <a:latin typeface="Arial"/>
              <a:ea typeface="Arial"/>
              <a:cs typeface="Arial"/>
              <a:sym typeface="Arial"/>
            </a:endParaRPr>
          </a:p>
        </p:txBody>
      </p:sp>
      <p:sp>
        <p:nvSpPr>
          <p:cNvPr id="264" name="Google Shape;264;p11"/>
          <p:cNvSpPr/>
          <p:nvPr/>
        </p:nvSpPr>
        <p:spPr>
          <a:xfrm>
            <a:off x="8412480" y="201168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Obtener recomendaciones</a:t>
            </a:r>
            <a:endParaRPr b="0" i="0" spc="0" sz="1800" u="none" cap="none" strike="noStrike">
              <a:solidFill>
                <a:srgbClr val="FFFFFF"/>
              </a:solidFill>
              <a:latin typeface="Arial"/>
              <a:ea typeface="Arial"/>
              <a:cs typeface="Arial"/>
              <a:sym typeface="Arial"/>
            </a:endParaRPr>
          </a:p>
        </p:txBody>
      </p:sp>
      <p:sp>
        <p:nvSpPr>
          <p:cNvPr id="265" name="Google Shape;265;p11"/>
          <p:cNvSpPr/>
          <p:nvPr/>
        </p:nvSpPr>
        <p:spPr>
          <a:xfrm>
            <a:off x="8412480" y="246888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Una sola consulta a Gemini por envío válido: de 3 a 5 artistas con el porqué.</a:t>
            </a:r>
            <a:endParaRPr b="0" i="0" spc="0" sz="1300" u="none" cap="none" strike="noStrike">
              <a:solidFill>
                <a:srgbClr val="FFFFFF"/>
              </a:solidFill>
              <a:latin typeface="Arial"/>
              <a:ea typeface="Arial"/>
              <a:cs typeface="Arial"/>
              <a:sym typeface="Arial"/>
            </a:endParaRPr>
          </a:p>
        </p:txBody>
      </p:sp>
      <p:sp>
        <p:nvSpPr>
          <p:cNvPr id="266" name="Google Shape;266;p11"/>
          <p:cNvSpPr/>
          <p:nvPr/>
        </p:nvSpPr>
        <p:spPr>
          <a:xfrm>
            <a:off x="54864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67" name="Google Shape;267;p11"/>
          <p:cNvSpPr/>
          <p:nvPr/>
        </p:nvSpPr>
        <p:spPr>
          <a:xfrm>
            <a:off x="822960" y="397764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onsolas"/>
                <a:ea typeface="Consolas"/>
                <a:cs typeface="Consolas"/>
                <a:sym typeface="Consolas"/>
              </a:rPr>
              <a:t>RF-04</a:t>
            </a:r>
            <a:endParaRPr b="0" i="0" spc="0" sz="1300" u="none" cap="none" strike="noStrike">
              <a:solidFill>
                <a:srgbClr val="FFFFFF"/>
              </a:solidFill>
              <a:latin typeface="Arial"/>
              <a:ea typeface="Arial"/>
              <a:cs typeface="Arial"/>
              <a:sym typeface="Arial"/>
            </a:endParaRPr>
          </a:p>
        </p:txBody>
      </p:sp>
      <p:sp>
        <p:nvSpPr>
          <p:cNvPr id="268" name="Google Shape;268;p11"/>
          <p:cNvSpPr/>
          <p:nvPr/>
        </p:nvSpPr>
        <p:spPr>
          <a:xfrm>
            <a:off x="822960" y="438912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Mostrar en la misma pantalla</a:t>
            </a:r>
            <a:endParaRPr b="0" i="0" spc="0" sz="1800" u="none" cap="none" strike="noStrike">
              <a:solidFill>
                <a:srgbClr val="FFFFFF"/>
              </a:solidFill>
              <a:latin typeface="Arial"/>
              <a:ea typeface="Arial"/>
              <a:cs typeface="Arial"/>
              <a:sym typeface="Arial"/>
            </a:endParaRPr>
          </a:p>
        </p:txBody>
      </p:sp>
      <p:sp>
        <p:nvSpPr>
          <p:cNvPr id="269" name="Google Shape;269;p11"/>
          <p:cNvSpPr/>
          <p:nvPr/>
        </p:nvSpPr>
        <p:spPr>
          <a:xfrm>
            <a:off x="822960" y="484632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Estados de espera, resultado y error, sin acumular resultados anteriores.</a:t>
            </a:r>
            <a:endParaRPr b="0" i="0" spc="0" sz="1300" u="none" cap="none" strike="noStrike">
              <a:solidFill>
                <a:srgbClr val="FFFFFF"/>
              </a:solidFill>
              <a:latin typeface="Arial"/>
              <a:ea typeface="Arial"/>
              <a:cs typeface="Arial"/>
              <a:sym typeface="Arial"/>
            </a:endParaRPr>
          </a:p>
        </p:txBody>
      </p:sp>
      <p:sp>
        <p:nvSpPr>
          <p:cNvPr id="270" name="Google Shape;270;p11"/>
          <p:cNvSpPr/>
          <p:nvPr/>
        </p:nvSpPr>
        <p:spPr>
          <a:xfrm>
            <a:off x="434340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71" name="Google Shape;271;p11"/>
          <p:cNvSpPr/>
          <p:nvPr/>
        </p:nvSpPr>
        <p:spPr>
          <a:xfrm>
            <a:off x="4617720" y="397764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onsolas"/>
                <a:ea typeface="Consolas"/>
                <a:cs typeface="Consolas"/>
                <a:sym typeface="Consolas"/>
              </a:rPr>
              <a:t>RF-05</a:t>
            </a:r>
            <a:endParaRPr b="0" i="0" spc="0" sz="1300" u="none" cap="none" strike="noStrike">
              <a:solidFill>
                <a:srgbClr val="FFFFFF"/>
              </a:solidFill>
              <a:latin typeface="Arial"/>
              <a:ea typeface="Arial"/>
              <a:cs typeface="Arial"/>
              <a:sym typeface="Arial"/>
            </a:endParaRPr>
          </a:p>
        </p:txBody>
      </p:sp>
      <p:sp>
        <p:nvSpPr>
          <p:cNvPr id="272" name="Google Shape;272;p11"/>
          <p:cNvSpPr/>
          <p:nvPr/>
        </p:nvSpPr>
        <p:spPr>
          <a:xfrm>
            <a:off x="4617720" y="438912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Informar de errores de la IA</a:t>
            </a:r>
            <a:endParaRPr b="0" i="0" spc="0" sz="1800" u="none" cap="none" strike="noStrike">
              <a:solidFill>
                <a:srgbClr val="FFFFFF"/>
              </a:solidFill>
              <a:latin typeface="Arial"/>
              <a:ea typeface="Arial"/>
              <a:cs typeface="Arial"/>
              <a:sym typeface="Arial"/>
            </a:endParaRPr>
          </a:p>
        </p:txBody>
      </p:sp>
      <p:sp>
        <p:nvSpPr>
          <p:cNvPr id="273" name="Google Shape;273;p11"/>
          <p:cNvSpPr/>
          <p:nvPr/>
        </p:nvSpPr>
        <p:spPr>
          <a:xfrm>
            <a:off x="4617720" y="484632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502 o 504 con un mensaje comprensible, sin trazas ni detalles internos.</a:t>
            </a:r>
            <a:endParaRPr b="0" i="0" spc="0" sz="1300" u="none" cap="none" strike="noStrike">
              <a:solidFill>
                <a:srgbClr val="FFFFFF"/>
              </a:solidFill>
              <a:latin typeface="Arial"/>
              <a:ea typeface="Arial"/>
              <a:cs typeface="Arial"/>
              <a:sym typeface="Arial"/>
            </a:endParaRPr>
          </a:p>
        </p:txBody>
      </p:sp>
      <p:sp>
        <p:nvSpPr>
          <p:cNvPr id="274" name="Google Shape;274;p11"/>
          <p:cNvSpPr/>
          <p:nvPr/>
        </p:nvSpPr>
        <p:spPr>
          <a:xfrm>
            <a:off x="8138160" y="3749040"/>
            <a:ext cx="3611520" cy="2194200"/>
          </a:xfrm>
          <a:prstGeom prst="roundRect">
            <a:avLst>
              <a:gd fmla="val 5000" name="adj"/>
            </a:avLst>
          </a:prstGeom>
          <a:solidFill>
            <a:schemeClr val="dk2"/>
          </a:solidFill>
          <a:ln cap="flat" cmpd="sng" w="952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75" name="Google Shape;275;p11"/>
          <p:cNvSpPr/>
          <p:nvPr/>
        </p:nvSpPr>
        <p:spPr>
          <a:xfrm>
            <a:off x="8412480" y="397764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onsolas"/>
                <a:ea typeface="Consolas"/>
                <a:cs typeface="Consolas"/>
                <a:sym typeface="Consolas"/>
              </a:rPr>
              <a:t>RF-06</a:t>
            </a:r>
            <a:endParaRPr b="0" i="0" spc="0" sz="1300" u="none" cap="none" strike="noStrike">
              <a:solidFill>
                <a:srgbClr val="FFFFFF"/>
              </a:solidFill>
              <a:latin typeface="Arial"/>
              <a:ea typeface="Arial"/>
              <a:cs typeface="Arial"/>
              <a:sym typeface="Arial"/>
            </a:endParaRPr>
          </a:p>
        </p:txBody>
      </p:sp>
      <p:sp>
        <p:nvSpPr>
          <p:cNvPr id="276" name="Google Shape;276;p11"/>
          <p:cNvSpPr/>
          <p:nvPr/>
        </p:nvSpPr>
        <p:spPr>
          <a:xfrm>
            <a:off x="10652760" y="3950280"/>
            <a:ext cx="868320" cy="328680"/>
          </a:xfrm>
          <a:prstGeom prst="roundRect">
            <a:avLst>
              <a:gd fmla="val 50000" name="adj"/>
            </a:avLst>
          </a:prstGeom>
          <a:solidFill>
            <a:schemeClr val="accent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77" name="Google Shape;277;p11"/>
          <p:cNvSpPr/>
          <p:nvPr/>
        </p:nvSpPr>
        <p:spPr>
          <a:xfrm>
            <a:off x="10652760" y="3950280"/>
            <a:ext cx="868320" cy="32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App 2</a:t>
            </a:r>
            <a:endParaRPr b="0" i="0" spc="0" sz="1100" u="none" cap="none" strike="noStrike">
              <a:solidFill>
                <a:srgbClr val="FFFFFF"/>
              </a:solidFill>
              <a:latin typeface="Arial"/>
              <a:ea typeface="Arial"/>
              <a:cs typeface="Arial"/>
              <a:sym typeface="Arial"/>
            </a:endParaRPr>
          </a:p>
        </p:txBody>
      </p:sp>
      <p:sp>
        <p:nvSpPr>
          <p:cNvPr id="278" name="Google Shape;278;p11"/>
          <p:cNvSpPr/>
          <p:nvPr/>
        </p:nvSpPr>
        <p:spPr>
          <a:xfrm>
            <a:off x="8412480" y="438912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Autenticar y proteger</a:t>
            </a:r>
            <a:endParaRPr b="0" i="0" spc="0" sz="1800" u="none" cap="none" strike="noStrike">
              <a:solidFill>
                <a:srgbClr val="FFFFFF"/>
              </a:solidFill>
              <a:latin typeface="Arial"/>
              <a:ea typeface="Arial"/>
              <a:cs typeface="Arial"/>
              <a:sym typeface="Arial"/>
            </a:endParaRPr>
          </a:p>
        </p:txBody>
      </p:sp>
      <p:sp>
        <p:nvSpPr>
          <p:cNvPr id="279" name="Google Shape;279;p11"/>
          <p:cNvSpPr/>
          <p:nvPr/>
        </p:nvSpPr>
        <p:spPr>
          <a:xfrm>
            <a:off x="8412480" y="484632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Clerk en la misma pantalla. Sin token válido, 401 y no se consulta a la IA.</a:t>
            </a:r>
            <a:endParaRPr b="0" i="0" spc="0" sz="1300" u="none" cap="none" strike="noStrike">
              <a:solidFill>
                <a:srgbClr val="FFFFFF"/>
              </a:solidFill>
              <a:latin typeface="Arial"/>
              <a:ea typeface="Arial"/>
              <a:cs typeface="Arial"/>
              <a:sym typeface="Arial"/>
            </a:endParaRPr>
          </a:p>
        </p:txBody>
      </p:sp>
      <p:sp>
        <p:nvSpPr>
          <p:cNvPr id="280" name="Google Shape;280;p11"/>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12"/>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Requisitos no funcionales y seguridad</a:t>
            </a:r>
            <a:endParaRPr b="0" sz="3400" u="none" strike="noStrike">
              <a:solidFill>
                <a:schemeClr val="dk1"/>
              </a:solidFill>
              <a:latin typeface="Calibri"/>
              <a:ea typeface="Calibri"/>
              <a:cs typeface="Calibri"/>
              <a:sym typeface="Calibri"/>
            </a:endParaRPr>
          </a:p>
        </p:txBody>
      </p:sp>
      <p:sp>
        <p:nvSpPr>
          <p:cNvPr id="286" name="Google Shape;286;p12"/>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RNF-01 … RNF-05</a:t>
            </a:r>
            <a:endParaRPr b="0" i="0" sz="1200" u="none" cap="none" strike="noStrike">
              <a:solidFill>
                <a:schemeClr val="dk1"/>
              </a:solidFill>
              <a:latin typeface="Calibri"/>
              <a:ea typeface="Calibri"/>
              <a:cs typeface="Calibri"/>
              <a:sym typeface="Calibri"/>
            </a:endParaRPr>
          </a:p>
        </p:txBody>
      </p:sp>
      <p:sp>
        <p:nvSpPr>
          <p:cNvPr id="287" name="Google Shape;287;p12"/>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88" name="Google Shape;288;p12"/>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289" name="Google Shape;289;p12"/>
          <p:cNvSpPr/>
          <p:nvPr/>
        </p:nvSpPr>
        <p:spPr>
          <a:xfrm>
            <a:off x="548640" y="13716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90" name="Google Shape;290;p12"/>
          <p:cNvSpPr/>
          <p:nvPr/>
        </p:nvSpPr>
        <p:spPr>
          <a:xfrm>
            <a:off x="777240" y="15361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onsolas"/>
                <a:ea typeface="Consolas"/>
                <a:cs typeface="Consolas"/>
                <a:sym typeface="Consolas"/>
              </a:rPr>
              <a:t>RNF-01</a:t>
            </a:r>
            <a:endParaRPr b="0" i="0" spc="0" sz="1200" u="none" cap="none" strike="noStrike">
              <a:solidFill>
                <a:srgbClr val="FFFFFF"/>
              </a:solidFill>
              <a:latin typeface="Arial"/>
              <a:ea typeface="Arial"/>
              <a:cs typeface="Arial"/>
              <a:sym typeface="Arial"/>
            </a:endParaRPr>
          </a:p>
        </p:txBody>
      </p:sp>
      <p:sp>
        <p:nvSpPr>
          <p:cNvPr id="291" name="Google Shape;291;p12"/>
          <p:cNvSpPr/>
          <p:nvPr/>
        </p:nvSpPr>
        <p:spPr>
          <a:xfrm>
            <a:off x="777240" y="18014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Secretos solo en el backend</a:t>
            </a:r>
            <a:endParaRPr b="0" i="0" spc="0" sz="1500" u="none" cap="none" strike="noStrike">
              <a:solidFill>
                <a:srgbClr val="FFFFFF"/>
              </a:solidFill>
              <a:latin typeface="Arial"/>
              <a:ea typeface="Arial"/>
              <a:cs typeface="Arial"/>
              <a:sym typeface="Arial"/>
            </a:endParaRPr>
          </a:p>
        </p:txBody>
      </p:sp>
      <p:sp>
        <p:nvSpPr>
          <p:cNvPr id="292" name="Google Shape;292;p12"/>
          <p:cNvSpPr/>
          <p:nvPr/>
        </p:nvSpPr>
        <p:spPr>
          <a:xfrm>
            <a:off x="777240" y="21488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La clave de Gemini no está en el frontend, ni en el repo, ni en su historial, ni en las imágenes.</a:t>
            </a:r>
            <a:endParaRPr b="0" i="0" spc="0" sz="1200" u="none" cap="none" strike="noStrike">
              <a:solidFill>
                <a:srgbClr val="FFFFFF"/>
              </a:solidFill>
              <a:latin typeface="Arial"/>
              <a:ea typeface="Arial"/>
              <a:cs typeface="Arial"/>
              <a:sym typeface="Arial"/>
            </a:endParaRPr>
          </a:p>
        </p:txBody>
      </p:sp>
      <p:sp>
        <p:nvSpPr>
          <p:cNvPr id="293" name="Google Shape;293;p12"/>
          <p:cNvSpPr/>
          <p:nvPr/>
        </p:nvSpPr>
        <p:spPr>
          <a:xfrm>
            <a:off x="3977640" y="13716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94" name="Google Shape;294;p12"/>
          <p:cNvSpPr/>
          <p:nvPr/>
        </p:nvSpPr>
        <p:spPr>
          <a:xfrm>
            <a:off x="4206240" y="15361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onsolas"/>
                <a:ea typeface="Consolas"/>
                <a:cs typeface="Consolas"/>
                <a:sym typeface="Consolas"/>
              </a:rPr>
              <a:t>RNF-02</a:t>
            </a:r>
            <a:endParaRPr b="0" i="0" spc="0" sz="1200" u="none" cap="none" strike="noStrike">
              <a:solidFill>
                <a:srgbClr val="FFFFFF"/>
              </a:solidFill>
              <a:latin typeface="Arial"/>
              <a:ea typeface="Arial"/>
              <a:cs typeface="Arial"/>
              <a:sym typeface="Arial"/>
            </a:endParaRPr>
          </a:p>
        </p:txBody>
      </p:sp>
      <p:sp>
        <p:nvSpPr>
          <p:cNvPr id="295" name="Google Shape;295;p12"/>
          <p:cNvSpPr/>
          <p:nvPr/>
        </p:nvSpPr>
        <p:spPr>
          <a:xfrm>
            <a:off x="4206240" y="18014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Timeout de 25 s</a:t>
            </a:r>
            <a:endParaRPr b="0" i="0" spc="0" sz="1500" u="none" cap="none" strike="noStrike">
              <a:solidFill>
                <a:srgbClr val="FFFFFF"/>
              </a:solidFill>
              <a:latin typeface="Arial"/>
              <a:ea typeface="Arial"/>
              <a:cs typeface="Arial"/>
              <a:sym typeface="Arial"/>
            </a:endParaRPr>
          </a:p>
        </p:txBody>
      </p:sp>
      <p:sp>
        <p:nvSpPr>
          <p:cNvPr id="296" name="Google Shape;296;p12"/>
          <p:cNvSpPr/>
          <p:nvPr/>
        </p:nvSpPr>
        <p:spPr>
          <a:xfrm>
            <a:off x="4206240" y="21488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Si la IA no responde a tiempo: 504 TIMEOUT sin detalles internos.</a:t>
            </a:r>
            <a:endParaRPr b="0" i="0" spc="0" sz="1200" u="none" cap="none" strike="noStrike">
              <a:solidFill>
                <a:srgbClr val="FFFFFF"/>
              </a:solidFill>
              <a:latin typeface="Arial"/>
              <a:ea typeface="Arial"/>
              <a:cs typeface="Arial"/>
              <a:sym typeface="Arial"/>
            </a:endParaRPr>
          </a:p>
        </p:txBody>
      </p:sp>
      <p:sp>
        <p:nvSpPr>
          <p:cNvPr id="297" name="Google Shape;297;p12"/>
          <p:cNvSpPr/>
          <p:nvPr/>
        </p:nvSpPr>
        <p:spPr>
          <a:xfrm>
            <a:off x="548640" y="29718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298" name="Google Shape;298;p12"/>
          <p:cNvSpPr/>
          <p:nvPr/>
        </p:nvSpPr>
        <p:spPr>
          <a:xfrm>
            <a:off x="777240" y="31363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onsolas"/>
                <a:ea typeface="Consolas"/>
                <a:cs typeface="Consolas"/>
                <a:sym typeface="Consolas"/>
              </a:rPr>
              <a:t>RNF-03</a:t>
            </a:r>
            <a:endParaRPr b="0" i="0" spc="0" sz="1200" u="none" cap="none" strike="noStrike">
              <a:solidFill>
                <a:srgbClr val="FFFFFF"/>
              </a:solidFill>
              <a:latin typeface="Arial"/>
              <a:ea typeface="Arial"/>
              <a:cs typeface="Arial"/>
              <a:sym typeface="Arial"/>
            </a:endParaRPr>
          </a:p>
        </p:txBody>
      </p:sp>
      <p:sp>
        <p:nvSpPr>
          <p:cNvPr id="299" name="Google Shape;299;p12"/>
          <p:cNvSpPr/>
          <p:nvPr/>
        </p:nvSpPr>
        <p:spPr>
          <a:xfrm>
            <a:off x="777240" y="34016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Privacidad</a:t>
            </a:r>
            <a:endParaRPr b="0" i="0" spc="0" sz="1500" u="none" cap="none" strike="noStrike">
              <a:solidFill>
                <a:srgbClr val="FFFFFF"/>
              </a:solidFill>
              <a:latin typeface="Arial"/>
              <a:ea typeface="Arial"/>
              <a:cs typeface="Arial"/>
              <a:sym typeface="Arial"/>
            </a:endParaRPr>
          </a:p>
        </p:txBody>
      </p:sp>
      <p:sp>
        <p:nvSpPr>
          <p:cNvPr id="300" name="Google Shape;300;p12"/>
          <p:cNvSpPr/>
          <p:nvPr/>
        </p:nvSpPr>
        <p:spPr>
          <a:xfrm>
            <a:off x="777240" y="37490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No se guarda nada: tras recargar o reiniciar no aparece ninguna consulta anterior.</a:t>
            </a:r>
            <a:endParaRPr b="0" i="0" spc="0" sz="1200" u="none" cap="none" strike="noStrike">
              <a:solidFill>
                <a:srgbClr val="FFFFFF"/>
              </a:solidFill>
              <a:latin typeface="Arial"/>
              <a:ea typeface="Arial"/>
              <a:cs typeface="Arial"/>
              <a:sym typeface="Arial"/>
            </a:endParaRPr>
          </a:p>
        </p:txBody>
      </p:sp>
      <p:sp>
        <p:nvSpPr>
          <p:cNvPr id="301" name="Google Shape;301;p12"/>
          <p:cNvSpPr/>
          <p:nvPr/>
        </p:nvSpPr>
        <p:spPr>
          <a:xfrm>
            <a:off x="3977640" y="29718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02" name="Google Shape;302;p12"/>
          <p:cNvSpPr/>
          <p:nvPr/>
        </p:nvSpPr>
        <p:spPr>
          <a:xfrm>
            <a:off x="4206240" y="31363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onsolas"/>
                <a:ea typeface="Consolas"/>
                <a:cs typeface="Consolas"/>
                <a:sym typeface="Consolas"/>
              </a:rPr>
              <a:t>RNF-04</a:t>
            </a:r>
            <a:endParaRPr b="0" i="0" spc="0" sz="1200" u="none" cap="none" strike="noStrike">
              <a:solidFill>
                <a:srgbClr val="FFFFFF"/>
              </a:solidFill>
              <a:latin typeface="Arial"/>
              <a:ea typeface="Arial"/>
              <a:cs typeface="Arial"/>
              <a:sym typeface="Arial"/>
            </a:endParaRPr>
          </a:p>
        </p:txBody>
      </p:sp>
      <p:sp>
        <p:nvSpPr>
          <p:cNvPr id="303" name="Google Shape;303;p12"/>
          <p:cNvSpPr/>
          <p:nvPr/>
        </p:nvSpPr>
        <p:spPr>
          <a:xfrm>
            <a:off x="4206240" y="34016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Accesibilidad</a:t>
            </a:r>
            <a:endParaRPr b="0" i="0" spc="0" sz="1500" u="none" cap="none" strike="noStrike">
              <a:solidFill>
                <a:srgbClr val="FFFFFF"/>
              </a:solidFill>
              <a:latin typeface="Arial"/>
              <a:ea typeface="Arial"/>
              <a:cs typeface="Arial"/>
              <a:sym typeface="Arial"/>
            </a:endParaRPr>
          </a:p>
        </p:txBody>
      </p:sp>
      <p:sp>
        <p:nvSpPr>
          <p:cNvPr id="304" name="Google Shape;304;p12"/>
          <p:cNvSpPr/>
          <p:nvPr/>
        </p:nvSpPr>
        <p:spPr>
          <a:xfrm>
            <a:off x="4206240" y="37490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Todo se usa con teclado, con foco visible y sin scroll horizontal a 320 px.</a:t>
            </a:r>
            <a:endParaRPr b="0" i="0" spc="0" sz="1200" u="none" cap="none" strike="noStrike">
              <a:solidFill>
                <a:srgbClr val="FFFFFF"/>
              </a:solidFill>
              <a:latin typeface="Arial"/>
              <a:ea typeface="Arial"/>
              <a:cs typeface="Arial"/>
              <a:sym typeface="Arial"/>
            </a:endParaRPr>
          </a:p>
        </p:txBody>
      </p:sp>
      <p:sp>
        <p:nvSpPr>
          <p:cNvPr id="305" name="Google Shape;305;p12"/>
          <p:cNvSpPr/>
          <p:nvPr/>
        </p:nvSpPr>
        <p:spPr>
          <a:xfrm>
            <a:off x="548640" y="4572000"/>
            <a:ext cx="6720480" cy="1462680"/>
          </a:xfrm>
          <a:prstGeom prst="roundRect">
            <a:avLst>
              <a:gd fmla="val 7500" name="adj"/>
            </a:avLst>
          </a:prstGeom>
          <a:solidFill>
            <a:schemeClr val="dk2"/>
          </a:solidFill>
          <a:ln cap="flat" cmpd="sng" w="952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06" name="Google Shape;306;p12"/>
          <p:cNvSpPr/>
          <p:nvPr/>
        </p:nvSpPr>
        <p:spPr>
          <a:xfrm>
            <a:off x="777240" y="47365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onsolas"/>
                <a:ea typeface="Consolas"/>
                <a:cs typeface="Consolas"/>
                <a:sym typeface="Consolas"/>
              </a:rPr>
              <a:t>RNF-05</a:t>
            </a:r>
            <a:endParaRPr b="0" i="0" spc="0" sz="1200" u="none" cap="none" strike="noStrike">
              <a:solidFill>
                <a:srgbClr val="FFFFFF"/>
              </a:solidFill>
              <a:latin typeface="Arial"/>
              <a:ea typeface="Arial"/>
              <a:cs typeface="Arial"/>
              <a:sym typeface="Arial"/>
            </a:endParaRPr>
          </a:p>
        </p:txBody>
      </p:sp>
      <p:sp>
        <p:nvSpPr>
          <p:cNvPr id="307" name="Google Shape;307;p12"/>
          <p:cNvSpPr/>
          <p:nvPr/>
        </p:nvSpPr>
        <p:spPr>
          <a:xfrm>
            <a:off x="6217920" y="4709160"/>
            <a:ext cx="868320" cy="310680"/>
          </a:xfrm>
          <a:prstGeom prst="roundRect">
            <a:avLst>
              <a:gd fmla="val 50000" name="adj"/>
            </a:avLst>
          </a:prstGeom>
          <a:solidFill>
            <a:schemeClr val="accent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08" name="Google Shape;308;p12"/>
          <p:cNvSpPr/>
          <p:nvPr/>
        </p:nvSpPr>
        <p:spPr>
          <a:xfrm>
            <a:off x="6217920" y="4709160"/>
            <a:ext cx="868320" cy="310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dk1"/>
                </a:solidFill>
                <a:latin typeface="Calibri"/>
                <a:ea typeface="Calibri"/>
                <a:cs typeface="Calibri"/>
                <a:sym typeface="Calibri"/>
              </a:rPr>
              <a:t>App 2</a:t>
            </a:r>
            <a:endParaRPr b="0" i="0" spc="0" sz="1100" u="none" cap="none" strike="noStrike">
              <a:solidFill>
                <a:srgbClr val="FFFFFF"/>
              </a:solidFill>
              <a:latin typeface="Arial"/>
              <a:ea typeface="Arial"/>
              <a:cs typeface="Arial"/>
              <a:sym typeface="Arial"/>
            </a:endParaRPr>
          </a:p>
        </p:txBody>
      </p:sp>
      <p:sp>
        <p:nvSpPr>
          <p:cNvPr id="309" name="Google Shape;309;p12"/>
          <p:cNvSpPr/>
          <p:nvPr/>
        </p:nvSpPr>
        <p:spPr>
          <a:xfrm>
            <a:off x="777240" y="5001840"/>
            <a:ext cx="59432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Token verificado y solo por HTTPS</a:t>
            </a:r>
            <a:endParaRPr b="0" i="0" spc="0" sz="1500" u="none" cap="none" strike="noStrike">
              <a:solidFill>
                <a:srgbClr val="FFFFFF"/>
              </a:solidFill>
              <a:latin typeface="Arial"/>
              <a:ea typeface="Arial"/>
              <a:cs typeface="Arial"/>
              <a:sym typeface="Arial"/>
            </a:endParaRPr>
          </a:p>
        </p:txBody>
      </p:sp>
      <p:sp>
        <p:nvSpPr>
          <p:cNvPr id="310" name="Google Shape;310;p12"/>
          <p:cNvSpPr/>
          <p:nvPr/>
        </p:nvSpPr>
        <p:spPr>
          <a:xfrm>
            <a:off x="777240" y="5349240"/>
            <a:ext cx="626328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El backend comprueba firma, emisor y caducidad. Sin token, inválido o caducado: 401 sin llamar a la IA. Vercel y EC2 se sirven por HTTPS.</a:t>
            </a:r>
            <a:endParaRPr b="0" i="0" spc="0" sz="1200" u="none" cap="none" strike="noStrike">
              <a:solidFill>
                <a:srgbClr val="FFFFFF"/>
              </a:solidFill>
              <a:latin typeface="Arial"/>
              <a:ea typeface="Arial"/>
              <a:cs typeface="Arial"/>
              <a:sym typeface="Arial"/>
            </a:endParaRPr>
          </a:p>
        </p:txBody>
      </p:sp>
      <p:sp>
        <p:nvSpPr>
          <p:cNvPr id="311" name="Google Shape;311;p12"/>
          <p:cNvSpPr/>
          <p:nvPr/>
        </p:nvSpPr>
        <p:spPr>
          <a:xfrm>
            <a:off x="7543800" y="1371600"/>
            <a:ext cx="4114440" cy="4663080"/>
          </a:xfrm>
          <a:prstGeom prst="roundRect">
            <a:avLst>
              <a:gd fmla="val 266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12" name="Google Shape;312;p12"/>
          <p:cNvSpPr/>
          <p:nvPr/>
        </p:nvSpPr>
        <p:spPr>
          <a:xfrm>
            <a:off x="7772400" y="1536120"/>
            <a:ext cx="36572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accent1"/>
                </a:solidFill>
                <a:latin typeface="Calibri"/>
                <a:ea typeface="Calibri"/>
                <a:cs typeface="Calibri"/>
                <a:sym typeface="Calibri"/>
              </a:rPr>
              <a:t>Qué atraviesa cada petición</a:t>
            </a:r>
            <a:endParaRPr b="0" i="0" spc="0" sz="1500" u="none" cap="none" strike="noStrike">
              <a:solidFill>
                <a:srgbClr val="FFFFFF"/>
              </a:solidFill>
              <a:latin typeface="Arial"/>
              <a:ea typeface="Arial"/>
              <a:cs typeface="Arial"/>
              <a:sym typeface="Arial"/>
            </a:endParaRPr>
          </a:p>
        </p:txBody>
      </p:sp>
      <p:sp>
        <p:nvSpPr>
          <p:cNvPr id="313" name="Google Shape;313;p12"/>
          <p:cNvSpPr/>
          <p:nvPr/>
        </p:nvSpPr>
        <p:spPr>
          <a:xfrm>
            <a:off x="7772400" y="2011680"/>
            <a:ext cx="3657240" cy="749520"/>
          </a:xfrm>
          <a:prstGeom prst="roundRect">
            <a:avLst>
              <a:gd fmla="val 14634" name="adj"/>
            </a:avLst>
          </a:prstGeom>
          <a:solidFill>
            <a:schemeClr val="dk1"/>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14" name="Google Shape;314;p12"/>
          <p:cNvSpPr/>
          <p:nvPr/>
        </p:nvSpPr>
        <p:spPr>
          <a:xfrm>
            <a:off x="7936920" y="201168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alibri"/>
                <a:ea typeface="Calibri"/>
                <a:cs typeface="Calibri"/>
                <a:sym typeface="Calibri"/>
              </a:rPr>
              <a:t>Frontend</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no envía si no hay géneros ni texto</a:t>
            </a:r>
            <a:endParaRPr b="0" i="0" spc="0" sz="1100" u="none" cap="none" strike="noStrike">
              <a:solidFill>
                <a:srgbClr val="FFFFFF"/>
              </a:solidFill>
              <a:latin typeface="Arial"/>
              <a:ea typeface="Arial"/>
              <a:cs typeface="Arial"/>
              <a:sym typeface="Arial"/>
            </a:endParaRPr>
          </a:p>
        </p:txBody>
      </p:sp>
      <p:cxnSp>
        <p:nvCxnSpPr>
          <p:cNvPr id="315" name="Google Shape;315;p12"/>
          <p:cNvCxnSpPr/>
          <p:nvPr/>
        </p:nvCxnSpPr>
        <p:spPr>
          <a:xfrm>
            <a:off x="9601200" y="2761200"/>
            <a:ext cx="360" cy="237960"/>
          </a:xfrm>
          <a:prstGeom prst="straightConnector1">
            <a:avLst/>
          </a:prstGeom>
          <a:noFill/>
          <a:ln cap="flat" cmpd="sng" w="15875">
            <a:solidFill>
              <a:srgbClr val="A9A9BF"/>
            </a:solidFill>
            <a:prstDash val="solid"/>
            <a:round/>
            <a:headEnd len="sm" w="sm" type="none"/>
            <a:tailEnd len="med" w="med" type="triangle"/>
          </a:ln>
        </p:spPr>
      </p:cxnSp>
      <p:sp>
        <p:nvSpPr>
          <p:cNvPr id="316" name="Google Shape;316;p12"/>
          <p:cNvSpPr/>
          <p:nvPr/>
        </p:nvSpPr>
        <p:spPr>
          <a:xfrm>
            <a:off x="7772400" y="2999160"/>
            <a:ext cx="3657240" cy="749520"/>
          </a:xfrm>
          <a:prstGeom prst="roundRect">
            <a:avLst>
              <a:gd fmla="val 14634" name="adj"/>
            </a:avLst>
          </a:prstGeom>
          <a:solidFill>
            <a:schemeClr val="dk1"/>
          </a:solidFill>
          <a:ln cap="flat" cmpd="sng" w="952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17" name="Google Shape;317;p12"/>
          <p:cNvSpPr/>
          <p:nvPr/>
        </p:nvSpPr>
        <p:spPr>
          <a:xfrm>
            <a:off x="7936920" y="299916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Clerk (App 2)</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token ausente, inválido o caducado</a:t>
            </a:r>
            <a:endParaRPr b="0" i="0" spc="0" sz="1100" u="none" cap="none" strike="noStrike">
              <a:solidFill>
                <a:srgbClr val="FFFFFF"/>
              </a:solidFill>
              <a:latin typeface="Arial"/>
              <a:ea typeface="Arial"/>
              <a:cs typeface="Arial"/>
              <a:sym typeface="Arial"/>
            </a:endParaRPr>
          </a:p>
        </p:txBody>
      </p:sp>
      <p:sp>
        <p:nvSpPr>
          <p:cNvPr id="318" name="Google Shape;318;p12"/>
          <p:cNvSpPr/>
          <p:nvPr/>
        </p:nvSpPr>
        <p:spPr>
          <a:xfrm>
            <a:off x="10469880" y="2999160"/>
            <a:ext cx="868320" cy="7495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401</a:t>
            </a:r>
            <a:endParaRPr b="0" i="0" spc="0" sz="1200" u="none" cap="none" strike="noStrike">
              <a:solidFill>
                <a:srgbClr val="FFFFFF"/>
              </a:solidFill>
              <a:latin typeface="Arial"/>
              <a:ea typeface="Arial"/>
              <a:cs typeface="Arial"/>
              <a:sym typeface="Arial"/>
            </a:endParaRPr>
          </a:p>
        </p:txBody>
      </p:sp>
      <p:cxnSp>
        <p:nvCxnSpPr>
          <p:cNvPr id="319" name="Google Shape;319;p12"/>
          <p:cNvCxnSpPr/>
          <p:nvPr/>
        </p:nvCxnSpPr>
        <p:spPr>
          <a:xfrm>
            <a:off x="9601200" y="3749040"/>
            <a:ext cx="360" cy="237600"/>
          </a:xfrm>
          <a:prstGeom prst="straightConnector1">
            <a:avLst/>
          </a:prstGeom>
          <a:noFill/>
          <a:ln cap="flat" cmpd="sng" w="15875">
            <a:solidFill>
              <a:srgbClr val="A9A9BF"/>
            </a:solidFill>
            <a:prstDash val="solid"/>
            <a:round/>
            <a:headEnd len="sm" w="sm" type="none"/>
            <a:tailEnd len="med" w="med" type="triangle"/>
          </a:ln>
        </p:spPr>
      </p:cxnSp>
      <p:sp>
        <p:nvSpPr>
          <p:cNvPr id="320" name="Google Shape;320;p12"/>
          <p:cNvSpPr/>
          <p:nvPr/>
        </p:nvSpPr>
        <p:spPr>
          <a:xfrm>
            <a:off x="7772400" y="3986640"/>
            <a:ext cx="3657240" cy="749520"/>
          </a:xfrm>
          <a:prstGeom prst="roundRect">
            <a:avLst>
              <a:gd fmla="val 14634" name="adj"/>
            </a:avLst>
          </a:prstGeom>
          <a:solidFill>
            <a:schemeClr val="dk1"/>
          </a:solidFill>
          <a:ln cap="flat" cmpd="sng" w="952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21" name="Google Shape;321;p12"/>
          <p:cNvSpPr/>
          <p:nvPr/>
        </p:nvSpPr>
        <p:spPr>
          <a:xfrm>
            <a:off x="7936920" y="398664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4"/>
                </a:solidFill>
                <a:latin typeface="Calibri"/>
                <a:ea typeface="Calibri"/>
                <a:cs typeface="Calibri"/>
                <a:sym typeface="Calibri"/>
              </a:rPr>
              <a:t>Pydantic</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vacío, solo espacios o &gt; 500 caracteres</a:t>
            </a:r>
            <a:endParaRPr b="0" i="0" spc="0" sz="1100" u="none" cap="none" strike="noStrike">
              <a:solidFill>
                <a:srgbClr val="FFFFFF"/>
              </a:solidFill>
              <a:latin typeface="Arial"/>
              <a:ea typeface="Arial"/>
              <a:cs typeface="Arial"/>
              <a:sym typeface="Arial"/>
            </a:endParaRPr>
          </a:p>
        </p:txBody>
      </p:sp>
      <p:sp>
        <p:nvSpPr>
          <p:cNvPr id="322" name="Google Shape;322;p12"/>
          <p:cNvSpPr/>
          <p:nvPr/>
        </p:nvSpPr>
        <p:spPr>
          <a:xfrm>
            <a:off x="10469880" y="3986640"/>
            <a:ext cx="868320" cy="7495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00"/>
              <a:buFont typeface="Arial"/>
              <a:buNone/>
            </a:pPr>
            <a:r>
              <a:rPr b="1" i="0" lang="en-US" spc="0" sz="1200" u="none" cap="none" strike="noStrike">
                <a:solidFill>
                  <a:schemeClr val="accent4"/>
                </a:solidFill>
                <a:latin typeface="Calibri"/>
                <a:ea typeface="Calibri"/>
                <a:cs typeface="Calibri"/>
                <a:sym typeface="Calibri"/>
              </a:rPr>
              <a:t>422</a:t>
            </a:r>
            <a:endParaRPr b="0" i="0" spc="0" sz="1200" u="none" cap="none" strike="noStrike">
              <a:solidFill>
                <a:srgbClr val="FFFFFF"/>
              </a:solidFill>
              <a:latin typeface="Arial"/>
              <a:ea typeface="Arial"/>
              <a:cs typeface="Arial"/>
              <a:sym typeface="Arial"/>
            </a:endParaRPr>
          </a:p>
        </p:txBody>
      </p:sp>
      <p:cxnSp>
        <p:nvCxnSpPr>
          <p:cNvPr id="323" name="Google Shape;323;p12"/>
          <p:cNvCxnSpPr/>
          <p:nvPr/>
        </p:nvCxnSpPr>
        <p:spPr>
          <a:xfrm>
            <a:off x="9601200" y="4736520"/>
            <a:ext cx="360" cy="237600"/>
          </a:xfrm>
          <a:prstGeom prst="straightConnector1">
            <a:avLst/>
          </a:prstGeom>
          <a:noFill/>
          <a:ln cap="flat" cmpd="sng" w="15875">
            <a:solidFill>
              <a:srgbClr val="A9A9BF"/>
            </a:solidFill>
            <a:prstDash val="solid"/>
            <a:round/>
            <a:headEnd len="sm" w="sm" type="none"/>
            <a:tailEnd len="med" w="med" type="triangle"/>
          </a:ln>
        </p:spPr>
      </p:cxnSp>
      <p:sp>
        <p:nvSpPr>
          <p:cNvPr id="324" name="Google Shape;324;p12"/>
          <p:cNvSpPr/>
          <p:nvPr/>
        </p:nvSpPr>
        <p:spPr>
          <a:xfrm>
            <a:off x="7772400" y="4974480"/>
            <a:ext cx="3657240" cy="749520"/>
          </a:xfrm>
          <a:prstGeom prst="roundRect">
            <a:avLst>
              <a:gd fmla="val 14634" name="adj"/>
            </a:avLst>
          </a:prstGeom>
          <a:solidFill>
            <a:schemeClr val="dk1"/>
          </a:solidFill>
          <a:ln cap="flat" cmpd="sng" w="9525">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25" name="Google Shape;325;p12"/>
          <p:cNvSpPr/>
          <p:nvPr/>
        </p:nvSpPr>
        <p:spPr>
          <a:xfrm>
            <a:off x="7936920" y="497448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3"/>
                </a:solidFill>
                <a:latin typeface="Calibri"/>
                <a:ea typeface="Calibri"/>
                <a:cs typeface="Calibri"/>
                <a:sym typeface="Calibri"/>
              </a:rPr>
              <a:t>Gemini</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una llamada con la clave privada</a:t>
            </a:r>
            <a:endParaRPr b="0" i="0" spc="0" sz="1100" u="none" cap="none" strike="noStrike">
              <a:solidFill>
                <a:srgbClr val="FFFFFF"/>
              </a:solidFill>
              <a:latin typeface="Arial"/>
              <a:ea typeface="Arial"/>
              <a:cs typeface="Arial"/>
              <a:sym typeface="Arial"/>
            </a:endParaRPr>
          </a:p>
        </p:txBody>
      </p:sp>
      <p:sp>
        <p:nvSpPr>
          <p:cNvPr id="326" name="Google Shape;326;p12"/>
          <p:cNvSpPr/>
          <p:nvPr/>
        </p:nvSpPr>
        <p:spPr>
          <a:xfrm>
            <a:off x="10469880" y="4974480"/>
            <a:ext cx="868320" cy="7495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000000"/>
              </a:buClr>
              <a:buSzPts val="1200"/>
              <a:buFont typeface="Arial"/>
              <a:buNone/>
            </a:pPr>
            <a:r>
              <a:rPr b="1" i="0" lang="en-US" spc="0" sz="1200" u="none" cap="none" strike="noStrike">
                <a:solidFill>
                  <a:schemeClr val="accent3"/>
                </a:solidFill>
                <a:latin typeface="Calibri"/>
                <a:ea typeface="Calibri"/>
                <a:cs typeface="Calibri"/>
                <a:sym typeface="Calibri"/>
              </a:rPr>
              <a:t>502 · 504</a:t>
            </a:r>
            <a:endParaRPr b="0" i="0" spc="0" sz="1200" u="none" cap="none" strike="noStrike">
              <a:solidFill>
                <a:srgbClr val="FFFFFF"/>
              </a:solidFill>
              <a:latin typeface="Arial"/>
              <a:ea typeface="Arial"/>
              <a:cs typeface="Arial"/>
              <a:sym typeface="Arial"/>
            </a:endParaRPr>
          </a:p>
        </p:txBody>
      </p:sp>
      <p:sp>
        <p:nvSpPr>
          <p:cNvPr id="327" name="Google Shape;327;p12"/>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13"/>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Diagrama de casos de uso</a:t>
            </a:r>
            <a:endParaRPr b="0" sz="3400" u="none" strike="noStrike">
              <a:solidFill>
                <a:schemeClr val="dk1"/>
              </a:solidFill>
              <a:latin typeface="Calibri"/>
              <a:ea typeface="Calibri"/>
              <a:cs typeface="Calibri"/>
              <a:sym typeface="Calibri"/>
            </a:endParaRPr>
          </a:p>
        </p:txBody>
      </p:sp>
      <p:sp>
        <p:nvSpPr>
          <p:cNvPr id="333" name="Google Shape;333;p13"/>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DIAGRAMAS · 1 / 3</a:t>
            </a:r>
            <a:endParaRPr b="0" i="0" sz="1200" u="none" cap="none" strike="noStrike">
              <a:solidFill>
                <a:schemeClr val="dk1"/>
              </a:solidFill>
              <a:latin typeface="Calibri"/>
              <a:ea typeface="Calibri"/>
              <a:cs typeface="Calibri"/>
              <a:sym typeface="Calibri"/>
            </a:endParaRPr>
          </a:p>
        </p:txBody>
      </p:sp>
      <p:sp>
        <p:nvSpPr>
          <p:cNvPr id="334" name="Google Shape;334;p13"/>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35" name="Google Shape;335;p13"/>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336" name="Google Shape;336;p13"/>
          <p:cNvSpPr/>
          <p:nvPr/>
        </p:nvSpPr>
        <p:spPr>
          <a:xfrm>
            <a:off x="850320" y="2743200"/>
            <a:ext cx="402120" cy="402120"/>
          </a:xfrm>
          <a:prstGeom prst="ellipse">
            <a:avLst/>
          </a:prstGeom>
          <a:solidFill>
            <a:schemeClr val="dk2"/>
          </a:solidFill>
          <a:ln cap="flat" cmpd="sng" w="1905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cxnSp>
        <p:nvCxnSpPr>
          <p:cNvPr id="337" name="Google Shape;337;p13"/>
          <p:cNvCxnSpPr/>
          <p:nvPr/>
        </p:nvCxnSpPr>
        <p:spPr>
          <a:xfrm>
            <a:off x="1051560" y="3145320"/>
            <a:ext cx="360" cy="649440"/>
          </a:xfrm>
          <a:prstGeom prst="straightConnector1">
            <a:avLst/>
          </a:prstGeom>
          <a:noFill/>
          <a:ln cap="flat" cmpd="sng" w="19050">
            <a:solidFill>
              <a:srgbClr val="FFFFFF"/>
            </a:solidFill>
            <a:prstDash val="solid"/>
            <a:round/>
            <a:headEnd len="sm" w="sm" type="none"/>
            <a:tailEnd len="sm" w="sm" type="none"/>
          </a:ln>
        </p:spPr>
      </p:cxnSp>
      <p:cxnSp>
        <p:nvCxnSpPr>
          <p:cNvPr id="338" name="Google Shape;338;p13"/>
          <p:cNvCxnSpPr/>
          <p:nvPr/>
        </p:nvCxnSpPr>
        <p:spPr>
          <a:xfrm>
            <a:off x="703800" y="3337560"/>
            <a:ext cx="695160" cy="360"/>
          </a:xfrm>
          <a:prstGeom prst="straightConnector1">
            <a:avLst/>
          </a:prstGeom>
          <a:noFill/>
          <a:ln cap="flat" cmpd="sng" w="19050">
            <a:solidFill>
              <a:srgbClr val="FFFFFF"/>
            </a:solidFill>
            <a:prstDash val="solid"/>
            <a:round/>
            <a:headEnd len="sm" w="sm" type="none"/>
            <a:tailEnd len="sm" w="sm" type="none"/>
          </a:ln>
        </p:spPr>
      </p:cxnSp>
      <p:cxnSp>
        <p:nvCxnSpPr>
          <p:cNvPr id="339" name="Google Shape;339;p13"/>
          <p:cNvCxnSpPr/>
          <p:nvPr/>
        </p:nvCxnSpPr>
        <p:spPr>
          <a:xfrm flipH="1">
            <a:off x="777240" y="3794760"/>
            <a:ext cx="274320" cy="411480"/>
          </a:xfrm>
          <a:prstGeom prst="straightConnector1">
            <a:avLst/>
          </a:prstGeom>
          <a:noFill/>
          <a:ln cap="flat" cmpd="sng" w="19050">
            <a:solidFill>
              <a:srgbClr val="FFFFFF"/>
            </a:solidFill>
            <a:prstDash val="solid"/>
            <a:round/>
            <a:headEnd len="sm" w="sm" type="none"/>
            <a:tailEnd len="sm" w="sm" type="none"/>
          </a:ln>
        </p:spPr>
      </p:cxnSp>
      <p:cxnSp>
        <p:nvCxnSpPr>
          <p:cNvPr id="340" name="Google Shape;340;p13"/>
          <p:cNvCxnSpPr/>
          <p:nvPr/>
        </p:nvCxnSpPr>
        <p:spPr>
          <a:xfrm>
            <a:off x="1051560" y="3794760"/>
            <a:ext cx="274320" cy="411480"/>
          </a:xfrm>
          <a:prstGeom prst="straightConnector1">
            <a:avLst/>
          </a:prstGeom>
          <a:noFill/>
          <a:ln cap="flat" cmpd="sng" w="19050">
            <a:solidFill>
              <a:srgbClr val="FFFFFF"/>
            </a:solidFill>
            <a:prstDash val="solid"/>
            <a:round/>
            <a:headEnd len="sm" w="sm" type="none"/>
            <a:tailEnd len="sm" w="sm" type="none"/>
          </a:ln>
        </p:spPr>
      </p:cxnSp>
      <p:sp>
        <p:nvSpPr>
          <p:cNvPr id="341" name="Google Shape;341;p13"/>
          <p:cNvSpPr/>
          <p:nvPr/>
        </p:nvSpPr>
        <p:spPr>
          <a:xfrm>
            <a:off x="502920" y="4297680"/>
            <a:ext cx="1096920" cy="2739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Usuario</a:t>
            </a:r>
            <a:endParaRPr b="0" i="0" spc="0" sz="1300" u="none" cap="none" strike="noStrike">
              <a:solidFill>
                <a:srgbClr val="FFFFFF"/>
              </a:solidFill>
              <a:latin typeface="Arial"/>
              <a:ea typeface="Arial"/>
              <a:cs typeface="Arial"/>
              <a:sym typeface="Arial"/>
            </a:endParaRPr>
          </a:p>
        </p:txBody>
      </p:sp>
      <p:sp>
        <p:nvSpPr>
          <p:cNvPr id="342" name="Google Shape;342;p13"/>
          <p:cNvSpPr/>
          <p:nvPr/>
        </p:nvSpPr>
        <p:spPr>
          <a:xfrm>
            <a:off x="2103120" y="1371600"/>
            <a:ext cx="7086240" cy="4663080"/>
          </a:xfrm>
          <a:prstGeom prst="roundRect">
            <a:avLst>
              <a:gd fmla="val 2353" name="adj"/>
            </a:avLst>
          </a:prstGeom>
          <a:solidFill>
            <a:schemeClr val="dk1"/>
          </a:solidFill>
          <a:ln cap="flat" cmpd="sng" w="9525">
            <a:solidFill>
              <a:schemeClr val="lt2">
                <a:alpha val="50196"/>
              </a:schemeClr>
            </a:solidFill>
            <a:prstDash val="dash"/>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43" name="Google Shape;343;p13"/>
          <p:cNvSpPr/>
          <p:nvPr/>
        </p:nvSpPr>
        <p:spPr>
          <a:xfrm>
            <a:off x="2286000" y="1444680"/>
            <a:ext cx="274284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Sistema Musicfy</a:t>
            </a:r>
            <a:endParaRPr b="0" i="0" spc="0" sz="1200" u="none" cap="none" strike="noStrike">
              <a:solidFill>
                <a:srgbClr val="FFFFFF"/>
              </a:solidFill>
              <a:latin typeface="Arial"/>
              <a:ea typeface="Arial"/>
              <a:cs typeface="Arial"/>
              <a:sym typeface="Arial"/>
            </a:endParaRPr>
          </a:p>
        </p:txBody>
      </p:sp>
      <p:sp>
        <p:nvSpPr>
          <p:cNvPr id="344" name="Google Shape;344;p13"/>
          <p:cNvSpPr/>
          <p:nvPr/>
        </p:nvSpPr>
        <p:spPr>
          <a:xfrm>
            <a:off x="2423160" y="1828800"/>
            <a:ext cx="2605680" cy="685440"/>
          </a:xfrm>
          <a:prstGeom prst="ellipse">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45" name="Google Shape;345;p13"/>
          <p:cNvSpPr/>
          <p:nvPr/>
        </p:nvSpPr>
        <p:spPr>
          <a:xfrm>
            <a:off x="2560320" y="1828800"/>
            <a:ext cx="23313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Iniciar sesión (App 2)</a:t>
            </a:r>
            <a:endParaRPr b="0" i="0" spc="0" sz="1200" u="none" cap="none" strike="noStrike">
              <a:solidFill>
                <a:srgbClr val="FFFFFF"/>
              </a:solidFill>
              <a:latin typeface="Arial"/>
              <a:ea typeface="Arial"/>
              <a:cs typeface="Arial"/>
              <a:sym typeface="Arial"/>
            </a:endParaRPr>
          </a:p>
        </p:txBody>
      </p:sp>
      <p:sp>
        <p:nvSpPr>
          <p:cNvPr id="346" name="Google Shape;346;p13"/>
          <p:cNvSpPr/>
          <p:nvPr/>
        </p:nvSpPr>
        <p:spPr>
          <a:xfrm>
            <a:off x="2423160" y="3154680"/>
            <a:ext cx="260568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47" name="Google Shape;347;p13"/>
          <p:cNvSpPr/>
          <p:nvPr/>
        </p:nvSpPr>
        <p:spPr>
          <a:xfrm>
            <a:off x="2560320" y="3154680"/>
            <a:ext cx="23313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Pedir recomendaciones</a:t>
            </a:r>
            <a:endParaRPr b="0" i="0" spc="0" sz="1200" u="none" cap="none" strike="noStrike">
              <a:solidFill>
                <a:srgbClr val="FFFFFF"/>
              </a:solidFill>
              <a:latin typeface="Arial"/>
              <a:ea typeface="Arial"/>
              <a:cs typeface="Arial"/>
              <a:sym typeface="Arial"/>
            </a:endParaRPr>
          </a:p>
        </p:txBody>
      </p:sp>
      <p:sp>
        <p:nvSpPr>
          <p:cNvPr id="348" name="Google Shape;348;p13"/>
          <p:cNvSpPr/>
          <p:nvPr/>
        </p:nvSpPr>
        <p:spPr>
          <a:xfrm>
            <a:off x="2423160" y="4526280"/>
            <a:ext cx="260568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49" name="Google Shape;349;p13"/>
          <p:cNvSpPr/>
          <p:nvPr/>
        </p:nvSpPr>
        <p:spPr>
          <a:xfrm>
            <a:off x="2560320" y="4526280"/>
            <a:ext cx="23313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Ver recomendaciones</a:t>
            </a:r>
            <a:endParaRPr b="0" i="0" spc="0" sz="1200" u="none" cap="none" strike="noStrike">
              <a:solidFill>
                <a:srgbClr val="FFFFFF"/>
              </a:solidFill>
              <a:latin typeface="Arial"/>
              <a:ea typeface="Arial"/>
              <a:cs typeface="Arial"/>
              <a:sym typeface="Arial"/>
            </a:endParaRPr>
          </a:p>
        </p:txBody>
      </p:sp>
      <p:sp>
        <p:nvSpPr>
          <p:cNvPr id="350" name="Google Shape;350;p13"/>
          <p:cNvSpPr/>
          <p:nvPr/>
        </p:nvSpPr>
        <p:spPr>
          <a:xfrm>
            <a:off x="6263640" y="1828800"/>
            <a:ext cx="2697120" cy="685440"/>
          </a:xfrm>
          <a:prstGeom prst="ellipse">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51" name="Google Shape;351;p13"/>
          <p:cNvSpPr/>
          <p:nvPr/>
        </p:nvSpPr>
        <p:spPr>
          <a:xfrm>
            <a:off x="6400800" y="182880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Verificar token (App 2)</a:t>
            </a:r>
            <a:endParaRPr b="0" i="0" spc="0" sz="1200" u="none" cap="none" strike="noStrike">
              <a:solidFill>
                <a:srgbClr val="FFFFFF"/>
              </a:solidFill>
              <a:latin typeface="Arial"/>
              <a:ea typeface="Arial"/>
              <a:cs typeface="Arial"/>
              <a:sym typeface="Arial"/>
            </a:endParaRPr>
          </a:p>
        </p:txBody>
      </p:sp>
      <p:sp>
        <p:nvSpPr>
          <p:cNvPr id="352" name="Google Shape;352;p13"/>
          <p:cNvSpPr/>
          <p:nvPr/>
        </p:nvSpPr>
        <p:spPr>
          <a:xfrm>
            <a:off x="6263640" y="2788920"/>
            <a:ext cx="269712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53" name="Google Shape;353;p13"/>
          <p:cNvSpPr/>
          <p:nvPr/>
        </p:nvSpPr>
        <p:spPr>
          <a:xfrm>
            <a:off x="6400800" y="278892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Validar entrada</a:t>
            </a:r>
            <a:endParaRPr b="0" i="0" spc="0" sz="1200" u="none" cap="none" strike="noStrike">
              <a:solidFill>
                <a:srgbClr val="FFFFFF"/>
              </a:solidFill>
              <a:latin typeface="Arial"/>
              <a:ea typeface="Arial"/>
              <a:cs typeface="Arial"/>
              <a:sym typeface="Arial"/>
            </a:endParaRPr>
          </a:p>
        </p:txBody>
      </p:sp>
      <p:sp>
        <p:nvSpPr>
          <p:cNvPr id="354" name="Google Shape;354;p13"/>
          <p:cNvSpPr/>
          <p:nvPr/>
        </p:nvSpPr>
        <p:spPr>
          <a:xfrm>
            <a:off x="6263640" y="3749040"/>
            <a:ext cx="269712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55" name="Google Shape;355;p13"/>
          <p:cNvSpPr/>
          <p:nvPr/>
        </p:nvSpPr>
        <p:spPr>
          <a:xfrm>
            <a:off x="6400800" y="374904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Consultar la IA</a:t>
            </a:r>
            <a:endParaRPr b="0" i="0" spc="0" sz="1200" u="none" cap="none" strike="noStrike">
              <a:solidFill>
                <a:srgbClr val="FFFFFF"/>
              </a:solidFill>
              <a:latin typeface="Arial"/>
              <a:ea typeface="Arial"/>
              <a:cs typeface="Arial"/>
              <a:sym typeface="Arial"/>
            </a:endParaRPr>
          </a:p>
        </p:txBody>
      </p:sp>
      <p:sp>
        <p:nvSpPr>
          <p:cNvPr id="356" name="Google Shape;356;p13"/>
          <p:cNvSpPr/>
          <p:nvPr/>
        </p:nvSpPr>
        <p:spPr>
          <a:xfrm>
            <a:off x="6263640" y="4937760"/>
            <a:ext cx="2697120" cy="685440"/>
          </a:xfrm>
          <a:prstGeom prst="ellipse">
            <a:avLst/>
          </a:prstGeom>
          <a:solidFill>
            <a:schemeClr val="dk2"/>
          </a:solidFill>
          <a:ln cap="flat" cmpd="sng" w="15875">
            <a:solidFill>
              <a:srgbClr val="F2667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57" name="Google Shape;357;p13"/>
          <p:cNvSpPr/>
          <p:nvPr/>
        </p:nvSpPr>
        <p:spPr>
          <a:xfrm>
            <a:off x="6400800" y="493776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Ver aviso de error</a:t>
            </a:r>
            <a:endParaRPr b="0" i="0" spc="0" sz="1200" u="none" cap="none" strike="noStrike">
              <a:solidFill>
                <a:srgbClr val="FFFFFF"/>
              </a:solidFill>
              <a:latin typeface="Arial"/>
              <a:ea typeface="Arial"/>
              <a:cs typeface="Arial"/>
              <a:sym typeface="Arial"/>
            </a:endParaRPr>
          </a:p>
        </p:txBody>
      </p:sp>
      <p:cxnSp>
        <p:nvCxnSpPr>
          <p:cNvPr id="358" name="Google Shape;358;p13"/>
          <p:cNvCxnSpPr/>
          <p:nvPr/>
        </p:nvCxnSpPr>
        <p:spPr>
          <a:xfrm flipH="1" rot="10800000">
            <a:off x="1463040" y="2176200"/>
            <a:ext cx="960120" cy="1161360"/>
          </a:xfrm>
          <a:prstGeom prst="straightConnector1">
            <a:avLst/>
          </a:prstGeom>
          <a:noFill/>
          <a:ln cap="flat" cmpd="sng" w="15875">
            <a:solidFill>
              <a:srgbClr val="FFFFFF"/>
            </a:solidFill>
            <a:prstDash val="solid"/>
            <a:round/>
            <a:headEnd len="sm" w="sm" type="none"/>
            <a:tailEnd len="sm" w="sm" type="none"/>
          </a:ln>
        </p:spPr>
      </p:cxnSp>
      <p:cxnSp>
        <p:nvCxnSpPr>
          <p:cNvPr id="359" name="Google Shape;359;p13"/>
          <p:cNvCxnSpPr/>
          <p:nvPr/>
        </p:nvCxnSpPr>
        <p:spPr>
          <a:xfrm>
            <a:off x="1463040" y="3337560"/>
            <a:ext cx="960120" cy="164520"/>
          </a:xfrm>
          <a:prstGeom prst="straightConnector1">
            <a:avLst/>
          </a:prstGeom>
          <a:noFill/>
          <a:ln cap="flat" cmpd="sng" w="15875">
            <a:solidFill>
              <a:srgbClr val="FFFFFF"/>
            </a:solidFill>
            <a:prstDash val="solid"/>
            <a:round/>
            <a:headEnd len="sm" w="sm" type="none"/>
            <a:tailEnd len="sm" w="sm" type="none"/>
          </a:ln>
        </p:spPr>
      </p:cxnSp>
      <p:cxnSp>
        <p:nvCxnSpPr>
          <p:cNvPr id="360" name="Google Shape;360;p13"/>
          <p:cNvCxnSpPr/>
          <p:nvPr/>
        </p:nvCxnSpPr>
        <p:spPr>
          <a:xfrm>
            <a:off x="1463040" y="3337560"/>
            <a:ext cx="960120" cy="1536120"/>
          </a:xfrm>
          <a:prstGeom prst="straightConnector1">
            <a:avLst/>
          </a:prstGeom>
          <a:noFill/>
          <a:ln cap="flat" cmpd="sng" w="15875">
            <a:solidFill>
              <a:srgbClr val="FFFFFF"/>
            </a:solidFill>
            <a:prstDash val="solid"/>
            <a:round/>
            <a:headEnd len="sm" w="sm" type="none"/>
            <a:tailEnd len="sm" w="sm" type="none"/>
          </a:ln>
        </p:spPr>
      </p:cxnSp>
      <p:cxnSp>
        <p:nvCxnSpPr>
          <p:cNvPr id="361" name="Google Shape;361;p13"/>
          <p:cNvCxnSpPr/>
          <p:nvPr/>
        </p:nvCxnSpPr>
        <p:spPr>
          <a:xfrm flipH="1" rot="10800000">
            <a:off x="5029200" y="2194560"/>
            <a:ext cx="1234440" cy="1143000"/>
          </a:xfrm>
          <a:prstGeom prst="straightConnector1">
            <a:avLst/>
          </a:prstGeom>
          <a:noFill/>
          <a:ln cap="flat" cmpd="sng" w="15875">
            <a:solidFill>
              <a:srgbClr val="E86CCA"/>
            </a:solidFill>
            <a:prstDash val="dash"/>
            <a:round/>
            <a:headEnd len="sm" w="sm" type="none"/>
            <a:tailEnd len="med" w="med" type="triangle"/>
          </a:ln>
        </p:spPr>
      </p:cxnSp>
      <p:cxnSp>
        <p:nvCxnSpPr>
          <p:cNvPr id="362" name="Google Shape;362;p13"/>
          <p:cNvCxnSpPr/>
          <p:nvPr/>
        </p:nvCxnSpPr>
        <p:spPr>
          <a:xfrm flipH="1" rot="10800000">
            <a:off x="5029200" y="3126960"/>
            <a:ext cx="1234440" cy="347760"/>
          </a:xfrm>
          <a:prstGeom prst="straightConnector1">
            <a:avLst/>
          </a:prstGeom>
          <a:noFill/>
          <a:ln cap="flat" cmpd="sng" w="15875">
            <a:solidFill>
              <a:srgbClr val="E86CCA"/>
            </a:solidFill>
            <a:prstDash val="dash"/>
            <a:round/>
            <a:headEnd len="sm" w="sm" type="none"/>
            <a:tailEnd len="med" w="med" type="triangle"/>
          </a:ln>
        </p:spPr>
      </p:cxnSp>
      <p:cxnSp>
        <p:nvCxnSpPr>
          <p:cNvPr id="363" name="Google Shape;363;p13"/>
          <p:cNvCxnSpPr/>
          <p:nvPr/>
        </p:nvCxnSpPr>
        <p:spPr>
          <a:xfrm>
            <a:off x="5029200" y="3611880"/>
            <a:ext cx="1234440" cy="457200"/>
          </a:xfrm>
          <a:prstGeom prst="straightConnector1">
            <a:avLst/>
          </a:prstGeom>
          <a:noFill/>
          <a:ln cap="flat" cmpd="sng" w="15875">
            <a:solidFill>
              <a:srgbClr val="E86CCA"/>
            </a:solidFill>
            <a:prstDash val="dash"/>
            <a:round/>
            <a:headEnd len="sm" w="sm" type="none"/>
            <a:tailEnd len="med" w="med" type="triangle"/>
          </a:ln>
        </p:spPr>
      </p:cxnSp>
      <p:sp>
        <p:nvSpPr>
          <p:cNvPr id="364" name="Google Shape;364;p13"/>
          <p:cNvSpPr/>
          <p:nvPr/>
        </p:nvSpPr>
        <p:spPr>
          <a:xfrm>
            <a:off x="5074920" y="2606040"/>
            <a:ext cx="91404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accent1"/>
                </a:solidFill>
                <a:latin typeface="Calibri"/>
                <a:ea typeface="Calibri"/>
                <a:cs typeface="Calibri"/>
                <a:sym typeface="Calibri"/>
              </a:rPr>
              <a:t>«include»</a:t>
            </a:r>
            <a:endParaRPr b="0" i="0" spc="0" sz="1000" u="none" cap="none" strike="noStrike">
              <a:solidFill>
                <a:srgbClr val="FFFFFF"/>
              </a:solidFill>
              <a:latin typeface="Arial"/>
              <a:ea typeface="Arial"/>
              <a:cs typeface="Arial"/>
              <a:sym typeface="Arial"/>
            </a:endParaRPr>
          </a:p>
        </p:txBody>
      </p:sp>
      <p:cxnSp>
        <p:nvCxnSpPr>
          <p:cNvPr id="365" name="Google Shape;365;p13"/>
          <p:cNvCxnSpPr/>
          <p:nvPr/>
        </p:nvCxnSpPr>
        <p:spPr>
          <a:xfrm rot="10800000">
            <a:off x="4846320" y="3840480"/>
            <a:ext cx="1417320" cy="1417320"/>
          </a:xfrm>
          <a:prstGeom prst="straightConnector1">
            <a:avLst/>
          </a:prstGeom>
          <a:noFill/>
          <a:ln cap="flat" cmpd="sng" w="15875">
            <a:solidFill>
              <a:srgbClr val="F2667A"/>
            </a:solidFill>
            <a:prstDash val="dash"/>
            <a:round/>
            <a:headEnd len="sm" w="sm" type="none"/>
            <a:tailEnd len="med" w="med" type="triangle"/>
          </a:ln>
        </p:spPr>
      </p:cxnSp>
      <p:sp>
        <p:nvSpPr>
          <p:cNvPr id="366" name="Google Shape;366;p13"/>
          <p:cNvSpPr/>
          <p:nvPr/>
        </p:nvSpPr>
        <p:spPr>
          <a:xfrm>
            <a:off x="4617720" y="4434840"/>
            <a:ext cx="91404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accent5"/>
                </a:solidFill>
                <a:latin typeface="Calibri"/>
                <a:ea typeface="Calibri"/>
                <a:cs typeface="Calibri"/>
                <a:sym typeface="Calibri"/>
              </a:rPr>
              <a:t>«extend»</a:t>
            </a:r>
            <a:endParaRPr b="0" i="0" spc="0" sz="1000" u="none" cap="none" strike="noStrike">
              <a:solidFill>
                <a:srgbClr val="FFFFFF"/>
              </a:solidFill>
              <a:latin typeface="Arial"/>
              <a:ea typeface="Arial"/>
              <a:cs typeface="Arial"/>
              <a:sym typeface="Arial"/>
            </a:endParaRPr>
          </a:p>
        </p:txBody>
      </p:sp>
      <p:sp>
        <p:nvSpPr>
          <p:cNvPr id="367" name="Google Shape;367;p13"/>
          <p:cNvSpPr/>
          <p:nvPr/>
        </p:nvSpPr>
        <p:spPr>
          <a:xfrm>
            <a:off x="6263640" y="5669280"/>
            <a:ext cx="2697120" cy="255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5"/>
                </a:solidFill>
                <a:latin typeface="Calibri"/>
                <a:ea typeface="Calibri"/>
                <a:cs typeface="Calibri"/>
                <a:sym typeface="Calibri"/>
              </a:rPr>
              <a:t>A1 · 422   A2 · 502/504   A3 · 401</a:t>
            </a:r>
            <a:endParaRPr b="0" i="0" spc="0" sz="1000" u="none" cap="none" strike="noStrike">
              <a:solidFill>
                <a:srgbClr val="FFFFFF"/>
              </a:solidFill>
              <a:latin typeface="Arial"/>
              <a:ea typeface="Arial"/>
              <a:cs typeface="Arial"/>
              <a:sym typeface="Arial"/>
            </a:endParaRPr>
          </a:p>
        </p:txBody>
      </p:sp>
      <p:sp>
        <p:nvSpPr>
          <p:cNvPr id="368" name="Google Shape;368;p13"/>
          <p:cNvSpPr/>
          <p:nvPr/>
        </p:nvSpPr>
        <p:spPr>
          <a:xfrm>
            <a:off x="9646920" y="1828800"/>
            <a:ext cx="2011320" cy="685440"/>
          </a:xfrm>
          <a:prstGeom prst="roundRect">
            <a:avLst>
              <a:gd fmla="val 16000"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69" name="Google Shape;369;p13"/>
          <p:cNvSpPr/>
          <p:nvPr/>
        </p:nvSpPr>
        <p:spPr>
          <a:xfrm>
            <a:off x="9720000" y="1828800"/>
            <a:ext cx="18651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Clerk</a:t>
            </a:r>
            <a:endParaRPr b="0" i="0" spc="0" sz="13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identidad</a:t>
            </a:r>
            <a:endParaRPr b="0" i="0" spc="0" sz="1100" u="none" cap="none" strike="noStrike">
              <a:solidFill>
                <a:srgbClr val="FFFFFF"/>
              </a:solidFill>
              <a:latin typeface="Arial"/>
              <a:ea typeface="Arial"/>
              <a:cs typeface="Arial"/>
              <a:sym typeface="Arial"/>
            </a:endParaRPr>
          </a:p>
        </p:txBody>
      </p:sp>
      <p:sp>
        <p:nvSpPr>
          <p:cNvPr id="370" name="Google Shape;370;p13"/>
          <p:cNvSpPr/>
          <p:nvPr/>
        </p:nvSpPr>
        <p:spPr>
          <a:xfrm>
            <a:off x="9646920" y="3749040"/>
            <a:ext cx="2011320" cy="685440"/>
          </a:xfrm>
          <a:prstGeom prst="roundRect">
            <a:avLst>
              <a:gd fmla="val 16000" name="adj"/>
            </a:avLst>
          </a:prstGeom>
          <a:solidFill>
            <a:schemeClr val="dk2"/>
          </a:solidFill>
          <a:ln cap="flat" cmpd="sng" w="15875">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71" name="Google Shape;371;p13"/>
          <p:cNvSpPr/>
          <p:nvPr/>
        </p:nvSpPr>
        <p:spPr>
          <a:xfrm>
            <a:off x="9720000" y="3749040"/>
            <a:ext cx="18651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accent3"/>
                </a:solidFill>
                <a:latin typeface="Calibri"/>
                <a:ea typeface="Calibri"/>
                <a:cs typeface="Calibri"/>
                <a:sym typeface="Calibri"/>
              </a:rPr>
              <a:t>API de Gemini</a:t>
            </a:r>
            <a:endParaRPr b="0" i="0" spc="0" sz="13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proveedor de IA</a:t>
            </a:r>
            <a:endParaRPr b="0" i="0" spc="0" sz="1100" u="none" cap="none" strike="noStrike">
              <a:solidFill>
                <a:srgbClr val="FFFFFF"/>
              </a:solidFill>
              <a:latin typeface="Arial"/>
              <a:ea typeface="Arial"/>
              <a:cs typeface="Arial"/>
              <a:sym typeface="Arial"/>
            </a:endParaRPr>
          </a:p>
        </p:txBody>
      </p:sp>
      <p:cxnSp>
        <p:nvCxnSpPr>
          <p:cNvPr id="372" name="Google Shape;372;p13"/>
          <p:cNvCxnSpPr/>
          <p:nvPr/>
        </p:nvCxnSpPr>
        <p:spPr>
          <a:xfrm>
            <a:off x="8961120" y="2176200"/>
            <a:ext cx="685800" cy="360"/>
          </a:xfrm>
          <a:prstGeom prst="straightConnector1">
            <a:avLst/>
          </a:prstGeom>
          <a:noFill/>
          <a:ln cap="flat" cmpd="sng" w="15875">
            <a:solidFill>
              <a:srgbClr val="9B8CFF"/>
            </a:solidFill>
            <a:prstDash val="solid"/>
            <a:round/>
            <a:headEnd len="sm" w="sm" type="none"/>
            <a:tailEnd len="sm" w="sm" type="none"/>
          </a:ln>
        </p:spPr>
      </p:cxnSp>
      <p:cxnSp>
        <p:nvCxnSpPr>
          <p:cNvPr id="373" name="Google Shape;373;p13"/>
          <p:cNvCxnSpPr/>
          <p:nvPr/>
        </p:nvCxnSpPr>
        <p:spPr>
          <a:xfrm>
            <a:off x="8961120" y="4096440"/>
            <a:ext cx="685800" cy="360"/>
          </a:xfrm>
          <a:prstGeom prst="straightConnector1">
            <a:avLst/>
          </a:prstGeom>
          <a:noFill/>
          <a:ln cap="flat" cmpd="sng" w="15875">
            <a:solidFill>
              <a:srgbClr val="4FD1E8"/>
            </a:solidFill>
            <a:prstDash val="solid"/>
            <a:round/>
            <a:headEnd len="sm" w="sm" type="none"/>
            <a:tailEnd len="sm" w="sm" type="none"/>
          </a:ln>
        </p:spPr>
      </p:cxnSp>
      <p:sp>
        <p:nvSpPr>
          <p:cNvPr id="374" name="Google Shape;374;p13"/>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14"/>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Diagrama de secuencia (App 2)</a:t>
            </a:r>
            <a:endParaRPr b="0" sz="3400" u="none" strike="noStrike">
              <a:solidFill>
                <a:schemeClr val="dk1"/>
              </a:solidFill>
              <a:latin typeface="Calibri"/>
              <a:ea typeface="Calibri"/>
              <a:cs typeface="Calibri"/>
              <a:sym typeface="Calibri"/>
            </a:endParaRPr>
          </a:p>
        </p:txBody>
      </p:sp>
      <p:sp>
        <p:nvSpPr>
          <p:cNvPr id="380" name="Google Shape;380;p14"/>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DIAGRAMAS · 2 / 3</a:t>
            </a:r>
            <a:endParaRPr b="0" i="0" sz="1200" u="none" cap="none" strike="noStrike">
              <a:solidFill>
                <a:schemeClr val="dk1"/>
              </a:solidFill>
              <a:latin typeface="Calibri"/>
              <a:ea typeface="Calibri"/>
              <a:cs typeface="Calibri"/>
              <a:sym typeface="Calibri"/>
            </a:endParaRPr>
          </a:p>
        </p:txBody>
      </p:sp>
      <p:sp>
        <p:nvSpPr>
          <p:cNvPr id="381" name="Google Shape;381;p14"/>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82" name="Google Shape;382;p14"/>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383" name="Google Shape;383;p14"/>
          <p:cNvSpPr/>
          <p:nvPr/>
        </p:nvSpPr>
        <p:spPr>
          <a:xfrm>
            <a:off x="365760" y="1298520"/>
            <a:ext cx="1919880" cy="456840"/>
          </a:xfrm>
          <a:prstGeom prst="roundRect">
            <a:avLst>
              <a:gd fmla="val 24000"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84" name="Google Shape;384;p14"/>
          <p:cNvSpPr/>
          <p:nvPr/>
        </p:nvSpPr>
        <p:spPr>
          <a:xfrm>
            <a:off x="43884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Usuario</a:t>
            </a:r>
            <a:endParaRPr b="0" i="0" spc="0" sz="1200" u="none" cap="none" strike="noStrike">
              <a:solidFill>
                <a:srgbClr val="FFFFFF"/>
              </a:solidFill>
              <a:latin typeface="Arial"/>
              <a:ea typeface="Arial"/>
              <a:cs typeface="Arial"/>
              <a:sym typeface="Arial"/>
            </a:endParaRPr>
          </a:p>
        </p:txBody>
      </p:sp>
      <p:cxnSp>
        <p:nvCxnSpPr>
          <p:cNvPr id="385" name="Google Shape;385;p14"/>
          <p:cNvCxnSpPr/>
          <p:nvPr/>
        </p:nvCxnSpPr>
        <p:spPr>
          <a:xfrm>
            <a:off x="132588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386" name="Google Shape;386;p14"/>
          <p:cNvSpPr/>
          <p:nvPr/>
        </p:nvSpPr>
        <p:spPr>
          <a:xfrm>
            <a:off x="2697480" y="1298520"/>
            <a:ext cx="1919880" cy="456840"/>
          </a:xfrm>
          <a:prstGeom prst="roundRect">
            <a:avLst>
              <a:gd fmla="val 24000"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87" name="Google Shape;387;p14"/>
          <p:cNvSpPr/>
          <p:nvPr/>
        </p:nvSpPr>
        <p:spPr>
          <a:xfrm>
            <a:off x="277056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SPA · Vue + Clerk</a:t>
            </a:r>
            <a:endParaRPr b="0" i="0" spc="0" sz="1200" u="none" cap="none" strike="noStrike">
              <a:solidFill>
                <a:srgbClr val="FFFFFF"/>
              </a:solidFill>
              <a:latin typeface="Arial"/>
              <a:ea typeface="Arial"/>
              <a:cs typeface="Arial"/>
              <a:sym typeface="Arial"/>
            </a:endParaRPr>
          </a:p>
        </p:txBody>
      </p:sp>
      <p:cxnSp>
        <p:nvCxnSpPr>
          <p:cNvPr id="388" name="Google Shape;388;p14"/>
          <p:cNvCxnSpPr/>
          <p:nvPr/>
        </p:nvCxnSpPr>
        <p:spPr>
          <a:xfrm>
            <a:off x="365760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389" name="Google Shape;389;p14"/>
          <p:cNvSpPr/>
          <p:nvPr/>
        </p:nvSpPr>
        <p:spPr>
          <a:xfrm>
            <a:off x="5029200" y="1298520"/>
            <a:ext cx="1919880" cy="456840"/>
          </a:xfrm>
          <a:prstGeom prst="roundRect">
            <a:avLst>
              <a:gd fmla="val 24000"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90" name="Google Shape;390;p14"/>
          <p:cNvSpPr/>
          <p:nvPr/>
        </p:nvSpPr>
        <p:spPr>
          <a:xfrm>
            <a:off x="510228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lt1"/>
                </a:solidFill>
                <a:latin typeface="Calibri"/>
                <a:ea typeface="Calibri"/>
                <a:cs typeface="Calibri"/>
                <a:sym typeface="Calibri"/>
              </a:rPr>
              <a:t>Backend FastAPI</a:t>
            </a:r>
            <a:endParaRPr b="0" i="0" spc="0" sz="1200" u="none" cap="none" strike="noStrike">
              <a:solidFill>
                <a:srgbClr val="FFFFFF"/>
              </a:solidFill>
              <a:latin typeface="Arial"/>
              <a:ea typeface="Arial"/>
              <a:cs typeface="Arial"/>
              <a:sym typeface="Arial"/>
            </a:endParaRPr>
          </a:p>
        </p:txBody>
      </p:sp>
      <p:cxnSp>
        <p:nvCxnSpPr>
          <p:cNvPr id="391" name="Google Shape;391;p14"/>
          <p:cNvCxnSpPr/>
          <p:nvPr/>
        </p:nvCxnSpPr>
        <p:spPr>
          <a:xfrm>
            <a:off x="598932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392" name="Google Shape;392;p14"/>
          <p:cNvSpPr/>
          <p:nvPr/>
        </p:nvSpPr>
        <p:spPr>
          <a:xfrm>
            <a:off x="7360920" y="1298520"/>
            <a:ext cx="1919880" cy="456840"/>
          </a:xfrm>
          <a:prstGeom prst="roundRect">
            <a:avLst>
              <a:gd fmla="val 24000"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93" name="Google Shape;393;p14"/>
          <p:cNvSpPr/>
          <p:nvPr/>
        </p:nvSpPr>
        <p:spPr>
          <a:xfrm>
            <a:off x="743400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Clerk · JWKS</a:t>
            </a:r>
            <a:endParaRPr b="0" i="0" spc="0" sz="1200" u="none" cap="none" strike="noStrike">
              <a:solidFill>
                <a:srgbClr val="FFFFFF"/>
              </a:solidFill>
              <a:latin typeface="Arial"/>
              <a:ea typeface="Arial"/>
              <a:cs typeface="Arial"/>
              <a:sym typeface="Arial"/>
            </a:endParaRPr>
          </a:p>
        </p:txBody>
      </p:sp>
      <p:cxnSp>
        <p:nvCxnSpPr>
          <p:cNvPr id="394" name="Google Shape;394;p14"/>
          <p:cNvCxnSpPr/>
          <p:nvPr/>
        </p:nvCxnSpPr>
        <p:spPr>
          <a:xfrm>
            <a:off x="832104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395" name="Google Shape;395;p14"/>
          <p:cNvSpPr/>
          <p:nvPr/>
        </p:nvSpPr>
        <p:spPr>
          <a:xfrm>
            <a:off x="9692640" y="1298520"/>
            <a:ext cx="1919880" cy="456840"/>
          </a:xfrm>
          <a:prstGeom prst="roundRect">
            <a:avLst>
              <a:gd fmla="val 24000" name="adj"/>
            </a:avLst>
          </a:prstGeom>
          <a:solidFill>
            <a:schemeClr val="dk2"/>
          </a:solidFill>
          <a:ln cap="flat" cmpd="sng" w="15875">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396" name="Google Shape;396;p14"/>
          <p:cNvSpPr/>
          <p:nvPr/>
        </p:nvSpPr>
        <p:spPr>
          <a:xfrm>
            <a:off x="976572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3"/>
                </a:solidFill>
                <a:latin typeface="Calibri"/>
                <a:ea typeface="Calibri"/>
                <a:cs typeface="Calibri"/>
                <a:sym typeface="Calibri"/>
              </a:rPr>
              <a:t>API de Gemini</a:t>
            </a:r>
            <a:endParaRPr b="0" i="0" spc="0" sz="1200" u="none" cap="none" strike="noStrike">
              <a:solidFill>
                <a:srgbClr val="FFFFFF"/>
              </a:solidFill>
              <a:latin typeface="Arial"/>
              <a:ea typeface="Arial"/>
              <a:cs typeface="Arial"/>
              <a:sym typeface="Arial"/>
            </a:endParaRPr>
          </a:p>
        </p:txBody>
      </p:sp>
      <p:cxnSp>
        <p:nvCxnSpPr>
          <p:cNvPr id="397" name="Google Shape;397;p14"/>
          <p:cNvCxnSpPr/>
          <p:nvPr/>
        </p:nvCxnSpPr>
        <p:spPr>
          <a:xfrm>
            <a:off x="10652760" y="1755360"/>
            <a:ext cx="360" cy="4297680"/>
          </a:xfrm>
          <a:prstGeom prst="straightConnector1">
            <a:avLst/>
          </a:prstGeom>
          <a:noFill/>
          <a:ln cap="flat" cmpd="sng" w="9525">
            <a:solidFill>
              <a:srgbClr val="A9A9BF"/>
            </a:solidFill>
            <a:prstDash val="dash"/>
            <a:round/>
            <a:headEnd len="sm" w="sm" type="none"/>
            <a:tailEnd len="sm" w="sm" type="none"/>
          </a:ln>
        </p:spPr>
      </p:cxnSp>
      <p:cxnSp>
        <p:nvCxnSpPr>
          <p:cNvPr id="398" name="Google Shape;398;p14"/>
          <p:cNvCxnSpPr/>
          <p:nvPr/>
        </p:nvCxnSpPr>
        <p:spPr>
          <a:xfrm>
            <a:off x="1325880" y="2148840"/>
            <a:ext cx="2331720" cy="360"/>
          </a:xfrm>
          <a:prstGeom prst="straightConnector1">
            <a:avLst/>
          </a:prstGeom>
          <a:noFill/>
          <a:ln cap="flat" cmpd="sng" w="15875">
            <a:solidFill>
              <a:srgbClr val="FFFFFF"/>
            </a:solidFill>
            <a:prstDash val="solid"/>
            <a:round/>
            <a:headEnd len="sm" w="sm" type="none"/>
            <a:tailEnd len="med" w="med" type="triangle"/>
          </a:ln>
        </p:spPr>
      </p:cxnSp>
      <p:sp>
        <p:nvSpPr>
          <p:cNvPr id="399" name="Google Shape;399;p14"/>
          <p:cNvSpPr/>
          <p:nvPr/>
        </p:nvSpPr>
        <p:spPr>
          <a:xfrm>
            <a:off x="1005840" y="190188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lt1"/>
                </a:solidFill>
                <a:latin typeface="Calibri"/>
                <a:ea typeface="Calibri"/>
                <a:cs typeface="Calibri"/>
                <a:sym typeface="Calibri"/>
              </a:rPr>
              <a:t>1 · inicia sesión y pulsa Recomendar</a:t>
            </a:r>
            <a:endParaRPr b="0" i="0" spc="0" sz="1000" u="none" cap="none" strike="noStrike">
              <a:solidFill>
                <a:srgbClr val="FFFFFF"/>
              </a:solidFill>
              <a:latin typeface="Arial"/>
              <a:ea typeface="Arial"/>
              <a:cs typeface="Arial"/>
              <a:sym typeface="Arial"/>
            </a:endParaRPr>
          </a:p>
        </p:txBody>
      </p:sp>
      <p:sp>
        <p:nvSpPr>
          <p:cNvPr id="400" name="Google Shape;400;p14"/>
          <p:cNvSpPr/>
          <p:nvPr/>
        </p:nvSpPr>
        <p:spPr>
          <a:xfrm>
            <a:off x="3749040" y="2286000"/>
            <a:ext cx="146268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chemeClr val="accent1"/>
                </a:solidFill>
                <a:latin typeface="Calibri"/>
                <a:ea typeface="Calibri"/>
                <a:cs typeface="Calibri"/>
                <a:sym typeface="Calibri"/>
              </a:rPr>
              <a:t>2 · getToken()</a:t>
            </a:r>
            <a:endParaRPr b="0" i="0" spc="0" sz="1050" u="none" cap="none" strike="noStrike">
              <a:solidFill>
                <a:srgbClr val="FFFFFF"/>
              </a:solidFill>
              <a:latin typeface="Arial"/>
              <a:ea typeface="Arial"/>
              <a:cs typeface="Arial"/>
              <a:sym typeface="Arial"/>
            </a:endParaRPr>
          </a:p>
        </p:txBody>
      </p:sp>
      <p:cxnSp>
        <p:nvCxnSpPr>
          <p:cNvPr id="401" name="Google Shape;401;p14"/>
          <p:cNvCxnSpPr/>
          <p:nvPr/>
        </p:nvCxnSpPr>
        <p:spPr>
          <a:xfrm>
            <a:off x="3657600" y="2788920"/>
            <a:ext cx="2331720" cy="360"/>
          </a:xfrm>
          <a:prstGeom prst="straightConnector1">
            <a:avLst/>
          </a:prstGeom>
          <a:noFill/>
          <a:ln cap="flat" cmpd="sng" w="15875">
            <a:solidFill>
              <a:srgbClr val="E86CCA"/>
            </a:solidFill>
            <a:prstDash val="solid"/>
            <a:round/>
            <a:headEnd len="sm" w="sm" type="none"/>
            <a:tailEnd len="med" w="med" type="triangle"/>
          </a:ln>
        </p:spPr>
      </p:cxnSp>
      <p:sp>
        <p:nvSpPr>
          <p:cNvPr id="402" name="Google Shape;402;p14"/>
          <p:cNvSpPr/>
          <p:nvPr/>
        </p:nvSpPr>
        <p:spPr>
          <a:xfrm>
            <a:off x="3337560" y="254196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1"/>
                </a:solidFill>
                <a:latin typeface="Calibri"/>
                <a:ea typeface="Calibri"/>
                <a:cs typeface="Calibri"/>
                <a:sym typeface="Calibri"/>
              </a:rPr>
              <a:t>3 · POST /api/recommend + Bearer</a:t>
            </a:r>
            <a:endParaRPr b="0" i="0" spc="0" sz="1000" u="none" cap="none" strike="noStrike">
              <a:solidFill>
                <a:srgbClr val="FFFFFF"/>
              </a:solidFill>
              <a:latin typeface="Arial"/>
              <a:ea typeface="Arial"/>
              <a:cs typeface="Arial"/>
              <a:sym typeface="Arial"/>
            </a:endParaRPr>
          </a:p>
        </p:txBody>
      </p:sp>
      <p:cxnSp>
        <p:nvCxnSpPr>
          <p:cNvPr id="403" name="Google Shape;403;p14"/>
          <p:cNvCxnSpPr/>
          <p:nvPr/>
        </p:nvCxnSpPr>
        <p:spPr>
          <a:xfrm>
            <a:off x="5989320" y="3200400"/>
            <a:ext cx="2331720" cy="360"/>
          </a:xfrm>
          <a:prstGeom prst="straightConnector1">
            <a:avLst/>
          </a:prstGeom>
          <a:noFill/>
          <a:ln cap="flat" cmpd="sng" w="15875">
            <a:solidFill>
              <a:srgbClr val="9B8CFF"/>
            </a:solidFill>
            <a:prstDash val="solid"/>
            <a:round/>
            <a:headEnd len="sm" w="sm" type="none"/>
            <a:tailEnd len="med" w="med" type="triangle"/>
          </a:ln>
        </p:spPr>
      </p:cxnSp>
      <p:sp>
        <p:nvSpPr>
          <p:cNvPr id="404" name="Google Shape;404;p14"/>
          <p:cNvSpPr/>
          <p:nvPr/>
        </p:nvSpPr>
        <p:spPr>
          <a:xfrm>
            <a:off x="5669280" y="295344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2"/>
                </a:solidFill>
                <a:latin typeface="Calibri"/>
                <a:ea typeface="Calibri"/>
                <a:cs typeface="Calibri"/>
                <a:sym typeface="Calibri"/>
              </a:rPr>
              <a:t>4 · pide las claves públicas</a:t>
            </a:r>
            <a:endParaRPr b="0" i="0" spc="0" sz="1000" u="none" cap="none" strike="noStrike">
              <a:solidFill>
                <a:srgbClr val="FFFFFF"/>
              </a:solidFill>
              <a:latin typeface="Arial"/>
              <a:ea typeface="Arial"/>
              <a:cs typeface="Arial"/>
              <a:sym typeface="Arial"/>
            </a:endParaRPr>
          </a:p>
        </p:txBody>
      </p:sp>
      <p:cxnSp>
        <p:nvCxnSpPr>
          <p:cNvPr id="405" name="Google Shape;405;p14"/>
          <p:cNvCxnSpPr/>
          <p:nvPr/>
        </p:nvCxnSpPr>
        <p:spPr>
          <a:xfrm flipH="1">
            <a:off x="5989320" y="3520440"/>
            <a:ext cx="2331720" cy="360"/>
          </a:xfrm>
          <a:prstGeom prst="straightConnector1">
            <a:avLst/>
          </a:prstGeom>
          <a:noFill/>
          <a:ln cap="flat" cmpd="sng" w="15875">
            <a:solidFill>
              <a:srgbClr val="9B8CFF"/>
            </a:solidFill>
            <a:prstDash val="dash"/>
            <a:round/>
            <a:headEnd len="sm" w="sm" type="none"/>
            <a:tailEnd len="med" w="med" type="triangle"/>
          </a:ln>
        </p:spPr>
      </p:cxnSp>
      <p:sp>
        <p:nvSpPr>
          <p:cNvPr id="406" name="Google Shape;406;p14"/>
          <p:cNvSpPr/>
          <p:nvPr/>
        </p:nvSpPr>
        <p:spPr>
          <a:xfrm>
            <a:off x="5669280" y="327348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2"/>
                </a:solidFill>
                <a:latin typeface="Calibri"/>
                <a:ea typeface="Calibri"/>
                <a:cs typeface="Calibri"/>
                <a:sym typeface="Calibri"/>
              </a:rPr>
              <a:t>5 · JWKS</a:t>
            </a:r>
            <a:endParaRPr b="0" i="0" spc="0" sz="1000" u="none" cap="none" strike="noStrike">
              <a:solidFill>
                <a:srgbClr val="FFFFFF"/>
              </a:solidFill>
              <a:latin typeface="Arial"/>
              <a:ea typeface="Arial"/>
              <a:cs typeface="Arial"/>
              <a:sym typeface="Arial"/>
            </a:endParaRPr>
          </a:p>
        </p:txBody>
      </p:sp>
      <p:sp>
        <p:nvSpPr>
          <p:cNvPr id="407" name="Google Shape;407;p14"/>
          <p:cNvSpPr/>
          <p:nvPr/>
        </p:nvSpPr>
        <p:spPr>
          <a:xfrm>
            <a:off x="3291840" y="3657600"/>
            <a:ext cx="4845960" cy="658080"/>
          </a:xfrm>
          <a:prstGeom prst="roundRect">
            <a:avLst>
              <a:gd fmla="val 8333" name="adj"/>
            </a:avLst>
          </a:prstGeom>
          <a:solidFill>
            <a:schemeClr val="accent5">
              <a:alpha val="12157"/>
            </a:schemeClr>
          </a:solidFill>
          <a:ln cap="flat" cmpd="sng" w="9525">
            <a:solidFill>
              <a:schemeClr val="accent5">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08" name="Google Shape;408;p14"/>
          <p:cNvSpPr/>
          <p:nvPr/>
        </p:nvSpPr>
        <p:spPr>
          <a:xfrm>
            <a:off x="3383280" y="3675960"/>
            <a:ext cx="3657240" cy="200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chemeClr val="accent5"/>
                </a:solidFill>
                <a:latin typeface="Calibri"/>
                <a:ea typeface="Calibri"/>
                <a:cs typeface="Calibri"/>
                <a:sym typeface="Calibri"/>
              </a:rPr>
              <a:t>alt  [token ausente, inválido o caducado]</a:t>
            </a:r>
            <a:endParaRPr b="0" i="0" spc="0" sz="950" u="none" cap="none" strike="noStrike">
              <a:solidFill>
                <a:srgbClr val="FFFFFF"/>
              </a:solidFill>
              <a:latin typeface="Arial"/>
              <a:ea typeface="Arial"/>
              <a:cs typeface="Arial"/>
              <a:sym typeface="Arial"/>
            </a:endParaRPr>
          </a:p>
        </p:txBody>
      </p:sp>
      <p:cxnSp>
        <p:nvCxnSpPr>
          <p:cNvPr id="409" name="Google Shape;409;p14"/>
          <p:cNvCxnSpPr/>
          <p:nvPr/>
        </p:nvCxnSpPr>
        <p:spPr>
          <a:xfrm flipH="1">
            <a:off x="3657600" y="4160520"/>
            <a:ext cx="2331720" cy="360"/>
          </a:xfrm>
          <a:prstGeom prst="straightConnector1">
            <a:avLst/>
          </a:prstGeom>
          <a:noFill/>
          <a:ln cap="flat" cmpd="sng" w="15875">
            <a:solidFill>
              <a:srgbClr val="F2667A"/>
            </a:solidFill>
            <a:prstDash val="dash"/>
            <a:round/>
            <a:headEnd len="sm" w="sm" type="none"/>
            <a:tailEnd len="med" w="med" type="triangle"/>
          </a:ln>
        </p:spPr>
      </p:cxnSp>
      <p:sp>
        <p:nvSpPr>
          <p:cNvPr id="410" name="Google Shape;410;p14"/>
          <p:cNvSpPr/>
          <p:nvPr/>
        </p:nvSpPr>
        <p:spPr>
          <a:xfrm>
            <a:off x="3337560" y="391356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5"/>
                </a:solidFill>
                <a:latin typeface="Calibri"/>
                <a:ea typeface="Calibri"/>
                <a:cs typeface="Calibri"/>
                <a:sym typeface="Calibri"/>
              </a:rPr>
              <a:t>401 · no se llama a la IA</a:t>
            </a:r>
            <a:endParaRPr b="0" i="0" spc="0" sz="1000" u="none" cap="none" strike="noStrike">
              <a:solidFill>
                <a:srgbClr val="FFFFFF"/>
              </a:solidFill>
              <a:latin typeface="Arial"/>
              <a:ea typeface="Arial"/>
              <a:cs typeface="Arial"/>
              <a:sym typeface="Arial"/>
            </a:endParaRPr>
          </a:p>
        </p:txBody>
      </p:sp>
      <p:sp>
        <p:nvSpPr>
          <p:cNvPr id="411" name="Google Shape;411;p14"/>
          <p:cNvSpPr/>
          <p:nvPr/>
        </p:nvSpPr>
        <p:spPr>
          <a:xfrm>
            <a:off x="3291840" y="4407480"/>
            <a:ext cx="8137800" cy="1627200"/>
          </a:xfrm>
          <a:prstGeom prst="roundRect">
            <a:avLst>
              <a:gd fmla="val 3371" name="adj"/>
            </a:avLst>
          </a:prstGeom>
          <a:solidFill>
            <a:schemeClr val="accent6">
              <a:alpha val="10196"/>
            </a:schemeClr>
          </a:solidFill>
          <a:ln cap="flat" cmpd="sng" w="9525">
            <a:solidFill>
              <a:schemeClr val="accent6">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412" name="Google Shape;412;p14"/>
          <p:cNvSpPr/>
          <p:nvPr/>
        </p:nvSpPr>
        <p:spPr>
          <a:xfrm>
            <a:off x="3383280" y="4425840"/>
            <a:ext cx="1828440" cy="200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chemeClr val="accent6"/>
                </a:solidFill>
                <a:latin typeface="Calibri"/>
                <a:ea typeface="Calibri"/>
                <a:cs typeface="Calibri"/>
                <a:sym typeface="Calibri"/>
              </a:rPr>
              <a:t>[token válido]</a:t>
            </a:r>
            <a:endParaRPr b="0" i="0" spc="0" sz="950" u="none" cap="none" strike="noStrike">
              <a:solidFill>
                <a:srgbClr val="FFFFFF"/>
              </a:solidFill>
              <a:latin typeface="Arial"/>
              <a:ea typeface="Arial"/>
              <a:cs typeface="Arial"/>
              <a:sym typeface="Arial"/>
            </a:endParaRPr>
          </a:p>
        </p:txBody>
      </p:sp>
      <p:sp>
        <p:nvSpPr>
          <p:cNvPr id="413" name="Google Shape;413;p14"/>
          <p:cNvSpPr/>
          <p:nvPr/>
        </p:nvSpPr>
        <p:spPr>
          <a:xfrm>
            <a:off x="6080760" y="4572000"/>
            <a:ext cx="201132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chemeClr val="accent4"/>
                </a:solidFill>
                <a:latin typeface="Calibri"/>
                <a:ea typeface="Calibri"/>
                <a:cs typeface="Calibri"/>
                <a:sym typeface="Calibri"/>
              </a:rPr>
              <a:t>6 · Pydantic valida (422 si no)</a:t>
            </a:r>
            <a:endParaRPr b="0" i="0" spc="0" sz="1050" u="none" cap="none" strike="noStrike">
              <a:solidFill>
                <a:srgbClr val="FFFFFF"/>
              </a:solidFill>
              <a:latin typeface="Arial"/>
              <a:ea typeface="Arial"/>
              <a:cs typeface="Arial"/>
              <a:sym typeface="Arial"/>
            </a:endParaRPr>
          </a:p>
        </p:txBody>
      </p:sp>
      <p:cxnSp>
        <p:nvCxnSpPr>
          <p:cNvPr id="414" name="Google Shape;414;p14"/>
          <p:cNvCxnSpPr/>
          <p:nvPr/>
        </p:nvCxnSpPr>
        <p:spPr>
          <a:xfrm>
            <a:off x="5989320" y="5074920"/>
            <a:ext cx="4663440" cy="360"/>
          </a:xfrm>
          <a:prstGeom prst="straightConnector1">
            <a:avLst/>
          </a:prstGeom>
          <a:noFill/>
          <a:ln cap="flat" cmpd="sng" w="15875">
            <a:solidFill>
              <a:srgbClr val="4FD1E8"/>
            </a:solidFill>
            <a:prstDash val="solid"/>
            <a:round/>
            <a:headEnd len="sm" w="sm" type="none"/>
            <a:tailEnd len="med" w="med" type="triangle"/>
          </a:ln>
        </p:spPr>
      </p:cxnSp>
      <p:sp>
        <p:nvSpPr>
          <p:cNvPr id="415" name="Google Shape;415;p14"/>
          <p:cNvSpPr/>
          <p:nvPr/>
        </p:nvSpPr>
        <p:spPr>
          <a:xfrm>
            <a:off x="5669280" y="4827960"/>
            <a:ext cx="530316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3"/>
                </a:solidFill>
                <a:latin typeface="Calibri"/>
                <a:ea typeface="Calibri"/>
                <a:cs typeface="Calibri"/>
                <a:sym typeface="Calibri"/>
              </a:rPr>
              <a:t>7 · una petición con la clave privada</a:t>
            </a:r>
            <a:endParaRPr b="0" i="0" spc="0" sz="1000" u="none" cap="none" strike="noStrike">
              <a:solidFill>
                <a:srgbClr val="FFFFFF"/>
              </a:solidFill>
              <a:latin typeface="Arial"/>
              <a:ea typeface="Arial"/>
              <a:cs typeface="Arial"/>
              <a:sym typeface="Arial"/>
            </a:endParaRPr>
          </a:p>
        </p:txBody>
      </p:sp>
      <p:cxnSp>
        <p:nvCxnSpPr>
          <p:cNvPr id="416" name="Google Shape;416;p14"/>
          <p:cNvCxnSpPr/>
          <p:nvPr/>
        </p:nvCxnSpPr>
        <p:spPr>
          <a:xfrm flipH="1">
            <a:off x="5989320" y="5412960"/>
            <a:ext cx="4663440" cy="360"/>
          </a:xfrm>
          <a:prstGeom prst="straightConnector1">
            <a:avLst/>
          </a:prstGeom>
          <a:noFill/>
          <a:ln cap="flat" cmpd="sng" w="15875">
            <a:solidFill>
              <a:srgbClr val="4FD1E8"/>
            </a:solidFill>
            <a:prstDash val="dash"/>
            <a:round/>
            <a:headEnd len="sm" w="sm" type="none"/>
            <a:tailEnd len="med" w="med" type="triangle"/>
          </a:ln>
        </p:spPr>
      </p:cxnSp>
      <p:sp>
        <p:nvSpPr>
          <p:cNvPr id="417" name="Google Shape;417;p14"/>
          <p:cNvSpPr/>
          <p:nvPr/>
        </p:nvSpPr>
        <p:spPr>
          <a:xfrm>
            <a:off x="5669280" y="5166360"/>
            <a:ext cx="530316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3"/>
                </a:solidFill>
                <a:latin typeface="Calibri"/>
                <a:ea typeface="Calibri"/>
                <a:cs typeface="Calibri"/>
                <a:sym typeface="Calibri"/>
              </a:rPr>
              <a:t>8 · texto</a:t>
            </a:r>
            <a:endParaRPr b="0" i="0" spc="0" sz="1000" u="none" cap="none" strike="noStrike">
              <a:solidFill>
                <a:srgbClr val="FFFFFF"/>
              </a:solidFill>
              <a:latin typeface="Arial"/>
              <a:ea typeface="Arial"/>
              <a:cs typeface="Arial"/>
              <a:sym typeface="Arial"/>
            </a:endParaRPr>
          </a:p>
        </p:txBody>
      </p:sp>
      <p:cxnSp>
        <p:nvCxnSpPr>
          <p:cNvPr id="418" name="Google Shape;418;p14"/>
          <p:cNvCxnSpPr/>
          <p:nvPr/>
        </p:nvCxnSpPr>
        <p:spPr>
          <a:xfrm flipH="1">
            <a:off x="3657600" y="5760720"/>
            <a:ext cx="2331720" cy="360"/>
          </a:xfrm>
          <a:prstGeom prst="straightConnector1">
            <a:avLst/>
          </a:prstGeom>
          <a:noFill/>
          <a:ln cap="flat" cmpd="sng" w="15875">
            <a:solidFill>
              <a:srgbClr val="4ADE80"/>
            </a:solidFill>
            <a:prstDash val="dash"/>
            <a:round/>
            <a:headEnd len="sm" w="sm" type="none"/>
            <a:tailEnd len="med" w="med" type="triangle"/>
          </a:ln>
        </p:spPr>
      </p:cxnSp>
      <p:sp>
        <p:nvSpPr>
          <p:cNvPr id="419" name="Google Shape;419;p14"/>
          <p:cNvSpPr/>
          <p:nvPr/>
        </p:nvSpPr>
        <p:spPr>
          <a:xfrm>
            <a:off x="3337560" y="551376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6"/>
                </a:solidFill>
                <a:latin typeface="Calibri"/>
                <a:ea typeface="Calibri"/>
                <a:cs typeface="Calibri"/>
                <a:sym typeface="Calibri"/>
              </a:rPr>
              <a:t>9 · 200 {resultado} · 502 · 504</a:t>
            </a:r>
            <a:endParaRPr b="0" i="0" spc="0" sz="1000" u="none" cap="none" strike="noStrike">
              <a:solidFill>
                <a:srgbClr val="FFFFFF"/>
              </a:solidFill>
              <a:latin typeface="Arial"/>
              <a:ea typeface="Arial"/>
              <a:cs typeface="Arial"/>
              <a:sym typeface="Arial"/>
            </a:endParaRPr>
          </a:p>
        </p:txBody>
      </p:sp>
      <p:sp>
        <p:nvSpPr>
          <p:cNvPr id="420" name="Google Shape;420;p14"/>
          <p:cNvSpPr/>
          <p:nvPr/>
        </p:nvSpPr>
        <p:spPr>
          <a:xfrm>
            <a:off x="548640" y="5788080"/>
            <a:ext cx="2925720" cy="23724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50"/>
              <a:buFont typeface="Arial"/>
              <a:buNone/>
            </a:pPr>
            <a:r>
              <a:rPr b="0" i="0" lang="en-US" spc="0" sz="1050" u="none" cap="none" strike="noStrike">
                <a:solidFill>
                  <a:schemeClr val="lt1"/>
                </a:solidFill>
                <a:latin typeface="Calibri"/>
                <a:ea typeface="Calibri"/>
                <a:cs typeface="Calibri"/>
                <a:sym typeface="Calibri"/>
              </a:rPr>
              <a:t>10 · lo muestra en la misma pantalla</a:t>
            </a:r>
            <a:endParaRPr b="0" i="0" spc="0" sz="1050" u="none" cap="none" strike="noStrike">
              <a:solidFill>
                <a:srgbClr val="FFFFFF"/>
              </a:solidFill>
              <a:latin typeface="Arial"/>
              <a:ea typeface="Arial"/>
              <a:cs typeface="Arial"/>
              <a:sym typeface="Arial"/>
            </a:endParaRPr>
          </a:p>
        </p:txBody>
      </p:sp>
      <p:sp>
        <p:nvSpPr>
          <p:cNvPr id="421" name="Google Shape;421;p14"/>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15"/>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Estados del frontend</a:t>
            </a:r>
            <a:endParaRPr b="0" sz="3400" u="none" strike="noStrike">
              <a:solidFill>
                <a:schemeClr val="dk1"/>
              </a:solidFill>
              <a:latin typeface="Calibri"/>
              <a:ea typeface="Calibri"/>
              <a:cs typeface="Calibri"/>
              <a:sym typeface="Calibri"/>
            </a:endParaRPr>
          </a:p>
        </p:txBody>
      </p:sp>
      <p:sp>
        <p:nvSpPr>
          <p:cNvPr id="427" name="Google Shape;427;p15"/>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DIAGRAMAS · 3 / 3</a:t>
            </a:r>
            <a:endParaRPr b="0" i="0" sz="1200" u="none" cap="none" strike="noStrike">
              <a:solidFill>
                <a:schemeClr val="dk1"/>
              </a:solidFill>
              <a:latin typeface="Calibri"/>
              <a:ea typeface="Calibri"/>
              <a:cs typeface="Calibri"/>
              <a:sym typeface="Calibri"/>
            </a:endParaRPr>
          </a:p>
        </p:txBody>
      </p:sp>
      <p:sp>
        <p:nvSpPr>
          <p:cNvPr id="428" name="Google Shape;428;p15"/>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29" name="Google Shape;429;p15"/>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Jose Antonio Nieto</a:t>
            </a:r>
            <a:endParaRPr b="0" i="0" spc="0" sz="1100" u="none" cap="none" strike="noStrike">
              <a:solidFill>
                <a:srgbClr val="FFFFFF"/>
              </a:solidFill>
              <a:latin typeface="Arial"/>
              <a:ea typeface="Arial"/>
              <a:cs typeface="Arial"/>
              <a:sym typeface="Arial"/>
            </a:endParaRPr>
          </a:p>
        </p:txBody>
      </p:sp>
      <p:sp>
        <p:nvSpPr>
          <p:cNvPr id="430" name="Google Shape;430;p15"/>
          <p:cNvSpPr/>
          <p:nvPr/>
        </p:nvSpPr>
        <p:spPr>
          <a:xfrm>
            <a:off x="548640" y="2633400"/>
            <a:ext cx="310680" cy="310680"/>
          </a:xfrm>
          <a:prstGeom prst="ellipse">
            <a:avLst/>
          </a:prstGeom>
          <a:solidFill>
            <a:schemeClr val="l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cxnSp>
        <p:nvCxnSpPr>
          <p:cNvPr id="431" name="Google Shape;431;p15"/>
          <p:cNvCxnSpPr/>
          <p:nvPr/>
        </p:nvCxnSpPr>
        <p:spPr>
          <a:xfrm>
            <a:off x="859320" y="2788920"/>
            <a:ext cx="329400" cy="360"/>
          </a:xfrm>
          <a:prstGeom prst="straightConnector1">
            <a:avLst/>
          </a:prstGeom>
          <a:noFill/>
          <a:ln cap="flat" cmpd="sng" w="15875">
            <a:solidFill>
              <a:srgbClr val="FFFFFF"/>
            </a:solidFill>
            <a:prstDash val="solid"/>
            <a:round/>
            <a:headEnd len="sm" w="sm" type="none"/>
            <a:tailEnd len="med" w="med" type="triangle"/>
          </a:ln>
        </p:spPr>
      </p:cxnSp>
      <p:sp>
        <p:nvSpPr>
          <p:cNvPr id="432" name="Google Shape;432;p15"/>
          <p:cNvSpPr/>
          <p:nvPr/>
        </p:nvSpPr>
        <p:spPr>
          <a:xfrm>
            <a:off x="1188720" y="2331720"/>
            <a:ext cx="2011320" cy="914040"/>
          </a:xfrm>
          <a:prstGeom prst="roundRect">
            <a:avLst>
              <a:gd fmla="val 12000"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33" name="Google Shape;433;p15"/>
          <p:cNvSpPr/>
          <p:nvPr/>
        </p:nvSpPr>
        <p:spPr>
          <a:xfrm>
            <a:off x="1261800" y="2331720"/>
            <a:ext cx="186516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2"/>
                </a:solidFill>
                <a:latin typeface="Calibri"/>
                <a:ea typeface="Calibri"/>
                <a:cs typeface="Calibri"/>
                <a:sym typeface="Calibri"/>
              </a:rPr>
              <a:t>Sin sesión</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App 2 · botón desactivado</a:t>
            </a:r>
            <a:endParaRPr b="0" i="0" spc="0" sz="1100" u="none" cap="none" strike="noStrike">
              <a:solidFill>
                <a:srgbClr val="FFFFFF"/>
              </a:solidFill>
              <a:latin typeface="Arial"/>
              <a:ea typeface="Arial"/>
              <a:cs typeface="Arial"/>
              <a:sym typeface="Arial"/>
            </a:endParaRPr>
          </a:p>
        </p:txBody>
      </p:sp>
      <p:sp>
        <p:nvSpPr>
          <p:cNvPr id="434" name="Google Shape;434;p15"/>
          <p:cNvSpPr/>
          <p:nvPr/>
        </p:nvSpPr>
        <p:spPr>
          <a:xfrm>
            <a:off x="4023360" y="2331720"/>
            <a:ext cx="2011320" cy="914040"/>
          </a:xfrm>
          <a:prstGeom prst="roundRect">
            <a:avLst>
              <a:gd fmla="val 12000"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35" name="Google Shape;435;p15"/>
          <p:cNvSpPr/>
          <p:nvPr/>
        </p:nvSpPr>
        <p:spPr>
          <a:xfrm>
            <a:off x="4096440" y="2331720"/>
            <a:ext cx="186516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1"/>
                </a:solidFill>
                <a:latin typeface="Calibri"/>
                <a:ea typeface="Calibri"/>
                <a:cs typeface="Calibri"/>
                <a:sym typeface="Calibri"/>
              </a:rPr>
              <a:t>Listo</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formulario editable</a:t>
            </a:r>
            <a:endParaRPr b="0" i="0" spc="0" sz="1100" u="none" cap="none" strike="noStrike">
              <a:solidFill>
                <a:srgbClr val="FFFFFF"/>
              </a:solidFill>
              <a:latin typeface="Arial"/>
              <a:ea typeface="Arial"/>
              <a:cs typeface="Arial"/>
              <a:sym typeface="Arial"/>
            </a:endParaRPr>
          </a:p>
        </p:txBody>
      </p:sp>
      <p:sp>
        <p:nvSpPr>
          <p:cNvPr id="436" name="Google Shape;436;p15"/>
          <p:cNvSpPr/>
          <p:nvPr/>
        </p:nvSpPr>
        <p:spPr>
          <a:xfrm>
            <a:off x="6858000" y="2331720"/>
            <a:ext cx="2011320" cy="914040"/>
          </a:xfrm>
          <a:prstGeom prst="roundRect">
            <a:avLst>
              <a:gd fmla="val 12000" name="adj"/>
            </a:avLst>
          </a:prstGeom>
          <a:solidFill>
            <a:schemeClr val="dk2"/>
          </a:solidFill>
          <a:ln cap="flat" cmpd="sng" w="1587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37" name="Google Shape;437;p15"/>
          <p:cNvSpPr/>
          <p:nvPr/>
        </p:nvSpPr>
        <p:spPr>
          <a:xfrm>
            <a:off x="6931080" y="2331720"/>
            <a:ext cx="186516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4"/>
                </a:solidFill>
                <a:latin typeface="Calibri"/>
                <a:ea typeface="Calibri"/>
                <a:cs typeface="Calibri"/>
                <a:sym typeface="Calibri"/>
              </a:rPr>
              <a:t>Enviando</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botón bloqueado · espera</a:t>
            </a:r>
            <a:endParaRPr b="0" i="0" spc="0" sz="1100" u="none" cap="none" strike="noStrike">
              <a:solidFill>
                <a:srgbClr val="FFFFFF"/>
              </a:solidFill>
              <a:latin typeface="Arial"/>
              <a:ea typeface="Arial"/>
              <a:cs typeface="Arial"/>
              <a:sym typeface="Arial"/>
            </a:endParaRPr>
          </a:p>
        </p:txBody>
      </p:sp>
      <p:sp>
        <p:nvSpPr>
          <p:cNvPr id="438" name="Google Shape;438;p15"/>
          <p:cNvSpPr/>
          <p:nvPr/>
        </p:nvSpPr>
        <p:spPr>
          <a:xfrm>
            <a:off x="9601200" y="1325880"/>
            <a:ext cx="2057040" cy="914040"/>
          </a:xfrm>
          <a:prstGeom prst="roundRect">
            <a:avLst>
              <a:gd fmla="val 12000" name="adj"/>
            </a:avLst>
          </a:prstGeom>
          <a:solidFill>
            <a:schemeClr val="dk2"/>
          </a:solidFill>
          <a:ln cap="flat" cmpd="sng" w="15875">
            <a:solidFill>
              <a:srgbClr val="4ADE8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39" name="Google Shape;439;p15"/>
          <p:cNvSpPr/>
          <p:nvPr/>
        </p:nvSpPr>
        <p:spPr>
          <a:xfrm>
            <a:off x="9674280" y="1325880"/>
            <a:ext cx="191088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6"/>
                </a:solidFill>
                <a:latin typeface="Calibri"/>
                <a:ea typeface="Calibri"/>
                <a:cs typeface="Calibri"/>
                <a:sym typeface="Calibri"/>
              </a:rPr>
              <a:t>Resultado</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texto en la misma pantalla</a:t>
            </a:r>
            <a:endParaRPr b="0" i="0" spc="0" sz="1100" u="none" cap="none" strike="noStrike">
              <a:solidFill>
                <a:srgbClr val="FFFFFF"/>
              </a:solidFill>
              <a:latin typeface="Arial"/>
              <a:ea typeface="Arial"/>
              <a:cs typeface="Arial"/>
              <a:sym typeface="Arial"/>
            </a:endParaRPr>
          </a:p>
        </p:txBody>
      </p:sp>
      <p:sp>
        <p:nvSpPr>
          <p:cNvPr id="440" name="Google Shape;440;p15"/>
          <p:cNvSpPr/>
          <p:nvPr/>
        </p:nvSpPr>
        <p:spPr>
          <a:xfrm>
            <a:off x="9601200" y="3429000"/>
            <a:ext cx="2057040" cy="914040"/>
          </a:xfrm>
          <a:prstGeom prst="roundRect">
            <a:avLst>
              <a:gd fmla="val 12000" name="adj"/>
            </a:avLst>
          </a:prstGeom>
          <a:solidFill>
            <a:schemeClr val="dk2"/>
          </a:solidFill>
          <a:ln cap="flat" cmpd="sng" w="15875">
            <a:solidFill>
              <a:srgbClr val="F2667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41" name="Google Shape;441;p15"/>
          <p:cNvSpPr/>
          <p:nvPr/>
        </p:nvSpPr>
        <p:spPr>
          <a:xfrm>
            <a:off x="9674280" y="3429000"/>
            <a:ext cx="191088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accent5"/>
                </a:solidFill>
                <a:latin typeface="Calibri"/>
                <a:ea typeface="Calibri"/>
                <a:cs typeface="Calibri"/>
                <a:sym typeface="Calibri"/>
              </a:rPr>
              <a:t>Error</a:t>
            </a:r>
            <a:endParaRPr b="0" i="0" spc="0" sz="1400" u="none" cap="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mensaje comprensible</a:t>
            </a:r>
            <a:endParaRPr b="0" i="0" spc="0" sz="1100" u="none" cap="none" strike="noStrike">
              <a:solidFill>
                <a:srgbClr val="FFFFFF"/>
              </a:solidFill>
              <a:latin typeface="Arial"/>
              <a:ea typeface="Arial"/>
              <a:cs typeface="Arial"/>
              <a:sym typeface="Arial"/>
            </a:endParaRPr>
          </a:p>
        </p:txBody>
      </p:sp>
      <p:cxnSp>
        <p:nvCxnSpPr>
          <p:cNvPr id="442" name="Google Shape;442;p15"/>
          <p:cNvCxnSpPr/>
          <p:nvPr/>
        </p:nvCxnSpPr>
        <p:spPr>
          <a:xfrm>
            <a:off x="3200400" y="2788920"/>
            <a:ext cx="822960" cy="360"/>
          </a:xfrm>
          <a:prstGeom prst="straightConnector1">
            <a:avLst/>
          </a:prstGeom>
          <a:noFill/>
          <a:ln cap="flat" cmpd="sng" w="15875">
            <a:solidFill>
              <a:srgbClr val="9B8CFF"/>
            </a:solidFill>
            <a:prstDash val="solid"/>
            <a:round/>
            <a:headEnd len="sm" w="sm" type="none"/>
            <a:tailEnd len="med" w="med" type="triangle"/>
          </a:ln>
        </p:spPr>
      </p:cxnSp>
      <p:sp>
        <p:nvSpPr>
          <p:cNvPr id="443" name="Google Shape;443;p15"/>
          <p:cNvSpPr/>
          <p:nvPr/>
        </p:nvSpPr>
        <p:spPr>
          <a:xfrm>
            <a:off x="3200400" y="2514600"/>
            <a:ext cx="8226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2"/>
                </a:solidFill>
                <a:latin typeface="Calibri"/>
                <a:ea typeface="Calibri"/>
                <a:cs typeface="Calibri"/>
                <a:sym typeface="Calibri"/>
              </a:rPr>
              <a:t>inicia sesión</a:t>
            </a:r>
            <a:endParaRPr b="0" i="0" spc="0" sz="1000" u="none" cap="none" strike="noStrike">
              <a:solidFill>
                <a:srgbClr val="FFFFFF"/>
              </a:solidFill>
              <a:latin typeface="Arial"/>
              <a:ea typeface="Arial"/>
              <a:cs typeface="Arial"/>
              <a:sym typeface="Arial"/>
            </a:endParaRPr>
          </a:p>
        </p:txBody>
      </p:sp>
      <p:cxnSp>
        <p:nvCxnSpPr>
          <p:cNvPr id="444" name="Google Shape;444;p15"/>
          <p:cNvCxnSpPr/>
          <p:nvPr/>
        </p:nvCxnSpPr>
        <p:spPr>
          <a:xfrm>
            <a:off x="6035040" y="2788920"/>
            <a:ext cx="822960" cy="360"/>
          </a:xfrm>
          <a:prstGeom prst="straightConnector1">
            <a:avLst/>
          </a:prstGeom>
          <a:noFill/>
          <a:ln cap="flat" cmpd="sng" w="15875">
            <a:solidFill>
              <a:srgbClr val="E86CCA"/>
            </a:solidFill>
            <a:prstDash val="solid"/>
            <a:round/>
            <a:headEnd len="sm" w="sm" type="none"/>
            <a:tailEnd len="med" w="med" type="triangle"/>
          </a:ln>
        </p:spPr>
      </p:cxnSp>
      <p:sp>
        <p:nvSpPr>
          <p:cNvPr id="445" name="Google Shape;445;p15"/>
          <p:cNvSpPr/>
          <p:nvPr/>
        </p:nvSpPr>
        <p:spPr>
          <a:xfrm>
            <a:off x="6035040" y="2514600"/>
            <a:ext cx="8226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000"/>
              <a:buFont typeface="Arial"/>
              <a:buNone/>
            </a:pPr>
            <a:r>
              <a:rPr b="0" i="0" lang="en-US" spc="0" sz="1000" u="none" cap="none" strike="noStrike">
                <a:solidFill>
                  <a:schemeClr val="accent1"/>
                </a:solidFill>
                <a:latin typeface="Calibri"/>
                <a:ea typeface="Calibri"/>
                <a:cs typeface="Calibri"/>
                <a:sym typeface="Calibri"/>
              </a:rPr>
              <a:t>Recomendar</a:t>
            </a:r>
            <a:endParaRPr b="0" i="0" spc="0" sz="1000" u="none" cap="none" strike="noStrike">
              <a:solidFill>
                <a:srgbClr val="FFFFFF"/>
              </a:solidFill>
              <a:latin typeface="Arial"/>
              <a:ea typeface="Arial"/>
              <a:cs typeface="Arial"/>
              <a:sym typeface="Arial"/>
            </a:endParaRPr>
          </a:p>
        </p:txBody>
      </p:sp>
      <p:cxnSp>
        <p:nvCxnSpPr>
          <p:cNvPr id="446" name="Google Shape;446;p15"/>
          <p:cNvCxnSpPr/>
          <p:nvPr/>
        </p:nvCxnSpPr>
        <p:spPr>
          <a:xfrm flipH="1" rot="10800000">
            <a:off x="8869680" y="1920240"/>
            <a:ext cx="731520" cy="685800"/>
          </a:xfrm>
          <a:prstGeom prst="straightConnector1">
            <a:avLst/>
          </a:prstGeom>
          <a:noFill/>
          <a:ln cap="flat" cmpd="sng" w="15875">
            <a:solidFill>
              <a:srgbClr val="4ADE80"/>
            </a:solidFill>
            <a:prstDash val="solid"/>
            <a:round/>
            <a:headEnd len="sm" w="sm" type="none"/>
            <a:tailEnd len="med" w="med" type="triangle"/>
          </a:ln>
        </p:spPr>
      </p:cxnSp>
      <p:sp>
        <p:nvSpPr>
          <p:cNvPr id="447" name="Google Shape;447;p15"/>
          <p:cNvSpPr/>
          <p:nvPr/>
        </p:nvSpPr>
        <p:spPr>
          <a:xfrm>
            <a:off x="9006840" y="2011680"/>
            <a:ext cx="41112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accent6"/>
                </a:solidFill>
                <a:latin typeface="Calibri"/>
                <a:ea typeface="Calibri"/>
                <a:cs typeface="Calibri"/>
                <a:sym typeface="Calibri"/>
              </a:rPr>
              <a:t>200</a:t>
            </a:r>
            <a:endParaRPr b="0" i="0" spc="0" sz="1000" u="none" cap="none" strike="noStrike">
              <a:solidFill>
                <a:srgbClr val="FFFFFF"/>
              </a:solidFill>
              <a:latin typeface="Arial"/>
              <a:ea typeface="Arial"/>
              <a:cs typeface="Arial"/>
              <a:sym typeface="Arial"/>
            </a:endParaRPr>
          </a:p>
        </p:txBody>
      </p:sp>
      <p:cxnSp>
        <p:nvCxnSpPr>
          <p:cNvPr id="448" name="Google Shape;448;p15"/>
          <p:cNvCxnSpPr/>
          <p:nvPr/>
        </p:nvCxnSpPr>
        <p:spPr>
          <a:xfrm>
            <a:off x="8869680" y="2971800"/>
            <a:ext cx="731520" cy="685800"/>
          </a:xfrm>
          <a:prstGeom prst="straightConnector1">
            <a:avLst/>
          </a:prstGeom>
          <a:noFill/>
          <a:ln cap="flat" cmpd="sng" w="15875">
            <a:solidFill>
              <a:srgbClr val="F2667A"/>
            </a:solidFill>
            <a:prstDash val="solid"/>
            <a:round/>
            <a:headEnd len="sm" w="sm" type="none"/>
            <a:tailEnd len="med" w="med" type="triangle"/>
          </a:ln>
        </p:spPr>
      </p:cxnSp>
      <p:sp>
        <p:nvSpPr>
          <p:cNvPr id="449" name="Google Shape;449;p15"/>
          <p:cNvSpPr/>
          <p:nvPr/>
        </p:nvSpPr>
        <p:spPr>
          <a:xfrm>
            <a:off x="8503920" y="3429000"/>
            <a:ext cx="82260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accent5"/>
                </a:solidFill>
                <a:latin typeface="Calibri"/>
                <a:ea typeface="Calibri"/>
                <a:cs typeface="Calibri"/>
                <a:sym typeface="Calibri"/>
              </a:rPr>
              <a:t>4xx · 5xx</a:t>
            </a:r>
            <a:endParaRPr b="0" i="0" spc="0" sz="1000" u="none" cap="none" strike="noStrike">
              <a:solidFill>
                <a:srgbClr val="FFFFFF"/>
              </a:solidFill>
              <a:latin typeface="Arial"/>
              <a:ea typeface="Arial"/>
              <a:cs typeface="Arial"/>
              <a:sym typeface="Arial"/>
            </a:endParaRPr>
          </a:p>
        </p:txBody>
      </p:sp>
      <p:cxnSp>
        <p:nvCxnSpPr>
          <p:cNvPr id="450" name="Google Shape;450;p15"/>
          <p:cNvCxnSpPr/>
          <p:nvPr/>
        </p:nvCxnSpPr>
        <p:spPr>
          <a:xfrm>
            <a:off x="11658600" y="1783080"/>
            <a:ext cx="182880" cy="360"/>
          </a:xfrm>
          <a:prstGeom prst="straightConnector1">
            <a:avLst/>
          </a:prstGeom>
          <a:noFill/>
          <a:ln cap="flat" cmpd="sng" w="15875">
            <a:solidFill>
              <a:srgbClr val="A9A9BF"/>
            </a:solidFill>
            <a:prstDash val="solid"/>
            <a:round/>
            <a:headEnd len="sm" w="sm" type="none"/>
            <a:tailEnd len="sm" w="sm" type="none"/>
          </a:ln>
        </p:spPr>
      </p:cxnSp>
      <p:cxnSp>
        <p:nvCxnSpPr>
          <p:cNvPr id="451" name="Google Shape;451;p15"/>
          <p:cNvCxnSpPr/>
          <p:nvPr/>
        </p:nvCxnSpPr>
        <p:spPr>
          <a:xfrm>
            <a:off x="11841480" y="1783080"/>
            <a:ext cx="360" cy="2971800"/>
          </a:xfrm>
          <a:prstGeom prst="straightConnector1">
            <a:avLst/>
          </a:prstGeom>
          <a:noFill/>
          <a:ln cap="flat" cmpd="sng" w="15875">
            <a:solidFill>
              <a:srgbClr val="A9A9BF"/>
            </a:solidFill>
            <a:prstDash val="solid"/>
            <a:round/>
            <a:headEnd len="sm" w="sm" type="none"/>
            <a:tailEnd len="sm" w="sm" type="none"/>
          </a:ln>
        </p:spPr>
      </p:cxnSp>
      <p:cxnSp>
        <p:nvCxnSpPr>
          <p:cNvPr id="452" name="Google Shape;452;p15"/>
          <p:cNvCxnSpPr/>
          <p:nvPr/>
        </p:nvCxnSpPr>
        <p:spPr>
          <a:xfrm>
            <a:off x="10625040" y="4343400"/>
            <a:ext cx="360" cy="411480"/>
          </a:xfrm>
          <a:prstGeom prst="straightConnector1">
            <a:avLst/>
          </a:prstGeom>
          <a:noFill/>
          <a:ln cap="flat" cmpd="sng" w="15875">
            <a:solidFill>
              <a:srgbClr val="A9A9BF"/>
            </a:solidFill>
            <a:prstDash val="solid"/>
            <a:round/>
            <a:headEnd len="sm" w="sm" type="none"/>
            <a:tailEnd len="sm" w="sm" type="none"/>
          </a:ln>
        </p:spPr>
      </p:cxnSp>
      <p:cxnSp>
        <p:nvCxnSpPr>
          <p:cNvPr id="453" name="Google Shape;453;p15"/>
          <p:cNvCxnSpPr/>
          <p:nvPr/>
        </p:nvCxnSpPr>
        <p:spPr>
          <a:xfrm flipH="1">
            <a:off x="5029200" y="4754880"/>
            <a:ext cx="6812280" cy="360"/>
          </a:xfrm>
          <a:prstGeom prst="straightConnector1">
            <a:avLst/>
          </a:prstGeom>
          <a:noFill/>
          <a:ln cap="flat" cmpd="sng" w="15875">
            <a:solidFill>
              <a:srgbClr val="A9A9BF"/>
            </a:solidFill>
            <a:prstDash val="solid"/>
            <a:round/>
            <a:headEnd len="sm" w="sm" type="none"/>
            <a:tailEnd len="sm" w="sm" type="none"/>
          </a:ln>
        </p:spPr>
      </p:cxnSp>
      <p:cxnSp>
        <p:nvCxnSpPr>
          <p:cNvPr id="454" name="Google Shape;454;p15"/>
          <p:cNvCxnSpPr/>
          <p:nvPr/>
        </p:nvCxnSpPr>
        <p:spPr>
          <a:xfrm flipH="1" rot="10800000">
            <a:off x="5029200" y="3246120"/>
            <a:ext cx="360" cy="1508760"/>
          </a:xfrm>
          <a:prstGeom prst="straightConnector1">
            <a:avLst/>
          </a:prstGeom>
          <a:noFill/>
          <a:ln cap="flat" cmpd="sng" w="15875">
            <a:solidFill>
              <a:srgbClr val="A9A9BF"/>
            </a:solidFill>
            <a:prstDash val="solid"/>
            <a:round/>
            <a:headEnd len="sm" w="sm" type="none"/>
            <a:tailEnd len="med" w="med" type="triangle"/>
          </a:ln>
        </p:spPr>
      </p:cxnSp>
      <p:sp>
        <p:nvSpPr>
          <p:cNvPr id="455" name="Google Shape;455;p15"/>
          <p:cNvSpPr/>
          <p:nvPr/>
        </p:nvSpPr>
        <p:spPr>
          <a:xfrm>
            <a:off x="5303520" y="4480560"/>
            <a:ext cx="4205880" cy="246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chemeClr val="lt2"/>
                </a:solidFill>
                <a:latin typeface="Calibri"/>
                <a:ea typeface="Calibri"/>
                <a:cs typeface="Calibri"/>
                <a:sym typeface="Calibri"/>
              </a:rPr>
              <a:t>edita o vuelve a enviar: el resultado anterior no se acumula</a:t>
            </a:r>
            <a:endParaRPr b="0" i="0" spc="0" sz="1050" u="none" cap="none" strike="noStrike">
              <a:solidFill>
                <a:srgbClr val="FFFFFF"/>
              </a:solidFill>
              <a:latin typeface="Arial"/>
              <a:ea typeface="Arial"/>
              <a:cs typeface="Arial"/>
              <a:sym typeface="Arial"/>
            </a:endParaRPr>
          </a:p>
        </p:txBody>
      </p:sp>
      <p:cxnSp>
        <p:nvCxnSpPr>
          <p:cNvPr id="456" name="Google Shape;456;p15"/>
          <p:cNvCxnSpPr/>
          <p:nvPr/>
        </p:nvCxnSpPr>
        <p:spPr>
          <a:xfrm flipH="1" rot="10800000">
            <a:off x="5029200" y="1920240"/>
            <a:ext cx="360" cy="411480"/>
          </a:xfrm>
          <a:prstGeom prst="straightConnector1">
            <a:avLst/>
          </a:prstGeom>
          <a:noFill/>
          <a:ln cap="flat" cmpd="sng" w="15875">
            <a:solidFill>
              <a:srgbClr val="9B8CFF"/>
            </a:solidFill>
            <a:prstDash val="dash"/>
            <a:round/>
            <a:headEnd len="sm" w="sm" type="none"/>
            <a:tailEnd len="sm" w="sm" type="none"/>
          </a:ln>
        </p:spPr>
      </p:cxnSp>
      <p:cxnSp>
        <p:nvCxnSpPr>
          <p:cNvPr id="457" name="Google Shape;457;p15"/>
          <p:cNvCxnSpPr/>
          <p:nvPr/>
        </p:nvCxnSpPr>
        <p:spPr>
          <a:xfrm flipH="1">
            <a:off x="2194560" y="1920240"/>
            <a:ext cx="2834640" cy="360"/>
          </a:xfrm>
          <a:prstGeom prst="straightConnector1">
            <a:avLst/>
          </a:prstGeom>
          <a:noFill/>
          <a:ln cap="flat" cmpd="sng" w="15875">
            <a:solidFill>
              <a:srgbClr val="9B8CFF"/>
            </a:solidFill>
            <a:prstDash val="dash"/>
            <a:round/>
            <a:headEnd len="sm" w="sm" type="none"/>
            <a:tailEnd len="sm" w="sm" type="none"/>
          </a:ln>
        </p:spPr>
      </p:cxnSp>
      <p:cxnSp>
        <p:nvCxnSpPr>
          <p:cNvPr id="458" name="Google Shape;458;p15"/>
          <p:cNvCxnSpPr/>
          <p:nvPr/>
        </p:nvCxnSpPr>
        <p:spPr>
          <a:xfrm>
            <a:off x="2194560" y="1920240"/>
            <a:ext cx="360" cy="411480"/>
          </a:xfrm>
          <a:prstGeom prst="straightConnector1">
            <a:avLst/>
          </a:prstGeom>
          <a:noFill/>
          <a:ln cap="flat" cmpd="sng" w="15875">
            <a:solidFill>
              <a:srgbClr val="9B8CFF"/>
            </a:solidFill>
            <a:prstDash val="dash"/>
            <a:round/>
            <a:headEnd len="sm" w="sm" type="none"/>
            <a:tailEnd len="med" w="med" type="triangle"/>
          </a:ln>
        </p:spPr>
      </p:cxnSp>
      <p:sp>
        <p:nvSpPr>
          <p:cNvPr id="459" name="Google Shape;459;p15"/>
          <p:cNvSpPr/>
          <p:nvPr/>
        </p:nvSpPr>
        <p:spPr>
          <a:xfrm>
            <a:off x="2377440" y="1645920"/>
            <a:ext cx="265140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chemeClr val="accent2"/>
                </a:solidFill>
                <a:latin typeface="Calibri"/>
                <a:ea typeface="Calibri"/>
                <a:cs typeface="Calibri"/>
                <a:sym typeface="Calibri"/>
              </a:rPr>
              <a:t>cierra sesión: se descarta el resultado</a:t>
            </a:r>
            <a:endParaRPr b="0" i="0" spc="0" sz="1050" u="none" cap="none" strike="noStrike">
              <a:solidFill>
                <a:srgbClr val="FFFFFF"/>
              </a:solidFill>
              <a:latin typeface="Arial"/>
              <a:ea typeface="Arial"/>
              <a:cs typeface="Arial"/>
              <a:sym typeface="Arial"/>
            </a:endParaRPr>
          </a:p>
        </p:txBody>
      </p:sp>
      <p:sp>
        <p:nvSpPr>
          <p:cNvPr id="460" name="Google Shape;460;p15"/>
          <p:cNvSpPr/>
          <p:nvPr/>
        </p:nvSpPr>
        <p:spPr>
          <a:xfrm>
            <a:off x="548640" y="3703320"/>
            <a:ext cx="3291480" cy="82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En la App 1 no hay sesión: se empieza directamente en «Listo». Sin géneros ni texto, el formulario no envía y muestra un aviso.</a:t>
            </a:r>
            <a:endParaRPr b="0" i="0" spc="0" sz="1100" u="none" cap="none" strike="noStrike">
              <a:solidFill>
                <a:srgbClr val="FFFFFF"/>
              </a:solidFill>
              <a:latin typeface="Arial"/>
              <a:ea typeface="Arial"/>
              <a:cs typeface="Arial"/>
              <a:sym typeface="Arial"/>
            </a:endParaRPr>
          </a:p>
        </p:txBody>
      </p:sp>
      <p:sp>
        <p:nvSpPr>
          <p:cNvPr id="461" name="Google Shape;461;p15"/>
          <p:cNvSpPr/>
          <p:nvPr/>
        </p:nvSpPr>
        <p:spPr>
          <a:xfrm>
            <a:off x="548640" y="5166360"/>
            <a:ext cx="11109600" cy="868320"/>
          </a:xfrm>
          <a:prstGeom prst="roundRect">
            <a:avLst>
              <a:gd fmla="val 12632" name="adj"/>
            </a:avLst>
          </a:prstGeom>
          <a:solidFill>
            <a:schemeClr val="dk2"/>
          </a:solidFill>
          <a:ln cap="flat" cmpd="sng" w="9525">
            <a:solidFill>
              <a:schemeClr val="accent1">
                <a:alpha val="5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62" name="Google Shape;462;p15"/>
          <p:cNvSpPr/>
          <p:nvPr/>
        </p:nvSpPr>
        <p:spPr>
          <a:xfrm>
            <a:off x="822960" y="5166360"/>
            <a:ext cx="10606680" cy="868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1"/>
                </a:solidFill>
                <a:latin typeface="Calibri"/>
                <a:ea typeface="Calibri"/>
                <a:cs typeface="Calibri"/>
                <a:sym typeface="Calibri"/>
              </a:rPr>
              <a:t>¿Y el diagrama de clases? </a:t>
            </a:r>
            <a:r>
              <a:rPr b="0" i="0" lang="en-US" spc="0" sz="1400" u="none" cap="none" strike="noStrike">
                <a:solidFill>
                  <a:schemeClr val="lt1"/>
                </a:solidFill>
                <a:latin typeface="Calibri"/>
                <a:ea typeface="Calibri"/>
                <a:cs typeface="Calibri"/>
                <a:sym typeface="Calibri"/>
              </a:rPr>
              <a:t>Porque Musicfy no guarda datos: recibe lo que escribes y devuelve un texto. En la App 2 los usuarios los gestiona Clerk, no nuestra app. El enunciado pide no hacer diagramas que no aporten nada. </a:t>
            </a:r>
            <a:endParaRPr b="0" i="0" spc="0" sz="1400" u="none" cap="none" strike="noStrike">
              <a:solidFill>
                <a:srgbClr val="FFFFFF"/>
              </a:solidFill>
              <a:latin typeface="Arial"/>
              <a:ea typeface="Arial"/>
              <a:cs typeface="Arial"/>
              <a:sym typeface="Arial"/>
            </a:endParaRPr>
          </a:p>
        </p:txBody>
      </p:sp>
      <p:sp>
        <p:nvSpPr>
          <p:cNvPr id="463" name="Google Shape;463;p15"/>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6"/>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App 1 · Backend e IA</a:t>
            </a:r>
            <a:endParaRPr b="0" sz="3400" u="none" strike="noStrike">
              <a:solidFill>
                <a:schemeClr val="dk1"/>
              </a:solidFill>
              <a:latin typeface="Calibri"/>
              <a:ea typeface="Calibri"/>
              <a:cs typeface="Calibri"/>
              <a:sym typeface="Calibri"/>
            </a:endParaRPr>
          </a:p>
        </p:txBody>
      </p:sp>
      <p:sp>
        <p:nvSpPr>
          <p:cNvPr id="469" name="Google Shape;469;p16"/>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HECHA A MANO</a:t>
            </a:r>
            <a:endParaRPr b="0" i="0" sz="1200" u="none" cap="none" strike="noStrike">
              <a:solidFill>
                <a:schemeClr val="dk1"/>
              </a:solidFill>
              <a:latin typeface="Calibri"/>
              <a:ea typeface="Calibri"/>
              <a:cs typeface="Calibri"/>
              <a:sym typeface="Calibri"/>
            </a:endParaRPr>
          </a:p>
        </p:txBody>
      </p:sp>
      <p:sp>
        <p:nvSpPr>
          <p:cNvPr id="470" name="Google Shape;470;p16"/>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71" name="Google Shape;471;p16"/>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472" name="Google Shape;472;p16"/>
          <p:cNvSpPr/>
          <p:nvPr/>
        </p:nvSpPr>
        <p:spPr>
          <a:xfrm>
            <a:off x="548640" y="1371600"/>
            <a:ext cx="5851800" cy="4663080"/>
          </a:xfrm>
          <a:prstGeom prst="roundRect">
            <a:avLst>
              <a:gd fmla="val 235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73" name="Google Shape;473;p16"/>
          <p:cNvSpPr/>
          <p:nvPr/>
        </p:nvSpPr>
        <p:spPr>
          <a:xfrm>
            <a:off x="822960" y="1554480"/>
            <a:ext cx="530316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1"/>
                </a:solidFill>
                <a:latin typeface="Calibri"/>
                <a:ea typeface="Calibri"/>
                <a:cs typeface="Calibri"/>
                <a:sym typeface="Calibri"/>
              </a:rPr>
              <a:t>Cómo está hecho</a:t>
            </a:r>
            <a:endParaRPr b="0" i="0" spc="0" sz="2000" u="none" cap="none" strike="noStrike">
              <a:solidFill>
                <a:srgbClr val="FFFFFF"/>
              </a:solidFill>
              <a:latin typeface="Arial"/>
              <a:ea typeface="Arial"/>
              <a:cs typeface="Arial"/>
              <a:sym typeface="Arial"/>
            </a:endParaRPr>
          </a:p>
        </p:txBody>
      </p:sp>
      <p:sp>
        <p:nvSpPr>
          <p:cNvPr id="474" name="Google Shape;474;p16"/>
          <p:cNvSpPr/>
          <p:nvPr/>
        </p:nvSpPr>
        <p:spPr>
          <a:xfrm>
            <a:off x="822960" y="2057400"/>
            <a:ext cx="5348880" cy="388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main.py: </a:t>
            </a:r>
            <a:r>
              <a:rPr b="0" i="0" lang="en-US" spc="0" sz="1400" u="none" cap="none" strike="noStrike">
                <a:solidFill>
                  <a:schemeClr val="lt2"/>
                </a:solidFill>
                <a:latin typeface="Calibri"/>
                <a:ea typeface="Calibri"/>
                <a:cs typeface="Calibri"/>
                <a:sym typeface="Calibri"/>
              </a:rPr>
              <a:t>FastAPI con /health y POST /api/recommend.</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Pydantic v2: </a:t>
            </a:r>
            <a:r>
              <a:rPr b="0" i="0" lang="en-US" spc="0" sz="1400" u="none" cap="none" strike="noStrike">
                <a:solidFill>
                  <a:schemeClr val="lt2"/>
                </a:solidFill>
                <a:latin typeface="Calibri"/>
                <a:ea typeface="Calibri"/>
                <a:cs typeface="Calibri"/>
                <a:sym typeface="Calibri"/>
              </a:rPr>
              <a:t>tastes obligatorio, de 1 a 500 caracteres tras quitar espacios.</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ai_client.py: </a:t>
            </a:r>
            <a:r>
              <a:rPr b="0" i="0" lang="en-US" spc="0" sz="1400" u="none" cap="none" strike="noStrike">
                <a:solidFill>
                  <a:schemeClr val="lt2"/>
                </a:solidFill>
                <a:latin typeface="Calibri"/>
                <a:ea typeface="Calibri"/>
                <a:cs typeface="Calibri"/>
                <a:sym typeface="Calibri"/>
              </a:rPr>
              <a:t>una petición a Gemini con httpx, timeout de 25 s y 600 tokens como máximo.</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SYSTEM_PROMPT: </a:t>
            </a:r>
            <a:r>
              <a:rPr b="0" i="0" lang="en-US" spc="0" sz="1400" u="none" cap="none" strike="noStrike">
                <a:solidFill>
                  <a:schemeClr val="lt2"/>
                </a:solidFill>
                <a:latin typeface="Calibri"/>
                <a:ea typeface="Calibri"/>
                <a:cs typeface="Calibri"/>
                <a:sym typeface="Calibri"/>
              </a:rPr>
              <a:t>de 3 a 5 artistas con el porqué y una canción, en español y sin HTML.</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Errores: </a:t>
            </a:r>
            <a:r>
              <a:rPr b="0" i="0" lang="en-US" spc="0" sz="1400" u="none" cap="none" strike="noStrike">
                <a:solidFill>
                  <a:schemeClr val="lt2"/>
                </a:solidFill>
                <a:latin typeface="Calibri"/>
                <a:ea typeface="Calibri"/>
                <a:cs typeface="Calibri"/>
                <a:sym typeface="Calibri"/>
              </a:rPr>
              <a:t>timeout → 504; fallo del proveedor → 502; respuesta vacía → 502.</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Clave: </a:t>
            </a:r>
            <a:r>
              <a:rPr b="0" i="0" lang="en-US" spc="0" sz="1400" u="none" cap="none" strike="noStrike">
                <a:solidFill>
                  <a:schemeClr val="lt2"/>
                </a:solidFill>
                <a:latin typeface="Calibri"/>
                <a:ea typeface="Calibri"/>
                <a:cs typeface="Calibri"/>
                <a:sym typeface="Calibri"/>
              </a:rPr>
              <a:t>GEMINI_API_KEY, leída del .env privado del backend.</a:t>
            </a:r>
            <a:endParaRPr b="0" i="0" spc="0" sz="1400" u="none" cap="none" strike="noStrike">
              <a:solidFill>
                <a:srgbClr val="FFFFFF"/>
              </a:solidFill>
              <a:latin typeface="Arial"/>
              <a:ea typeface="Arial"/>
              <a:cs typeface="Arial"/>
              <a:sym typeface="Arial"/>
            </a:endParaRPr>
          </a:p>
        </p:txBody>
      </p:sp>
      <p:sp>
        <p:nvSpPr>
          <p:cNvPr id="475" name="Google Shape;475;p16"/>
          <p:cNvSpPr/>
          <p:nvPr/>
        </p:nvSpPr>
        <p:spPr>
          <a:xfrm>
            <a:off x="6629400" y="1371600"/>
            <a:ext cx="5028840" cy="4663080"/>
          </a:xfrm>
          <a:prstGeom prst="roundRect">
            <a:avLst>
              <a:gd fmla="val 235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76" name="Google Shape;476;p16"/>
          <p:cNvSpPr/>
          <p:nvPr/>
        </p:nvSpPr>
        <p:spPr>
          <a:xfrm>
            <a:off x="6903720" y="1554480"/>
            <a:ext cx="457164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1"/>
                </a:solidFill>
                <a:latin typeface="Calibri"/>
                <a:ea typeface="Calibri"/>
                <a:cs typeface="Calibri"/>
                <a:sym typeface="Calibri"/>
              </a:rPr>
              <a:t>Un proveedor, tres intentos</a:t>
            </a:r>
            <a:endParaRPr b="0" i="0" spc="0" sz="2000" u="none" cap="none" strike="noStrike">
              <a:solidFill>
                <a:srgbClr val="FFFFFF"/>
              </a:solidFill>
              <a:latin typeface="Arial"/>
              <a:ea typeface="Arial"/>
              <a:cs typeface="Arial"/>
              <a:sym typeface="Arial"/>
            </a:endParaRPr>
          </a:p>
        </p:txBody>
      </p:sp>
      <p:cxnSp>
        <p:nvCxnSpPr>
          <p:cNvPr id="477" name="Google Shape;477;p16"/>
          <p:cNvCxnSpPr/>
          <p:nvPr/>
        </p:nvCxnSpPr>
        <p:spPr>
          <a:xfrm>
            <a:off x="7086600" y="2240280"/>
            <a:ext cx="360" cy="3337560"/>
          </a:xfrm>
          <a:prstGeom prst="straightConnector1">
            <a:avLst/>
          </a:prstGeom>
          <a:noFill/>
          <a:ln cap="flat" cmpd="sng" w="15875">
            <a:solidFill>
              <a:srgbClr val="A9A9BF"/>
            </a:solidFill>
            <a:prstDash val="solid"/>
            <a:round/>
            <a:headEnd len="sm" w="sm" type="none"/>
            <a:tailEnd len="sm" w="sm" type="none"/>
          </a:ln>
        </p:spPr>
      </p:cxnSp>
      <p:sp>
        <p:nvSpPr>
          <p:cNvPr id="478" name="Google Shape;478;p16"/>
          <p:cNvSpPr/>
          <p:nvPr/>
        </p:nvSpPr>
        <p:spPr>
          <a:xfrm>
            <a:off x="6976800" y="2176200"/>
            <a:ext cx="219240" cy="219240"/>
          </a:xfrm>
          <a:prstGeom prst="ellipse">
            <a:avLst/>
          </a:prstGeom>
          <a:solidFill>
            <a:schemeClr val="lt1"/>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479" name="Google Shape;479;p16"/>
          <p:cNvSpPr/>
          <p:nvPr/>
        </p:nvSpPr>
        <p:spPr>
          <a:xfrm>
            <a:off x="7406640" y="210312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12/10  OpenRouter con meta-llama</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Primer cliente de IA y endpoint con validaciones.</a:t>
            </a:r>
            <a:endParaRPr b="0" i="0" spc="0" sz="1200" u="none" cap="none" strike="noStrike">
              <a:solidFill>
                <a:srgbClr val="FFFFFF"/>
              </a:solidFill>
              <a:latin typeface="Arial"/>
              <a:ea typeface="Arial"/>
              <a:cs typeface="Arial"/>
              <a:sym typeface="Arial"/>
            </a:endParaRPr>
          </a:p>
        </p:txBody>
      </p:sp>
      <p:sp>
        <p:nvSpPr>
          <p:cNvPr id="480" name="Google Shape;480;p16"/>
          <p:cNvSpPr/>
          <p:nvPr/>
        </p:nvSpPr>
        <p:spPr>
          <a:xfrm>
            <a:off x="6976800" y="3108960"/>
            <a:ext cx="219240" cy="219240"/>
          </a:xfrm>
          <a:prstGeom prst="ellipse">
            <a:avLst/>
          </a:prstGeom>
          <a:solidFill>
            <a:schemeClr val="accent4"/>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481" name="Google Shape;481;p16"/>
          <p:cNvSpPr/>
          <p:nvPr/>
        </p:nvSpPr>
        <p:spPr>
          <a:xfrm>
            <a:off x="7406640" y="303588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4"/>
                </a:solidFill>
                <a:latin typeface="Calibri"/>
                <a:ea typeface="Calibri"/>
                <a:cs typeface="Calibri"/>
                <a:sym typeface="Calibri"/>
              </a:rPr>
              <a:t>13/10  </a:t>
            </a:r>
            <a:r>
              <a:rPr b="1" i="0" lang="en-US" spc="0" sz="1400" u="none" cap="none" strike="noStrike">
                <a:solidFill>
                  <a:schemeClr val="lt1"/>
                </a:solidFill>
                <a:latin typeface="Calibri"/>
                <a:ea typeface="Calibri"/>
                <a:cs typeface="Calibri"/>
                <a:sym typeface="Calibri"/>
              </a:rPr>
              <a:t>Error 402</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Reservaba saldo para la respuesta máxima: limitamos MAX_TOKENS a 600.</a:t>
            </a:r>
            <a:endParaRPr b="0" i="0" spc="0" sz="1200" u="none" cap="none" strike="noStrike">
              <a:solidFill>
                <a:srgbClr val="FFFFFF"/>
              </a:solidFill>
              <a:latin typeface="Arial"/>
              <a:ea typeface="Arial"/>
              <a:cs typeface="Arial"/>
              <a:sym typeface="Arial"/>
            </a:endParaRPr>
          </a:p>
        </p:txBody>
      </p:sp>
      <p:sp>
        <p:nvSpPr>
          <p:cNvPr id="482" name="Google Shape;482;p16"/>
          <p:cNvSpPr/>
          <p:nvPr/>
        </p:nvSpPr>
        <p:spPr>
          <a:xfrm>
            <a:off x="6976800" y="4041720"/>
            <a:ext cx="219240" cy="219240"/>
          </a:xfrm>
          <a:prstGeom prst="ellipse">
            <a:avLst/>
          </a:prstGeom>
          <a:solidFill>
            <a:schemeClr val="accent5"/>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83" name="Google Shape;483;p16"/>
          <p:cNvSpPr/>
          <p:nvPr/>
        </p:nvSpPr>
        <p:spPr>
          <a:xfrm>
            <a:off x="7406640" y="396864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5"/>
                </a:solidFill>
                <a:latin typeface="Calibri"/>
                <a:ea typeface="Calibri"/>
                <a:cs typeface="Calibri"/>
                <a:sym typeface="Calibri"/>
              </a:rPr>
              <a:t>19/10  </a:t>
            </a:r>
            <a:r>
              <a:rPr b="1" i="0" lang="en-US" spc="0" sz="1400" u="none" cap="none" strike="noStrike">
                <a:solidFill>
                  <a:schemeClr val="lt1"/>
                </a:solidFill>
                <a:latin typeface="Calibri"/>
                <a:ea typeface="Calibri"/>
                <a:cs typeface="Calibri"/>
                <a:sym typeface="Calibri"/>
              </a:rPr>
              <a:t>Saldo agotado en Vercel</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La app respondía que no quedaban más peticiones.</a:t>
            </a:r>
            <a:endParaRPr b="0" i="0" spc="0" sz="1200" u="none" cap="none" strike="noStrike">
              <a:solidFill>
                <a:srgbClr val="FFFFFF"/>
              </a:solidFill>
              <a:latin typeface="Arial"/>
              <a:ea typeface="Arial"/>
              <a:cs typeface="Arial"/>
              <a:sym typeface="Arial"/>
            </a:endParaRPr>
          </a:p>
        </p:txBody>
      </p:sp>
      <p:sp>
        <p:nvSpPr>
          <p:cNvPr id="484" name="Google Shape;484;p16"/>
          <p:cNvSpPr/>
          <p:nvPr/>
        </p:nvSpPr>
        <p:spPr>
          <a:xfrm>
            <a:off x="6976800" y="4974480"/>
            <a:ext cx="219240" cy="219240"/>
          </a:xfrm>
          <a:prstGeom prst="ellipse">
            <a:avLst/>
          </a:prstGeom>
          <a:solidFill>
            <a:schemeClr val="accent6"/>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485" name="Google Shape;485;p16"/>
          <p:cNvSpPr/>
          <p:nvPr/>
        </p:nvSpPr>
        <p:spPr>
          <a:xfrm>
            <a:off x="7406640" y="490104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6"/>
                </a:solidFill>
                <a:latin typeface="Calibri"/>
                <a:ea typeface="Calibri"/>
                <a:cs typeface="Calibri"/>
                <a:sym typeface="Calibri"/>
              </a:rPr>
              <a:t>19/10  </a:t>
            </a:r>
            <a:r>
              <a:rPr b="1" i="0" lang="en-US" spc="0" sz="1400" u="none" cap="none" strike="noStrike">
                <a:solidFill>
                  <a:schemeClr val="lt1"/>
                </a:solidFill>
                <a:latin typeface="Calibri"/>
                <a:ea typeface="Calibri"/>
                <a:cs typeface="Calibri"/>
                <a:sym typeface="Calibri"/>
              </a:rPr>
              <a:t>API de Gemini</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gemini-3.5-flash-lite en el plan gratuito. Seguimos con una sola API de IA.</a:t>
            </a:r>
            <a:endParaRPr b="0" i="0" spc="0" sz="1200" u="none" cap="none" strike="noStrike">
              <a:solidFill>
                <a:srgbClr val="FFFFFF"/>
              </a:solidFill>
              <a:latin typeface="Arial"/>
              <a:ea typeface="Arial"/>
              <a:cs typeface="Arial"/>
              <a:sym typeface="Arial"/>
            </a:endParaRPr>
          </a:p>
        </p:txBody>
      </p:sp>
      <p:sp>
        <p:nvSpPr>
          <p:cNvPr id="486" name="Google Shape;486;p16"/>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17"/>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App 1 · Frontend y diseño</a:t>
            </a:r>
            <a:endParaRPr b="0" sz="3400" u="none" strike="noStrike">
              <a:solidFill>
                <a:schemeClr val="dk1"/>
              </a:solidFill>
              <a:latin typeface="Calibri"/>
              <a:ea typeface="Calibri"/>
              <a:cs typeface="Calibri"/>
              <a:sym typeface="Calibri"/>
            </a:endParaRPr>
          </a:p>
        </p:txBody>
      </p:sp>
      <p:sp>
        <p:nvSpPr>
          <p:cNvPr id="492" name="Google Shape;492;p17"/>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HECHA A MANO</a:t>
            </a:r>
            <a:endParaRPr b="0" i="0" sz="1200" u="none" cap="none" strike="noStrike">
              <a:solidFill>
                <a:schemeClr val="dk1"/>
              </a:solidFill>
              <a:latin typeface="Calibri"/>
              <a:ea typeface="Calibri"/>
              <a:cs typeface="Calibri"/>
              <a:sym typeface="Calibri"/>
            </a:endParaRPr>
          </a:p>
        </p:txBody>
      </p:sp>
      <p:sp>
        <p:nvSpPr>
          <p:cNvPr id="493" name="Google Shape;493;p17"/>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94" name="Google Shape;494;p17"/>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Jose Antonio Nieto</a:t>
            </a:r>
            <a:endParaRPr b="0" i="0" spc="0" sz="1100" u="none" cap="none" strike="noStrike">
              <a:solidFill>
                <a:srgbClr val="FFFFFF"/>
              </a:solidFill>
              <a:latin typeface="Arial"/>
              <a:ea typeface="Arial"/>
              <a:cs typeface="Arial"/>
              <a:sym typeface="Arial"/>
            </a:endParaRPr>
          </a:p>
        </p:txBody>
      </p:sp>
      <p:sp>
        <p:nvSpPr>
          <p:cNvPr id="495" name="Google Shape;495;p17"/>
          <p:cNvSpPr/>
          <p:nvPr/>
        </p:nvSpPr>
        <p:spPr>
          <a:xfrm>
            <a:off x="548640" y="1417320"/>
            <a:ext cx="5751360" cy="3802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SPA en Vue 3 con Tailwind CSS 4: </a:t>
            </a:r>
            <a:r>
              <a:rPr b="0" i="0" lang="en-US" spc="0" sz="1500" u="none" cap="none" strike="noStrike">
                <a:solidFill>
                  <a:schemeClr val="lt2"/>
                </a:solidFill>
                <a:latin typeface="Calibri"/>
                <a:ea typeface="Calibri"/>
                <a:cs typeface="Calibri"/>
                <a:sym typeface="Calibri"/>
              </a:rPr>
              <a:t>una sola pantalla, sin router.</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Estética de tele antigua: </a:t>
            </a:r>
            <a:r>
              <a:rPr b="0" i="0" lang="en-US" spc="0" sz="1500" u="none" cap="none" strike="noStrike">
                <a:solidFill>
                  <a:schemeClr val="lt2"/>
                </a:solidFill>
                <a:latin typeface="Calibri"/>
                <a:ea typeface="Calibri"/>
                <a:cs typeface="Calibri"/>
                <a:sym typeface="Calibri"/>
              </a:rPr>
              <a:t>título en WebGL, logo animado y animación de encendido.</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12 botones de género (máximo 5) y texto libre, </a:t>
            </a:r>
            <a:r>
              <a:rPr b="0" i="0" lang="en-US" spc="0" sz="1500" u="none" cap="none" strike="noStrike">
                <a:solidFill>
                  <a:schemeClr val="lt2"/>
                </a:solidFill>
                <a:latin typeface="Calibri"/>
                <a:ea typeface="Calibri"/>
                <a:cs typeface="Calibri"/>
                <a:sym typeface="Calibri"/>
              </a:rPr>
              <a:t>que se unen en el campo tastes.</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Estados de espera, resultado y error. </a:t>
            </a:r>
            <a:r>
              <a:rPr b="0" i="0" lang="en-US" spc="0" sz="1500" u="none" cap="none" strike="noStrike">
                <a:solidFill>
                  <a:schemeClr val="lt2"/>
                </a:solidFill>
                <a:latin typeface="Calibri"/>
                <a:ea typeface="Calibri"/>
                <a:cs typeface="Calibri"/>
                <a:sym typeface="Calibri"/>
              </a:rPr>
              <a:t>El botón se bloquea para evitar dobles envíos.</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Artistas resaltados en color, </a:t>
            </a:r>
            <a:r>
              <a:rPr b="0" i="0" lang="en-US" spc="0" sz="1500" u="none" cap="none" strike="noStrike">
                <a:solidFill>
                  <a:schemeClr val="lt2"/>
                </a:solidFill>
                <a:latin typeface="Calibri"/>
                <a:ea typeface="Calibri"/>
                <a:cs typeface="Calibri"/>
                <a:sym typeface="Calibri"/>
              </a:rPr>
              <a:t>pero la respuesta se muestra siempre como texto, nunca con v-html.</a:t>
            </a:r>
            <a:endParaRPr b="0" i="0" spc="0" sz="1500" u="none" cap="none" strike="noStrike">
              <a:solidFill>
                <a:srgbClr val="FFFFFF"/>
              </a:solidFill>
              <a:latin typeface="Arial"/>
              <a:ea typeface="Arial"/>
              <a:cs typeface="Arial"/>
              <a:sym typeface="Arial"/>
            </a:endParaRPr>
          </a:p>
          <a:p>
            <a:pPr indent="0" lvl="0" marL="0" marR="0" rtl="0" algn="l">
              <a:lnSpc>
                <a:spcPct val="100000"/>
              </a:lnSpc>
              <a:spcBef>
                <a:spcPts val="2192"/>
              </a:spcBef>
              <a:spcAft>
                <a:spcPts val="0"/>
              </a:spcAft>
              <a:buClr>
                <a:srgbClr val="000000"/>
              </a:buClr>
              <a:buSzPts val="1500"/>
              <a:buFont typeface="Arial"/>
              <a:buNone/>
            </a:pPr>
            <a:r>
              <a:rPr b="1" i="0" lang="en-US" spc="0" sz="1500" u="none" cap="none" strike="noStrike">
                <a:solidFill>
                  <a:schemeClr val="lt1"/>
                </a:solidFill>
                <a:latin typeface="Calibri"/>
                <a:ea typeface="Calibri"/>
                <a:cs typeface="Calibri"/>
                <a:sym typeface="Calibri"/>
              </a:rPr>
              <a:t>Vercel: </a:t>
            </a:r>
            <a:r>
              <a:rPr b="0" i="0" lang="en-US" spc="0" sz="1500" u="none" cap="none" strike="noStrike">
                <a:solidFill>
                  <a:schemeClr val="lt2"/>
                </a:solidFill>
                <a:latin typeface="Calibri"/>
                <a:ea typeface="Calibri"/>
                <a:cs typeface="Calibri"/>
                <a:sym typeface="Calibri"/>
              </a:rPr>
              <a:t>/api/recommend va al backend en la misma URL, sin CORS. En local, backend en localhost:8000. </a:t>
            </a:r>
            <a:endParaRPr b="0" i="0" spc="0" sz="1500" u="none" cap="none" strike="noStrike">
              <a:solidFill>
                <a:srgbClr val="FFFFFF"/>
              </a:solidFill>
              <a:latin typeface="Arial"/>
              <a:ea typeface="Arial"/>
              <a:cs typeface="Arial"/>
              <a:sym typeface="Arial"/>
            </a:endParaRPr>
          </a:p>
        </p:txBody>
      </p:sp>
      <p:sp>
        <p:nvSpPr>
          <p:cNvPr id="496" name="Google Shape;496;p17"/>
          <p:cNvSpPr/>
          <p:nvPr/>
        </p:nvSpPr>
        <p:spPr>
          <a:xfrm>
            <a:off x="548640" y="4846320"/>
            <a:ext cx="278856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497" name="Google Shape;497;p17"/>
          <p:cNvSpPr/>
          <p:nvPr/>
        </p:nvSpPr>
        <p:spPr>
          <a:xfrm>
            <a:off x="777240" y="4956120"/>
            <a:ext cx="233136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1"/>
                </a:solidFill>
                <a:latin typeface="Calibri"/>
                <a:ea typeface="Calibri"/>
                <a:cs typeface="Calibri"/>
                <a:sym typeface="Calibri"/>
              </a:rPr>
              <a:t>≈ 7,5 h</a:t>
            </a:r>
            <a:endParaRPr b="0" i="0" spc="0" sz="3400" u="none" cap="none" strike="noStrike">
              <a:solidFill>
                <a:srgbClr val="FFFFFF"/>
              </a:solidFill>
              <a:latin typeface="Arial"/>
              <a:ea typeface="Arial"/>
              <a:cs typeface="Arial"/>
              <a:sym typeface="Arial"/>
            </a:endParaRPr>
          </a:p>
        </p:txBody>
      </p:sp>
      <p:sp>
        <p:nvSpPr>
          <p:cNvPr id="498" name="Google Shape;498;p17"/>
          <p:cNvSpPr/>
          <p:nvPr/>
        </p:nvSpPr>
        <p:spPr>
          <a:xfrm>
            <a:off x="777240" y="5559480"/>
            <a:ext cx="233136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de frontend (estimación)</a:t>
            </a:r>
            <a:endParaRPr b="0" i="0" spc="0" sz="1300" u="none" cap="none" strike="noStrike">
              <a:solidFill>
                <a:srgbClr val="FFFFFF"/>
              </a:solidFill>
              <a:latin typeface="Arial"/>
              <a:ea typeface="Arial"/>
              <a:cs typeface="Arial"/>
              <a:sym typeface="Arial"/>
            </a:endParaRPr>
          </a:p>
        </p:txBody>
      </p:sp>
      <p:sp>
        <p:nvSpPr>
          <p:cNvPr id="499" name="Google Shape;499;p17"/>
          <p:cNvSpPr/>
          <p:nvPr/>
        </p:nvSpPr>
        <p:spPr>
          <a:xfrm>
            <a:off x="3520440" y="4846320"/>
            <a:ext cx="278856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00" name="Google Shape;500;p17"/>
          <p:cNvSpPr/>
          <p:nvPr/>
        </p:nvSpPr>
        <p:spPr>
          <a:xfrm>
            <a:off x="3749040" y="4956120"/>
            <a:ext cx="233136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1"/>
                </a:solidFill>
                <a:latin typeface="Calibri"/>
                <a:ea typeface="Calibri"/>
                <a:cs typeface="Calibri"/>
                <a:sym typeface="Calibri"/>
              </a:rPr>
              <a:t>12</a:t>
            </a:r>
            <a:endParaRPr b="0" i="0" spc="0" sz="3400" u="none" cap="none" strike="noStrike">
              <a:solidFill>
                <a:srgbClr val="FFFFFF"/>
              </a:solidFill>
              <a:latin typeface="Arial"/>
              <a:ea typeface="Arial"/>
              <a:cs typeface="Arial"/>
              <a:sym typeface="Arial"/>
            </a:endParaRPr>
          </a:p>
        </p:txBody>
      </p:sp>
      <p:sp>
        <p:nvSpPr>
          <p:cNvPr id="501" name="Google Shape;501;p17"/>
          <p:cNvSpPr/>
          <p:nvPr/>
        </p:nvSpPr>
        <p:spPr>
          <a:xfrm>
            <a:off x="3749040" y="5559480"/>
            <a:ext cx="233136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géneros, como en la App 2</a:t>
            </a:r>
            <a:endParaRPr b="0" i="0" spc="0" sz="1300" u="none" cap="none" strike="noStrike">
              <a:solidFill>
                <a:srgbClr val="FFFFFF"/>
              </a:solidFill>
              <a:latin typeface="Arial"/>
              <a:ea typeface="Arial"/>
              <a:cs typeface="Arial"/>
              <a:sym typeface="Arial"/>
            </a:endParaRPr>
          </a:p>
        </p:txBody>
      </p:sp>
      <p:sp>
        <p:nvSpPr>
          <p:cNvPr id="502" name="Google Shape;502;p17"/>
          <p:cNvSpPr/>
          <p:nvPr/>
        </p:nvSpPr>
        <p:spPr>
          <a:xfrm>
            <a:off x="6583680" y="1371600"/>
            <a:ext cx="5074560" cy="4663080"/>
          </a:xfrm>
          <a:prstGeom prst="roundRect">
            <a:avLst>
              <a:gd fmla="val 2353" name="adj"/>
            </a:avLst>
          </a:prstGeom>
          <a:solidFill>
            <a:schemeClr val="dk1"/>
          </a:solidFill>
          <a:ln cap="flat" cmpd="sng" w="9525">
            <a:solidFill>
              <a:schemeClr val="lt2">
                <a:alpha val="5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pic>
        <p:nvPicPr>
          <p:cNvPr descr="Captura de la App 1 en Vercel con recomendaciones" id="503" name="Google Shape;503;p17"/>
          <p:cNvPicPr preferRelativeResize="0"/>
          <p:nvPr/>
        </p:nvPicPr>
        <p:blipFill rotWithShape="1">
          <a:blip r:embed="rId3">
            <a:alphaModFix/>
          </a:blip>
          <a:srcRect b="0" l="0" r="0" t="0"/>
          <a:stretch/>
        </p:blipFill>
        <p:spPr>
          <a:xfrm>
            <a:off x="7004160" y="1481400"/>
            <a:ext cx="4224240" cy="4443480"/>
          </a:xfrm>
          <a:prstGeom prst="rect">
            <a:avLst/>
          </a:prstGeom>
          <a:noFill/>
          <a:ln>
            <a:noFill/>
          </a:ln>
        </p:spPr>
      </p:pic>
      <p:sp>
        <p:nvSpPr>
          <p:cNvPr id="504" name="Google Shape;504;p17"/>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18"/>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Evolución en Git</a:t>
            </a:r>
            <a:endParaRPr b="0" sz="3400" u="none" strike="noStrike">
              <a:solidFill>
                <a:schemeClr val="dk1"/>
              </a:solidFill>
              <a:latin typeface="Calibri"/>
              <a:ea typeface="Calibri"/>
              <a:cs typeface="Calibri"/>
              <a:sym typeface="Calibri"/>
            </a:endParaRPr>
          </a:p>
        </p:txBody>
      </p:sp>
      <p:sp>
        <p:nvSpPr>
          <p:cNvPr id="510" name="Google Shape;510;p18"/>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HITOS H0 … H12</a:t>
            </a:r>
            <a:endParaRPr b="0" i="0" sz="1200" u="none" cap="none" strike="noStrike">
              <a:solidFill>
                <a:schemeClr val="dk1"/>
              </a:solidFill>
              <a:latin typeface="Calibri"/>
              <a:ea typeface="Calibri"/>
              <a:cs typeface="Calibri"/>
              <a:sym typeface="Calibri"/>
            </a:endParaRPr>
          </a:p>
        </p:txBody>
      </p:sp>
      <p:sp>
        <p:nvSpPr>
          <p:cNvPr id="511" name="Google Shape;511;p18"/>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12" name="Google Shape;512;p18"/>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Jose Antonio Nieto</a:t>
            </a:r>
            <a:endParaRPr b="0" i="0" spc="0" sz="1100" u="none" cap="none" strike="noStrike">
              <a:solidFill>
                <a:srgbClr val="FFFFFF"/>
              </a:solidFill>
              <a:latin typeface="Arial"/>
              <a:ea typeface="Arial"/>
              <a:cs typeface="Arial"/>
              <a:sym typeface="Arial"/>
            </a:endParaRPr>
          </a:p>
        </p:txBody>
      </p:sp>
      <p:sp>
        <p:nvSpPr>
          <p:cNvPr id="513" name="Google Shape;513;p18"/>
          <p:cNvSpPr/>
          <p:nvPr/>
        </p:nvSpPr>
        <p:spPr>
          <a:xfrm>
            <a:off x="548640" y="1371600"/>
            <a:ext cx="356580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14" name="Google Shape;514;p18"/>
          <p:cNvSpPr/>
          <p:nvPr/>
        </p:nvSpPr>
        <p:spPr>
          <a:xfrm>
            <a:off x="777240" y="1481400"/>
            <a:ext cx="310860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1"/>
                </a:solidFill>
                <a:latin typeface="Calibri"/>
                <a:ea typeface="Calibri"/>
                <a:cs typeface="Calibri"/>
                <a:sym typeface="Calibri"/>
              </a:rPr>
              <a:t>61 commits</a:t>
            </a:r>
            <a:endParaRPr b="0" i="0" spc="0" sz="3400" u="none" cap="none" strike="noStrike">
              <a:solidFill>
                <a:srgbClr val="FFFFFF"/>
              </a:solidFill>
              <a:latin typeface="Arial"/>
              <a:ea typeface="Arial"/>
              <a:cs typeface="Arial"/>
              <a:sym typeface="Arial"/>
            </a:endParaRPr>
          </a:p>
        </p:txBody>
      </p:sp>
      <p:sp>
        <p:nvSpPr>
          <p:cNvPr id="515" name="Google Shape;515;p18"/>
          <p:cNvSpPr/>
          <p:nvPr/>
        </p:nvSpPr>
        <p:spPr>
          <a:xfrm>
            <a:off x="777240" y="2084760"/>
            <a:ext cx="310860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de los tres integrantes, del 11/10 al 28/10</a:t>
            </a:r>
            <a:endParaRPr b="0" i="0" spc="0" sz="1300" u="none" cap="none" strike="noStrike">
              <a:solidFill>
                <a:srgbClr val="FFFFFF"/>
              </a:solidFill>
              <a:latin typeface="Arial"/>
              <a:ea typeface="Arial"/>
              <a:cs typeface="Arial"/>
              <a:sym typeface="Arial"/>
            </a:endParaRPr>
          </a:p>
        </p:txBody>
      </p:sp>
      <p:sp>
        <p:nvSpPr>
          <p:cNvPr id="516" name="Google Shape;516;p18"/>
          <p:cNvSpPr/>
          <p:nvPr/>
        </p:nvSpPr>
        <p:spPr>
          <a:xfrm>
            <a:off x="4316040" y="1371600"/>
            <a:ext cx="356580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17" name="Google Shape;517;p18"/>
          <p:cNvSpPr/>
          <p:nvPr/>
        </p:nvSpPr>
        <p:spPr>
          <a:xfrm>
            <a:off x="4544640" y="1481400"/>
            <a:ext cx="310860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2"/>
                </a:solidFill>
                <a:latin typeface="Calibri"/>
                <a:ea typeface="Calibri"/>
                <a:cs typeface="Calibri"/>
                <a:sym typeface="Calibri"/>
              </a:rPr>
              <a:t>25/10 → 27/10</a:t>
            </a:r>
            <a:endParaRPr b="0" i="0" spc="0" sz="3400" u="none" cap="none" strike="noStrike">
              <a:solidFill>
                <a:srgbClr val="FFFFFF"/>
              </a:solidFill>
              <a:latin typeface="Arial"/>
              <a:ea typeface="Arial"/>
              <a:cs typeface="Arial"/>
              <a:sym typeface="Arial"/>
            </a:endParaRPr>
          </a:p>
        </p:txBody>
      </p:sp>
      <p:sp>
        <p:nvSpPr>
          <p:cNvPr id="518" name="Google Shape;518;p18"/>
          <p:cNvSpPr/>
          <p:nvPr/>
        </p:nvSpPr>
        <p:spPr>
          <a:xfrm>
            <a:off x="4544640" y="2084760"/>
            <a:ext cx="310860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la especificación entra en Git antes que el código</a:t>
            </a:r>
            <a:endParaRPr b="0" i="0" spc="0" sz="1300" u="none" cap="none" strike="noStrike">
              <a:solidFill>
                <a:srgbClr val="FFFFFF"/>
              </a:solidFill>
              <a:latin typeface="Arial"/>
              <a:ea typeface="Arial"/>
              <a:cs typeface="Arial"/>
              <a:sym typeface="Arial"/>
            </a:endParaRPr>
          </a:p>
        </p:txBody>
      </p:sp>
      <p:sp>
        <p:nvSpPr>
          <p:cNvPr id="519" name="Google Shape;519;p18"/>
          <p:cNvSpPr/>
          <p:nvPr/>
        </p:nvSpPr>
        <p:spPr>
          <a:xfrm>
            <a:off x="8092440" y="1371600"/>
            <a:ext cx="356580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20" name="Google Shape;520;p18"/>
          <p:cNvSpPr/>
          <p:nvPr/>
        </p:nvSpPr>
        <p:spPr>
          <a:xfrm>
            <a:off x="8321040" y="1481400"/>
            <a:ext cx="310860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4"/>
                </a:solidFill>
                <a:latin typeface="Calibri"/>
                <a:ea typeface="Calibri"/>
                <a:cs typeface="Calibri"/>
                <a:sym typeface="Calibri"/>
              </a:rPr>
              <a:t>Etiquetas</a:t>
            </a:r>
            <a:endParaRPr b="0" i="0" spc="0" sz="3400" u="none" cap="none" strike="noStrike">
              <a:solidFill>
                <a:srgbClr val="FFFFFF"/>
              </a:solidFill>
              <a:latin typeface="Arial"/>
              <a:ea typeface="Arial"/>
              <a:cs typeface="Arial"/>
              <a:sym typeface="Arial"/>
            </a:endParaRPr>
          </a:p>
        </p:txBody>
      </p:sp>
      <p:sp>
        <p:nvSpPr>
          <p:cNvPr id="521" name="Google Shape;521;p18"/>
          <p:cNvSpPr/>
          <p:nvPr/>
        </p:nvSpPr>
        <p:spPr>
          <a:xfrm>
            <a:off x="8321040" y="2084760"/>
            <a:ext cx="310860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lang="en-US" sz="1300">
                <a:solidFill>
                  <a:schemeClr val="lt2"/>
                </a:solidFill>
                <a:latin typeface="Calibri"/>
                <a:ea typeface="Calibri"/>
                <a:cs typeface="Calibri"/>
                <a:sym typeface="Calibri"/>
              </a:rPr>
              <a:t>app1-final (25/10) y entrega-ud1 (28/10)</a:t>
            </a:r>
            <a:endParaRPr b="0" i="0" spc="0" sz="1300" u="none" cap="none" strike="noStrike">
              <a:solidFill>
                <a:srgbClr val="FFFFFF"/>
              </a:solidFill>
              <a:latin typeface="Arial"/>
              <a:ea typeface="Arial"/>
              <a:cs typeface="Arial"/>
              <a:sym typeface="Arial"/>
            </a:endParaRPr>
          </a:p>
        </p:txBody>
      </p:sp>
      <p:cxnSp>
        <p:nvCxnSpPr>
          <p:cNvPr id="522" name="Google Shape;522;p18"/>
          <p:cNvCxnSpPr/>
          <p:nvPr/>
        </p:nvCxnSpPr>
        <p:spPr>
          <a:xfrm>
            <a:off x="640080" y="3063240"/>
            <a:ext cx="10927080" cy="360"/>
          </a:xfrm>
          <a:prstGeom prst="straightConnector1">
            <a:avLst/>
          </a:prstGeom>
          <a:noFill/>
          <a:ln cap="flat" cmpd="sng" w="15875">
            <a:solidFill>
              <a:srgbClr val="A9A9BF"/>
            </a:solidFill>
            <a:prstDash val="solid"/>
            <a:round/>
            <a:headEnd len="sm" w="sm" type="none"/>
            <a:tailEnd len="sm" w="sm" type="none"/>
          </a:ln>
        </p:spPr>
      </p:cxnSp>
      <p:sp>
        <p:nvSpPr>
          <p:cNvPr id="523" name="Google Shape;523;p18"/>
          <p:cNvSpPr/>
          <p:nvPr/>
        </p:nvSpPr>
        <p:spPr>
          <a:xfrm>
            <a:off x="1298520" y="2953440"/>
            <a:ext cx="219240" cy="219240"/>
          </a:xfrm>
          <a:prstGeom prst="ellipse">
            <a:avLst/>
          </a:prstGeom>
          <a:solidFill>
            <a:schemeClr val="lt1"/>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524" name="Google Shape;524;p18"/>
          <p:cNvSpPr/>
          <p:nvPr/>
        </p:nvSpPr>
        <p:spPr>
          <a:xfrm>
            <a:off x="64008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lt1"/>
                </a:solidFill>
                <a:latin typeface="Calibri"/>
                <a:ea typeface="Calibri"/>
                <a:cs typeface="Calibri"/>
                <a:sym typeface="Calibri"/>
              </a:rPr>
              <a:t>11/10</a:t>
            </a:r>
            <a:endParaRPr b="0" i="0" spc="0" sz="1100" u="none" cap="none" strike="noStrike">
              <a:solidFill>
                <a:srgbClr val="FFFFFF"/>
              </a:solidFill>
              <a:latin typeface="Arial"/>
              <a:ea typeface="Arial"/>
              <a:cs typeface="Arial"/>
              <a:sym typeface="Arial"/>
            </a:endParaRPr>
          </a:p>
        </p:txBody>
      </p:sp>
      <p:sp>
        <p:nvSpPr>
          <p:cNvPr id="525" name="Google Shape;525;p18"/>
          <p:cNvSpPr/>
          <p:nvPr/>
        </p:nvSpPr>
        <p:spPr>
          <a:xfrm>
            <a:off x="64008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26" name="Google Shape;526;p18"/>
          <p:cNvSpPr/>
          <p:nvPr/>
        </p:nvSpPr>
        <p:spPr>
          <a:xfrm>
            <a:off x="74988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H0 · Inicio</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Estructura, .gitignore, .env.example y frontend base</a:t>
            </a:r>
            <a:endParaRPr b="0" i="0" spc="0" sz="1200" u="none" cap="none" strike="noStrike">
              <a:solidFill>
                <a:srgbClr val="FFFFFF"/>
              </a:solidFill>
              <a:latin typeface="Arial"/>
              <a:ea typeface="Arial"/>
              <a:cs typeface="Arial"/>
              <a:sym typeface="Arial"/>
            </a:endParaRPr>
          </a:p>
        </p:txBody>
      </p:sp>
      <p:sp>
        <p:nvSpPr>
          <p:cNvPr id="527" name="Google Shape;527;p18"/>
          <p:cNvSpPr/>
          <p:nvPr/>
        </p:nvSpPr>
        <p:spPr>
          <a:xfrm>
            <a:off x="2862000" y="2953440"/>
            <a:ext cx="219240" cy="219240"/>
          </a:xfrm>
          <a:prstGeom prst="ellipse">
            <a:avLst/>
          </a:prstGeom>
          <a:solidFill>
            <a:schemeClr val="lt1"/>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528" name="Google Shape;528;p18"/>
          <p:cNvSpPr/>
          <p:nvPr/>
        </p:nvSpPr>
        <p:spPr>
          <a:xfrm>
            <a:off x="220356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lt1"/>
                </a:solidFill>
                <a:latin typeface="Calibri"/>
                <a:ea typeface="Calibri"/>
                <a:cs typeface="Calibri"/>
                <a:sym typeface="Calibri"/>
              </a:rPr>
              <a:t>12–13/10</a:t>
            </a:r>
            <a:endParaRPr b="0" i="0" spc="0" sz="1100" u="none" cap="none" strike="noStrike">
              <a:solidFill>
                <a:srgbClr val="FFFFFF"/>
              </a:solidFill>
              <a:latin typeface="Arial"/>
              <a:ea typeface="Arial"/>
              <a:cs typeface="Arial"/>
              <a:sym typeface="Arial"/>
            </a:endParaRPr>
          </a:p>
        </p:txBody>
      </p:sp>
      <p:sp>
        <p:nvSpPr>
          <p:cNvPr id="529" name="Google Shape;529;p18"/>
          <p:cNvSpPr/>
          <p:nvPr/>
        </p:nvSpPr>
        <p:spPr>
          <a:xfrm>
            <a:off x="220356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30" name="Google Shape;530;p18"/>
          <p:cNvSpPr/>
          <p:nvPr/>
        </p:nvSpPr>
        <p:spPr>
          <a:xfrm>
            <a:off x="231336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H1–H3 · Backend</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Endpoint con Pydantic, cliente de IA y 12 tests con mocks</a:t>
            </a:r>
            <a:endParaRPr b="0" i="0" spc="0" sz="1200" u="none" cap="none" strike="noStrike">
              <a:solidFill>
                <a:srgbClr val="FFFFFF"/>
              </a:solidFill>
              <a:latin typeface="Arial"/>
              <a:ea typeface="Arial"/>
              <a:cs typeface="Arial"/>
              <a:sym typeface="Arial"/>
            </a:endParaRPr>
          </a:p>
        </p:txBody>
      </p:sp>
      <p:sp>
        <p:nvSpPr>
          <p:cNvPr id="531" name="Google Shape;531;p18"/>
          <p:cNvSpPr/>
          <p:nvPr/>
        </p:nvSpPr>
        <p:spPr>
          <a:xfrm>
            <a:off x="4425840" y="2953440"/>
            <a:ext cx="219240" cy="219240"/>
          </a:xfrm>
          <a:prstGeom prst="ellipse">
            <a:avLst/>
          </a:prstGeom>
          <a:solidFill>
            <a:schemeClr val="accent1"/>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32" name="Google Shape;532;p18"/>
          <p:cNvSpPr/>
          <p:nvPr/>
        </p:nvSpPr>
        <p:spPr>
          <a:xfrm>
            <a:off x="376740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accent1"/>
                </a:solidFill>
                <a:latin typeface="Calibri"/>
                <a:ea typeface="Calibri"/>
                <a:cs typeface="Calibri"/>
                <a:sym typeface="Calibri"/>
              </a:rPr>
              <a:t>13–14/10</a:t>
            </a:r>
            <a:endParaRPr b="0" i="0" spc="0" sz="1100" u="none" cap="none" strike="noStrike">
              <a:solidFill>
                <a:srgbClr val="FFFFFF"/>
              </a:solidFill>
              <a:latin typeface="Arial"/>
              <a:ea typeface="Arial"/>
              <a:cs typeface="Arial"/>
              <a:sym typeface="Arial"/>
            </a:endParaRPr>
          </a:p>
        </p:txBody>
      </p:sp>
      <p:sp>
        <p:nvSpPr>
          <p:cNvPr id="533" name="Google Shape;533;p18"/>
          <p:cNvSpPr/>
          <p:nvPr/>
        </p:nvSpPr>
        <p:spPr>
          <a:xfrm>
            <a:off x="376740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34" name="Google Shape;534;p18"/>
          <p:cNvSpPr/>
          <p:nvPr/>
        </p:nvSpPr>
        <p:spPr>
          <a:xfrm>
            <a:off x="387720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1"/>
                </a:solidFill>
                <a:latin typeface="Calibri"/>
                <a:ea typeface="Calibri"/>
                <a:cs typeface="Calibri"/>
                <a:sym typeface="Calibri"/>
              </a:rPr>
              <a:t>H4–H6 · Frontend</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Géneros, resaltado de artistas y diseño</a:t>
            </a:r>
            <a:endParaRPr b="0" i="0" spc="0" sz="1200" u="none" cap="none" strike="noStrike">
              <a:solidFill>
                <a:srgbClr val="FFFFFF"/>
              </a:solidFill>
              <a:latin typeface="Arial"/>
              <a:ea typeface="Arial"/>
              <a:cs typeface="Arial"/>
              <a:sym typeface="Arial"/>
            </a:endParaRPr>
          </a:p>
        </p:txBody>
      </p:sp>
      <p:sp>
        <p:nvSpPr>
          <p:cNvPr id="535" name="Google Shape;535;p18"/>
          <p:cNvSpPr/>
          <p:nvPr/>
        </p:nvSpPr>
        <p:spPr>
          <a:xfrm>
            <a:off x="5989320" y="2953440"/>
            <a:ext cx="219240" cy="219240"/>
          </a:xfrm>
          <a:prstGeom prst="ellipse">
            <a:avLst/>
          </a:prstGeom>
          <a:solidFill>
            <a:schemeClr val="accent3"/>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536" name="Google Shape;536;p18"/>
          <p:cNvSpPr/>
          <p:nvPr/>
        </p:nvSpPr>
        <p:spPr>
          <a:xfrm>
            <a:off x="533088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accent3"/>
                </a:solidFill>
                <a:latin typeface="Calibri"/>
                <a:ea typeface="Calibri"/>
                <a:cs typeface="Calibri"/>
                <a:sym typeface="Calibri"/>
              </a:rPr>
              <a:t>15–19/10</a:t>
            </a:r>
            <a:endParaRPr b="0" i="0" spc="0" sz="1100" u="none" cap="none" strike="noStrike">
              <a:solidFill>
                <a:srgbClr val="FFFFFF"/>
              </a:solidFill>
              <a:latin typeface="Arial"/>
              <a:ea typeface="Arial"/>
              <a:cs typeface="Arial"/>
              <a:sym typeface="Arial"/>
            </a:endParaRPr>
          </a:p>
        </p:txBody>
      </p:sp>
      <p:sp>
        <p:nvSpPr>
          <p:cNvPr id="537" name="Google Shape;537;p18"/>
          <p:cNvSpPr/>
          <p:nvPr/>
        </p:nvSpPr>
        <p:spPr>
          <a:xfrm>
            <a:off x="533088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38" name="Google Shape;538;p18"/>
          <p:cNvSpPr/>
          <p:nvPr/>
        </p:nvSpPr>
        <p:spPr>
          <a:xfrm>
            <a:off x="544068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3"/>
                </a:solidFill>
                <a:latin typeface="Calibri"/>
                <a:ea typeface="Calibri"/>
                <a:cs typeface="Calibri"/>
                <a:sym typeface="Calibri"/>
              </a:rPr>
              <a:t>H7 · Vercel</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App 1 desplegada y cambio a Gemini</a:t>
            </a:r>
            <a:endParaRPr b="0" i="0" spc="0" sz="1200" u="none" cap="none" strike="noStrike">
              <a:solidFill>
                <a:srgbClr val="FFFFFF"/>
              </a:solidFill>
              <a:latin typeface="Arial"/>
              <a:ea typeface="Arial"/>
              <a:cs typeface="Arial"/>
              <a:sym typeface="Arial"/>
            </a:endParaRPr>
          </a:p>
        </p:txBody>
      </p:sp>
      <p:sp>
        <p:nvSpPr>
          <p:cNvPr id="539" name="Google Shape;539;p18"/>
          <p:cNvSpPr/>
          <p:nvPr/>
        </p:nvSpPr>
        <p:spPr>
          <a:xfrm>
            <a:off x="7552800" y="2953440"/>
            <a:ext cx="219240" cy="219240"/>
          </a:xfrm>
          <a:prstGeom prst="ellipse">
            <a:avLst/>
          </a:prstGeom>
          <a:solidFill>
            <a:schemeClr val="accent2"/>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40" name="Google Shape;540;p18"/>
          <p:cNvSpPr/>
          <p:nvPr/>
        </p:nvSpPr>
        <p:spPr>
          <a:xfrm>
            <a:off x="689472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accent2"/>
                </a:solidFill>
                <a:latin typeface="Calibri"/>
                <a:ea typeface="Calibri"/>
                <a:cs typeface="Calibri"/>
                <a:sym typeface="Calibri"/>
              </a:rPr>
              <a:t>25/10</a:t>
            </a:r>
            <a:endParaRPr b="0" i="0" spc="0" sz="1100" u="none" cap="none" strike="noStrike">
              <a:solidFill>
                <a:srgbClr val="FFFFFF"/>
              </a:solidFill>
              <a:latin typeface="Arial"/>
              <a:ea typeface="Arial"/>
              <a:cs typeface="Arial"/>
              <a:sym typeface="Arial"/>
            </a:endParaRPr>
          </a:p>
        </p:txBody>
      </p:sp>
      <p:sp>
        <p:nvSpPr>
          <p:cNvPr id="541" name="Google Shape;541;p18"/>
          <p:cNvSpPr/>
          <p:nvPr/>
        </p:nvSpPr>
        <p:spPr>
          <a:xfrm>
            <a:off x="689472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42" name="Google Shape;542;p18"/>
          <p:cNvSpPr/>
          <p:nvPr/>
        </p:nvSpPr>
        <p:spPr>
          <a:xfrm>
            <a:off x="700416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H8 · Spec Kit</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Constitución, spec, plan y tareas, antes del código</a:t>
            </a:r>
            <a:endParaRPr b="0" i="0" spc="0" sz="1200" u="none" cap="none" strike="noStrike">
              <a:solidFill>
                <a:srgbClr val="FFFFFF"/>
              </a:solidFill>
              <a:latin typeface="Arial"/>
              <a:ea typeface="Arial"/>
              <a:cs typeface="Arial"/>
              <a:sym typeface="Arial"/>
            </a:endParaRPr>
          </a:p>
        </p:txBody>
      </p:sp>
      <p:sp>
        <p:nvSpPr>
          <p:cNvPr id="543" name="Google Shape;543;p18"/>
          <p:cNvSpPr/>
          <p:nvPr/>
        </p:nvSpPr>
        <p:spPr>
          <a:xfrm>
            <a:off x="9116640" y="2953440"/>
            <a:ext cx="219240" cy="219240"/>
          </a:xfrm>
          <a:prstGeom prst="ellipse">
            <a:avLst/>
          </a:prstGeom>
          <a:solidFill>
            <a:schemeClr val="accent2"/>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44" name="Google Shape;544;p18"/>
          <p:cNvSpPr/>
          <p:nvPr/>
        </p:nvSpPr>
        <p:spPr>
          <a:xfrm>
            <a:off x="845820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i="0" lang="en-US" spc="0" sz="1100" u="none" cap="none" strike="noStrike">
                <a:solidFill>
                  <a:schemeClr val="accent2"/>
                </a:solidFill>
                <a:latin typeface="Calibri"/>
                <a:ea typeface="Calibri"/>
                <a:cs typeface="Calibri"/>
                <a:sym typeface="Calibri"/>
              </a:rPr>
              <a:t>27–28/10</a:t>
            </a:r>
            <a:endParaRPr b="0" i="0" spc="0" sz="1100" u="none" cap="none" strike="noStrike">
              <a:solidFill>
                <a:srgbClr val="FFFFFF"/>
              </a:solidFill>
              <a:latin typeface="Arial"/>
              <a:ea typeface="Arial"/>
              <a:cs typeface="Arial"/>
              <a:sym typeface="Arial"/>
            </a:endParaRPr>
          </a:p>
        </p:txBody>
      </p:sp>
      <p:sp>
        <p:nvSpPr>
          <p:cNvPr id="545" name="Google Shape;545;p18"/>
          <p:cNvSpPr/>
          <p:nvPr/>
        </p:nvSpPr>
        <p:spPr>
          <a:xfrm>
            <a:off x="845820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46" name="Google Shape;546;p18"/>
          <p:cNvSpPr/>
          <p:nvPr/>
        </p:nvSpPr>
        <p:spPr>
          <a:xfrm>
            <a:off x="856800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H9–H10 · App 2</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Implementación por fases, Clerk y Vercel</a:t>
            </a:r>
            <a:endParaRPr b="0" i="0" spc="0" sz="1200" u="none" cap="none" strike="noStrike">
              <a:solidFill>
                <a:srgbClr val="FFFFFF"/>
              </a:solidFill>
              <a:latin typeface="Arial"/>
              <a:ea typeface="Arial"/>
              <a:cs typeface="Arial"/>
              <a:sym typeface="Arial"/>
            </a:endParaRPr>
          </a:p>
        </p:txBody>
      </p:sp>
      <p:sp>
        <p:nvSpPr>
          <p:cNvPr id="547" name="Google Shape;547;p18"/>
          <p:cNvSpPr/>
          <p:nvPr/>
        </p:nvSpPr>
        <p:spPr>
          <a:xfrm>
            <a:off x="10680120" y="2953440"/>
            <a:ext cx="219240" cy="219240"/>
          </a:xfrm>
          <a:prstGeom prst="ellipse">
            <a:avLst/>
          </a:prstGeom>
          <a:solidFill>
            <a:schemeClr val="accent4"/>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548" name="Google Shape;548;p18"/>
          <p:cNvSpPr/>
          <p:nvPr/>
        </p:nvSpPr>
        <p:spPr>
          <a:xfrm>
            <a:off x="1002168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1" lang="en-US" sz="1100">
                <a:solidFill>
                  <a:schemeClr val="accent4"/>
                </a:solidFill>
                <a:latin typeface="Calibri"/>
                <a:ea typeface="Calibri"/>
                <a:cs typeface="Calibri"/>
                <a:sym typeface="Calibri"/>
              </a:rPr>
              <a:t>28/10</a:t>
            </a:r>
            <a:endParaRPr b="0" i="0" spc="0" sz="1100" u="none" cap="none" strike="noStrike">
              <a:solidFill>
                <a:srgbClr val="FFFFFF"/>
              </a:solidFill>
              <a:latin typeface="Arial"/>
              <a:ea typeface="Arial"/>
              <a:cs typeface="Arial"/>
              <a:sym typeface="Arial"/>
            </a:endParaRPr>
          </a:p>
        </p:txBody>
      </p:sp>
      <p:sp>
        <p:nvSpPr>
          <p:cNvPr id="549" name="Google Shape;549;p18"/>
          <p:cNvSpPr/>
          <p:nvPr/>
        </p:nvSpPr>
        <p:spPr>
          <a:xfrm>
            <a:off x="10021680" y="3383280"/>
            <a:ext cx="1481040" cy="2102760"/>
          </a:xfrm>
          <a:prstGeom prst="roundRect">
            <a:avLst>
              <a:gd fmla="val 7407" name="adj"/>
            </a:avLst>
          </a:prstGeom>
          <a:solidFill>
            <a:schemeClr val="dk2"/>
          </a:solidFill>
          <a:ln cap="flat" cmpd="sng" w="9525">
            <a:solidFill>
              <a:srgbClr val="343441"/>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50" name="Google Shape;550;p18"/>
          <p:cNvSpPr/>
          <p:nvPr/>
        </p:nvSpPr>
        <p:spPr>
          <a:xfrm>
            <a:off x="1013148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lang="en-US" sz="1300">
                <a:solidFill>
                  <a:schemeClr val="accent4"/>
                </a:solidFill>
                <a:latin typeface="Calibri"/>
                <a:ea typeface="Calibri"/>
                <a:cs typeface="Calibri"/>
                <a:sym typeface="Calibri"/>
              </a:rPr>
              <a:t>H11–H12 · Docker y EC2</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D</a:t>
            </a:r>
            <a:r>
              <a:rPr lang="en-US" sz="1200">
                <a:solidFill>
                  <a:schemeClr val="lt2"/>
                </a:solidFill>
                <a:latin typeface="Calibri"/>
                <a:ea typeface="Calibri"/>
                <a:cs typeface="Calibri"/>
                <a:sym typeface="Calibri"/>
              </a:rPr>
              <a:t>ocker Compose, AWS EC2 con Caddy (HTTPS) y cierre ERS v1.0</a:t>
            </a:r>
            <a:endParaRPr b="0" i="0" spc="0" sz="1200" u="none" cap="none" strike="noStrike">
              <a:solidFill>
                <a:srgbClr val="FFFFFF"/>
              </a:solidFill>
              <a:latin typeface="Arial"/>
              <a:ea typeface="Arial"/>
              <a:cs typeface="Arial"/>
              <a:sym typeface="Arial"/>
            </a:endParaRPr>
          </a:p>
        </p:txBody>
      </p:sp>
      <p:sp>
        <p:nvSpPr>
          <p:cNvPr id="551" name="Google Shape;551;p18"/>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5" name="Shape 555"/>
        <p:cNvGrpSpPr/>
        <p:nvPr/>
      </p:nvGrpSpPr>
      <p:grpSpPr>
        <a:xfrm>
          <a:off x="0" y="0"/>
          <a:ext cx="0" cy="0"/>
          <a:chOff x="0" y="0"/>
          <a:chExt cx="0" cy="0"/>
        </a:xfrm>
      </p:grpSpPr>
      <p:sp>
        <p:nvSpPr>
          <p:cNvPr id="556" name="Google Shape;556;p19"/>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App 2 · Desarrollo con Spec Kit</a:t>
            </a:r>
            <a:endParaRPr b="0" sz="3400" u="none" strike="noStrike">
              <a:solidFill>
                <a:schemeClr val="dk1"/>
              </a:solidFill>
              <a:latin typeface="Calibri"/>
              <a:ea typeface="Calibri"/>
              <a:cs typeface="Calibri"/>
              <a:sym typeface="Calibri"/>
            </a:endParaRPr>
          </a:p>
        </p:txBody>
      </p:sp>
      <p:sp>
        <p:nvSpPr>
          <p:cNvPr id="557" name="Google Shape;557;p19"/>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SPEC KIT 1.2.4 + CLAUDE CODE</a:t>
            </a:r>
            <a:endParaRPr b="0" i="0" sz="1200" u="none" cap="none" strike="noStrike">
              <a:solidFill>
                <a:schemeClr val="dk1"/>
              </a:solidFill>
              <a:latin typeface="Calibri"/>
              <a:ea typeface="Calibri"/>
              <a:cs typeface="Calibri"/>
              <a:sym typeface="Calibri"/>
            </a:endParaRPr>
          </a:p>
        </p:txBody>
      </p:sp>
      <p:sp>
        <p:nvSpPr>
          <p:cNvPr id="558" name="Google Shape;558;p19"/>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59" name="Google Shape;559;p19"/>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Jose Antonio Nieto</a:t>
            </a:r>
            <a:endParaRPr b="0" i="0" spc="0" sz="1100" u="none" cap="none" strike="noStrike">
              <a:solidFill>
                <a:srgbClr val="FFFFFF"/>
              </a:solidFill>
              <a:latin typeface="Arial"/>
              <a:ea typeface="Arial"/>
              <a:cs typeface="Arial"/>
              <a:sym typeface="Arial"/>
            </a:endParaRPr>
          </a:p>
        </p:txBody>
      </p:sp>
      <p:sp>
        <p:nvSpPr>
          <p:cNvPr id="560" name="Google Shape;560;p19"/>
          <p:cNvSpPr/>
          <p:nvPr/>
        </p:nvSpPr>
        <p:spPr>
          <a:xfrm>
            <a:off x="54864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61" name="Google Shape;561;p19"/>
          <p:cNvSpPr/>
          <p:nvPr/>
        </p:nvSpPr>
        <p:spPr>
          <a:xfrm>
            <a:off x="68580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onsolas"/>
                <a:ea typeface="Consolas"/>
                <a:cs typeface="Consolas"/>
                <a:sym typeface="Consolas"/>
              </a:rPr>
              <a:t>/speckit-</a:t>
            </a:r>
            <a:endParaRPr b="0" i="0" spc="0" sz="1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onsolas"/>
                <a:ea typeface="Consolas"/>
                <a:cs typeface="Consolas"/>
                <a:sym typeface="Consolas"/>
              </a:rPr>
              <a:t>constitution</a:t>
            </a:r>
            <a:endParaRPr b="0" i="0" spc="0" sz="1200" u="none" cap="none" strike="noStrike">
              <a:solidFill>
                <a:srgbClr val="FFFFFF"/>
              </a:solidFill>
              <a:latin typeface="Arial"/>
              <a:ea typeface="Arial"/>
              <a:cs typeface="Arial"/>
              <a:sym typeface="Arial"/>
            </a:endParaRPr>
          </a:p>
        </p:txBody>
      </p:sp>
      <p:sp>
        <p:nvSpPr>
          <p:cNvPr id="562" name="Google Shape;562;p19"/>
          <p:cNvSpPr/>
          <p:nvPr/>
        </p:nvSpPr>
        <p:spPr>
          <a:xfrm>
            <a:off x="68580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1"/>
                </a:solidFill>
                <a:latin typeface="Calibri"/>
                <a:ea typeface="Calibri"/>
                <a:cs typeface="Calibri"/>
                <a:sym typeface="Calibri"/>
              </a:rPr>
              <a:t>6 principios no negociables</a:t>
            </a:r>
            <a:endParaRPr b="0" i="0" spc="0" sz="1300" u="none" cap="none" strike="noStrike">
              <a:solidFill>
                <a:srgbClr val="FFFFFF"/>
              </a:solidFill>
              <a:latin typeface="Arial"/>
              <a:ea typeface="Arial"/>
              <a:cs typeface="Arial"/>
              <a:sym typeface="Arial"/>
            </a:endParaRPr>
          </a:p>
        </p:txBody>
      </p:sp>
      <p:sp>
        <p:nvSpPr>
          <p:cNvPr id="563" name="Google Shape;563;p19"/>
          <p:cNvSpPr/>
          <p:nvPr/>
        </p:nvSpPr>
        <p:spPr>
          <a:xfrm>
            <a:off x="68580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5 min</a:t>
            </a:r>
            <a:endParaRPr b="0" i="0" spc="0" sz="1200" u="none" cap="none" strike="noStrike">
              <a:solidFill>
                <a:srgbClr val="FFFFFF"/>
              </a:solidFill>
              <a:latin typeface="Arial"/>
              <a:ea typeface="Arial"/>
              <a:cs typeface="Arial"/>
              <a:sym typeface="Arial"/>
            </a:endParaRPr>
          </a:p>
        </p:txBody>
      </p:sp>
      <p:cxnSp>
        <p:nvCxnSpPr>
          <p:cNvPr id="564" name="Google Shape;564;p19"/>
          <p:cNvCxnSpPr/>
          <p:nvPr/>
        </p:nvCxnSpPr>
        <p:spPr>
          <a:xfrm>
            <a:off x="2267640" y="2486880"/>
            <a:ext cx="146160" cy="360"/>
          </a:xfrm>
          <a:prstGeom prst="straightConnector1">
            <a:avLst/>
          </a:prstGeom>
          <a:noFill/>
          <a:ln cap="flat" cmpd="sng" w="15875">
            <a:solidFill>
              <a:srgbClr val="A9A9BF"/>
            </a:solidFill>
            <a:prstDash val="solid"/>
            <a:round/>
            <a:headEnd len="sm" w="sm" type="none"/>
            <a:tailEnd len="med" w="med" type="triangle"/>
          </a:ln>
        </p:spPr>
      </p:cxnSp>
      <p:sp>
        <p:nvSpPr>
          <p:cNvPr id="565" name="Google Shape;565;p19"/>
          <p:cNvSpPr/>
          <p:nvPr/>
        </p:nvSpPr>
        <p:spPr>
          <a:xfrm>
            <a:off x="241416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66" name="Google Shape;566;p19"/>
          <p:cNvSpPr/>
          <p:nvPr/>
        </p:nvSpPr>
        <p:spPr>
          <a:xfrm>
            <a:off x="255132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onsolas"/>
                <a:ea typeface="Consolas"/>
                <a:cs typeface="Consolas"/>
                <a:sym typeface="Consolas"/>
              </a:rPr>
              <a:t>/speckit-</a:t>
            </a:r>
            <a:endParaRPr b="0" i="0" spc="0" sz="1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onsolas"/>
                <a:ea typeface="Consolas"/>
                <a:cs typeface="Consolas"/>
                <a:sym typeface="Consolas"/>
              </a:rPr>
              <a:t>specify</a:t>
            </a:r>
            <a:endParaRPr b="0" i="0" spc="0" sz="1200" u="none" cap="none" strike="noStrike">
              <a:solidFill>
                <a:srgbClr val="FFFFFF"/>
              </a:solidFill>
              <a:latin typeface="Arial"/>
              <a:ea typeface="Arial"/>
              <a:cs typeface="Arial"/>
              <a:sym typeface="Arial"/>
            </a:endParaRPr>
          </a:p>
        </p:txBody>
      </p:sp>
      <p:sp>
        <p:nvSpPr>
          <p:cNvPr id="567" name="Google Shape;567;p19"/>
          <p:cNvSpPr/>
          <p:nvPr/>
        </p:nvSpPr>
        <p:spPr>
          <a:xfrm>
            <a:off x="255132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1"/>
                </a:solidFill>
                <a:latin typeface="Calibri"/>
                <a:ea typeface="Calibri"/>
                <a:cs typeface="Calibri"/>
                <a:sym typeface="Calibri"/>
              </a:rPr>
              <a:t>4 historias y 29 requisitos trazados a la ERS</a:t>
            </a:r>
            <a:endParaRPr b="0" i="0" spc="0" sz="1300" u="none" cap="none" strike="noStrike">
              <a:solidFill>
                <a:srgbClr val="FFFFFF"/>
              </a:solidFill>
              <a:latin typeface="Arial"/>
              <a:ea typeface="Arial"/>
              <a:cs typeface="Arial"/>
              <a:sym typeface="Arial"/>
            </a:endParaRPr>
          </a:p>
        </p:txBody>
      </p:sp>
      <p:sp>
        <p:nvSpPr>
          <p:cNvPr id="568" name="Google Shape;568;p19"/>
          <p:cNvSpPr/>
          <p:nvPr/>
        </p:nvSpPr>
        <p:spPr>
          <a:xfrm>
            <a:off x="255132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IA 1 min 22 s</a:t>
            </a:r>
            <a:endParaRPr b="0" i="0" spc="0" sz="1200" u="none" cap="none" strike="noStrike">
              <a:solidFill>
                <a:srgbClr val="FFFFFF"/>
              </a:solidFill>
              <a:latin typeface="Arial"/>
              <a:ea typeface="Arial"/>
              <a:cs typeface="Arial"/>
              <a:sym typeface="Arial"/>
            </a:endParaRPr>
          </a:p>
        </p:txBody>
      </p:sp>
      <p:cxnSp>
        <p:nvCxnSpPr>
          <p:cNvPr id="569" name="Google Shape;569;p19"/>
          <p:cNvCxnSpPr/>
          <p:nvPr/>
        </p:nvCxnSpPr>
        <p:spPr>
          <a:xfrm>
            <a:off x="4132800" y="2486880"/>
            <a:ext cx="146520" cy="360"/>
          </a:xfrm>
          <a:prstGeom prst="straightConnector1">
            <a:avLst/>
          </a:prstGeom>
          <a:noFill/>
          <a:ln cap="flat" cmpd="sng" w="15875">
            <a:solidFill>
              <a:srgbClr val="A9A9BF"/>
            </a:solidFill>
            <a:prstDash val="solid"/>
            <a:round/>
            <a:headEnd len="sm" w="sm" type="none"/>
            <a:tailEnd len="med" w="med" type="triangle"/>
          </a:ln>
        </p:spPr>
      </p:cxnSp>
      <p:sp>
        <p:nvSpPr>
          <p:cNvPr id="570" name="Google Shape;570;p19"/>
          <p:cNvSpPr/>
          <p:nvPr/>
        </p:nvSpPr>
        <p:spPr>
          <a:xfrm>
            <a:off x="427932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71" name="Google Shape;571;p19"/>
          <p:cNvSpPr/>
          <p:nvPr/>
        </p:nvSpPr>
        <p:spPr>
          <a:xfrm>
            <a:off x="441648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onsolas"/>
                <a:ea typeface="Consolas"/>
                <a:cs typeface="Consolas"/>
                <a:sym typeface="Consolas"/>
              </a:rPr>
              <a:t>/speckit-</a:t>
            </a:r>
            <a:endParaRPr b="0" i="0" spc="0" sz="1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onsolas"/>
                <a:ea typeface="Consolas"/>
                <a:cs typeface="Consolas"/>
                <a:sym typeface="Consolas"/>
              </a:rPr>
              <a:t>plan</a:t>
            </a:r>
            <a:endParaRPr b="0" i="0" spc="0" sz="1200" u="none" cap="none" strike="noStrike">
              <a:solidFill>
                <a:srgbClr val="FFFFFF"/>
              </a:solidFill>
              <a:latin typeface="Arial"/>
              <a:ea typeface="Arial"/>
              <a:cs typeface="Arial"/>
              <a:sym typeface="Arial"/>
            </a:endParaRPr>
          </a:p>
        </p:txBody>
      </p:sp>
      <p:sp>
        <p:nvSpPr>
          <p:cNvPr id="572" name="Google Shape;572;p19"/>
          <p:cNvSpPr/>
          <p:nvPr/>
        </p:nvSpPr>
        <p:spPr>
          <a:xfrm>
            <a:off x="441648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1"/>
                </a:solidFill>
                <a:latin typeface="Calibri"/>
                <a:ea typeface="Calibri"/>
                <a:cs typeface="Calibri"/>
                <a:sym typeface="Calibri"/>
              </a:rPr>
              <a:t>Contratos, modelo de datos y quickstart</a:t>
            </a:r>
            <a:endParaRPr b="0" i="0" spc="0" sz="1300" u="none" cap="none" strike="noStrike">
              <a:solidFill>
                <a:srgbClr val="FFFFFF"/>
              </a:solidFill>
              <a:latin typeface="Arial"/>
              <a:ea typeface="Arial"/>
              <a:cs typeface="Arial"/>
              <a:sym typeface="Arial"/>
            </a:endParaRPr>
          </a:p>
        </p:txBody>
      </p:sp>
      <p:sp>
        <p:nvSpPr>
          <p:cNvPr id="573" name="Google Shape;573;p19"/>
          <p:cNvSpPr/>
          <p:nvPr/>
        </p:nvSpPr>
        <p:spPr>
          <a:xfrm>
            <a:off x="441648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IA 1 min 58 s</a:t>
            </a:r>
            <a:endParaRPr b="0" i="0" spc="0" sz="1200" u="none" cap="none" strike="noStrike">
              <a:solidFill>
                <a:srgbClr val="FFFFFF"/>
              </a:solidFill>
              <a:latin typeface="Arial"/>
              <a:ea typeface="Arial"/>
              <a:cs typeface="Arial"/>
              <a:sym typeface="Arial"/>
            </a:endParaRPr>
          </a:p>
        </p:txBody>
      </p:sp>
      <p:cxnSp>
        <p:nvCxnSpPr>
          <p:cNvPr id="574" name="Google Shape;574;p19"/>
          <p:cNvCxnSpPr/>
          <p:nvPr/>
        </p:nvCxnSpPr>
        <p:spPr>
          <a:xfrm>
            <a:off x="5998320" y="2486880"/>
            <a:ext cx="146160" cy="360"/>
          </a:xfrm>
          <a:prstGeom prst="straightConnector1">
            <a:avLst/>
          </a:prstGeom>
          <a:noFill/>
          <a:ln cap="flat" cmpd="sng" w="15875">
            <a:solidFill>
              <a:srgbClr val="A9A9BF"/>
            </a:solidFill>
            <a:prstDash val="solid"/>
            <a:round/>
            <a:headEnd len="sm" w="sm" type="none"/>
            <a:tailEnd len="med" w="med" type="triangle"/>
          </a:ln>
        </p:spPr>
      </p:cxnSp>
      <p:sp>
        <p:nvSpPr>
          <p:cNvPr id="575" name="Google Shape;575;p19"/>
          <p:cNvSpPr/>
          <p:nvPr/>
        </p:nvSpPr>
        <p:spPr>
          <a:xfrm>
            <a:off x="614484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76" name="Google Shape;576;p19"/>
          <p:cNvSpPr/>
          <p:nvPr/>
        </p:nvSpPr>
        <p:spPr>
          <a:xfrm>
            <a:off x="628200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onsolas"/>
                <a:ea typeface="Consolas"/>
                <a:cs typeface="Consolas"/>
                <a:sym typeface="Consolas"/>
              </a:rPr>
              <a:t>/speckit-</a:t>
            </a:r>
            <a:endParaRPr b="0" i="0" spc="0" sz="1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onsolas"/>
                <a:ea typeface="Consolas"/>
                <a:cs typeface="Consolas"/>
                <a:sym typeface="Consolas"/>
              </a:rPr>
              <a:t>tasks</a:t>
            </a:r>
            <a:endParaRPr b="0" i="0" spc="0" sz="1200" u="none" cap="none" strike="noStrike">
              <a:solidFill>
                <a:srgbClr val="FFFFFF"/>
              </a:solidFill>
              <a:latin typeface="Arial"/>
              <a:ea typeface="Arial"/>
              <a:cs typeface="Arial"/>
              <a:sym typeface="Arial"/>
            </a:endParaRPr>
          </a:p>
        </p:txBody>
      </p:sp>
      <p:sp>
        <p:nvSpPr>
          <p:cNvPr id="577" name="Google Shape;577;p19"/>
          <p:cNvSpPr/>
          <p:nvPr/>
        </p:nvSpPr>
        <p:spPr>
          <a:xfrm>
            <a:off x="628200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1"/>
                </a:solidFill>
                <a:latin typeface="Calibri"/>
                <a:ea typeface="Calibri"/>
                <a:cs typeface="Calibri"/>
                <a:sym typeface="Calibri"/>
              </a:rPr>
              <a:t>41 tareas en 7 fases</a:t>
            </a:r>
            <a:endParaRPr b="0" i="0" spc="0" sz="1300" u="none" cap="none" strike="noStrike">
              <a:solidFill>
                <a:srgbClr val="FFFFFF"/>
              </a:solidFill>
              <a:latin typeface="Arial"/>
              <a:ea typeface="Arial"/>
              <a:cs typeface="Arial"/>
              <a:sym typeface="Arial"/>
            </a:endParaRPr>
          </a:p>
        </p:txBody>
      </p:sp>
      <p:sp>
        <p:nvSpPr>
          <p:cNvPr id="578" name="Google Shape;578;p19"/>
          <p:cNvSpPr/>
          <p:nvPr/>
        </p:nvSpPr>
        <p:spPr>
          <a:xfrm>
            <a:off x="628200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IA 2 min 29 s</a:t>
            </a:r>
            <a:endParaRPr b="0" i="0" spc="0" sz="1200" u="none" cap="none" strike="noStrike">
              <a:solidFill>
                <a:srgbClr val="FFFFFF"/>
              </a:solidFill>
              <a:latin typeface="Arial"/>
              <a:ea typeface="Arial"/>
              <a:cs typeface="Arial"/>
              <a:sym typeface="Arial"/>
            </a:endParaRPr>
          </a:p>
        </p:txBody>
      </p:sp>
      <p:cxnSp>
        <p:nvCxnSpPr>
          <p:cNvPr id="579" name="Google Shape;579;p19"/>
          <p:cNvCxnSpPr/>
          <p:nvPr/>
        </p:nvCxnSpPr>
        <p:spPr>
          <a:xfrm>
            <a:off x="7863840" y="2486880"/>
            <a:ext cx="146160" cy="360"/>
          </a:xfrm>
          <a:prstGeom prst="straightConnector1">
            <a:avLst/>
          </a:prstGeom>
          <a:noFill/>
          <a:ln cap="flat" cmpd="sng" w="15875">
            <a:solidFill>
              <a:srgbClr val="A9A9BF"/>
            </a:solidFill>
            <a:prstDash val="solid"/>
            <a:round/>
            <a:headEnd len="sm" w="sm" type="none"/>
            <a:tailEnd len="med" w="med" type="triangle"/>
          </a:ln>
        </p:spPr>
      </p:cxnSp>
      <p:sp>
        <p:nvSpPr>
          <p:cNvPr id="580" name="Google Shape;580;p19"/>
          <p:cNvSpPr/>
          <p:nvPr/>
        </p:nvSpPr>
        <p:spPr>
          <a:xfrm>
            <a:off x="8010000" y="1371600"/>
            <a:ext cx="1718640" cy="2239920"/>
          </a:xfrm>
          <a:prstGeom prst="roundRect">
            <a:avLst>
              <a:gd fmla="val 6383" name="adj"/>
            </a:avLst>
          </a:prstGeom>
          <a:solidFill>
            <a:schemeClr val="dk2"/>
          </a:solidFill>
          <a:ln cap="flat" cmpd="sng" w="9525">
            <a:solidFill>
              <a:schemeClr val="accent6">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81" name="Google Shape;581;p19"/>
          <p:cNvSpPr/>
          <p:nvPr/>
        </p:nvSpPr>
        <p:spPr>
          <a:xfrm>
            <a:off x="814716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onsolas"/>
                <a:ea typeface="Consolas"/>
                <a:cs typeface="Consolas"/>
                <a:sym typeface="Consolas"/>
              </a:rPr>
              <a:t> </a:t>
            </a:r>
            <a:endParaRPr b="0" i="0" spc="0" sz="1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6"/>
                </a:solidFill>
                <a:latin typeface="Consolas"/>
                <a:ea typeface="Consolas"/>
                <a:cs typeface="Consolas"/>
                <a:sym typeface="Consolas"/>
              </a:rPr>
              <a:t>git commit</a:t>
            </a:r>
            <a:endParaRPr b="0" i="0" spc="0" sz="1200" u="none" cap="none" strike="noStrike">
              <a:solidFill>
                <a:srgbClr val="FFFFFF"/>
              </a:solidFill>
              <a:latin typeface="Arial"/>
              <a:ea typeface="Arial"/>
              <a:cs typeface="Arial"/>
              <a:sym typeface="Arial"/>
            </a:endParaRPr>
          </a:p>
        </p:txBody>
      </p:sp>
      <p:sp>
        <p:nvSpPr>
          <p:cNvPr id="582" name="Google Shape;582;p19"/>
          <p:cNvSpPr/>
          <p:nvPr/>
        </p:nvSpPr>
        <p:spPr>
          <a:xfrm>
            <a:off x="814716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1"/>
                </a:solidFill>
                <a:latin typeface="Calibri"/>
                <a:ea typeface="Calibri"/>
                <a:cs typeface="Calibri"/>
                <a:sym typeface="Calibri"/>
              </a:rPr>
              <a:t>Spec, plan y tareas en Git el 25/10</a:t>
            </a:r>
            <a:endParaRPr b="0" i="0" spc="0" sz="1300" u="none" cap="none" strike="noStrike">
              <a:solidFill>
                <a:srgbClr val="FFFFFF"/>
              </a:solidFill>
              <a:latin typeface="Arial"/>
              <a:ea typeface="Arial"/>
              <a:cs typeface="Arial"/>
              <a:sym typeface="Arial"/>
            </a:endParaRPr>
          </a:p>
        </p:txBody>
      </p:sp>
      <p:sp>
        <p:nvSpPr>
          <p:cNvPr id="583" name="Google Shape;583;p19"/>
          <p:cNvSpPr/>
          <p:nvPr/>
        </p:nvSpPr>
        <p:spPr>
          <a:xfrm>
            <a:off x="814716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6"/>
                </a:solidFill>
                <a:latin typeface="Calibri"/>
                <a:ea typeface="Calibri"/>
                <a:cs typeface="Calibri"/>
                <a:sym typeface="Calibri"/>
              </a:rPr>
              <a:t>antes del código</a:t>
            </a:r>
            <a:endParaRPr b="0" i="0" spc="0" sz="1200" u="none" cap="none" strike="noStrike">
              <a:solidFill>
                <a:srgbClr val="FFFFFF"/>
              </a:solidFill>
              <a:latin typeface="Arial"/>
              <a:ea typeface="Arial"/>
              <a:cs typeface="Arial"/>
              <a:sym typeface="Arial"/>
            </a:endParaRPr>
          </a:p>
        </p:txBody>
      </p:sp>
      <p:cxnSp>
        <p:nvCxnSpPr>
          <p:cNvPr id="584" name="Google Shape;584;p19"/>
          <p:cNvCxnSpPr/>
          <p:nvPr/>
        </p:nvCxnSpPr>
        <p:spPr>
          <a:xfrm>
            <a:off x="9729000" y="2486880"/>
            <a:ext cx="146520" cy="360"/>
          </a:xfrm>
          <a:prstGeom prst="straightConnector1">
            <a:avLst/>
          </a:prstGeom>
          <a:noFill/>
          <a:ln cap="flat" cmpd="sng" w="15875">
            <a:solidFill>
              <a:srgbClr val="A9A9BF"/>
            </a:solidFill>
            <a:prstDash val="solid"/>
            <a:round/>
            <a:headEnd len="sm" w="sm" type="none"/>
            <a:tailEnd len="med" w="med" type="triangle"/>
          </a:ln>
        </p:spPr>
      </p:cxnSp>
      <p:sp>
        <p:nvSpPr>
          <p:cNvPr id="585" name="Google Shape;585;p19"/>
          <p:cNvSpPr/>
          <p:nvPr/>
        </p:nvSpPr>
        <p:spPr>
          <a:xfrm>
            <a:off x="987552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86" name="Google Shape;586;p19"/>
          <p:cNvSpPr/>
          <p:nvPr/>
        </p:nvSpPr>
        <p:spPr>
          <a:xfrm>
            <a:off x="1001268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onsolas"/>
                <a:ea typeface="Consolas"/>
                <a:cs typeface="Consolas"/>
                <a:sym typeface="Consolas"/>
              </a:rPr>
              <a:t>/speckit-</a:t>
            </a:r>
            <a:endParaRPr b="0" i="0" spc="0" sz="10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onsolas"/>
                <a:ea typeface="Consolas"/>
                <a:cs typeface="Consolas"/>
                <a:sym typeface="Consolas"/>
              </a:rPr>
              <a:t>implement</a:t>
            </a:r>
            <a:endParaRPr b="0" i="0" spc="0" sz="1200" u="none" cap="none" strike="noStrike">
              <a:solidFill>
                <a:srgbClr val="FFFFFF"/>
              </a:solidFill>
              <a:latin typeface="Arial"/>
              <a:ea typeface="Arial"/>
              <a:cs typeface="Arial"/>
              <a:sym typeface="Arial"/>
            </a:endParaRPr>
          </a:p>
        </p:txBody>
      </p:sp>
      <p:sp>
        <p:nvSpPr>
          <p:cNvPr id="587" name="Google Shape;587;p19"/>
          <p:cNvSpPr/>
          <p:nvPr/>
        </p:nvSpPr>
        <p:spPr>
          <a:xfrm>
            <a:off x="1001268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1"/>
                </a:solidFill>
                <a:latin typeface="Calibri"/>
                <a:ea typeface="Calibri"/>
                <a:cs typeface="Calibri"/>
                <a:sym typeface="Calibri"/>
              </a:rPr>
              <a:t>7 fases, revisadas y probadas una a una</a:t>
            </a:r>
            <a:endParaRPr b="0" i="0" spc="0" sz="1300" u="none" cap="none" strike="noStrike">
              <a:solidFill>
                <a:srgbClr val="FFFFFF"/>
              </a:solidFill>
              <a:latin typeface="Arial"/>
              <a:ea typeface="Arial"/>
              <a:cs typeface="Arial"/>
              <a:sym typeface="Arial"/>
            </a:endParaRPr>
          </a:p>
        </p:txBody>
      </p:sp>
      <p:sp>
        <p:nvSpPr>
          <p:cNvPr id="588" name="Google Shape;588;p19"/>
          <p:cNvSpPr/>
          <p:nvPr/>
        </p:nvSpPr>
        <p:spPr>
          <a:xfrm>
            <a:off x="1001268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2"/>
                </a:solidFill>
                <a:latin typeface="Calibri"/>
                <a:ea typeface="Calibri"/>
                <a:cs typeface="Calibri"/>
                <a:sym typeface="Calibri"/>
              </a:rPr>
              <a:t>IA ≈ 11 min</a:t>
            </a:r>
            <a:endParaRPr b="0" i="0" spc="0" sz="1200" u="none" cap="none" strike="noStrike">
              <a:solidFill>
                <a:srgbClr val="FFFFFF"/>
              </a:solidFill>
              <a:latin typeface="Arial"/>
              <a:ea typeface="Arial"/>
              <a:cs typeface="Arial"/>
              <a:sym typeface="Arial"/>
            </a:endParaRPr>
          </a:p>
        </p:txBody>
      </p:sp>
      <p:sp>
        <p:nvSpPr>
          <p:cNvPr id="589" name="Google Shape;589;p19"/>
          <p:cNvSpPr/>
          <p:nvPr/>
        </p:nvSpPr>
        <p:spPr>
          <a:xfrm>
            <a:off x="548640" y="384048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90" name="Google Shape;590;p19"/>
          <p:cNvSpPr/>
          <p:nvPr/>
        </p:nvSpPr>
        <p:spPr>
          <a:xfrm>
            <a:off x="777240" y="395028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2"/>
                </a:solidFill>
                <a:latin typeface="Calibri"/>
                <a:ea typeface="Calibri"/>
                <a:cs typeface="Calibri"/>
                <a:sym typeface="Calibri"/>
              </a:rPr>
              <a:t>≈ 11 min</a:t>
            </a:r>
            <a:endParaRPr b="0" i="0" spc="0" sz="3400" u="none" cap="none" strike="noStrike">
              <a:solidFill>
                <a:srgbClr val="FFFFFF"/>
              </a:solidFill>
              <a:latin typeface="Arial"/>
              <a:ea typeface="Arial"/>
              <a:cs typeface="Arial"/>
              <a:sym typeface="Arial"/>
            </a:endParaRPr>
          </a:p>
        </p:txBody>
      </p:sp>
      <p:sp>
        <p:nvSpPr>
          <p:cNvPr id="591" name="Google Shape;591;p19"/>
          <p:cNvSpPr/>
          <p:nvPr/>
        </p:nvSpPr>
        <p:spPr>
          <a:xfrm>
            <a:off x="777240" y="458100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escribió la IA todo el código</a:t>
            </a:r>
            <a:endParaRPr b="0" i="0" spc="0" sz="1300" u="none" cap="none" strike="noStrike">
              <a:solidFill>
                <a:srgbClr val="FFFFFF"/>
              </a:solidFill>
              <a:latin typeface="Arial"/>
              <a:ea typeface="Arial"/>
              <a:cs typeface="Arial"/>
              <a:sym typeface="Arial"/>
            </a:endParaRPr>
          </a:p>
        </p:txBody>
      </p:sp>
      <p:sp>
        <p:nvSpPr>
          <p:cNvPr id="592" name="Google Shape;592;p19"/>
          <p:cNvSpPr/>
          <p:nvPr/>
        </p:nvSpPr>
        <p:spPr>
          <a:xfrm>
            <a:off x="4316040" y="384048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93" name="Google Shape;593;p19"/>
          <p:cNvSpPr/>
          <p:nvPr/>
        </p:nvSpPr>
        <p:spPr>
          <a:xfrm>
            <a:off x="4544640" y="395028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1"/>
                </a:solidFill>
                <a:latin typeface="Calibri"/>
                <a:ea typeface="Calibri"/>
                <a:cs typeface="Calibri"/>
                <a:sym typeface="Calibri"/>
              </a:rPr>
              <a:t>≈ 40 min</a:t>
            </a:r>
            <a:endParaRPr b="0" i="0" spc="0" sz="3400" u="none" cap="none" strike="noStrike">
              <a:solidFill>
                <a:srgbClr val="FFFFFF"/>
              </a:solidFill>
              <a:latin typeface="Arial"/>
              <a:ea typeface="Arial"/>
              <a:cs typeface="Arial"/>
              <a:sym typeface="Arial"/>
            </a:endParaRPr>
          </a:p>
        </p:txBody>
      </p:sp>
      <p:sp>
        <p:nvSpPr>
          <p:cNvPr id="594" name="Google Shape;594;p19"/>
          <p:cNvSpPr/>
          <p:nvPr/>
        </p:nvSpPr>
        <p:spPr>
          <a:xfrm>
            <a:off x="4544640" y="458100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de revisión humana, fase a fase</a:t>
            </a:r>
            <a:endParaRPr b="0" i="0" spc="0" sz="1300" u="none" cap="none" strike="noStrike">
              <a:solidFill>
                <a:srgbClr val="FFFFFF"/>
              </a:solidFill>
              <a:latin typeface="Arial"/>
              <a:ea typeface="Arial"/>
              <a:cs typeface="Arial"/>
              <a:sym typeface="Arial"/>
            </a:endParaRPr>
          </a:p>
        </p:txBody>
      </p:sp>
      <p:sp>
        <p:nvSpPr>
          <p:cNvPr id="595" name="Google Shape;595;p19"/>
          <p:cNvSpPr/>
          <p:nvPr/>
        </p:nvSpPr>
        <p:spPr>
          <a:xfrm>
            <a:off x="8092440" y="384048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96" name="Google Shape;596;p19"/>
          <p:cNvSpPr/>
          <p:nvPr/>
        </p:nvSpPr>
        <p:spPr>
          <a:xfrm>
            <a:off x="8321040" y="395028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6"/>
                </a:solidFill>
                <a:latin typeface="Calibri"/>
                <a:ea typeface="Calibri"/>
                <a:cs typeface="Calibri"/>
                <a:sym typeface="Calibri"/>
              </a:rPr>
              <a:t>59</a:t>
            </a:r>
            <a:endParaRPr b="0" i="0" spc="0" sz="3400" u="none" cap="none" strike="noStrike">
              <a:solidFill>
                <a:srgbClr val="FFFFFF"/>
              </a:solidFill>
              <a:latin typeface="Arial"/>
              <a:ea typeface="Arial"/>
              <a:cs typeface="Arial"/>
              <a:sym typeface="Arial"/>
            </a:endParaRPr>
          </a:p>
        </p:txBody>
      </p:sp>
      <p:sp>
        <p:nvSpPr>
          <p:cNvPr id="597" name="Google Shape;597;p19"/>
          <p:cNvSpPr/>
          <p:nvPr/>
        </p:nvSpPr>
        <p:spPr>
          <a:xfrm>
            <a:off x="8321040" y="458100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pruebas automáticas generadas</a:t>
            </a:r>
            <a:endParaRPr b="0" i="0" spc="0" sz="1300" u="none" cap="none" strike="noStrike">
              <a:solidFill>
                <a:srgbClr val="FFFFFF"/>
              </a:solidFill>
              <a:latin typeface="Arial"/>
              <a:ea typeface="Arial"/>
              <a:cs typeface="Arial"/>
              <a:sym typeface="Arial"/>
            </a:endParaRPr>
          </a:p>
        </p:txBody>
      </p:sp>
      <p:sp>
        <p:nvSpPr>
          <p:cNvPr id="598" name="Google Shape;598;p19"/>
          <p:cNvSpPr/>
          <p:nvPr/>
        </p:nvSpPr>
        <p:spPr>
          <a:xfrm>
            <a:off x="548640" y="5257800"/>
            <a:ext cx="11109600" cy="776880"/>
          </a:xfrm>
          <a:prstGeom prst="roundRect">
            <a:avLst>
              <a:gd fmla="val 14118" name="adj"/>
            </a:avLst>
          </a:prstGeom>
          <a:solidFill>
            <a:schemeClr val="dk1"/>
          </a:solidFill>
          <a:ln cap="flat" cmpd="sng" w="9525">
            <a:solidFill>
              <a:schemeClr val="lt2">
                <a:alpha val="5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599" name="Google Shape;599;p19"/>
          <p:cNvSpPr/>
          <p:nvPr/>
        </p:nvSpPr>
        <p:spPr>
          <a:xfrm>
            <a:off x="777240" y="5257800"/>
            <a:ext cx="1069812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2"/>
                </a:solidFill>
                <a:latin typeface="Calibri"/>
                <a:ea typeface="Calibri"/>
                <a:cs typeface="Calibri"/>
                <a:sym typeface="Calibri"/>
              </a:rPr>
              <a:t>Constitución: </a:t>
            </a:r>
            <a:r>
              <a:rPr b="0" i="0" lang="en-US" spc="0" sz="1300" u="none" cap="none" strike="noStrike">
                <a:solidFill>
                  <a:schemeClr val="lt2"/>
                </a:solidFill>
                <a:latin typeface="Calibri"/>
                <a:ea typeface="Calibri"/>
                <a:cs typeface="Calibri"/>
                <a:sym typeface="Calibri"/>
              </a:rPr>
              <a:t>I Secretos solo en el backend · II Sin persistencia · III Contrato fijo · IV Autenticación antes que todo · V pytest sin servicios reales · VI Alcance mínimo</a:t>
            </a:r>
            <a:endParaRPr b="0" i="0" spc="0" sz="1300" u="none" cap="none" strike="noStrike">
              <a:solidFill>
                <a:srgbClr val="FFFFFF"/>
              </a:solidFill>
              <a:latin typeface="Arial"/>
              <a:ea typeface="Arial"/>
              <a:cs typeface="Arial"/>
              <a:sym typeface="Arial"/>
            </a:endParaRPr>
          </a:p>
        </p:txBody>
      </p:sp>
      <p:sp>
        <p:nvSpPr>
          <p:cNvPr id="600" name="Google Shape;600;p19"/>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20"/>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Revisión humana de la IA</a:t>
            </a:r>
            <a:endParaRPr b="0" sz="3400" u="none" strike="noStrike">
              <a:solidFill>
                <a:schemeClr val="dk1"/>
              </a:solidFill>
              <a:latin typeface="Calibri"/>
              <a:ea typeface="Calibri"/>
              <a:cs typeface="Calibri"/>
              <a:sym typeface="Calibri"/>
            </a:endParaRPr>
          </a:p>
        </p:txBody>
      </p:sp>
      <p:sp>
        <p:nvSpPr>
          <p:cNvPr id="606" name="Google Shape;606;p20"/>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QUÉ ACEPTAMOS Y QUÉ NO</a:t>
            </a:r>
            <a:endParaRPr b="0" i="0" sz="1200" u="none" cap="none" strike="noStrike">
              <a:solidFill>
                <a:schemeClr val="dk1"/>
              </a:solidFill>
              <a:latin typeface="Calibri"/>
              <a:ea typeface="Calibri"/>
              <a:cs typeface="Calibri"/>
              <a:sym typeface="Calibri"/>
            </a:endParaRPr>
          </a:p>
        </p:txBody>
      </p:sp>
      <p:sp>
        <p:nvSpPr>
          <p:cNvPr id="607" name="Google Shape;607;p20"/>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08" name="Google Shape;608;p20"/>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Jose Antonio Nieto</a:t>
            </a:r>
            <a:endParaRPr b="0" i="0" spc="0" sz="1100" u="none" cap="none" strike="noStrike">
              <a:solidFill>
                <a:srgbClr val="FFFFFF"/>
              </a:solidFill>
              <a:latin typeface="Arial"/>
              <a:ea typeface="Arial"/>
              <a:cs typeface="Arial"/>
              <a:sym typeface="Arial"/>
            </a:endParaRPr>
          </a:p>
        </p:txBody>
      </p:sp>
      <p:sp>
        <p:nvSpPr>
          <p:cNvPr id="609" name="Google Shape;609;p20"/>
          <p:cNvSpPr/>
          <p:nvPr/>
        </p:nvSpPr>
        <p:spPr>
          <a:xfrm>
            <a:off x="548640" y="1371600"/>
            <a:ext cx="3611520" cy="3611520"/>
          </a:xfrm>
          <a:prstGeom prst="roundRect">
            <a:avLst>
              <a:gd fmla="val 3038" name="adj"/>
            </a:avLst>
          </a:prstGeom>
          <a:solidFill>
            <a:schemeClr val="dk2"/>
          </a:solidFill>
          <a:ln cap="flat" cmpd="sng" w="9525">
            <a:solidFill>
              <a:schemeClr val="accent6">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10" name="Google Shape;610;p20"/>
          <p:cNvSpPr/>
          <p:nvPr/>
        </p:nvSpPr>
        <p:spPr>
          <a:xfrm>
            <a:off x="777240" y="1572840"/>
            <a:ext cx="411120" cy="383760"/>
          </a:xfrm>
          <a:prstGeom prst="roundRect">
            <a:avLst>
              <a:gd fmla="val 1904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611" name="Google Shape;611;p20"/>
          <p:cNvSpPr/>
          <p:nvPr/>
        </p:nvSpPr>
        <p:spPr>
          <a:xfrm>
            <a:off x="777240" y="1572840"/>
            <a:ext cx="41112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US" spc="0" sz="1600" u="none" cap="none" strike="noStrike">
                <a:solidFill>
                  <a:schemeClr val="dk1"/>
                </a:solidFill>
                <a:latin typeface="Calibri"/>
                <a:ea typeface="Calibri"/>
                <a:cs typeface="Calibri"/>
                <a:sym typeface="Calibri"/>
              </a:rPr>
              <a:t>✓</a:t>
            </a:r>
            <a:endParaRPr b="0" i="0" spc="0" sz="1600" u="none" cap="none" strike="noStrike">
              <a:solidFill>
                <a:srgbClr val="FFFFFF"/>
              </a:solidFill>
              <a:latin typeface="Arial"/>
              <a:ea typeface="Arial"/>
              <a:cs typeface="Arial"/>
              <a:sym typeface="Arial"/>
            </a:endParaRPr>
          </a:p>
        </p:txBody>
      </p:sp>
      <p:sp>
        <p:nvSpPr>
          <p:cNvPr id="612" name="Google Shape;612;p20"/>
          <p:cNvSpPr/>
          <p:nvPr/>
        </p:nvSpPr>
        <p:spPr>
          <a:xfrm>
            <a:off x="1325880" y="1572840"/>
            <a:ext cx="255996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6"/>
                </a:solidFill>
                <a:latin typeface="Calibri"/>
                <a:ea typeface="Calibri"/>
                <a:cs typeface="Calibri"/>
                <a:sym typeface="Calibri"/>
              </a:rPr>
              <a:t>Acertó</a:t>
            </a:r>
            <a:endParaRPr b="0" i="0" spc="0" sz="2000" u="none" cap="none" strike="noStrike">
              <a:solidFill>
                <a:srgbClr val="FFFFFF"/>
              </a:solidFill>
              <a:latin typeface="Arial"/>
              <a:ea typeface="Arial"/>
              <a:cs typeface="Arial"/>
              <a:sym typeface="Arial"/>
            </a:endParaRPr>
          </a:p>
        </p:txBody>
      </p:sp>
      <p:sp>
        <p:nvSpPr>
          <p:cNvPr id="613" name="Google Shape;613;p20"/>
          <p:cNvSpPr/>
          <p:nvPr/>
        </p:nvSpPr>
        <p:spPr>
          <a:xfrm>
            <a:off x="822960" y="2194560"/>
            <a:ext cx="3108600" cy="269712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Hizo justo lo que pedía la ERS, sin añadir pantallas ni funciones de más.</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Generó 59 pruebas, muchas más que las 12 de la App 1.</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Añadió algo por su cuenta que tenía sentido: si cierras sesión mientras esperas la respuesta, la respuesta se tira y no se muestra.</a:t>
            </a:r>
            <a:endParaRPr b="0" i="0" spc="0" sz="1300" u="none" cap="none" strike="noStrike">
              <a:solidFill>
                <a:srgbClr val="FFFFFF"/>
              </a:solidFill>
              <a:latin typeface="Arial"/>
              <a:ea typeface="Arial"/>
              <a:cs typeface="Arial"/>
              <a:sym typeface="Arial"/>
            </a:endParaRPr>
          </a:p>
        </p:txBody>
      </p:sp>
      <p:sp>
        <p:nvSpPr>
          <p:cNvPr id="614" name="Google Shape;614;p20"/>
          <p:cNvSpPr/>
          <p:nvPr/>
        </p:nvSpPr>
        <p:spPr>
          <a:xfrm>
            <a:off x="4343400" y="1371600"/>
            <a:ext cx="3611520" cy="3611520"/>
          </a:xfrm>
          <a:prstGeom prst="roundRect">
            <a:avLst>
              <a:gd fmla="val 3038" name="adj"/>
            </a:avLst>
          </a:prstGeom>
          <a:solidFill>
            <a:schemeClr val="dk2"/>
          </a:solidFill>
          <a:ln cap="flat" cmpd="sng" w="9525">
            <a:solidFill>
              <a:schemeClr val="accent4">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15" name="Google Shape;615;p20"/>
          <p:cNvSpPr/>
          <p:nvPr/>
        </p:nvSpPr>
        <p:spPr>
          <a:xfrm>
            <a:off x="4572000" y="1572840"/>
            <a:ext cx="411120" cy="383760"/>
          </a:xfrm>
          <a:prstGeom prst="roundRect">
            <a:avLst>
              <a:gd fmla="val 19048" name="adj"/>
            </a:avLst>
          </a:prstGeom>
          <a:solidFill>
            <a:schemeClr val="accent4"/>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616" name="Google Shape;616;p20"/>
          <p:cNvSpPr/>
          <p:nvPr/>
        </p:nvSpPr>
        <p:spPr>
          <a:xfrm>
            <a:off x="4572000" y="1572840"/>
            <a:ext cx="41112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US" spc="0" sz="1600" u="none" cap="none" strike="noStrike">
                <a:solidFill>
                  <a:schemeClr val="dk1"/>
                </a:solidFill>
                <a:latin typeface="Calibri"/>
                <a:ea typeface="Calibri"/>
                <a:cs typeface="Calibri"/>
                <a:sym typeface="Calibri"/>
              </a:rPr>
              <a:t>~</a:t>
            </a:r>
            <a:endParaRPr b="0" i="0" spc="0" sz="1600" u="none" cap="none" strike="noStrike">
              <a:solidFill>
                <a:srgbClr val="FFFFFF"/>
              </a:solidFill>
              <a:latin typeface="Arial"/>
              <a:ea typeface="Arial"/>
              <a:cs typeface="Arial"/>
              <a:sym typeface="Arial"/>
            </a:endParaRPr>
          </a:p>
        </p:txBody>
      </p:sp>
      <p:sp>
        <p:nvSpPr>
          <p:cNvPr id="617" name="Google Shape;617;p20"/>
          <p:cNvSpPr/>
          <p:nvPr/>
        </p:nvSpPr>
        <p:spPr>
          <a:xfrm>
            <a:off x="5120640" y="1572840"/>
            <a:ext cx="255996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4"/>
                </a:solidFill>
                <a:latin typeface="Calibri"/>
                <a:ea typeface="Calibri"/>
                <a:cs typeface="Calibri"/>
                <a:sym typeface="Calibri"/>
              </a:rPr>
              <a:t>Se desvió</a:t>
            </a:r>
            <a:endParaRPr b="0" i="0" spc="0" sz="2000" u="none" cap="none" strike="noStrike">
              <a:solidFill>
                <a:srgbClr val="FFFFFF"/>
              </a:solidFill>
              <a:latin typeface="Arial"/>
              <a:ea typeface="Arial"/>
              <a:cs typeface="Arial"/>
              <a:sym typeface="Arial"/>
            </a:endParaRPr>
          </a:p>
        </p:txBody>
      </p:sp>
      <p:sp>
        <p:nvSpPr>
          <p:cNvPr id="618" name="Google Shape;618;p20"/>
          <p:cNvSpPr/>
          <p:nvPr/>
        </p:nvSpPr>
        <p:spPr>
          <a:xfrm>
            <a:off x="4617720" y="2194560"/>
            <a:ext cx="3108600" cy="269712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El plan usaba un componente de Clerk, &lt;SignedIn&gt;, que ya no existe en la versión actual. La IA lo vio y usó el nuevo, &lt;Show&gt;.</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El Dockerfile usaba Node 20, que ya no tiene soporte. Lo cambiamos a Node 22.</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Propuso otro modelo de IA, distinto del que ya teníamos probado en la App 1.</a:t>
            </a:r>
            <a:endParaRPr b="0" i="0" spc="0" sz="1300" u="none" cap="none" strike="noStrike">
              <a:solidFill>
                <a:srgbClr val="FFFFFF"/>
              </a:solidFill>
              <a:latin typeface="Arial"/>
              <a:ea typeface="Arial"/>
              <a:cs typeface="Arial"/>
              <a:sym typeface="Arial"/>
            </a:endParaRPr>
          </a:p>
          <a:p>
            <a:pPr indent="-95290" lvl="0" marL="177840" marR="0" rtl="0" algn="l">
              <a:lnSpc>
                <a:spcPct val="100000"/>
              </a:lnSpc>
              <a:spcBef>
                <a:spcPts val="2183"/>
              </a:spcBef>
              <a:spcAft>
                <a:spcPts val="0"/>
              </a:spcAft>
              <a:buClr>
                <a:srgbClr val="FFFFFF"/>
              </a:buClr>
              <a:buSzPts val="1300"/>
              <a:buFont typeface="Noto Sans Symbols"/>
              <a:buNone/>
            </a:pPr>
            <a:r>
              <a:t/>
            </a:r>
            <a:endParaRPr b="0" i="0" spc="0" sz="1300" u="none" cap="none" strike="noStrike">
              <a:solidFill>
                <a:srgbClr val="FFFFFF"/>
              </a:solidFill>
              <a:latin typeface="Arial"/>
              <a:ea typeface="Arial"/>
              <a:cs typeface="Arial"/>
              <a:sym typeface="Arial"/>
            </a:endParaRPr>
          </a:p>
        </p:txBody>
      </p:sp>
      <p:sp>
        <p:nvSpPr>
          <p:cNvPr id="619" name="Google Shape;619;p20"/>
          <p:cNvSpPr/>
          <p:nvPr/>
        </p:nvSpPr>
        <p:spPr>
          <a:xfrm>
            <a:off x="8138160" y="1371600"/>
            <a:ext cx="3611520" cy="3611520"/>
          </a:xfrm>
          <a:prstGeom prst="roundRect">
            <a:avLst>
              <a:gd fmla="val 3038" name="adj"/>
            </a:avLst>
          </a:prstGeom>
          <a:solidFill>
            <a:schemeClr val="dk2"/>
          </a:solidFill>
          <a:ln cap="flat" cmpd="sng" w="9525">
            <a:solidFill>
              <a:schemeClr val="accent5">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20" name="Google Shape;620;p20"/>
          <p:cNvSpPr/>
          <p:nvPr/>
        </p:nvSpPr>
        <p:spPr>
          <a:xfrm>
            <a:off x="8366760" y="1572840"/>
            <a:ext cx="411120" cy="383760"/>
          </a:xfrm>
          <a:prstGeom prst="roundRect">
            <a:avLst>
              <a:gd fmla="val 19048" name="adj"/>
            </a:avLst>
          </a:prstGeom>
          <a:solidFill>
            <a:schemeClr val="accent5"/>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21" name="Google Shape;621;p20"/>
          <p:cNvSpPr/>
          <p:nvPr/>
        </p:nvSpPr>
        <p:spPr>
          <a:xfrm>
            <a:off x="8366760" y="1572840"/>
            <a:ext cx="41112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600"/>
              <a:buFont typeface="Arial"/>
              <a:buNone/>
            </a:pPr>
            <a:r>
              <a:rPr b="1" i="0" lang="en-US" spc="0" sz="1600" u="none" cap="none" strike="noStrike">
                <a:solidFill>
                  <a:schemeClr val="dk1"/>
                </a:solidFill>
                <a:latin typeface="Calibri"/>
                <a:ea typeface="Calibri"/>
                <a:cs typeface="Calibri"/>
                <a:sym typeface="Calibri"/>
              </a:rPr>
              <a:t>✕</a:t>
            </a:r>
            <a:endParaRPr b="0" i="0" spc="0" sz="1600" u="none" cap="none" strike="noStrike">
              <a:solidFill>
                <a:srgbClr val="FFFFFF"/>
              </a:solidFill>
              <a:latin typeface="Arial"/>
              <a:ea typeface="Arial"/>
              <a:cs typeface="Arial"/>
              <a:sym typeface="Arial"/>
            </a:endParaRPr>
          </a:p>
        </p:txBody>
      </p:sp>
      <p:sp>
        <p:nvSpPr>
          <p:cNvPr id="622" name="Google Shape;622;p20"/>
          <p:cNvSpPr/>
          <p:nvPr/>
        </p:nvSpPr>
        <p:spPr>
          <a:xfrm>
            <a:off x="8915400" y="1572840"/>
            <a:ext cx="255996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5"/>
                </a:solidFill>
                <a:latin typeface="Calibri"/>
                <a:ea typeface="Calibri"/>
                <a:cs typeface="Calibri"/>
                <a:sym typeface="Calibri"/>
              </a:rPr>
              <a:t>Falló</a:t>
            </a:r>
            <a:endParaRPr b="0" i="0" spc="0" sz="2000" u="none" cap="none" strike="noStrike">
              <a:solidFill>
                <a:srgbClr val="FFFFFF"/>
              </a:solidFill>
              <a:latin typeface="Arial"/>
              <a:ea typeface="Arial"/>
              <a:cs typeface="Arial"/>
              <a:sym typeface="Arial"/>
            </a:endParaRPr>
          </a:p>
        </p:txBody>
      </p:sp>
      <p:sp>
        <p:nvSpPr>
          <p:cNvPr id="623" name="Google Shape;623;p20"/>
          <p:cNvSpPr/>
          <p:nvPr/>
        </p:nvSpPr>
        <p:spPr>
          <a:xfrm>
            <a:off x="8412480" y="2194560"/>
            <a:ext cx="3108600" cy="269712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En local no cargaba el archivo .env. Al no leer los orígenes permitidos, CORS rechazaba todas las peticiones y la app decía “no se puede conectar”. </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El vercel.json que generó mandaba todas las peticiones a una ruta que no existía. En Vercel todo daba error 404.</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992"/>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Sus 59 pruebas no detectaron ninguno de los dos.</a:t>
            </a:r>
            <a:endParaRPr b="0" i="0" spc="0" sz="1300" u="none" cap="none" strike="noStrike">
              <a:solidFill>
                <a:srgbClr val="FFFFFF"/>
              </a:solidFill>
              <a:latin typeface="Arial"/>
              <a:ea typeface="Arial"/>
              <a:cs typeface="Arial"/>
              <a:sym typeface="Arial"/>
            </a:endParaRPr>
          </a:p>
        </p:txBody>
      </p:sp>
      <p:sp>
        <p:nvSpPr>
          <p:cNvPr id="624" name="Google Shape;624;p20"/>
          <p:cNvSpPr/>
          <p:nvPr/>
        </p:nvSpPr>
        <p:spPr>
          <a:xfrm>
            <a:off x="548640" y="5166360"/>
            <a:ext cx="11109600" cy="868320"/>
          </a:xfrm>
          <a:prstGeom prst="roundRect">
            <a:avLst>
              <a:gd fmla="val 12632" name="adj"/>
            </a:avLst>
          </a:prstGeom>
          <a:solidFill>
            <a:schemeClr val="dk2"/>
          </a:solidFill>
          <a:ln cap="flat" cmpd="sng" w="9525">
            <a:solidFill>
              <a:schemeClr val="accent1">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25" name="Google Shape;625;p20"/>
          <p:cNvSpPr/>
          <p:nvPr/>
        </p:nvSpPr>
        <p:spPr>
          <a:xfrm>
            <a:off x="822960" y="5166360"/>
            <a:ext cx="10606680" cy="868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accent1"/>
                </a:solidFill>
                <a:latin typeface="Calibri"/>
                <a:ea typeface="Calibri"/>
                <a:cs typeface="Calibri"/>
                <a:sym typeface="Calibri"/>
              </a:rPr>
              <a:t>Lo que decidimos nosotros: </a:t>
            </a:r>
            <a:r>
              <a:rPr b="0" i="0" lang="en-US" spc="0" sz="1400" u="none" cap="none" strike="noStrike">
                <a:solidFill>
                  <a:schemeClr val="lt1"/>
                </a:solidFill>
                <a:latin typeface="Calibri"/>
                <a:ea typeface="Calibri"/>
                <a:cs typeface="Calibri"/>
                <a:sym typeface="Calibri"/>
              </a:rPr>
              <a:t>mismo modelo y límites que la App 1 (gemini-3.5-flash-lite, 600 tokens), mismos 12 géneros, y aceptar &lt;Show&gt; y node:22 anotándolos en tasks.md.</a:t>
            </a:r>
            <a:endParaRPr b="0" i="0" spc="0" sz="1400" u="none" cap="none" strike="noStrike">
              <a:solidFill>
                <a:srgbClr val="FFFFFF"/>
              </a:solidFill>
              <a:latin typeface="Arial"/>
              <a:ea typeface="Arial"/>
              <a:cs typeface="Arial"/>
              <a:sym typeface="Arial"/>
            </a:endParaRPr>
          </a:p>
        </p:txBody>
      </p:sp>
      <p:sp>
        <p:nvSpPr>
          <p:cNvPr id="626" name="Google Shape;626;p20"/>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0" name="Shape 630"/>
        <p:cNvGrpSpPr/>
        <p:nvPr/>
      </p:nvGrpSpPr>
      <p:grpSpPr>
        <a:xfrm>
          <a:off x="0" y="0"/>
          <a:ext cx="0" cy="0"/>
          <a:chOff x="0" y="0"/>
          <a:chExt cx="0" cy="0"/>
        </a:xfrm>
      </p:grpSpPr>
      <p:sp>
        <p:nvSpPr>
          <p:cNvPr id="631" name="Google Shape;631;p21"/>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Autenticación con Clerk</a:t>
            </a:r>
            <a:endParaRPr b="0" sz="3400" u="none" strike="noStrike">
              <a:solidFill>
                <a:schemeClr val="dk1"/>
              </a:solidFill>
              <a:latin typeface="Calibri"/>
              <a:ea typeface="Calibri"/>
              <a:cs typeface="Calibri"/>
              <a:sym typeface="Calibri"/>
            </a:endParaRPr>
          </a:p>
        </p:txBody>
      </p:sp>
      <p:sp>
        <p:nvSpPr>
          <p:cNvPr id="632" name="Google Shape;632;p21"/>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RF-06 · RNF-05</a:t>
            </a:r>
            <a:endParaRPr b="0" i="0" sz="1200" u="none" cap="none" strike="noStrike">
              <a:solidFill>
                <a:schemeClr val="dk1"/>
              </a:solidFill>
              <a:latin typeface="Calibri"/>
              <a:ea typeface="Calibri"/>
              <a:cs typeface="Calibri"/>
              <a:sym typeface="Calibri"/>
            </a:endParaRPr>
          </a:p>
        </p:txBody>
      </p:sp>
      <p:sp>
        <p:nvSpPr>
          <p:cNvPr id="633" name="Google Shape;633;p21"/>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34" name="Google Shape;634;p21"/>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635" name="Google Shape;635;p21"/>
          <p:cNvSpPr/>
          <p:nvPr/>
        </p:nvSpPr>
        <p:spPr>
          <a:xfrm>
            <a:off x="54864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36" name="Google Shape;636;p21"/>
          <p:cNvSpPr/>
          <p:nvPr/>
        </p:nvSpPr>
        <p:spPr>
          <a:xfrm>
            <a:off x="73152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37" name="Google Shape;637;p21"/>
          <p:cNvSpPr/>
          <p:nvPr/>
        </p:nvSpPr>
        <p:spPr>
          <a:xfrm>
            <a:off x="73152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1</a:t>
            </a:r>
            <a:endParaRPr b="0" i="0" spc="0" sz="1300" u="none" cap="none" strike="noStrike">
              <a:solidFill>
                <a:srgbClr val="FFFFFF"/>
              </a:solidFill>
              <a:latin typeface="Arial"/>
              <a:ea typeface="Arial"/>
              <a:cs typeface="Arial"/>
              <a:sym typeface="Arial"/>
            </a:endParaRPr>
          </a:p>
        </p:txBody>
      </p:sp>
      <p:sp>
        <p:nvSpPr>
          <p:cNvPr id="638" name="Google Shape;638;p21"/>
          <p:cNvSpPr/>
          <p:nvPr/>
        </p:nvSpPr>
        <p:spPr>
          <a:xfrm>
            <a:off x="123444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Acceso en la misma pantalla</a:t>
            </a:r>
            <a:endParaRPr b="0" i="0" spc="0" sz="1400" u="none" cap="none" strike="noStrike">
              <a:solidFill>
                <a:srgbClr val="FFFFFF"/>
              </a:solidFill>
              <a:latin typeface="Arial"/>
              <a:ea typeface="Arial"/>
              <a:cs typeface="Arial"/>
              <a:sym typeface="Arial"/>
            </a:endParaRPr>
          </a:p>
        </p:txBody>
      </p:sp>
      <p:sp>
        <p:nvSpPr>
          <p:cNvPr id="639" name="Google Shape;639;p21"/>
          <p:cNvSpPr/>
          <p:nvPr/>
        </p:nvSpPr>
        <p:spPr>
          <a:xfrm>
            <a:off x="73152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Componente modal de Clerk, sin rutas de login ni perfil.</a:t>
            </a:r>
            <a:endParaRPr b="0" i="0" spc="0" sz="1200" u="none" cap="none" strike="noStrike">
              <a:solidFill>
                <a:srgbClr val="FFFFFF"/>
              </a:solidFill>
              <a:latin typeface="Arial"/>
              <a:ea typeface="Arial"/>
              <a:cs typeface="Arial"/>
              <a:sym typeface="Arial"/>
            </a:endParaRPr>
          </a:p>
        </p:txBody>
      </p:sp>
      <p:cxnSp>
        <p:nvCxnSpPr>
          <p:cNvPr id="640" name="Google Shape;640;p21"/>
          <p:cNvCxnSpPr/>
          <p:nvPr/>
        </p:nvCxnSpPr>
        <p:spPr>
          <a:xfrm>
            <a:off x="3154680" y="2121120"/>
            <a:ext cx="228600" cy="360"/>
          </a:xfrm>
          <a:prstGeom prst="straightConnector1">
            <a:avLst/>
          </a:prstGeom>
          <a:noFill/>
          <a:ln cap="flat" cmpd="sng" w="15875">
            <a:solidFill>
              <a:srgbClr val="9B8CFF"/>
            </a:solidFill>
            <a:prstDash val="solid"/>
            <a:round/>
            <a:headEnd len="sm" w="sm" type="none"/>
            <a:tailEnd len="med" w="med" type="triangle"/>
          </a:ln>
        </p:spPr>
      </p:cxnSp>
      <p:sp>
        <p:nvSpPr>
          <p:cNvPr id="641" name="Google Shape;641;p21"/>
          <p:cNvSpPr/>
          <p:nvPr/>
        </p:nvSpPr>
        <p:spPr>
          <a:xfrm>
            <a:off x="338328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42" name="Google Shape;642;p21"/>
          <p:cNvSpPr/>
          <p:nvPr/>
        </p:nvSpPr>
        <p:spPr>
          <a:xfrm>
            <a:off x="356616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43" name="Google Shape;643;p21"/>
          <p:cNvSpPr/>
          <p:nvPr/>
        </p:nvSpPr>
        <p:spPr>
          <a:xfrm>
            <a:off x="356616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2</a:t>
            </a:r>
            <a:endParaRPr b="0" i="0" spc="0" sz="1300" u="none" cap="none" strike="noStrike">
              <a:solidFill>
                <a:srgbClr val="FFFFFF"/>
              </a:solidFill>
              <a:latin typeface="Arial"/>
              <a:ea typeface="Arial"/>
              <a:cs typeface="Arial"/>
              <a:sym typeface="Arial"/>
            </a:endParaRPr>
          </a:p>
        </p:txBody>
      </p:sp>
      <p:sp>
        <p:nvSpPr>
          <p:cNvPr id="644" name="Google Shape;644;p21"/>
          <p:cNvSpPr/>
          <p:nvPr/>
        </p:nvSpPr>
        <p:spPr>
          <a:xfrm>
            <a:off x="406908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Token de sesión</a:t>
            </a:r>
            <a:endParaRPr b="0" i="0" spc="0" sz="1400" u="none" cap="none" strike="noStrike">
              <a:solidFill>
                <a:srgbClr val="FFFFFF"/>
              </a:solidFill>
              <a:latin typeface="Arial"/>
              <a:ea typeface="Arial"/>
              <a:cs typeface="Arial"/>
              <a:sym typeface="Arial"/>
            </a:endParaRPr>
          </a:p>
        </p:txBody>
      </p:sp>
      <p:sp>
        <p:nvSpPr>
          <p:cNvPr id="645" name="Google Shape;645;p21"/>
          <p:cNvSpPr/>
          <p:nvPr/>
        </p:nvSpPr>
        <p:spPr>
          <a:xfrm>
            <a:off x="356616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La SPA lo pide con getToken() antes de cada envío.</a:t>
            </a:r>
            <a:endParaRPr b="0" i="0" spc="0" sz="1200" u="none" cap="none" strike="noStrike">
              <a:solidFill>
                <a:srgbClr val="FFFFFF"/>
              </a:solidFill>
              <a:latin typeface="Arial"/>
              <a:ea typeface="Arial"/>
              <a:cs typeface="Arial"/>
              <a:sym typeface="Arial"/>
            </a:endParaRPr>
          </a:p>
        </p:txBody>
      </p:sp>
      <p:cxnSp>
        <p:nvCxnSpPr>
          <p:cNvPr id="646" name="Google Shape;646;p21"/>
          <p:cNvCxnSpPr/>
          <p:nvPr/>
        </p:nvCxnSpPr>
        <p:spPr>
          <a:xfrm>
            <a:off x="5989320" y="2121120"/>
            <a:ext cx="228600" cy="360"/>
          </a:xfrm>
          <a:prstGeom prst="straightConnector1">
            <a:avLst/>
          </a:prstGeom>
          <a:noFill/>
          <a:ln cap="flat" cmpd="sng" w="15875">
            <a:solidFill>
              <a:srgbClr val="9B8CFF"/>
            </a:solidFill>
            <a:prstDash val="solid"/>
            <a:round/>
            <a:headEnd len="sm" w="sm" type="none"/>
            <a:tailEnd len="med" w="med" type="triangle"/>
          </a:ln>
        </p:spPr>
      </p:cxnSp>
      <p:sp>
        <p:nvSpPr>
          <p:cNvPr id="647" name="Google Shape;647;p21"/>
          <p:cNvSpPr/>
          <p:nvPr/>
        </p:nvSpPr>
        <p:spPr>
          <a:xfrm>
            <a:off x="621792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48" name="Google Shape;648;p21"/>
          <p:cNvSpPr/>
          <p:nvPr/>
        </p:nvSpPr>
        <p:spPr>
          <a:xfrm>
            <a:off x="640080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49" name="Google Shape;649;p21"/>
          <p:cNvSpPr/>
          <p:nvPr/>
        </p:nvSpPr>
        <p:spPr>
          <a:xfrm>
            <a:off x="640080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3</a:t>
            </a:r>
            <a:endParaRPr b="0" i="0" spc="0" sz="1300" u="none" cap="none" strike="noStrike">
              <a:solidFill>
                <a:srgbClr val="FFFFFF"/>
              </a:solidFill>
              <a:latin typeface="Arial"/>
              <a:ea typeface="Arial"/>
              <a:cs typeface="Arial"/>
              <a:sym typeface="Arial"/>
            </a:endParaRPr>
          </a:p>
        </p:txBody>
      </p:sp>
      <p:sp>
        <p:nvSpPr>
          <p:cNvPr id="650" name="Google Shape;650;p21"/>
          <p:cNvSpPr/>
          <p:nvPr/>
        </p:nvSpPr>
        <p:spPr>
          <a:xfrm>
            <a:off x="690372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Cabecera Authorization</a:t>
            </a:r>
            <a:endParaRPr b="0" i="0" spc="0" sz="1400" u="none" cap="none" strike="noStrike">
              <a:solidFill>
                <a:srgbClr val="FFFFFF"/>
              </a:solidFill>
              <a:latin typeface="Arial"/>
              <a:ea typeface="Arial"/>
              <a:cs typeface="Arial"/>
              <a:sym typeface="Arial"/>
            </a:endParaRPr>
          </a:p>
        </p:txBody>
      </p:sp>
      <p:sp>
        <p:nvSpPr>
          <p:cNvPr id="651" name="Google Shape;651;p21"/>
          <p:cNvSpPr/>
          <p:nvPr/>
        </p:nvSpPr>
        <p:spPr>
          <a:xfrm>
            <a:off x="640080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Bearer &lt;token&gt; en cada POST /api/recommend.</a:t>
            </a:r>
            <a:endParaRPr b="0" i="0" spc="0" sz="1200" u="none" cap="none" strike="noStrike">
              <a:solidFill>
                <a:srgbClr val="FFFFFF"/>
              </a:solidFill>
              <a:latin typeface="Arial"/>
              <a:ea typeface="Arial"/>
              <a:cs typeface="Arial"/>
              <a:sym typeface="Arial"/>
            </a:endParaRPr>
          </a:p>
        </p:txBody>
      </p:sp>
      <p:cxnSp>
        <p:nvCxnSpPr>
          <p:cNvPr id="652" name="Google Shape;652;p21"/>
          <p:cNvCxnSpPr/>
          <p:nvPr/>
        </p:nvCxnSpPr>
        <p:spPr>
          <a:xfrm>
            <a:off x="8823960" y="2121120"/>
            <a:ext cx="228600" cy="360"/>
          </a:xfrm>
          <a:prstGeom prst="straightConnector1">
            <a:avLst/>
          </a:prstGeom>
          <a:noFill/>
          <a:ln cap="flat" cmpd="sng" w="15875">
            <a:solidFill>
              <a:srgbClr val="9B8CFF"/>
            </a:solidFill>
            <a:prstDash val="solid"/>
            <a:round/>
            <a:headEnd len="sm" w="sm" type="none"/>
            <a:tailEnd len="med" w="med" type="triangle"/>
          </a:ln>
        </p:spPr>
      </p:cxnSp>
      <p:sp>
        <p:nvSpPr>
          <p:cNvPr id="653" name="Google Shape;653;p21"/>
          <p:cNvSpPr/>
          <p:nvPr/>
        </p:nvSpPr>
        <p:spPr>
          <a:xfrm>
            <a:off x="905256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54" name="Google Shape;654;p21"/>
          <p:cNvSpPr/>
          <p:nvPr/>
        </p:nvSpPr>
        <p:spPr>
          <a:xfrm>
            <a:off x="923544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55" name="Google Shape;655;p21"/>
          <p:cNvSpPr/>
          <p:nvPr/>
        </p:nvSpPr>
        <p:spPr>
          <a:xfrm>
            <a:off x="923544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300"/>
              <a:buFont typeface="Arial"/>
              <a:buNone/>
            </a:pPr>
            <a:r>
              <a:rPr b="1" i="0" lang="en-US" spc="0" sz="1300" u="none" cap="none" strike="noStrike">
                <a:solidFill>
                  <a:schemeClr val="dk1"/>
                </a:solidFill>
                <a:latin typeface="Calibri"/>
                <a:ea typeface="Calibri"/>
                <a:cs typeface="Calibri"/>
                <a:sym typeface="Calibri"/>
              </a:rPr>
              <a:t>4</a:t>
            </a:r>
            <a:endParaRPr b="0" i="0" spc="0" sz="1300" u="none" cap="none" strike="noStrike">
              <a:solidFill>
                <a:srgbClr val="FFFFFF"/>
              </a:solidFill>
              <a:latin typeface="Arial"/>
              <a:ea typeface="Arial"/>
              <a:cs typeface="Arial"/>
              <a:sym typeface="Arial"/>
            </a:endParaRPr>
          </a:p>
        </p:txBody>
      </p:sp>
      <p:sp>
        <p:nvSpPr>
          <p:cNvPr id="656" name="Google Shape;656;p21"/>
          <p:cNvSpPr/>
          <p:nvPr/>
        </p:nvSpPr>
        <p:spPr>
          <a:xfrm>
            <a:off x="973836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Verificación en FastAPI</a:t>
            </a:r>
            <a:endParaRPr b="0" i="0" spc="0" sz="1400" u="none" cap="none" strike="noStrike">
              <a:solidFill>
                <a:srgbClr val="FFFFFF"/>
              </a:solidFill>
              <a:latin typeface="Arial"/>
              <a:ea typeface="Arial"/>
              <a:cs typeface="Arial"/>
              <a:sym typeface="Arial"/>
            </a:endParaRPr>
          </a:p>
        </p:txBody>
      </p:sp>
      <p:sp>
        <p:nvSpPr>
          <p:cNvPr id="657" name="Google Shape;657;p21"/>
          <p:cNvSpPr/>
          <p:nvPr/>
        </p:nvSpPr>
        <p:spPr>
          <a:xfrm>
            <a:off x="923544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PyJWT con las claves públicas (JWKS) de Clerk.</a:t>
            </a:r>
            <a:endParaRPr b="0" i="0" spc="0" sz="1200" u="none" cap="none" strike="noStrike">
              <a:solidFill>
                <a:srgbClr val="FFFFFF"/>
              </a:solidFill>
              <a:latin typeface="Arial"/>
              <a:ea typeface="Arial"/>
              <a:cs typeface="Arial"/>
              <a:sym typeface="Arial"/>
            </a:endParaRPr>
          </a:p>
        </p:txBody>
      </p:sp>
      <p:sp>
        <p:nvSpPr>
          <p:cNvPr id="658" name="Google Shape;658;p21"/>
          <p:cNvSpPr/>
          <p:nvPr/>
        </p:nvSpPr>
        <p:spPr>
          <a:xfrm>
            <a:off x="548640" y="3108960"/>
            <a:ext cx="5486040" cy="2925720"/>
          </a:xfrm>
          <a:prstGeom prst="roundRect">
            <a:avLst>
              <a:gd fmla="val 37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59" name="Google Shape;659;p21"/>
          <p:cNvSpPr/>
          <p:nvPr/>
        </p:nvSpPr>
        <p:spPr>
          <a:xfrm>
            <a:off x="822960" y="3273480"/>
            <a:ext cx="493740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accent2"/>
                </a:solidFill>
                <a:latin typeface="Calibri"/>
                <a:ea typeface="Calibri"/>
                <a:cs typeface="Calibri"/>
                <a:sym typeface="Calibri"/>
              </a:rPr>
              <a:t>Qué comprueba el backend</a:t>
            </a:r>
            <a:endParaRPr b="0" i="0" spc="0" sz="1800" u="none" cap="none" strike="noStrike">
              <a:solidFill>
                <a:srgbClr val="FFFFFF"/>
              </a:solidFill>
              <a:latin typeface="Arial"/>
              <a:ea typeface="Arial"/>
              <a:cs typeface="Arial"/>
              <a:sym typeface="Arial"/>
            </a:endParaRPr>
          </a:p>
        </p:txBody>
      </p:sp>
      <p:sp>
        <p:nvSpPr>
          <p:cNvPr id="660" name="Google Shape;660;p21"/>
          <p:cNvSpPr/>
          <p:nvPr/>
        </p:nvSpPr>
        <p:spPr>
          <a:xfrm>
            <a:off x="822960" y="3749040"/>
            <a:ext cx="4983120" cy="1462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Firma </a:t>
            </a:r>
            <a:r>
              <a:rPr b="0" i="0" lang="en-US" spc="0" sz="1400" u="none" cap="none" strike="noStrike">
                <a:solidFill>
                  <a:schemeClr val="lt2"/>
                </a:solidFill>
                <a:latin typeface="Calibri"/>
                <a:ea typeface="Calibri"/>
                <a:cs typeface="Calibri"/>
                <a:sym typeface="Calibri"/>
              </a:rPr>
              <a:t>con las claves públicas del emisor.</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Emisor: </a:t>
            </a:r>
            <a:r>
              <a:rPr b="0" i="0" lang="en-US" spc="0" sz="1400" u="none" cap="none" strike="noStrike">
                <a:solidFill>
                  <a:schemeClr val="lt2"/>
                </a:solidFill>
                <a:latin typeface="Calibri"/>
                <a:ea typeface="Calibri"/>
                <a:cs typeface="Calibri"/>
                <a:sym typeface="Calibri"/>
              </a:rPr>
              <a:t>CLERK_ISSUER.</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Caducidad </a:t>
            </a:r>
            <a:r>
              <a:rPr b="0" i="0" lang="en-US" spc="0" sz="1400" u="none" cap="none" strike="noStrike">
                <a:solidFill>
                  <a:schemeClr val="lt2"/>
                </a:solidFill>
                <a:latin typeface="Calibri"/>
                <a:ea typeface="Calibri"/>
                <a:cs typeface="Calibri"/>
                <a:sym typeface="Calibri"/>
              </a:rPr>
              <a:t>del token.</a:t>
            </a:r>
            <a:endParaRPr b="0" i="0" spc="0" sz="1400" u="none" cap="none" strike="noStrike">
              <a:solidFill>
                <a:srgbClr val="FFFFF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400"/>
              <a:buFont typeface="Arial"/>
              <a:buNone/>
            </a:pPr>
            <a:r>
              <a:rPr b="1" i="0" lang="en-US" spc="0" sz="1400" u="none" cap="none" strike="noStrike">
                <a:solidFill>
                  <a:schemeClr val="lt1"/>
                </a:solidFill>
                <a:latin typeface="Calibri"/>
                <a:ea typeface="Calibri"/>
                <a:cs typeface="Calibri"/>
                <a:sym typeface="Calibri"/>
              </a:rPr>
              <a:t>Origen autorizado: </a:t>
            </a:r>
            <a:r>
              <a:rPr b="0" i="0" lang="en-US" spc="0" sz="1400" u="none" cap="none" strike="noStrike">
                <a:solidFill>
                  <a:schemeClr val="lt2"/>
                </a:solidFill>
                <a:latin typeface="Calibri"/>
                <a:ea typeface="Calibri"/>
                <a:cs typeface="Calibri"/>
                <a:sym typeface="Calibri"/>
              </a:rPr>
              <a:t>el azp debe estar en ALLOWED_ORIGINS.</a:t>
            </a:r>
            <a:endParaRPr b="0" i="0" spc="0" sz="1400" u="none" cap="none" strike="noStrike">
              <a:solidFill>
                <a:srgbClr val="FFFFFF"/>
              </a:solidFill>
              <a:latin typeface="Arial"/>
              <a:ea typeface="Arial"/>
              <a:cs typeface="Arial"/>
              <a:sym typeface="Arial"/>
            </a:endParaRPr>
          </a:p>
        </p:txBody>
      </p:sp>
      <p:sp>
        <p:nvSpPr>
          <p:cNvPr id="661" name="Google Shape;661;p21"/>
          <p:cNvSpPr/>
          <p:nvPr/>
        </p:nvSpPr>
        <p:spPr>
          <a:xfrm>
            <a:off x="822960" y="5212080"/>
            <a:ext cx="498312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5"/>
                </a:solidFill>
                <a:latin typeface="Calibri"/>
                <a:ea typeface="Calibri"/>
                <a:cs typeface="Calibri"/>
                <a:sym typeface="Calibri"/>
              </a:rPr>
              <a:t>Si algo falla: </a:t>
            </a:r>
            <a:r>
              <a:rPr b="0" i="0" lang="en-US" spc="0" sz="1300" u="none" cap="none" strike="noStrike">
                <a:solidFill>
                  <a:schemeClr val="lt1"/>
                </a:solidFill>
                <a:latin typeface="Calibri"/>
                <a:ea typeface="Calibri"/>
                <a:cs typeface="Calibri"/>
                <a:sym typeface="Calibri"/>
              </a:rPr>
              <a:t>401 NO_AUTORIZADO y no se llama a la IA. La sesión se comprueba antes que la entrada.</a:t>
            </a:r>
            <a:endParaRPr b="0" i="0" spc="0" sz="1300" u="none" cap="none" strike="noStrike">
              <a:solidFill>
                <a:srgbClr val="FFFFFF"/>
              </a:solidFill>
              <a:latin typeface="Arial"/>
              <a:ea typeface="Arial"/>
              <a:cs typeface="Arial"/>
              <a:sym typeface="Arial"/>
            </a:endParaRPr>
          </a:p>
        </p:txBody>
      </p:sp>
      <p:sp>
        <p:nvSpPr>
          <p:cNvPr id="662" name="Google Shape;662;p21"/>
          <p:cNvSpPr/>
          <p:nvPr/>
        </p:nvSpPr>
        <p:spPr>
          <a:xfrm>
            <a:off x="6263640" y="3108960"/>
            <a:ext cx="5394600" cy="2925720"/>
          </a:xfrm>
          <a:prstGeom prst="roundRect">
            <a:avLst>
              <a:gd fmla="val 37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63" name="Google Shape;663;p21"/>
          <p:cNvSpPr/>
          <p:nvPr/>
        </p:nvSpPr>
        <p:spPr>
          <a:xfrm>
            <a:off x="6537960" y="3273480"/>
            <a:ext cx="484596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accent1"/>
                </a:solidFill>
                <a:latin typeface="Calibri"/>
                <a:ea typeface="Calibri"/>
                <a:cs typeface="Calibri"/>
                <a:sym typeface="Calibri"/>
              </a:rPr>
              <a:t>Lo que no hacemos</a:t>
            </a:r>
            <a:endParaRPr b="0" i="0" spc="0" sz="1800" u="none" cap="none" strike="noStrike">
              <a:solidFill>
                <a:srgbClr val="FFFFFF"/>
              </a:solidFill>
              <a:latin typeface="Arial"/>
              <a:ea typeface="Arial"/>
              <a:cs typeface="Arial"/>
              <a:sym typeface="Arial"/>
            </a:endParaRPr>
          </a:p>
        </p:txBody>
      </p:sp>
      <p:sp>
        <p:nvSpPr>
          <p:cNvPr id="664" name="Google Shape;664;p21"/>
          <p:cNvSpPr/>
          <p:nvPr/>
        </p:nvSpPr>
        <p:spPr>
          <a:xfrm>
            <a:off x="6537960" y="3749040"/>
            <a:ext cx="4891680" cy="219420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Nada de tablas de usuarios, roles ni perfiles.</a:t>
            </a:r>
            <a:endParaRPr b="0" i="0" spc="0" sz="1400" u="none" cap="none" strike="noStrike">
              <a:solidFill>
                <a:srgbClr val="FFFFFF"/>
              </a:solidFill>
              <a:latin typeface="Arial"/>
              <a:ea typeface="Arial"/>
              <a:cs typeface="Arial"/>
              <a:sym typeface="Arial"/>
            </a:endParaRPr>
          </a:p>
          <a:p>
            <a:pPr indent="-177840" lvl="0" marL="177840" marR="0" rtl="0" algn="l">
              <a:lnSpc>
                <a:spcPct val="100000"/>
              </a:lnSpc>
              <a:spcBef>
                <a:spcPts val="700"/>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No guardamos peticiones ni resultados en la sesión.</a:t>
            </a:r>
            <a:endParaRPr b="0" i="0" spc="0" sz="1400" u="none" cap="none" strike="noStrike">
              <a:solidFill>
                <a:srgbClr val="FFFFFF"/>
              </a:solidFill>
              <a:latin typeface="Arial"/>
              <a:ea typeface="Arial"/>
              <a:cs typeface="Arial"/>
              <a:sym typeface="Arial"/>
            </a:endParaRPr>
          </a:p>
          <a:p>
            <a:pPr indent="-177840" lvl="0" marL="177840" marR="0" rtl="0" algn="l">
              <a:lnSpc>
                <a:spcPct val="100000"/>
              </a:lnSpc>
              <a:spcBef>
                <a:spcPts val="700"/>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Sin clave secreta de Clerk: en el frontend solo va la clave publishable.</a:t>
            </a:r>
            <a:endParaRPr b="0" i="0" spc="0" sz="1400" u="none" cap="none" strike="noStrike">
              <a:solidFill>
                <a:srgbClr val="FFFFFF"/>
              </a:solidFill>
              <a:latin typeface="Arial"/>
              <a:ea typeface="Arial"/>
              <a:cs typeface="Arial"/>
              <a:sym typeface="Arial"/>
            </a:endParaRPr>
          </a:p>
          <a:p>
            <a:pPr indent="-177840" lvl="0" marL="177840" marR="0" rtl="0" algn="l">
              <a:lnSpc>
                <a:spcPct val="100000"/>
              </a:lnSpc>
              <a:spcBef>
                <a:spcPts val="700"/>
              </a:spcBef>
              <a:spcAft>
                <a:spcPts val="0"/>
              </a:spcAft>
              <a:buClr>
                <a:srgbClr val="FFFFFF"/>
              </a:buClr>
              <a:buSzPts val="1400"/>
              <a:buFont typeface="Noto Sans Symbols"/>
              <a:buChar char="∙"/>
            </a:pPr>
            <a:r>
              <a:rPr b="0" i="0" lang="en-US" spc="0" sz="1400" u="none" cap="none" strike="noStrike">
                <a:solidFill>
                  <a:schemeClr val="lt1"/>
                </a:solidFill>
                <a:latin typeface="Calibri"/>
                <a:ea typeface="Calibri"/>
                <a:cs typeface="Calibri"/>
                <a:sym typeface="Calibri"/>
              </a:rPr>
              <a:t>Ocultar el botón no protege: el backend rechaza la llamada directa sin token (PR-21).</a:t>
            </a:r>
            <a:endParaRPr b="0" i="0" spc="0" sz="1400" u="none" cap="none" strike="noStrike">
              <a:solidFill>
                <a:srgbClr val="FFFFFF"/>
              </a:solidFill>
              <a:latin typeface="Arial"/>
              <a:ea typeface="Arial"/>
              <a:cs typeface="Arial"/>
              <a:sym typeface="Arial"/>
            </a:endParaRPr>
          </a:p>
        </p:txBody>
      </p:sp>
      <p:sp>
        <p:nvSpPr>
          <p:cNvPr id="665" name="Google Shape;665;p21"/>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2"/>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Pruebas automáticas con mocks</a:t>
            </a:r>
            <a:endParaRPr b="0" sz="3400" u="none" strike="noStrike">
              <a:solidFill>
                <a:schemeClr val="dk1"/>
              </a:solidFill>
              <a:latin typeface="Calibri"/>
              <a:ea typeface="Calibri"/>
              <a:cs typeface="Calibri"/>
              <a:sym typeface="Calibri"/>
            </a:endParaRPr>
          </a:p>
        </p:txBody>
      </p:sp>
      <p:sp>
        <p:nvSpPr>
          <p:cNvPr id="671" name="Google Shape;671;p22"/>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PYTEST</a:t>
            </a:r>
            <a:endParaRPr b="0" i="0" sz="1200" u="none" cap="none" strike="noStrike">
              <a:solidFill>
                <a:schemeClr val="dk1"/>
              </a:solidFill>
              <a:latin typeface="Calibri"/>
              <a:ea typeface="Calibri"/>
              <a:cs typeface="Calibri"/>
              <a:sym typeface="Calibri"/>
            </a:endParaRPr>
          </a:p>
        </p:txBody>
      </p:sp>
      <p:sp>
        <p:nvSpPr>
          <p:cNvPr id="672" name="Google Shape;672;p22"/>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73" name="Google Shape;673;p22"/>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674" name="Google Shape;674;p22"/>
          <p:cNvSpPr/>
          <p:nvPr/>
        </p:nvSpPr>
        <p:spPr>
          <a:xfrm>
            <a:off x="548640" y="137160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75" name="Google Shape;675;p22"/>
          <p:cNvSpPr/>
          <p:nvPr/>
        </p:nvSpPr>
        <p:spPr>
          <a:xfrm>
            <a:off x="777240" y="148140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1"/>
                </a:solidFill>
                <a:latin typeface="Calibri"/>
                <a:ea typeface="Calibri"/>
                <a:cs typeface="Calibri"/>
                <a:sym typeface="Calibri"/>
              </a:rPr>
              <a:t>12</a:t>
            </a:r>
            <a:endParaRPr b="0" i="0" spc="0" sz="3400" u="none" cap="none" strike="noStrike">
              <a:solidFill>
                <a:srgbClr val="FFFFFF"/>
              </a:solidFill>
              <a:latin typeface="Arial"/>
              <a:ea typeface="Arial"/>
              <a:cs typeface="Arial"/>
              <a:sym typeface="Arial"/>
            </a:endParaRPr>
          </a:p>
        </p:txBody>
      </p:sp>
      <p:sp>
        <p:nvSpPr>
          <p:cNvPr id="676" name="Google Shape;676;p22"/>
          <p:cNvSpPr/>
          <p:nvPr/>
        </p:nvSpPr>
        <p:spPr>
          <a:xfrm>
            <a:off x="777240" y="211212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pruebas en la App 1 (13/10)</a:t>
            </a:r>
            <a:endParaRPr b="0" i="0" spc="0" sz="1300" u="none" cap="none" strike="noStrike">
              <a:solidFill>
                <a:srgbClr val="FFFFFF"/>
              </a:solidFill>
              <a:latin typeface="Arial"/>
              <a:ea typeface="Arial"/>
              <a:cs typeface="Arial"/>
              <a:sym typeface="Arial"/>
            </a:endParaRPr>
          </a:p>
        </p:txBody>
      </p:sp>
      <p:sp>
        <p:nvSpPr>
          <p:cNvPr id="677" name="Google Shape;677;p22"/>
          <p:cNvSpPr/>
          <p:nvPr/>
        </p:nvSpPr>
        <p:spPr>
          <a:xfrm>
            <a:off x="4316040" y="137160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78" name="Google Shape;678;p22"/>
          <p:cNvSpPr/>
          <p:nvPr/>
        </p:nvSpPr>
        <p:spPr>
          <a:xfrm>
            <a:off x="4544640" y="148140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2"/>
                </a:solidFill>
                <a:latin typeface="Calibri"/>
                <a:ea typeface="Calibri"/>
                <a:cs typeface="Calibri"/>
                <a:sym typeface="Calibri"/>
              </a:rPr>
              <a:t>59</a:t>
            </a:r>
            <a:endParaRPr b="0" i="0" spc="0" sz="3400" u="none" cap="none" strike="noStrike">
              <a:solidFill>
                <a:srgbClr val="FFFFFF"/>
              </a:solidFill>
              <a:latin typeface="Arial"/>
              <a:ea typeface="Arial"/>
              <a:cs typeface="Arial"/>
              <a:sym typeface="Arial"/>
            </a:endParaRPr>
          </a:p>
        </p:txBody>
      </p:sp>
      <p:sp>
        <p:nvSpPr>
          <p:cNvPr id="679" name="Google Shape;679;p22"/>
          <p:cNvSpPr/>
          <p:nvPr/>
        </p:nvSpPr>
        <p:spPr>
          <a:xfrm>
            <a:off x="4544640" y="211212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pruebas en la App 2 (27/10)</a:t>
            </a:r>
            <a:endParaRPr b="0" i="0" spc="0" sz="1300" u="none" cap="none" strike="noStrike">
              <a:solidFill>
                <a:srgbClr val="FFFFFF"/>
              </a:solidFill>
              <a:latin typeface="Arial"/>
              <a:ea typeface="Arial"/>
              <a:cs typeface="Arial"/>
              <a:sym typeface="Arial"/>
            </a:endParaRPr>
          </a:p>
        </p:txBody>
      </p:sp>
      <p:sp>
        <p:nvSpPr>
          <p:cNvPr id="680" name="Google Shape;680;p22"/>
          <p:cNvSpPr/>
          <p:nvPr/>
        </p:nvSpPr>
        <p:spPr>
          <a:xfrm>
            <a:off x="8092440" y="137160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81" name="Google Shape;681;p22"/>
          <p:cNvSpPr/>
          <p:nvPr/>
        </p:nvSpPr>
        <p:spPr>
          <a:xfrm>
            <a:off x="8321040" y="148140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6"/>
                </a:solidFill>
                <a:latin typeface="Calibri"/>
                <a:ea typeface="Calibri"/>
                <a:cs typeface="Calibri"/>
                <a:sym typeface="Calibri"/>
              </a:rPr>
              <a:t>0</a:t>
            </a:r>
            <a:endParaRPr b="0" i="0" spc="0" sz="3400" u="none" cap="none" strike="noStrike">
              <a:solidFill>
                <a:srgbClr val="FFFFFF"/>
              </a:solidFill>
              <a:latin typeface="Arial"/>
              <a:ea typeface="Arial"/>
              <a:cs typeface="Arial"/>
              <a:sym typeface="Arial"/>
            </a:endParaRPr>
          </a:p>
        </p:txBody>
      </p:sp>
      <p:sp>
        <p:nvSpPr>
          <p:cNvPr id="682" name="Google Shape;682;p22"/>
          <p:cNvSpPr/>
          <p:nvPr/>
        </p:nvSpPr>
        <p:spPr>
          <a:xfrm>
            <a:off x="8321040" y="211212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llamadas a la IA real: se simulan la IA y Clerk</a:t>
            </a:r>
            <a:endParaRPr b="0" i="0" spc="0" sz="1300" u="none" cap="none" strike="noStrike">
              <a:solidFill>
                <a:srgbClr val="FFFFFF"/>
              </a:solidFill>
              <a:latin typeface="Arial"/>
              <a:ea typeface="Arial"/>
              <a:cs typeface="Arial"/>
              <a:sym typeface="Arial"/>
            </a:endParaRPr>
          </a:p>
        </p:txBody>
      </p:sp>
      <p:sp>
        <p:nvSpPr>
          <p:cNvPr id="683" name="Google Shape;683;p22"/>
          <p:cNvSpPr/>
          <p:nvPr/>
        </p:nvSpPr>
        <p:spPr>
          <a:xfrm>
            <a:off x="548640" y="2788920"/>
            <a:ext cx="5486040" cy="3245760"/>
          </a:xfrm>
          <a:prstGeom prst="roundRect">
            <a:avLst>
              <a:gd fmla="val 338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84" name="Google Shape;684;p22"/>
          <p:cNvSpPr/>
          <p:nvPr/>
        </p:nvSpPr>
        <p:spPr>
          <a:xfrm>
            <a:off x="822960" y="2944440"/>
            <a:ext cx="493740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accent1"/>
                </a:solidFill>
                <a:latin typeface="Calibri"/>
                <a:ea typeface="Calibri"/>
                <a:cs typeface="Calibri"/>
                <a:sym typeface="Calibri"/>
              </a:rPr>
              <a:t>Qué comprueban</a:t>
            </a:r>
            <a:endParaRPr b="0" i="0" spc="0" sz="1800" u="none" cap="none" strike="noStrike">
              <a:solidFill>
                <a:srgbClr val="FFFFFF"/>
              </a:solidFill>
              <a:latin typeface="Arial"/>
              <a:ea typeface="Arial"/>
              <a:cs typeface="Arial"/>
              <a:sym typeface="Arial"/>
            </a:endParaRPr>
          </a:p>
        </p:txBody>
      </p:sp>
      <p:sp>
        <p:nvSpPr>
          <p:cNvPr id="685" name="Google Shape;685;p22"/>
          <p:cNvSpPr/>
          <p:nvPr/>
        </p:nvSpPr>
        <p:spPr>
          <a:xfrm>
            <a:off x="822960" y="3401640"/>
            <a:ext cx="4983120" cy="2559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Entrada válida: </a:t>
            </a:r>
            <a:r>
              <a:rPr b="0" i="0" lang="en-US" spc="0" sz="1300" u="none" cap="none" strike="noStrike">
                <a:solidFill>
                  <a:schemeClr val="lt2"/>
                </a:solidFill>
                <a:latin typeface="Calibri"/>
                <a:ea typeface="Calibri"/>
                <a:cs typeface="Calibri"/>
                <a:sym typeface="Calibri"/>
              </a:rPr>
              <a:t>200 y una sola llamada al mock.</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Vacío, espacios o 501 caracteres: </a:t>
            </a:r>
            <a:r>
              <a:rPr b="0" i="0" lang="en-US" spc="0" sz="1300" u="none" cap="none" strike="noStrike">
                <a:solidFill>
                  <a:schemeClr val="lt2"/>
                </a:solidFill>
                <a:latin typeface="Calibri"/>
                <a:ea typeface="Calibri"/>
                <a:cs typeface="Calibri"/>
                <a:sym typeface="Calibri"/>
              </a:rPr>
              <a:t>422 sin llamar a la IA (500 pasa).</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IA lenta, caída o rota: </a:t>
            </a:r>
            <a:r>
              <a:rPr b="0" i="0" lang="en-US" spc="0" sz="1300" u="none" cap="none" strike="noStrike">
                <a:solidFill>
                  <a:schemeClr val="lt2"/>
                </a:solidFill>
                <a:latin typeface="Calibri"/>
                <a:ea typeface="Calibri"/>
                <a:cs typeface="Calibri"/>
                <a:sym typeface="Calibri"/>
              </a:rPr>
              <a:t>504 TIMEOUT o 502.</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App 2 · sin token, inválido o caducado: </a:t>
            </a:r>
            <a:r>
              <a:rPr b="0" i="0" lang="en-US" spc="0" sz="1300" u="none" cap="none" strike="noStrike">
                <a:solidFill>
                  <a:schemeClr val="lt2"/>
                </a:solidFill>
                <a:latin typeface="Calibri"/>
                <a:ea typeface="Calibri"/>
                <a:cs typeface="Calibri"/>
                <a:sym typeface="Calibri"/>
              </a:rPr>
              <a:t>401 sin llamar a la IA.</a:t>
            </a:r>
            <a:endParaRPr b="0" i="0" spc="0" sz="1300" u="none" cap="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App 2 · verificador real de Clerk </a:t>
            </a:r>
            <a:r>
              <a:rPr b="0" i="0" lang="en-US" spc="0" sz="1300" u="none" cap="none" strike="noStrike">
                <a:solidFill>
                  <a:schemeClr val="lt2"/>
                </a:solidFill>
                <a:latin typeface="Calibri"/>
                <a:ea typeface="Calibri"/>
                <a:cs typeface="Calibri"/>
                <a:sym typeface="Calibri"/>
              </a:rPr>
              <a:t>con claves de prueba y cliente de Gemini simulado.</a:t>
            </a:r>
            <a:endParaRPr b="0" i="0" spc="0" sz="1300" u="none" cap="none" strike="noStrike">
              <a:solidFill>
                <a:srgbClr val="FFFFFF"/>
              </a:solidFill>
              <a:latin typeface="Arial"/>
              <a:ea typeface="Arial"/>
              <a:cs typeface="Arial"/>
              <a:sym typeface="Arial"/>
            </a:endParaRPr>
          </a:p>
        </p:txBody>
      </p:sp>
      <p:sp>
        <p:nvSpPr>
          <p:cNvPr id="686" name="Google Shape;686;p22"/>
          <p:cNvSpPr/>
          <p:nvPr/>
        </p:nvSpPr>
        <p:spPr>
          <a:xfrm>
            <a:off x="6263640" y="2788920"/>
            <a:ext cx="5394600" cy="3245760"/>
          </a:xfrm>
          <a:prstGeom prst="roundRect">
            <a:avLst>
              <a:gd fmla="val 338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pic>
        <p:nvPicPr>
          <p:cNvPr descr="Ejecución de pytest con los 12 tests de la App 1 en verde" id="687" name="Google Shape;687;p22"/>
          <p:cNvPicPr preferRelativeResize="0"/>
          <p:nvPr/>
        </p:nvPicPr>
        <p:blipFill rotWithShape="1">
          <a:blip r:embed="rId3">
            <a:alphaModFix/>
          </a:blip>
          <a:srcRect b="0" l="0" r="0" t="0"/>
          <a:stretch/>
        </p:blipFill>
        <p:spPr>
          <a:xfrm>
            <a:off x="6446520" y="2971800"/>
            <a:ext cx="5028840" cy="920160"/>
          </a:xfrm>
          <a:prstGeom prst="rect">
            <a:avLst/>
          </a:prstGeom>
          <a:noFill/>
          <a:ln>
            <a:noFill/>
          </a:ln>
        </p:spPr>
      </p:pic>
      <p:sp>
        <p:nvSpPr>
          <p:cNvPr id="688" name="Google Shape;688;p22"/>
          <p:cNvSpPr/>
          <p:nvPr/>
        </p:nvSpPr>
        <p:spPr>
          <a:xfrm>
            <a:off x="6446520" y="3940920"/>
            <a:ext cx="502884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alibri"/>
                <a:ea typeface="Calibri"/>
                <a:cs typeface="Calibri"/>
                <a:sym typeface="Calibri"/>
              </a:rPr>
              <a:t>pytest de la App 1: 12 passed</a:t>
            </a:r>
            <a:endParaRPr b="0" i="0" spc="0" sz="1000" u="none" cap="none" strike="noStrike">
              <a:solidFill>
                <a:srgbClr val="FFFFFF"/>
              </a:solidFill>
              <a:latin typeface="Arial"/>
              <a:ea typeface="Arial"/>
              <a:cs typeface="Arial"/>
              <a:sym typeface="Arial"/>
            </a:endParaRPr>
          </a:p>
        </p:txBody>
      </p:sp>
      <p:sp>
        <p:nvSpPr>
          <p:cNvPr id="689" name="Google Shape;689;p22"/>
          <p:cNvSpPr/>
          <p:nvPr/>
        </p:nvSpPr>
        <p:spPr>
          <a:xfrm>
            <a:off x="6446520" y="4297680"/>
            <a:ext cx="502884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lt1"/>
                </a:solidFill>
                <a:latin typeface="Calibri"/>
                <a:ea typeface="Calibri"/>
                <a:cs typeface="Calibri"/>
                <a:sym typeface="Calibri"/>
              </a:rPr>
              <a:t>Pruebas manuales PR-13 a PR-23: </a:t>
            </a:r>
            <a:r>
              <a:rPr b="0" i="0" lang="en-US" spc="0" sz="1300" u="none" cap="none" strike="noStrike">
                <a:solidFill>
                  <a:schemeClr val="lt2"/>
                </a:solidFill>
                <a:latin typeface="Calibri"/>
                <a:ea typeface="Calibri"/>
                <a:cs typeface="Calibri"/>
                <a:sym typeface="Calibri"/>
              </a:rPr>
              <a:t>IA real con sesión real, accesibilidad a 320 px y ninguna clave en el repo ni en su historial.</a:t>
            </a:r>
            <a:endParaRPr b="0" i="0" spc="0" sz="1300" u="none" cap="none" strike="noStrike">
              <a:solidFill>
                <a:srgbClr val="FFFFFF"/>
              </a:solidFill>
              <a:latin typeface="Arial"/>
              <a:ea typeface="Arial"/>
              <a:cs typeface="Arial"/>
              <a:sym typeface="Arial"/>
            </a:endParaRPr>
          </a:p>
        </p:txBody>
      </p:sp>
      <p:sp>
        <p:nvSpPr>
          <p:cNvPr id="690" name="Google Shape;690;p22"/>
          <p:cNvSpPr/>
          <p:nvPr/>
        </p:nvSpPr>
        <p:spPr>
          <a:xfrm>
            <a:off x="6446520" y="5166360"/>
            <a:ext cx="50288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1" i="0" lang="en-US" spc="0" sz="1300" u="none" cap="none" strike="noStrike">
                <a:solidFill>
                  <a:schemeClr val="accent4"/>
                </a:solidFill>
                <a:latin typeface="Calibri"/>
                <a:ea typeface="Calibri"/>
                <a:cs typeface="Calibri"/>
                <a:sym typeface="Calibri"/>
              </a:rPr>
              <a:t>Lección: </a:t>
            </a:r>
            <a:r>
              <a:rPr b="0" i="0" lang="en-US" spc="0" sz="1300" u="none" cap="none" strike="noStrike">
                <a:solidFill>
                  <a:schemeClr val="lt1"/>
                </a:solidFill>
                <a:latin typeface="Calibri"/>
                <a:ea typeface="Calibri"/>
                <a:cs typeface="Calibri"/>
                <a:sym typeface="Calibri"/>
              </a:rPr>
              <a:t>las 59 pruebas no vieron el fallo del .env. Hay que probar también la configuración real.</a:t>
            </a:r>
            <a:endParaRPr b="0" i="0" spc="0" sz="1300" u="none" cap="none" strike="noStrike">
              <a:solidFill>
                <a:srgbClr val="FFFFFF"/>
              </a:solidFill>
              <a:latin typeface="Arial"/>
              <a:ea typeface="Arial"/>
              <a:cs typeface="Arial"/>
              <a:sym typeface="Arial"/>
            </a:endParaRPr>
          </a:p>
        </p:txBody>
      </p:sp>
      <p:sp>
        <p:nvSpPr>
          <p:cNvPr id="691" name="Google Shape;691;p22"/>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23"/>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Despliegue en Vercel</a:t>
            </a:r>
            <a:endParaRPr b="0" sz="3400" u="none" strike="noStrike">
              <a:solidFill>
                <a:schemeClr val="dk1"/>
              </a:solidFill>
              <a:latin typeface="Calibri"/>
              <a:ea typeface="Calibri"/>
              <a:cs typeface="Calibri"/>
              <a:sym typeface="Calibri"/>
            </a:endParaRPr>
          </a:p>
        </p:txBody>
      </p:sp>
      <p:sp>
        <p:nvSpPr>
          <p:cNvPr id="697" name="Google Shape;697;p23"/>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APP 1 Y APP 2</a:t>
            </a:r>
            <a:endParaRPr b="0" i="0" sz="1200" u="none" cap="none" strike="noStrike">
              <a:solidFill>
                <a:schemeClr val="dk1"/>
              </a:solidFill>
              <a:latin typeface="Calibri"/>
              <a:ea typeface="Calibri"/>
              <a:cs typeface="Calibri"/>
              <a:sym typeface="Calibri"/>
            </a:endParaRPr>
          </a:p>
        </p:txBody>
      </p:sp>
      <p:sp>
        <p:nvSpPr>
          <p:cNvPr id="698" name="Google Shape;698;p23"/>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699" name="Google Shape;699;p23"/>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Jose Antonio Nieto</a:t>
            </a:r>
            <a:endParaRPr b="0" i="0" spc="0" sz="1100" u="none" cap="none" strike="noStrike">
              <a:solidFill>
                <a:srgbClr val="FFFFFF"/>
              </a:solidFill>
              <a:latin typeface="Arial"/>
              <a:ea typeface="Arial"/>
              <a:cs typeface="Arial"/>
              <a:sym typeface="Arial"/>
            </a:endParaRPr>
          </a:p>
        </p:txBody>
      </p:sp>
      <p:sp>
        <p:nvSpPr>
          <p:cNvPr id="700" name="Google Shape;700;p23"/>
          <p:cNvSpPr/>
          <p:nvPr/>
        </p:nvSpPr>
        <p:spPr>
          <a:xfrm>
            <a:off x="548640" y="1371600"/>
            <a:ext cx="5486040" cy="4160160"/>
          </a:xfrm>
          <a:prstGeom prst="roundRect">
            <a:avLst>
              <a:gd fmla="val 2637" name="adj"/>
            </a:avLst>
          </a:prstGeom>
          <a:solidFill>
            <a:schemeClr val="dk2"/>
          </a:solidFill>
          <a:ln cap="flat" cmpd="sng" w="9525">
            <a:solidFill>
              <a:schemeClr val="accent1">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01" name="Google Shape;701;p23"/>
          <p:cNvSpPr/>
          <p:nvPr/>
        </p:nvSpPr>
        <p:spPr>
          <a:xfrm>
            <a:off x="822960" y="1508760"/>
            <a:ext cx="4937400" cy="59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accent1"/>
                </a:solidFill>
                <a:latin typeface="Calibri"/>
                <a:ea typeface="Calibri"/>
                <a:cs typeface="Calibri"/>
                <a:sym typeface="Calibri"/>
              </a:rPr>
              <a:t>App 1</a:t>
            </a:r>
            <a:endParaRPr b="0" i="0" spc="0" sz="18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onsolas"/>
                <a:ea typeface="Consolas"/>
                <a:cs typeface="Consolas"/>
                <a:sym typeface="Consolas"/>
              </a:rPr>
              <a:t>proyectowebia.vercel.app</a:t>
            </a:r>
            <a:endParaRPr b="0" i="0" spc="0" sz="1200" u="none" cap="none" strike="noStrike">
              <a:solidFill>
                <a:srgbClr val="FFFFFF"/>
              </a:solidFill>
              <a:latin typeface="Arial"/>
              <a:ea typeface="Arial"/>
              <a:cs typeface="Arial"/>
              <a:sym typeface="Arial"/>
            </a:endParaRPr>
          </a:p>
        </p:txBody>
      </p:sp>
      <p:sp>
        <p:nvSpPr>
          <p:cNvPr id="702" name="Google Shape;702;p23"/>
          <p:cNvSpPr/>
          <p:nvPr/>
        </p:nvSpPr>
        <p:spPr>
          <a:xfrm>
            <a:off x="822960" y="2194560"/>
            <a:ext cx="4937400" cy="146268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Un proyecto con dos servicios en vercel.json: frontend Vite y backend FastAPI.</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/api/* se reescribe al backend: una sola URL y sin CORS.</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Variables solo en Vercel: GEMINI_API_KEY, GEMINI_MODEL, MAX_TOKENS…</a:t>
            </a:r>
            <a:endParaRPr b="0" i="0" spc="0" sz="1300" u="none" cap="none" strike="noStrike">
              <a:solidFill>
                <a:srgbClr val="FFFFFF"/>
              </a:solidFill>
              <a:latin typeface="Arial"/>
              <a:ea typeface="Arial"/>
              <a:cs typeface="Arial"/>
              <a:sym typeface="Arial"/>
            </a:endParaRPr>
          </a:p>
        </p:txBody>
      </p:sp>
      <p:pic>
        <p:nvPicPr>
          <p:cNvPr descr="Caso de error: 422 desde la URL pública" id="703" name="Google Shape;703;p23"/>
          <p:cNvPicPr preferRelativeResize="0"/>
          <p:nvPr/>
        </p:nvPicPr>
        <p:blipFill rotWithShape="1">
          <a:blip r:embed="rId3">
            <a:alphaModFix/>
          </a:blip>
          <a:srcRect b="0" l="0" r="0" t="0"/>
          <a:stretch/>
        </p:blipFill>
        <p:spPr>
          <a:xfrm>
            <a:off x="822960" y="3703320"/>
            <a:ext cx="4937400" cy="1514880"/>
          </a:xfrm>
          <a:prstGeom prst="rect">
            <a:avLst/>
          </a:prstGeom>
          <a:noFill/>
          <a:ln>
            <a:noFill/>
          </a:ln>
        </p:spPr>
      </p:pic>
      <p:sp>
        <p:nvSpPr>
          <p:cNvPr id="704" name="Google Shape;704;p23"/>
          <p:cNvSpPr/>
          <p:nvPr/>
        </p:nvSpPr>
        <p:spPr>
          <a:xfrm>
            <a:off x="822960" y="5264280"/>
            <a:ext cx="493740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alibri"/>
                <a:ea typeface="Calibri"/>
                <a:cs typeface="Calibri"/>
                <a:sym typeface="Calibri"/>
              </a:rPr>
              <a:t>Caso de error: 422 desde la URL pública</a:t>
            </a:r>
            <a:endParaRPr b="0" i="0" spc="0" sz="1000" u="none" cap="none" strike="noStrike">
              <a:solidFill>
                <a:srgbClr val="FFFFFF"/>
              </a:solidFill>
              <a:latin typeface="Arial"/>
              <a:ea typeface="Arial"/>
              <a:cs typeface="Arial"/>
              <a:sym typeface="Arial"/>
            </a:endParaRPr>
          </a:p>
        </p:txBody>
      </p:sp>
      <p:sp>
        <p:nvSpPr>
          <p:cNvPr id="705" name="Google Shape;705;p23"/>
          <p:cNvSpPr/>
          <p:nvPr/>
        </p:nvSpPr>
        <p:spPr>
          <a:xfrm>
            <a:off x="6263640" y="1371600"/>
            <a:ext cx="5394600" cy="4160160"/>
          </a:xfrm>
          <a:prstGeom prst="roundRect">
            <a:avLst>
              <a:gd fmla="val 2637" name="adj"/>
            </a:avLst>
          </a:prstGeom>
          <a:solidFill>
            <a:schemeClr val="dk2"/>
          </a:solidFill>
          <a:ln cap="flat" cmpd="sng" w="9525">
            <a:solidFill>
              <a:schemeClr val="accent2">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06" name="Google Shape;706;p23"/>
          <p:cNvSpPr/>
          <p:nvPr/>
        </p:nvSpPr>
        <p:spPr>
          <a:xfrm>
            <a:off x="6537960" y="1508760"/>
            <a:ext cx="4845960" cy="59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accent2"/>
                </a:solidFill>
                <a:latin typeface="Calibri"/>
                <a:ea typeface="Calibri"/>
                <a:cs typeface="Calibri"/>
                <a:sym typeface="Calibri"/>
              </a:rPr>
              <a:t>App 2</a:t>
            </a:r>
            <a:endParaRPr b="0" i="0" spc="0" sz="1800" u="none" cap="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onsolas"/>
                <a:ea typeface="Consolas"/>
                <a:cs typeface="Consolas"/>
                <a:sym typeface="Consolas"/>
              </a:rPr>
              <a:t>musicfy-app2.vercel.app</a:t>
            </a:r>
            <a:endParaRPr b="0" i="0" spc="0" sz="1200" u="none" cap="none" strike="noStrike">
              <a:solidFill>
                <a:srgbClr val="FFFFFF"/>
              </a:solidFill>
              <a:latin typeface="Arial"/>
              <a:ea typeface="Arial"/>
              <a:cs typeface="Arial"/>
              <a:sym typeface="Arial"/>
            </a:endParaRPr>
          </a:p>
        </p:txBody>
      </p:sp>
      <p:sp>
        <p:nvSpPr>
          <p:cNvPr id="707" name="Google Shape;707;p23"/>
          <p:cNvSpPr/>
          <p:nvPr/>
        </p:nvSpPr>
        <p:spPr>
          <a:xfrm>
            <a:off x="6537960" y="2194560"/>
            <a:ext cx="4845960" cy="146268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Dos proyectos: musicfy-app2 (Vite) y musicfy-app2-api (FastAPI).</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CORS con ALLOWED_ORIGINS, que también sirve para comprobar el origen del token.</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Frontend: solo VITE_CLERK_PUBLISHABLE_KEY y VITE_API_URL.</a:t>
            </a:r>
            <a:endParaRPr b="0" i="0" spc="0" sz="1300" u="none" cap="none" strike="noStrike">
              <a:solidFill>
                <a:srgbClr val="FFFFFF"/>
              </a:solidFill>
              <a:latin typeface="Arial"/>
              <a:ea typeface="Arial"/>
              <a:cs typeface="Arial"/>
              <a:sym typeface="Arial"/>
            </a:endParaRPr>
          </a:p>
        </p:txBody>
      </p:sp>
      <p:pic>
        <p:nvPicPr>
          <p:cNvPr descr="Caso de error: 401 sin token" id="708" name="Google Shape;708;p23"/>
          <p:cNvPicPr preferRelativeResize="0"/>
          <p:nvPr/>
        </p:nvPicPr>
        <p:blipFill rotWithShape="1">
          <a:blip r:embed="rId4">
            <a:alphaModFix/>
          </a:blip>
          <a:srcRect b="0" l="0" r="0" t="0"/>
          <a:stretch/>
        </p:blipFill>
        <p:spPr>
          <a:xfrm>
            <a:off x="6537960" y="3703320"/>
            <a:ext cx="3634560" cy="999360"/>
          </a:xfrm>
          <a:prstGeom prst="rect">
            <a:avLst/>
          </a:prstGeom>
          <a:noFill/>
          <a:ln>
            <a:noFill/>
          </a:ln>
        </p:spPr>
      </p:pic>
      <p:sp>
        <p:nvSpPr>
          <p:cNvPr id="709" name="Google Shape;709;p23"/>
          <p:cNvSpPr/>
          <p:nvPr/>
        </p:nvSpPr>
        <p:spPr>
          <a:xfrm>
            <a:off x="6537960" y="4748760"/>
            <a:ext cx="484596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000"/>
              <a:buFont typeface="Arial"/>
              <a:buNone/>
            </a:pPr>
            <a:r>
              <a:rPr b="0" i="0" lang="en-US" spc="0" sz="1000" u="none" cap="none" strike="noStrike">
                <a:solidFill>
                  <a:schemeClr val="lt2"/>
                </a:solidFill>
                <a:latin typeface="Calibri"/>
                <a:ea typeface="Calibri"/>
                <a:cs typeface="Calibri"/>
                <a:sym typeface="Calibri"/>
              </a:rPr>
              <a:t>Caso de error: 401 sin token</a:t>
            </a:r>
            <a:endParaRPr b="0" i="0" spc="0" sz="1000" u="none" cap="none" strike="noStrike">
              <a:solidFill>
                <a:srgbClr val="FFFFFF"/>
              </a:solidFill>
              <a:latin typeface="Arial"/>
              <a:ea typeface="Arial"/>
              <a:cs typeface="Arial"/>
              <a:sym typeface="Arial"/>
            </a:endParaRPr>
          </a:p>
        </p:txBody>
      </p:sp>
      <p:sp>
        <p:nvSpPr>
          <p:cNvPr id="710" name="Google Shape;710;p23"/>
          <p:cNvSpPr/>
          <p:nvPr/>
        </p:nvSpPr>
        <p:spPr>
          <a:xfrm>
            <a:off x="548640" y="5669280"/>
            <a:ext cx="11109600" cy="383760"/>
          </a:xfrm>
          <a:prstGeom prst="roundRect">
            <a:avLst>
              <a:gd fmla="val 19048" name="adj"/>
            </a:avLst>
          </a:prstGeom>
          <a:solidFill>
            <a:schemeClr val="dk2"/>
          </a:solidFill>
          <a:ln cap="flat" cmpd="sng" w="9525">
            <a:solidFill>
              <a:schemeClr val="accent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711" name="Google Shape;711;p23"/>
          <p:cNvSpPr/>
          <p:nvPr/>
        </p:nvSpPr>
        <p:spPr>
          <a:xfrm>
            <a:off x="685800" y="5669280"/>
            <a:ext cx="1083528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chemeClr val="accent6"/>
                </a:solidFill>
                <a:latin typeface="Calibri"/>
                <a:ea typeface="Calibri"/>
                <a:cs typeface="Calibri"/>
                <a:sym typeface="Calibri"/>
              </a:rPr>
              <a:t>✓ Vercel CLI 65.5.0:  </a:t>
            </a:r>
            <a:r>
              <a:rPr b="0" i="0" lang="en-US" spc="0" sz="1200" u="none" cap="none" strike="noStrike">
                <a:solidFill>
                  <a:schemeClr val="lt1"/>
                </a:solidFill>
                <a:latin typeface="Calibri"/>
                <a:ea typeface="Calibri"/>
                <a:cs typeface="Calibri"/>
                <a:sym typeface="Calibri"/>
              </a:rPr>
              <a:t>vercel link · vercel env ls (valores ocultos) · vercel ls (despliegues Ready) → docs/evidencias/vercel-cli.png</a:t>
            </a:r>
            <a:endParaRPr b="0" i="0" spc="0" sz="1200" u="none" cap="none" strike="noStrike">
              <a:solidFill>
                <a:srgbClr val="FFFFFF"/>
              </a:solidFill>
              <a:latin typeface="Arial"/>
              <a:ea typeface="Arial"/>
              <a:cs typeface="Arial"/>
              <a:sym typeface="Arial"/>
            </a:endParaRPr>
          </a:p>
        </p:txBody>
      </p:sp>
      <p:sp>
        <p:nvSpPr>
          <p:cNvPr id="712" name="Google Shape;712;p23"/>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p24"/>
          <p:cNvSpPr txBox="1"/>
          <p:nvPr>
            <p:ph type="title"/>
          </p:nvPr>
        </p:nvSpPr>
        <p:spPr>
          <a:xfrm>
            <a:off x="548640" y="320040"/>
            <a:ext cx="8503500" cy="7770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Docker y Co</a:t>
            </a:r>
            <a:r>
              <a:rPr b="1" lang="en-US" sz="3400">
                <a:solidFill>
                  <a:schemeClr val="lt1"/>
                </a:solidFill>
                <a:latin typeface="Calibri"/>
                <a:ea typeface="Calibri"/>
                <a:cs typeface="Calibri"/>
                <a:sym typeface="Calibri"/>
              </a:rPr>
              <a:t>ntenedores</a:t>
            </a:r>
            <a:endParaRPr b="0" sz="3400" u="none" strike="noStrike">
              <a:solidFill>
                <a:schemeClr val="dk1"/>
              </a:solidFill>
              <a:latin typeface="Calibri"/>
              <a:ea typeface="Calibri"/>
              <a:cs typeface="Calibri"/>
              <a:sym typeface="Calibri"/>
            </a:endParaRPr>
          </a:p>
        </p:txBody>
      </p:sp>
      <p:sp>
        <p:nvSpPr>
          <p:cNvPr id="718" name="Google Shape;718;p24"/>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APP 2 EN CONTENEDORES</a:t>
            </a:r>
            <a:endParaRPr b="0" i="0" sz="1200" u="none" cap="none" strike="noStrike">
              <a:solidFill>
                <a:schemeClr val="dk1"/>
              </a:solidFill>
              <a:latin typeface="Calibri"/>
              <a:ea typeface="Calibri"/>
              <a:cs typeface="Calibri"/>
              <a:sym typeface="Calibri"/>
            </a:endParaRPr>
          </a:p>
        </p:txBody>
      </p:sp>
      <p:sp>
        <p:nvSpPr>
          <p:cNvPr id="719" name="Google Shape;719;p24"/>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20" name="Google Shape;720;p24"/>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721" name="Google Shape;721;p24"/>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722" name="Google Shape;722;p24"/>
          <p:cNvSpPr/>
          <p:nvPr/>
        </p:nvSpPr>
        <p:spPr>
          <a:xfrm>
            <a:off x="819150" y="1280120"/>
            <a:ext cx="10553700" cy="2262000"/>
          </a:xfrm>
          <a:prstGeom prst="roundRect">
            <a:avLst>
              <a:gd fmla="val 5334" name="adj"/>
            </a:avLst>
          </a:prstGeom>
          <a:solidFill>
            <a:srgbClr val="1B1829"/>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24"/>
          <p:cNvSpPr/>
          <p:nvPr/>
        </p:nvSpPr>
        <p:spPr>
          <a:xfrm>
            <a:off x="1054100" y="1581249"/>
            <a:ext cx="15114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06BC4"/>
              </a:buClr>
              <a:buSzPts val="2000"/>
              <a:buFont typeface="Arial"/>
              <a:buNone/>
            </a:pPr>
            <a:r>
              <a:rPr b="1" i="0" lang="en-US" sz="2000" u="none" cap="none" strike="noStrike">
                <a:solidFill>
                  <a:srgbClr val="F06BC4"/>
                </a:solidFill>
                <a:latin typeface="Arial"/>
                <a:ea typeface="Arial"/>
                <a:cs typeface="Arial"/>
                <a:sym typeface="Arial"/>
              </a:rPr>
              <a:t>web</a:t>
            </a:r>
            <a:endParaRPr b="0" i="0" sz="2000" u="none" cap="none" strike="noStrike">
              <a:solidFill>
                <a:srgbClr val="F3EFF7"/>
              </a:solidFill>
              <a:latin typeface="Arial"/>
              <a:ea typeface="Arial"/>
              <a:cs typeface="Arial"/>
              <a:sym typeface="Arial"/>
            </a:endParaRPr>
          </a:p>
        </p:txBody>
      </p:sp>
      <p:sp>
        <p:nvSpPr>
          <p:cNvPr id="724" name="Google Shape;724;p24"/>
          <p:cNvSpPr/>
          <p:nvPr/>
        </p:nvSpPr>
        <p:spPr>
          <a:xfrm>
            <a:off x="1054100" y="1911449"/>
            <a:ext cx="1511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300"/>
              <a:buFont typeface="Arial"/>
              <a:buNone/>
            </a:pPr>
            <a:r>
              <a:rPr b="0" i="0" lang="en-US" sz="1300" u="none" cap="none" strike="noStrike">
                <a:solidFill>
                  <a:srgbClr val="A9A3BD"/>
                </a:solidFill>
                <a:latin typeface="Arial"/>
                <a:ea typeface="Arial"/>
                <a:cs typeface="Arial"/>
                <a:sym typeface="Arial"/>
              </a:rPr>
              <a:t>frontend + Caddy</a:t>
            </a:r>
            <a:endParaRPr b="0" i="0" sz="1300" u="none" cap="none" strike="noStrike">
              <a:solidFill>
                <a:srgbClr val="F3EFF7"/>
              </a:solidFill>
              <a:latin typeface="Arial"/>
              <a:ea typeface="Arial"/>
              <a:cs typeface="Arial"/>
              <a:sym typeface="Arial"/>
            </a:endParaRPr>
          </a:p>
        </p:txBody>
      </p:sp>
      <p:sp>
        <p:nvSpPr>
          <p:cNvPr id="725" name="Google Shape;725;p24"/>
          <p:cNvSpPr/>
          <p:nvPr/>
        </p:nvSpPr>
        <p:spPr>
          <a:xfrm>
            <a:off x="2647950" y="1460599"/>
            <a:ext cx="2921100" cy="802500"/>
          </a:xfrm>
          <a:prstGeom prst="roundRect">
            <a:avLst>
              <a:gd fmla="val 10286" name="adj"/>
            </a:avLst>
          </a:prstGeom>
          <a:solidFill>
            <a:srgbClr val="12101C"/>
          </a:solidFill>
          <a:ln cap="flat" cmpd="sng" w="12700">
            <a:solidFill>
              <a:srgbClr val="3A355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24"/>
          <p:cNvSpPr/>
          <p:nvPr/>
        </p:nvSpPr>
        <p:spPr>
          <a:xfrm>
            <a:off x="2806700" y="1593949"/>
            <a:ext cx="2681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3EFF7"/>
              </a:buClr>
              <a:buSzPts val="1500"/>
              <a:buFont typeface="Arial"/>
              <a:buNone/>
            </a:pPr>
            <a:r>
              <a:rPr b="1" i="0" lang="en-US" sz="1500" u="none" cap="none" strike="noStrike">
                <a:solidFill>
                  <a:srgbClr val="F3EFF7"/>
                </a:solidFill>
                <a:latin typeface="Arial"/>
                <a:ea typeface="Arial"/>
                <a:cs typeface="Arial"/>
                <a:sym typeface="Arial"/>
              </a:rPr>
              <a:t>Etapa 1 · node:22</a:t>
            </a:r>
            <a:endParaRPr b="0" i="0" sz="1500" u="none" cap="none" strike="noStrike">
              <a:solidFill>
                <a:srgbClr val="F3EFF7"/>
              </a:solidFill>
              <a:latin typeface="Arial"/>
              <a:ea typeface="Arial"/>
              <a:cs typeface="Arial"/>
              <a:sym typeface="Arial"/>
            </a:endParaRPr>
          </a:p>
        </p:txBody>
      </p:sp>
      <p:sp>
        <p:nvSpPr>
          <p:cNvPr id="727" name="Google Shape;727;p24"/>
          <p:cNvSpPr/>
          <p:nvPr/>
        </p:nvSpPr>
        <p:spPr>
          <a:xfrm>
            <a:off x="2806700" y="1898749"/>
            <a:ext cx="2681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300"/>
              <a:buFont typeface="Arial"/>
              <a:buNone/>
            </a:pPr>
            <a:r>
              <a:rPr b="0" i="0" lang="en-US" sz="1300" u="none" cap="none" strike="noStrike">
                <a:solidFill>
                  <a:srgbClr val="A9A3BD"/>
                </a:solidFill>
                <a:latin typeface="Arial"/>
                <a:ea typeface="Arial"/>
                <a:cs typeface="Arial"/>
                <a:sym typeface="Arial"/>
              </a:rPr>
              <a:t>npm ci · npm run build</a:t>
            </a:r>
            <a:endParaRPr b="0" i="0" sz="1300" u="none" cap="none" strike="noStrike">
              <a:solidFill>
                <a:srgbClr val="F3EFF7"/>
              </a:solidFill>
              <a:latin typeface="Arial"/>
              <a:ea typeface="Arial"/>
              <a:cs typeface="Arial"/>
              <a:sym typeface="Arial"/>
            </a:endParaRPr>
          </a:p>
        </p:txBody>
      </p:sp>
      <p:sp>
        <p:nvSpPr>
          <p:cNvPr id="728" name="Google Shape;728;p24"/>
          <p:cNvSpPr/>
          <p:nvPr/>
        </p:nvSpPr>
        <p:spPr>
          <a:xfrm>
            <a:off x="5702300" y="1630759"/>
            <a:ext cx="396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3CCFD8"/>
              </a:buClr>
              <a:buSzPts val="2600"/>
              <a:buFont typeface="Arial"/>
              <a:buNone/>
            </a:pPr>
            <a:r>
              <a:rPr b="0" i="0" lang="en-US" sz="2600" u="none" cap="none" strike="noStrike">
                <a:solidFill>
                  <a:srgbClr val="3CCFD8"/>
                </a:solidFill>
                <a:latin typeface="Arial"/>
                <a:ea typeface="Arial"/>
                <a:cs typeface="Arial"/>
                <a:sym typeface="Arial"/>
              </a:rPr>
              <a:t>→</a:t>
            </a:r>
            <a:endParaRPr b="0" i="0" sz="2600" u="none" cap="none" strike="noStrike">
              <a:solidFill>
                <a:srgbClr val="F3EFF7"/>
              </a:solidFill>
              <a:latin typeface="Arial"/>
              <a:ea typeface="Arial"/>
              <a:cs typeface="Arial"/>
              <a:sym typeface="Arial"/>
            </a:endParaRPr>
          </a:p>
        </p:txBody>
      </p:sp>
      <p:sp>
        <p:nvSpPr>
          <p:cNvPr id="729" name="Google Shape;729;p24"/>
          <p:cNvSpPr/>
          <p:nvPr/>
        </p:nvSpPr>
        <p:spPr>
          <a:xfrm>
            <a:off x="6165850" y="1460599"/>
            <a:ext cx="2921100" cy="802500"/>
          </a:xfrm>
          <a:prstGeom prst="roundRect">
            <a:avLst>
              <a:gd fmla="val 10286" name="adj"/>
            </a:avLst>
          </a:prstGeom>
          <a:solidFill>
            <a:srgbClr val="12101C"/>
          </a:solidFill>
          <a:ln cap="flat" cmpd="sng" w="12700">
            <a:solidFill>
              <a:srgbClr val="3A355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0" name="Google Shape;730;p24"/>
          <p:cNvSpPr/>
          <p:nvPr/>
        </p:nvSpPr>
        <p:spPr>
          <a:xfrm>
            <a:off x="6324600" y="1593949"/>
            <a:ext cx="2681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3EFF7"/>
              </a:buClr>
              <a:buSzPts val="1500"/>
              <a:buFont typeface="Arial"/>
              <a:buNone/>
            </a:pPr>
            <a:r>
              <a:rPr b="1" i="0" lang="en-US" sz="1500" u="none" cap="none" strike="noStrike">
                <a:solidFill>
                  <a:srgbClr val="F3EFF7"/>
                </a:solidFill>
                <a:latin typeface="Arial"/>
                <a:ea typeface="Arial"/>
                <a:cs typeface="Arial"/>
                <a:sym typeface="Arial"/>
              </a:rPr>
              <a:t>Etapa 2 · caddy:2</a:t>
            </a:r>
            <a:endParaRPr b="0" i="0" sz="1500" u="none" cap="none" strike="noStrike">
              <a:solidFill>
                <a:srgbClr val="F3EFF7"/>
              </a:solidFill>
              <a:latin typeface="Arial"/>
              <a:ea typeface="Arial"/>
              <a:cs typeface="Arial"/>
              <a:sym typeface="Arial"/>
            </a:endParaRPr>
          </a:p>
        </p:txBody>
      </p:sp>
      <p:sp>
        <p:nvSpPr>
          <p:cNvPr id="731" name="Google Shape;731;p24"/>
          <p:cNvSpPr/>
          <p:nvPr/>
        </p:nvSpPr>
        <p:spPr>
          <a:xfrm>
            <a:off x="6324600" y="1898749"/>
            <a:ext cx="2681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300"/>
              <a:buFont typeface="Arial"/>
              <a:buNone/>
            </a:pPr>
            <a:r>
              <a:rPr b="0" i="0" lang="en-US" sz="1300" u="none" cap="none" strike="noStrike">
                <a:solidFill>
                  <a:srgbClr val="A9A3BD"/>
                </a:solidFill>
                <a:latin typeface="Arial"/>
                <a:ea typeface="Arial"/>
                <a:cs typeface="Arial"/>
                <a:sym typeface="Arial"/>
              </a:rPr>
              <a:t>copia dist a /srv + Caddyfile</a:t>
            </a:r>
            <a:endParaRPr b="0" i="0" sz="1300" u="none" cap="none" strike="noStrike">
              <a:solidFill>
                <a:srgbClr val="F3EFF7"/>
              </a:solidFill>
              <a:latin typeface="Arial"/>
              <a:ea typeface="Arial"/>
              <a:cs typeface="Arial"/>
              <a:sym typeface="Arial"/>
            </a:endParaRPr>
          </a:p>
        </p:txBody>
      </p:sp>
      <p:sp>
        <p:nvSpPr>
          <p:cNvPr id="732" name="Google Shape;732;p24"/>
          <p:cNvSpPr/>
          <p:nvPr/>
        </p:nvSpPr>
        <p:spPr>
          <a:xfrm>
            <a:off x="9220200" y="1630759"/>
            <a:ext cx="396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3CCFD8"/>
              </a:buClr>
              <a:buSzPts val="2600"/>
              <a:buFont typeface="Arial"/>
              <a:buNone/>
            </a:pPr>
            <a:r>
              <a:rPr b="0" i="0" lang="en-US" sz="2600" u="none" cap="none" strike="noStrike">
                <a:solidFill>
                  <a:srgbClr val="3CCFD8"/>
                </a:solidFill>
                <a:latin typeface="Arial"/>
                <a:ea typeface="Arial"/>
                <a:cs typeface="Arial"/>
                <a:sym typeface="Arial"/>
              </a:rPr>
              <a:t>→</a:t>
            </a:r>
            <a:endParaRPr b="0" i="0" sz="2600" u="none" cap="none" strike="noStrike">
              <a:solidFill>
                <a:srgbClr val="F3EFF7"/>
              </a:solidFill>
              <a:latin typeface="Arial"/>
              <a:ea typeface="Arial"/>
              <a:cs typeface="Arial"/>
              <a:sym typeface="Arial"/>
            </a:endParaRPr>
          </a:p>
        </p:txBody>
      </p:sp>
      <p:sp>
        <p:nvSpPr>
          <p:cNvPr id="733" name="Google Shape;733;p24"/>
          <p:cNvSpPr/>
          <p:nvPr/>
        </p:nvSpPr>
        <p:spPr>
          <a:xfrm>
            <a:off x="9683750" y="1595140"/>
            <a:ext cx="1447800" cy="533400"/>
          </a:xfrm>
          <a:prstGeom prst="roundRect">
            <a:avLst>
              <a:gd fmla="val 15476" name="adj"/>
            </a:avLst>
          </a:prstGeom>
          <a:noFill/>
          <a:ln cap="flat" cmpd="sng" w="12700">
            <a:solidFill>
              <a:srgbClr val="3CCFD8"/>
            </a:solidFill>
            <a:prstDash val="solid"/>
            <a:round/>
            <a:headEnd len="sm" w="sm" type="none"/>
            <a:tailEnd len="sm" w="sm" type="none"/>
          </a:ln>
        </p:spPr>
        <p:txBody>
          <a:bodyPr anchorCtr="0" anchor="t" bIns="83750" lIns="83750" spcFirstLastPara="1" rIns="83750" wrap="square" tIns="109150">
            <a:noAutofit/>
          </a:bodyPr>
          <a:lstStyle/>
          <a:p>
            <a:pPr indent="0" lvl="0" marL="0" marR="0" rtl="0" algn="ctr">
              <a:lnSpc>
                <a:spcPct val="140000"/>
              </a:lnSpc>
              <a:spcBef>
                <a:spcPts val="0"/>
              </a:spcBef>
              <a:spcAft>
                <a:spcPts val="0"/>
              </a:spcAft>
              <a:buClr>
                <a:srgbClr val="3CCFD8"/>
              </a:buClr>
              <a:buSzPts val="1500"/>
              <a:buFont typeface="Arial"/>
              <a:buNone/>
            </a:pPr>
            <a:r>
              <a:rPr b="1" i="0" lang="en-US" sz="1500" u="none" cap="none" strike="noStrike">
                <a:solidFill>
                  <a:srgbClr val="3CCFD8"/>
                </a:solidFill>
                <a:latin typeface="Arial"/>
                <a:ea typeface="Arial"/>
                <a:cs typeface="Arial"/>
                <a:sym typeface="Arial"/>
              </a:rPr>
              <a:t>Imagen web</a:t>
            </a:r>
            <a:endParaRPr b="0" i="0" sz="1500" u="none" cap="none" strike="noStrike">
              <a:solidFill>
                <a:srgbClr val="F3EFF7"/>
              </a:solidFill>
              <a:latin typeface="Arial"/>
              <a:ea typeface="Arial"/>
              <a:cs typeface="Arial"/>
              <a:sym typeface="Arial"/>
            </a:endParaRPr>
          </a:p>
        </p:txBody>
      </p:sp>
      <p:sp>
        <p:nvSpPr>
          <p:cNvPr id="734" name="Google Shape;734;p24"/>
          <p:cNvSpPr/>
          <p:nvPr/>
        </p:nvSpPr>
        <p:spPr>
          <a:xfrm>
            <a:off x="1054100" y="2566095"/>
            <a:ext cx="1511400" cy="3303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06BC4"/>
              </a:buClr>
              <a:buSzPts val="2000"/>
              <a:buFont typeface="Arial"/>
              <a:buNone/>
            </a:pPr>
            <a:r>
              <a:rPr b="1" i="0" lang="en-US" sz="2000" u="none" cap="none" strike="noStrike">
                <a:solidFill>
                  <a:srgbClr val="F06BC4"/>
                </a:solidFill>
                <a:latin typeface="Arial"/>
                <a:ea typeface="Arial"/>
                <a:cs typeface="Arial"/>
                <a:sym typeface="Arial"/>
              </a:rPr>
              <a:t>api</a:t>
            </a:r>
            <a:endParaRPr b="0" i="0" sz="2000" u="none" cap="none" strike="noStrike">
              <a:solidFill>
                <a:srgbClr val="F3EFF7"/>
              </a:solidFill>
              <a:latin typeface="Arial"/>
              <a:ea typeface="Arial"/>
              <a:cs typeface="Arial"/>
              <a:sym typeface="Arial"/>
            </a:endParaRPr>
          </a:p>
        </p:txBody>
      </p:sp>
      <p:sp>
        <p:nvSpPr>
          <p:cNvPr id="735" name="Google Shape;735;p24"/>
          <p:cNvSpPr/>
          <p:nvPr/>
        </p:nvSpPr>
        <p:spPr>
          <a:xfrm>
            <a:off x="1054100" y="2896295"/>
            <a:ext cx="1511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300"/>
              <a:buFont typeface="Arial"/>
              <a:buNone/>
            </a:pPr>
            <a:r>
              <a:rPr b="0" i="0" lang="en-US" sz="1300" u="none" cap="none" strike="noStrike">
                <a:solidFill>
                  <a:srgbClr val="A9A3BD"/>
                </a:solidFill>
                <a:latin typeface="Arial"/>
                <a:ea typeface="Arial"/>
                <a:cs typeface="Arial"/>
                <a:sym typeface="Arial"/>
              </a:rPr>
              <a:t>FastAPI</a:t>
            </a:r>
            <a:endParaRPr b="0" i="0" sz="1300" u="none" cap="none" strike="noStrike">
              <a:solidFill>
                <a:srgbClr val="F3EFF7"/>
              </a:solidFill>
              <a:latin typeface="Arial"/>
              <a:ea typeface="Arial"/>
              <a:cs typeface="Arial"/>
              <a:sym typeface="Arial"/>
            </a:endParaRPr>
          </a:p>
        </p:txBody>
      </p:sp>
      <p:sp>
        <p:nvSpPr>
          <p:cNvPr id="736" name="Google Shape;736;p24"/>
          <p:cNvSpPr/>
          <p:nvPr/>
        </p:nvSpPr>
        <p:spPr>
          <a:xfrm>
            <a:off x="2647950" y="2445445"/>
            <a:ext cx="2921100" cy="802500"/>
          </a:xfrm>
          <a:prstGeom prst="roundRect">
            <a:avLst>
              <a:gd fmla="val 10286" name="adj"/>
            </a:avLst>
          </a:prstGeom>
          <a:solidFill>
            <a:srgbClr val="12101C"/>
          </a:solidFill>
          <a:ln cap="flat" cmpd="sng" w="12700">
            <a:solidFill>
              <a:srgbClr val="3A355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24"/>
          <p:cNvSpPr/>
          <p:nvPr/>
        </p:nvSpPr>
        <p:spPr>
          <a:xfrm>
            <a:off x="2806700" y="2578795"/>
            <a:ext cx="2681700" cy="292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3EFF7"/>
              </a:buClr>
              <a:buSzPts val="1500"/>
              <a:buFont typeface="Arial"/>
              <a:buNone/>
            </a:pPr>
            <a:r>
              <a:rPr b="1" i="0" lang="en-US" sz="1500" u="none" cap="none" strike="noStrike">
                <a:solidFill>
                  <a:srgbClr val="F3EFF7"/>
                </a:solidFill>
                <a:latin typeface="Arial"/>
                <a:ea typeface="Arial"/>
                <a:cs typeface="Arial"/>
                <a:sym typeface="Arial"/>
              </a:rPr>
              <a:t>Base · python:3.12-slim</a:t>
            </a:r>
            <a:endParaRPr b="0" i="0" sz="1500" u="none" cap="none" strike="noStrike">
              <a:solidFill>
                <a:srgbClr val="F3EFF7"/>
              </a:solidFill>
              <a:latin typeface="Arial"/>
              <a:ea typeface="Arial"/>
              <a:cs typeface="Arial"/>
              <a:sym typeface="Arial"/>
            </a:endParaRPr>
          </a:p>
        </p:txBody>
      </p:sp>
      <p:sp>
        <p:nvSpPr>
          <p:cNvPr id="738" name="Google Shape;738;p24"/>
          <p:cNvSpPr/>
          <p:nvPr/>
        </p:nvSpPr>
        <p:spPr>
          <a:xfrm>
            <a:off x="2806700" y="2883595"/>
            <a:ext cx="2681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300"/>
              <a:buFont typeface="Arial"/>
              <a:buNone/>
            </a:pPr>
            <a:r>
              <a:rPr b="0" i="0" lang="en-US" sz="1300" u="none" cap="none" strike="noStrike">
                <a:solidFill>
                  <a:srgbClr val="A9A3BD"/>
                </a:solidFill>
                <a:latin typeface="Arial"/>
                <a:ea typeface="Arial"/>
                <a:cs typeface="Arial"/>
                <a:sym typeface="Arial"/>
              </a:rPr>
              <a:t>pip install requirements.txt</a:t>
            </a:r>
            <a:endParaRPr b="0" i="0" sz="1300" u="none" cap="none" strike="noStrike">
              <a:solidFill>
                <a:srgbClr val="F3EFF7"/>
              </a:solidFill>
              <a:latin typeface="Arial"/>
              <a:ea typeface="Arial"/>
              <a:cs typeface="Arial"/>
              <a:sym typeface="Arial"/>
            </a:endParaRPr>
          </a:p>
        </p:txBody>
      </p:sp>
      <p:sp>
        <p:nvSpPr>
          <p:cNvPr id="739" name="Google Shape;739;p24"/>
          <p:cNvSpPr/>
          <p:nvPr/>
        </p:nvSpPr>
        <p:spPr>
          <a:xfrm>
            <a:off x="5702300" y="2615605"/>
            <a:ext cx="396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3CCFD8"/>
              </a:buClr>
              <a:buSzPts val="2600"/>
              <a:buFont typeface="Arial"/>
              <a:buNone/>
            </a:pPr>
            <a:r>
              <a:rPr b="0" i="0" lang="en-US" sz="2600" u="none" cap="none" strike="noStrike">
                <a:solidFill>
                  <a:srgbClr val="3CCFD8"/>
                </a:solidFill>
                <a:latin typeface="Arial"/>
                <a:ea typeface="Arial"/>
                <a:cs typeface="Arial"/>
                <a:sym typeface="Arial"/>
              </a:rPr>
              <a:t>→</a:t>
            </a:r>
            <a:endParaRPr b="0" i="0" sz="2600" u="none" cap="none" strike="noStrike">
              <a:solidFill>
                <a:srgbClr val="F3EFF7"/>
              </a:solidFill>
              <a:latin typeface="Arial"/>
              <a:ea typeface="Arial"/>
              <a:cs typeface="Arial"/>
              <a:sym typeface="Arial"/>
            </a:endParaRPr>
          </a:p>
        </p:txBody>
      </p:sp>
      <p:sp>
        <p:nvSpPr>
          <p:cNvPr id="740" name="Google Shape;740;p24"/>
          <p:cNvSpPr/>
          <p:nvPr/>
        </p:nvSpPr>
        <p:spPr>
          <a:xfrm>
            <a:off x="6165850" y="2312194"/>
            <a:ext cx="2921100" cy="1069200"/>
          </a:xfrm>
          <a:prstGeom prst="roundRect">
            <a:avLst>
              <a:gd fmla="val 7720" name="adj"/>
            </a:avLst>
          </a:prstGeom>
          <a:solidFill>
            <a:srgbClr val="12101C"/>
          </a:solidFill>
          <a:ln cap="flat" cmpd="sng" w="12700">
            <a:solidFill>
              <a:srgbClr val="3A355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1" name="Google Shape;741;p24"/>
          <p:cNvSpPr/>
          <p:nvPr/>
        </p:nvSpPr>
        <p:spPr>
          <a:xfrm>
            <a:off x="6324600" y="2445544"/>
            <a:ext cx="2681700" cy="558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3EFF7"/>
              </a:buClr>
              <a:buSzPts val="1500"/>
              <a:buFont typeface="Arial"/>
              <a:buNone/>
            </a:pPr>
            <a:r>
              <a:rPr b="1" i="0" lang="en-US" sz="1500" u="none" cap="none" strike="noStrike">
                <a:solidFill>
                  <a:srgbClr val="F3EFF7"/>
                </a:solidFill>
                <a:latin typeface="Arial"/>
                <a:ea typeface="Arial"/>
                <a:cs typeface="Arial"/>
                <a:sym typeface="Arial"/>
              </a:rPr>
              <a:t>Copia app/ y arranca Uvicorn</a:t>
            </a:r>
            <a:endParaRPr b="0" i="0" sz="1500" u="none" cap="none" strike="noStrike">
              <a:solidFill>
                <a:srgbClr val="F3EFF7"/>
              </a:solidFill>
              <a:latin typeface="Arial"/>
              <a:ea typeface="Arial"/>
              <a:cs typeface="Arial"/>
              <a:sym typeface="Arial"/>
            </a:endParaRPr>
          </a:p>
        </p:txBody>
      </p:sp>
      <p:sp>
        <p:nvSpPr>
          <p:cNvPr id="742" name="Google Shape;742;p24"/>
          <p:cNvSpPr/>
          <p:nvPr/>
        </p:nvSpPr>
        <p:spPr>
          <a:xfrm>
            <a:off x="6324600" y="3017044"/>
            <a:ext cx="26817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300"/>
              <a:buFont typeface="Arial"/>
              <a:buNone/>
            </a:pPr>
            <a:r>
              <a:rPr b="0" i="0" lang="en-US" sz="1300" u="none" cap="none" strike="noStrike">
                <a:solidFill>
                  <a:srgbClr val="A9A3BD"/>
                </a:solidFill>
                <a:latin typeface="Arial"/>
                <a:ea typeface="Arial"/>
                <a:cs typeface="Arial"/>
                <a:sym typeface="Arial"/>
              </a:rPr>
              <a:t>puerto 8000, solo red interna</a:t>
            </a:r>
            <a:endParaRPr b="0" i="0" sz="1300" u="none" cap="none" strike="noStrike">
              <a:solidFill>
                <a:srgbClr val="F3EFF7"/>
              </a:solidFill>
              <a:latin typeface="Arial"/>
              <a:ea typeface="Arial"/>
              <a:cs typeface="Arial"/>
              <a:sym typeface="Arial"/>
            </a:endParaRPr>
          </a:p>
        </p:txBody>
      </p:sp>
      <p:sp>
        <p:nvSpPr>
          <p:cNvPr id="743" name="Google Shape;743;p24"/>
          <p:cNvSpPr/>
          <p:nvPr/>
        </p:nvSpPr>
        <p:spPr>
          <a:xfrm>
            <a:off x="9220200" y="2615605"/>
            <a:ext cx="396300" cy="487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3CCFD8"/>
              </a:buClr>
              <a:buSzPts val="2600"/>
              <a:buFont typeface="Arial"/>
              <a:buNone/>
            </a:pPr>
            <a:r>
              <a:rPr b="0" i="0" lang="en-US" sz="2600" u="none" cap="none" strike="noStrike">
                <a:solidFill>
                  <a:srgbClr val="3CCFD8"/>
                </a:solidFill>
                <a:latin typeface="Arial"/>
                <a:ea typeface="Arial"/>
                <a:cs typeface="Arial"/>
                <a:sym typeface="Arial"/>
              </a:rPr>
              <a:t>→</a:t>
            </a:r>
            <a:endParaRPr b="0" i="0" sz="2600" u="none" cap="none" strike="noStrike">
              <a:solidFill>
                <a:srgbClr val="F3EFF7"/>
              </a:solidFill>
              <a:latin typeface="Arial"/>
              <a:ea typeface="Arial"/>
              <a:cs typeface="Arial"/>
              <a:sym typeface="Arial"/>
            </a:endParaRPr>
          </a:p>
        </p:txBody>
      </p:sp>
      <p:sp>
        <p:nvSpPr>
          <p:cNvPr id="744" name="Google Shape;744;p24"/>
          <p:cNvSpPr/>
          <p:nvPr/>
        </p:nvSpPr>
        <p:spPr>
          <a:xfrm>
            <a:off x="9683750" y="2580084"/>
            <a:ext cx="1447800" cy="533400"/>
          </a:xfrm>
          <a:prstGeom prst="roundRect">
            <a:avLst>
              <a:gd fmla="val 15476" name="adj"/>
            </a:avLst>
          </a:prstGeom>
          <a:noFill/>
          <a:ln cap="flat" cmpd="sng" w="12700">
            <a:solidFill>
              <a:srgbClr val="3CCFD8"/>
            </a:solidFill>
            <a:prstDash val="solid"/>
            <a:round/>
            <a:headEnd len="sm" w="sm" type="none"/>
            <a:tailEnd len="sm" w="sm" type="none"/>
          </a:ln>
        </p:spPr>
        <p:txBody>
          <a:bodyPr anchorCtr="0" anchor="t" bIns="83750" lIns="83750" spcFirstLastPara="1" rIns="83750" wrap="square" tIns="109150">
            <a:noAutofit/>
          </a:bodyPr>
          <a:lstStyle/>
          <a:p>
            <a:pPr indent="0" lvl="0" marL="0" marR="0" rtl="0" algn="ctr">
              <a:lnSpc>
                <a:spcPct val="140000"/>
              </a:lnSpc>
              <a:spcBef>
                <a:spcPts val="0"/>
              </a:spcBef>
              <a:spcAft>
                <a:spcPts val="0"/>
              </a:spcAft>
              <a:buClr>
                <a:srgbClr val="3CCFD8"/>
              </a:buClr>
              <a:buSzPts val="1500"/>
              <a:buFont typeface="Arial"/>
              <a:buNone/>
            </a:pPr>
            <a:r>
              <a:rPr b="1" i="0" lang="en-US" sz="1500" u="none" cap="none" strike="noStrike">
                <a:solidFill>
                  <a:srgbClr val="3CCFD8"/>
                </a:solidFill>
                <a:latin typeface="Arial"/>
                <a:ea typeface="Arial"/>
                <a:cs typeface="Arial"/>
                <a:sym typeface="Arial"/>
              </a:rPr>
              <a:t>Imagen api</a:t>
            </a:r>
            <a:endParaRPr b="0" i="0" sz="1500" u="none" cap="none" strike="noStrike">
              <a:solidFill>
                <a:srgbClr val="F3EFF7"/>
              </a:solidFill>
              <a:latin typeface="Arial"/>
              <a:ea typeface="Arial"/>
              <a:cs typeface="Arial"/>
              <a:sym typeface="Arial"/>
            </a:endParaRPr>
          </a:p>
        </p:txBody>
      </p:sp>
      <p:sp>
        <p:nvSpPr>
          <p:cNvPr id="745" name="Google Shape;745;p24"/>
          <p:cNvSpPr/>
          <p:nvPr/>
        </p:nvSpPr>
        <p:spPr>
          <a:xfrm>
            <a:off x="819150" y="3808710"/>
            <a:ext cx="3390900" cy="2026800"/>
          </a:xfrm>
          <a:prstGeom prst="roundRect">
            <a:avLst>
              <a:gd fmla="val 5952" name="adj"/>
            </a:avLst>
          </a:prstGeom>
          <a:solidFill>
            <a:srgbClr val="1B1829"/>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6" name="Google Shape;746;p24"/>
          <p:cNvSpPr/>
          <p:nvPr/>
        </p:nvSpPr>
        <p:spPr>
          <a:xfrm>
            <a:off x="1028700" y="3992860"/>
            <a:ext cx="30609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06BC4"/>
              </a:buClr>
              <a:buSzPts val="1700"/>
              <a:buFont typeface="Arial"/>
              <a:buNone/>
            </a:pPr>
            <a:r>
              <a:rPr b="1" i="0" lang="en-US" sz="1700" u="none" cap="none" strike="noStrike">
                <a:solidFill>
                  <a:srgbClr val="F06BC4"/>
                </a:solidFill>
                <a:latin typeface="Arial"/>
                <a:ea typeface="Arial"/>
                <a:cs typeface="Arial"/>
                <a:sym typeface="Arial"/>
              </a:rPr>
              <a:t>docker-compose.yml</a:t>
            </a:r>
            <a:endParaRPr b="0" i="0" sz="1700" u="none" cap="none" strike="noStrike">
              <a:solidFill>
                <a:srgbClr val="F3EFF7"/>
              </a:solidFill>
              <a:latin typeface="Arial"/>
              <a:ea typeface="Arial"/>
              <a:cs typeface="Arial"/>
              <a:sym typeface="Arial"/>
            </a:endParaRPr>
          </a:p>
        </p:txBody>
      </p:sp>
      <p:sp>
        <p:nvSpPr>
          <p:cNvPr id="747" name="Google Shape;747;p24"/>
          <p:cNvSpPr/>
          <p:nvPr/>
        </p:nvSpPr>
        <p:spPr>
          <a:xfrm>
            <a:off x="1126744" y="4328120"/>
            <a:ext cx="2955300" cy="949800"/>
          </a:xfrm>
          <a:prstGeom prst="rect">
            <a:avLst/>
          </a:prstGeom>
          <a:noFill/>
          <a:ln>
            <a:noFill/>
          </a:ln>
        </p:spPr>
        <p:txBody>
          <a:bodyPr anchorCtr="0" anchor="t" bIns="0" lIns="0" spcFirstLastPara="1" rIns="0" wrap="square" tIns="0">
            <a:noAutofit/>
          </a:bodyPr>
          <a:lstStyle/>
          <a:p>
            <a:pPr indent="-155956" lvl="0" marL="155956" marR="0" rtl="0" algn="l">
              <a:lnSpc>
                <a:spcPct val="140000"/>
              </a:lnSpc>
              <a:spcBef>
                <a:spcPts val="0"/>
              </a:spcBef>
              <a:spcAft>
                <a:spcPts val="0"/>
              </a:spcAft>
              <a:buClr>
                <a:srgbClr val="D9D4E6"/>
              </a:buClr>
              <a:buSzPts val="1300"/>
              <a:buFont typeface="Arial"/>
              <a:buChar char="•"/>
            </a:pPr>
            <a:r>
              <a:rPr b="0" i="0" lang="en-US" sz="1300" u="none" cap="none" strike="noStrike">
                <a:solidFill>
                  <a:srgbClr val="D9D4E6"/>
                </a:solidFill>
                <a:latin typeface="Arial"/>
                <a:ea typeface="Arial"/>
                <a:cs typeface="Arial"/>
                <a:sym typeface="Arial"/>
              </a:rPr>
              <a:t>api: expose 8000, sin puerto público</a:t>
            </a:r>
            <a:endParaRPr b="0" i="0" sz="1300" u="none" cap="none" strike="noStrike">
              <a:solidFill>
                <a:srgbClr val="F3EFF7"/>
              </a:solidFill>
              <a:latin typeface="Arial"/>
              <a:ea typeface="Arial"/>
              <a:cs typeface="Arial"/>
              <a:sym typeface="Arial"/>
            </a:endParaRPr>
          </a:p>
          <a:p>
            <a:pPr indent="-155956" lvl="0" marL="155956" marR="0" rtl="0" algn="l">
              <a:lnSpc>
                <a:spcPct val="140000"/>
              </a:lnSpc>
              <a:spcBef>
                <a:spcPts val="0"/>
              </a:spcBef>
              <a:spcAft>
                <a:spcPts val="0"/>
              </a:spcAft>
              <a:buClr>
                <a:srgbClr val="D9D4E6"/>
              </a:buClr>
              <a:buSzPts val="1300"/>
              <a:buFont typeface="Arial"/>
              <a:buChar char="•"/>
            </a:pPr>
            <a:r>
              <a:rPr b="0" i="0" lang="en-US" sz="1300" u="none" cap="none" strike="noStrike">
                <a:solidFill>
                  <a:srgbClr val="D9D4E6"/>
                </a:solidFill>
                <a:latin typeface="Arial"/>
                <a:ea typeface="Arial"/>
                <a:cs typeface="Arial"/>
                <a:sym typeface="Arial"/>
              </a:rPr>
              <a:t>web: puertos 80 y 443, depends_on api</a:t>
            </a:r>
            <a:endParaRPr b="0" i="0" sz="1300" u="none" cap="none" strike="noStrike">
              <a:solidFill>
                <a:srgbClr val="F3EFF7"/>
              </a:solidFill>
              <a:latin typeface="Arial"/>
              <a:ea typeface="Arial"/>
              <a:cs typeface="Arial"/>
              <a:sym typeface="Arial"/>
            </a:endParaRPr>
          </a:p>
          <a:p>
            <a:pPr indent="-155956" lvl="0" marL="155956" marR="0" rtl="0" algn="l">
              <a:lnSpc>
                <a:spcPct val="140000"/>
              </a:lnSpc>
              <a:spcBef>
                <a:spcPts val="0"/>
              </a:spcBef>
              <a:spcAft>
                <a:spcPts val="0"/>
              </a:spcAft>
              <a:buClr>
                <a:srgbClr val="D9D4E6"/>
              </a:buClr>
              <a:buSzPts val="1300"/>
              <a:buFont typeface="Arial"/>
              <a:buChar char="•"/>
            </a:pPr>
            <a:r>
              <a:rPr b="0" i="0" lang="en-US" sz="1300" u="none" cap="none" strike="noStrike">
                <a:solidFill>
                  <a:srgbClr val="D9D4E6"/>
                </a:solidFill>
                <a:latin typeface="Arial"/>
                <a:ea typeface="Arial"/>
                <a:cs typeface="Arial"/>
                <a:sym typeface="Arial"/>
              </a:rPr>
              <a:t>restart: unless-stopped en los dos</a:t>
            </a:r>
            <a:endParaRPr b="0" i="0" sz="1300" u="none" cap="none" strike="noStrike">
              <a:solidFill>
                <a:srgbClr val="F3EFF7"/>
              </a:solidFill>
              <a:latin typeface="Arial"/>
              <a:ea typeface="Arial"/>
              <a:cs typeface="Arial"/>
              <a:sym typeface="Arial"/>
            </a:endParaRPr>
          </a:p>
        </p:txBody>
      </p:sp>
      <p:sp>
        <p:nvSpPr>
          <p:cNvPr id="748" name="Google Shape;748;p24"/>
          <p:cNvSpPr/>
          <p:nvPr/>
        </p:nvSpPr>
        <p:spPr>
          <a:xfrm>
            <a:off x="4400550" y="3808710"/>
            <a:ext cx="3390900" cy="2026800"/>
          </a:xfrm>
          <a:prstGeom prst="roundRect">
            <a:avLst>
              <a:gd fmla="val 5952" name="adj"/>
            </a:avLst>
          </a:prstGeom>
          <a:solidFill>
            <a:srgbClr val="1B1829"/>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24"/>
          <p:cNvSpPr/>
          <p:nvPr/>
        </p:nvSpPr>
        <p:spPr>
          <a:xfrm>
            <a:off x="4610100" y="3992860"/>
            <a:ext cx="3174900" cy="456000"/>
          </a:xfrm>
          <a:prstGeom prst="rect">
            <a:avLst/>
          </a:prstGeom>
          <a:noFill/>
          <a:ln>
            <a:noFill/>
          </a:ln>
        </p:spPr>
        <p:txBody>
          <a:bodyPr anchorCtr="0" anchor="t" bIns="0" lIns="0" spcFirstLastPara="1" rIns="0" wrap="square" tIns="0">
            <a:noAutofit/>
          </a:bodyPr>
          <a:lstStyle/>
          <a:p>
            <a:pPr indent="0" lvl="0" marL="0" marR="0" rtl="0" algn="l">
              <a:lnSpc>
                <a:spcPct val="119974"/>
              </a:lnSpc>
              <a:spcBef>
                <a:spcPts val="0"/>
              </a:spcBef>
              <a:spcAft>
                <a:spcPts val="0"/>
              </a:spcAft>
              <a:buClr>
                <a:srgbClr val="F06BC4"/>
              </a:buClr>
              <a:buSzPts val="1562"/>
              <a:buFont typeface="Arial"/>
              <a:buNone/>
            </a:pPr>
            <a:r>
              <a:rPr b="1" i="0" lang="en-US" sz="1562" u="none" cap="none" strike="noStrike">
                <a:solidFill>
                  <a:srgbClr val="F06BC4"/>
                </a:solidFill>
                <a:latin typeface="Arial"/>
                <a:ea typeface="Arial"/>
                <a:cs typeface="Arial"/>
                <a:sym typeface="Arial"/>
              </a:rPr>
              <a:t>Secretos fuera de las imágenes</a:t>
            </a:r>
            <a:endParaRPr b="0" i="0" sz="1562" u="none" cap="none" strike="noStrike">
              <a:solidFill>
                <a:srgbClr val="F3EFF7"/>
              </a:solidFill>
              <a:latin typeface="Arial"/>
              <a:ea typeface="Arial"/>
              <a:cs typeface="Arial"/>
              <a:sym typeface="Arial"/>
            </a:endParaRPr>
          </a:p>
        </p:txBody>
      </p:sp>
      <p:sp>
        <p:nvSpPr>
          <p:cNvPr id="750" name="Google Shape;750;p24"/>
          <p:cNvSpPr/>
          <p:nvPr/>
        </p:nvSpPr>
        <p:spPr>
          <a:xfrm>
            <a:off x="4714680" y="4499570"/>
            <a:ext cx="2948700" cy="1177200"/>
          </a:xfrm>
          <a:prstGeom prst="rect">
            <a:avLst/>
          </a:prstGeom>
          <a:noFill/>
          <a:ln>
            <a:noFill/>
          </a:ln>
        </p:spPr>
        <p:txBody>
          <a:bodyPr anchorCtr="0" anchor="t" bIns="0" lIns="0" spcFirstLastPara="1" rIns="0" wrap="square" tIns="0">
            <a:noAutofit/>
          </a:bodyPr>
          <a:lstStyle/>
          <a:p>
            <a:pPr indent="-149421" lvl="0" marL="149421" marR="0" rtl="0" algn="l">
              <a:lnSpc>
                <a:spcPct val="139968"/>
              </a:lnSpc>
              <a:spcBef>
                <a:spcPts val="0"/>
              </a:spcBef>
              <a:spcAft>
                <a:spcPts val="0"/>
              </a:spcAft>
              <a:buClr>
                <a:srgbClr val="D9D4E6"/>
              </a:buClr>
              <a:buSzPts val="1276"/>
              <a:buFont typeface="Arial"/>
              <a:buChar char="•"/>
            </a:pPr>
            <a:r>
              <a:rPr b="0" i="0" lang="en-US" sz="1276" u="none" cap="none" strike="noStrike">
                <a:solidFill>
                  <a:srgbClr val="D9D4E6"/>
                </a:solidFill>
                <a:latin typeface="Arial"/>
                <a:ea typeface="Arial"/>
                <a:cs typeface="Arial"/>
                <a:sym typeface="Arial"/>
              </a:rPr>
              <a:t>.dockerignore excluye .env en las dos</a:t>
            </a:r>
            <a:endParaRPr b="0" i="0" sz="1276" u="none" cap="none" strike="noStrike">
              <a:solidFill>
                <a:srgbClr val="F3EFF7"/>
              </a:solidFill>
              <a:latin typeface="Arial"/>
              <a:ea typeface="Arial"/>
              <a:cs typeface="Arial"/>
              <a:sym typeface="Arial"/>
            </a:endParaRPr>
          </a:p>
          <a:p>
            <a:pPr indent="-149421" lvl="0" marL="149421" marR="0" rtl="0" algn="l">
              <a:lnSpc>
                <a:spcPct val="139968"/>
              </a:lnSpc>
              <a:spcBef>
                <a:spcPts val="0"/>
              </a:spcBef>
              <a:spcAft>
                <a:spcPts val="0"/>
              </a:spcAft>
              <a:buClr>
                <a:srgbClr val="D9D4E6"/>
              </a:buClr>
              <a:buSzPts val="1276"/>
              <a:buFont typeface="Arial"/>
              <a:buChar char="•"/>
            </a:pPr>
            <a:r>
              <a:rPr b="0" i="0" lang="en-US" sz="1276" u="none" cap="none" strike="noStrike">
                <a:solidFill>
                  <a:srgbClr val="D9D4E6"/>
                </a:solidFill>
                <a:latin typeface="Arial"/>
                <a:ea typeface="Arial"/>
                <a:cs typeface="Arial"/>
                <a:sym typeface="Arial"/>
              </a:rPr>
              <a:t>Frontend: solo la clave publishable de Clerk</a:t>
            </a:r>
            <a:endParaRPr b="0" i="0" sz="1276" u="none" cap="none" strike="noStrike">
              <a:solidFill>
                <a:srgbClr val="F3EFF7"/>
              </a:solidFill>
              <a:latin typeface="Arial"/>
              <a:ea typeface="Arial"/>
              <a:cs typeface="Arial"/>
              <a:sym typeface="Arial"/>
            </a:endParaRPr>
          </a:p>
          <a:p>
            <a:pPr indent="-149421" lvl="0" marL="149421" marR="0" rtl="0" algn="l">
              <a:lnSpc>
                <a:spcPct val="139968"/>
              </a:lnSpc>
              <a:spcBef>
                <a:spcPts val="0"/>
              </a:spcBef>
              <a:spcAft>
                <a:spcPts val="0"/>
              </a:spcAft>
              <a:buClr>
                <a:srgbClr val="D9D4E6"/>
              </a:buClr>
              <a:buSzPts val="1276"/>
              <a:buFont typeface="Arial"/>
              <a:buChar char="•"/>
            </a:pPr>
            <a:r>
              <a:rPr b="0" i="0" lang="en-US" sz="1276" u="none" cap="none" strike="noStrike">
                <a:solidFill>
                  <a:srgbClr val="D9D4E6"/>
                </a:solidFill>
                <a:latin typeface="Arial"/>
                <a:ea typeface="Arial"/>
                <a:cs typeface="Arial"/>
                <a:sym typeface="Arial"/>
              </a:rPr>
              <a:t>Volumen único: caddy_data (certificados)</a:t>
            </a:r>
            <a:endParaRPr b="0" i="0" sz="1276" u="none" cap="none" strike="noStrike">
              <a:solidFill>
                <a:srgbClr val="F3EFF7"/>
              </a:solidFill>
              <a:latin typeface="Arial"/>
              <a:ea typeface="Arial"/>
              <a:cs typeface="Arial"/>
              <a:sym typeface="Arial"/>
            </a:endParaRPr>
          </a:p>
        </p:txBody>
      </p:sp>
      <p:sp>
        <p:nvSpPr>
          <p:cNvPr id="751" name="Google Shape;751;p24"/>
          <p:cNvSpPr/>
          <p:nvPr/>
        </p:nvSpPr>
        <p:spPr>
          <a:xfrm>
            <a:off x="7981950" y="3808710"/>
            <a:ext cx="3390900" cy="2026800"/>
          </a:xfrm>
          <a:prstGeom prst="roundRect">
            <a:avLst>
              <a:gd fmla="val 5952" name="adj"/>
            </a:avLst>
          </a:prstGeom>
          <a:solidFill>
            <a:srgbClr val="0B0A12"/>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2" name="Google Shape;752;p24"/>
          <p:cNvSpPr/>
          <p:nvPr/>
        </p:nvSpPr>
        <p:spPr>
          <a:xfrm>
            <a:off x="8191500" y="3992860"/>
            <a:ext cx="3060900" cy="28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CCFD8"/>
              </a:buClr>
              <a:buSzPts val="1700"/>
              <a:buFont typeface="Arial"/>
              <a:buNone/>
            </a:pPr>
            <a:r>
              <a:rPr b="1" i="0" lang="en-US" sz="1700" u="none" cap="none" strike="noStrike">
                <a:solidFill>
                  <a:srgbClr val="3CCFD8"/>
                </a:solidFill>
                <a:latin typeface="Arial"/>
                <a:ea typeface="Arial"/>
                <a:cs typeface="Arial"/>
                <a:sym typeface="Arial"/>
              </a:rPr>
              <a:t>Comandos</a:t>
            </a:r>
            <a:endParaRPr b="0" i="0" sz="1700" u="none" cap="none" strike="noStrike">
              <a:solidFill>
                <a:srgbClr val="F3EFF7"/>
              </a:solidFill>
              <a:latin typeface="Arial"/>
              <a:ea typeface="Arial"/>
              <a:cs typeface="Arial"/>
              <a:sym typeface="Arial"/>
            </a:endParaRPr>
          </a:p>
        </p:txBody>
      </p:sp>
      <p:sp>
        <p:nvSpPr>
          <p:cNvPr id="753" name="Google Shape;753;p24"/>
          <p:cNvSpPr/>
          <p:nvPr/>
        </p:nvSpPr>
        <p:spPr>
          <a:xfrm>
            <a:off x="8191500" y="4328120"/>
            <a:ext cx="3060900" cy="10161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D9D4E6"/>
              </a:buClr>
              <a:buSzPts val="1300"/>
              <a:buFont typeface="Courier New"/>
              <a:buNone/>
            </a:pPr>
            <a:r>
              <a:rPr b="0" i="0" lang="en-US" sz="1300" u="none" cap="none" strike="noStrike">
                <a:solidFill>
                  <a:srgbClr val="D9D4E6"/>
                </a:solidFill>
                <a:latin typeface="Courier New"/>
                <a:ea typeface="Courier New"/>
                <a:cs typeface="Courier New"/>
                <a:sym typeface="Courier New"/>
              </a:rPr>
              <a:t>docker compose up -d --build</a:t>
            </a:r>
            <a:endParaRPr b="0" i="0" sz="1300" u="none" cap="none" strike="noStrike">
              <a:solidFill>
                <a:srgbClr val="F3EFF7"/>
              </a:solidFill>
              <a:latin typeface="Arial"/>
              <a:ea typeface="Arial"/>
              <a:cs typeface="Arial"/>
              <a:sym typeface="Arial"/>
            </a:endParaRPr>
          </a:p>
          <a:p>
            <a:pPr indent="0" lvl="0" marL="0" marR="0" rtl="0" algn="l">
              <a:lnSpc>
                <a:spcPct val="150000"/>
              </a:lnSpc>
              <a:spcBef>
                <a:spcPts val="0"/>
              </a:spcBef>
              <a:spcAft>
                <a:spcPts val="0"/>
              </a:spcAft>
              <a:buClr>
                <a:srgbClr val="D9D4E6"/>
              </a:buClr>
              <a:buSzPts val="1300"/>
              <a:buFont typeface="Courier New"/>
              <a:buNone/>
            </a:pPr>
            <a:r>
              <a:rPr b="0" i="0" lang="en-US" sz="1300" u="none" cap="none" strike="noStrike">
                <a:solidFill>
                  <a:srgbClr val="D9D4E6"/>
                </a:solidFill>
                <a:latin typeface="Courier New"/>
                <a:ea typeface="Courier New"/>
                <a:cs typeface="Courier New"/>
                <a:sym typeface="Courier New"/>
              </a:rPr>
              <a:t>docker compose ps</a:t>
            </a:r>
            <a:endParaRPr b="0" i="0" sz="1300" u="none" cap="none" strike="noStrike">
              <a:solidFill>
                <a:srgbClr val="F3EFF7"/>
              </a:solidFill>
              <a:latin typeface="Arial"/>
              <a:ea typeface="Arial"/>
              <a:cs typeface="Arial"/>
              <a:sym typeface="Arial"/>
            </a:endParaRPr>
          </a:p>
          <a:p>
            <a:pPr indent="0" lvl="0" marL="0" marR="0" rtl="0" algn="l">
              <a:lnSpc>
                <a:spcPct val="150000"/>
              </a:lnSpc>
              <a:spcBef>
                <a:spcPts val="0"/>
              </a:spcBef>
              <a:spcAft>
                <a:spcPts val="0"/>
              </a:spcAft>
              <a:buClr>
                <a:srgbClr val="D9D4E6"/>
              </a:buClr>
              <a:buSzPts val="1300"/>
              <a:buFont typeface="Courier New"/>
              <a:buNone/>
            </a:pPr>
            <a:r>
              <a:rPr b="0" i="0" lang="en-US" sz="1300" u="none" cap="none" strike="noStrike">
                <a:solidFill>
                  <a:srgbClr val="D9D4E6"/>
                </a:solidFill>
                <a:latin typeface="Courier New"/>
                <a:ea typeface="Courier New"/>
                <a:cs typeface="Courier New"/>
                <a:sym typeface="Courier New"/>
              </a:rPr>
              <a:t>docker compose logs</a:t>
            </a:r>
            <a:endParaRPr b="0" i="0" sz="1300" u="none" cap="none" strike="noStrike">
              <a:solidFill>
                <a:srgbClr val="F3EFF7"/>
              </a:solidFill>
              <a:latin typeface="Arial"/>
              <a:ea typeface="Arial"/>
              <a:cs typeface="Arial"/>
              <a:sym typeface="Arial"/>
            </a:endParaRPr>
          </a:p>
          <a:p>
            <a:pPr indent="0" lvl="0" marL="0" marR="0" rtl="0" algn="l">
              <a:lnSpc>
                <a:spcPct val="150000"/>
              </a:lnSpc>
              <a:spcBef>
                <a:spcPts val="0"/>
              </a:spcBef>
              <a:spcAft>
                <a:spcPts val="0"/>
              </a:spcAft>
              <a:buClr>
                <a:srgbClr val="D9D4E6"/>
              </a:buClr>
              <a:buSzPts val="1300"/>
              <a:buFont typeface="Courier New"/>
              <a:buNone/>
            </a:pPr>
            <a:r>
              <a:rPr b="0" i="0" lang="en-US" sz="1300" u="none" cap="none" strike="noStrike">
                <a:solidFill>
                  <a:srgbClr val="D9D4E6"/>
                </a:solidFill>
                <a:latin typeface="Courier New"/>
                <a:ea typeface="Courier New"/>
                <a:cs typeface="Courier New"/>
                <a:sym typeface="Courier New"/>
              </a:rPr>
              <a:t>docker compose down</a:t>
            </a:r>
            <a:endParaRPr b="0" i="0" sz="1300" u="none" cap="none" strike="noStrike">
              <a:solidFill>
                <a:srgbClr val="F3EFF7"/>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7" name="Shape 757"/>
        <p:cNvGrpSpPr/>
        <p:nvPr/>
      </p:nvGrpSpPr>
      <p:grpSpPr>
        <a:xfrm>
          <a:off x="0" y="0"/>
          <a:ext cx="0" cy="0"/>
          <a:chOff x="0" y="0"/>
          <a:chExt cx="0" cy="0"/>
        </a:xfrm>
      </p:grpSpPr>
      <p:sp>
        <p:nvSpPr>
          <p:cNvPr id="758" name="Google Shape;758;p25"/>
          <p:cNvSpPr txBox="1"/>
          <p:nvPr>
            <p:ph type="title"/>
          </p:nvPr>
        </p:nvSpPr>
        <p:spPr>
          <a:xfrm>
            <a:off x="548640" y="320040"/>
            <a:ext cx="8503500" cy="7770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AWS EC2</a:t>
            </a:r>
            <a:endParaRPr b="0" sz="3400" u="none" strike="noStrike">
              <a:solidFill>
                <a:schemeClr val="dk1"/>
              </a:solidFill>
              <a:latin typeface="Calibri"/>
              <a:ea typeface="Calibri"/>
              <a:cs typeface="Calibri"/>
              <a:sym typeface="Calibri"/>
            </a:endParaRPr>
          </a:p>
        </p:txBody>
      </p:sp>
      <p:sp>
        <p:nvSpPr>
          <p:cNvPr id="759" name="Google Shape;759;p25"/>
          <p:cNvSpPr txBox="1"/>
          <p:nvPr>
            <p:ph idx="1" type="body"/>
          </p:nvPr>
        </p:nvSpPr>
        <p:spPr>
          <a:xfrm>
            <a:off x="9052560" y="502920"/>
            <a:ext cx="2605800" cy="411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APP 2 EN CONTENEDORES</a:t>
            </a:r>
            <a:endParaRPr b="0" i="0" sz="1200" u="none" cap="none" strike="noStrike">
              <a:solidFill>
                <a:schemeClr val="dk1"/>
              </a:solidFill>
              <a:latin typeface="Calibri"/>
              <a:ea typeface="Calibri"/>
              <a:cs typeface="Calibri"/>
              <a:sym typeface="Calibri"/>
            </a:endParaRPr>
          </a:p>
        </p:txBody>
      </p:sp>
      <p:sp>
        <p:nvSpPr>
          <p:cNvPr id="760" name="Google Shape;760;p25"/>
          <p:cNvSpPr/>
          <p:nvPr/>
        </p:nvSpPr>
        <p:spPr>
          <a:xfrm>
            <a:off x="8001000" y="6327720"/>
            <a:ext cx="3063000" cy="31980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61" name="Google Shape;761;p25"/>
          <p:cNvSpPr/>
          <p:nvPr/>
        </p:nvSpPr>
        <p:spPr>
          <a:xfrm>
            <a:off x="8001000" y="6327720"/>
            <a:ext cx="3063000" cy="319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762" name="Google Shape;762;p25"/>
          <p:cNvSpPr txBox="1"/>
          <p:nvPr>
            <p:ph idx="12" type="sldNum"/>
          </p:nvPr>
        </p:nvSpPr>
        <p:spPr>
          <a:xfrm>
            <a:off x="11201400" y="6336720"/>
            <a:ext cx="456900" cy="30120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763" name="Google Shape;763;p25"/>
          <p:cNvSpPr/>
          <p:nvPr/>
        </p:nvSpPr>
        <p:spPr>
          <a:xfrm>
            <a:off x="819150" y="1344910"/>
            <a:ext cx="6312000" cy="4464600"/>
          </a:xfrm>
          <a:prstGeom prst="roundRect">
            <a:avLst>
              <a:gd fmla="val 2702" name="adj"/>
            </a:avLst>
          </a:prstGeom>
          <a:solidFill>
            <a:srgbClr val="1B1829"/>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25"/>
          <p:cNvSpPr/>
          <p:nvPr/>
        </p:nvSpPr>
        <p:spPr>
          <a:xfrm>
            <a:off x="1035050" y="2313781"/>
            <a:ext cx="1257300" cy="942300"/>
          </a:xfrm>
          <a:prstGeom prst="roundRect">
            <a:avLst>
              <a:gd fmla="val 8762" name="adj"/>
            </a:avLst>
          </a:prstGeom>
          <a:solidFill>
            <a:srgbClr val="12101C"/>
          </a:solidFill>
          <a:ln cap="flat" cmpd="sng" w="12700">
            <a:solidFill>
              <a:srgbClr val="F3EFF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5" name="Google Shape;765;p25"/>
          <p:cNvSpPr/>
          <p:nvPr/>
        </p:nvSpPr>
        <p:spPr>
          <a:xfrm>
            <a:off x="1143000" y="2447131"/>
            <a:ext cx="1041300" cy="2742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F3EFF7"/>
              </a:buClr>
              <a:buSzPts val="1400"/>
              <a:buFont typeface="Arial"/>
              <a:buNone/>
            </a:pPr>
            <a:r>
              <a:rPr b="1" i="0" lang="en-US" sz="1400" u="none" cap="none" strike="noStrike">
                <a:solidFill>
                  <a:srgbClr val="F3EFF7"/>
                </a:solidFill>
                <a:latin typeface="Arial"/>
                <a:ea typeface="Arial"/>
                <a:cs typeface="Arial"/>
                <a:sym typeface="Arial"/>
              </a:rPr>
              <a:t>Navegador</a:t>
            </a:r>
            <a:endParaRPr b="0" i="0" sz="1400" u="none" cap="none" strike="noStrike">
              <a:solidFill>
                <a:srgbClr val="F3EFF7"/>
              </a:solidFill>
              <a:latin typeface="Arial"/>
              <a:ea typeface="Arial"/>
              <a:cs typeface="Arial"/>
              <a:sym typeface="Arial"/>
            </a:endParaRPr>
          </a:p>
        </p:txBody>
      </p:sp>
      <p:sp>
        <p:nvSpPr>
          <p:cNvPr id="766" name="Google Shape;766;p25"/>
          <p:cNvSpPr/>
          <p:nvPr/>
        </p:nvSpPr>
        <p:spPr>
          <a:xfrm>
            <a:off x="1143000" y="2695972"/>
            <a:ext cx="1041300" cy="4521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A9A3BD"/>
              </a:buClr>
              <a:buSzPts val="1200"/>
              <a:buFont typeface="Arial"/>
              <a:buNone/>
            </a:pPr>
            <a:r>
              <a:rPr b="0" i="0" lang="en-US" sz="1200" u="none" cap="none" strike="noStrike">
                <a:solidFill>
                  <a:srgbClr val="A9A3BD"/>
                </a:solidFill>
                <a:latin typeface="Arial"/>
                <a:ea typeface="Arial"/>
                <a:cs typeface="Arial"/>
                <a:sym typeface="Arial"/>
              </a:rPr>
              <a:t>móvil u otro PC</a:t>
            </a:r>
            <a:endParaRPr b="0" i="0" sz="1200" u="none" cap="none" strike="noStrike">
              <a:solidFill>
                <a:srgbClr val="F3EFF7"/>
              </a:solidFill>
              <a:latin typeface="Arial"/>
              <a:ea typeface="Arial"/>
              <a:cs typeface="Arial"/>
              <a:sym typeface="Arial"/>
            </a:endParaRPr>
          </a:p>
        </p:txBody>
      </p:sp>
      <p:sp>
        <p:nvSpPr>
          <p:cNvPr id="767" name="Google Shape;767;p25"/>
          <p:cNvSpPr/>
          <p:nvPr/>
        </p:nvSpPr>
        <p:spPr>
          <a:xfrm>
            <a:off x="2425700" y="2473821"/>
            <a:ext cx="9894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3CCFD8"/>
              </a:buClr>
              <a:buSzPts val="1300"/>
              <a:buFont typeface="Arial"/>
              <a:buNone/>
            </a:pPr>
            <a:r>
              <a:rPr b="1" i="0" lang="en-US" sz="1300" u="none" cap="none" strike="noStrike">
                <a:solidFill>
                  <a:srgbClr val="3CCFD8"/>
                </a:solidFill>
                <a:latin typeface="Arial"/>
                <a:ea typeface="Arial"/>
                <a:cs typeface="Arial"/>
                <a:sym typeface="Arial"/>
              </a:rPr>
              <a:t>HTTPS 443</a:t>
            </a:r>
            <a:endParaRPr b="0" i="0" sz="1300" u="none" cap="none" strike="noStrike">
              <a:solidFill>
                <a:srgbClr val="F3EFF7"/>
              </a:solidFill>
              <a:latin typeface="Arial"/>
              <a:ea typeface="Arial"/>
              <a:cs typeface="Arial"/>
              <a:sym typeface="Arial"/>
            </a:endParaRPr>
          </a:p>
        </p:txBody>
      </p:sp>
      <p:sp>
        <p:nvSpPr>
          <p:cNvPr id="768" name="Google Shape;768;p25"/>
          <p:cNvSpPr/>
          <p:nvPr/>
        </p:nvSpPr>
        <p:spPr>
          <a:xfrm>
            <a:off x="2689265" y="2704902"/>
            <a:ext cx="335400" cy="4164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3CCFD8"/>
              </a:buClr>
              <a:buSzPts val="2200"/>
              <a:buFont typeface="Arial"/>
              <a:buNone/>
            </a:pPr>
            <a:r>
              <a:rPr b="0" i="0" lang="en-US" sz="2200" u="none" cap="none" strike="noStrike">
                <a:solidFill>
                  <a:srgbClr val="3CCFD8"/>
                </a:solidFill>
                <a:latin typeface="Arial"/>
                <a:ea typeface="Arial"/>
                <a:cs typeface="Arial"/>
                <a:sym typeface="Arial"/>
              </a:rPr>
              <a:t>→</a:t>
            </a:r>
            <a:endParaRPr b="0" i="0" sz="2200" u="none" cap="none" strike="noStrike">
              <a:solidFill>
                <a:srgbClr val="F3EFF7"/>
              </a:solidFill>
              <a:latin typeface="Arial"/>
              <a:ea typeface="Arial"/>
              <a:cs typeface="Arial"/>
              <a:sym typeface="Arial"/>
            </a:endParaRPr>
          </a:p>
        </p:txBody>
      </p:sp>
      <p:sp>
        <p:nvSpPr>
          <p:cNvPr id="769" name="Google Shape;769;p25"/>
          <p:cNvSpPr/>
          <p:nvPr/>
        </p:nvSpPr>
        <p:spPr>
          <a:xfrm>
            <a:off x="3421559" y="1560810"/>
            <a:ext cx="3493500" cy="2448300"/>
          </a:xfrm>
          <a:prstGeom prst="roundRect">
            <a:avLst>
              <a:gd fmla="val 3891" name="adj"/>
            </a:avLst>
          </a:prstGeom>
          <a:noFill/>
          <a:ln cap="flat" cmpd="sng" w="12700">
            <a:solidFill>
              <a:srgbClr val="3CCFD8"/>
            </a:solidFill>
            <a:prstDash val="dash"/>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0" name="Google Shape;770;p25"/>
          <p:cNvSpPr/>
          <p:nvPr/>
        </p:nvSpPr>
        <p:spPr>
          <a:xfrm>
            <a:off x="3580309" y="1719560"/>
            <a:ext cx="3271500" cy="256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3CCFD8"/>
              </a:buClr>
              <a:buSzPts val="1300"/>
              <a:buFont typeface="Arial"/>
              <a:buNone/>
            </a:pPr>
            <a:r>
              <a:rPr b="1" i="0" lang="en-US" sz="1300" u="none" cap="none" strike="noStrike">
                <a:solidFill>
                  <a:srgbClr val="3CCFD8"/>
                </a:solidFill>
                <a:latin typeface="Arial"/>
                <a:ea typeface="Arial"/>
                <a:cs typeface="Arial"/>
                <a:sym typeface="Arial"/>
              </a:rPr>
              <a:t>EC2 t3.</a:t>
            </a:r>
            <a:r>
              <a:rPr b="1" lang="en-US" sz="1300">
                <a:solidFill>
                  <a:srgbClr val="3CCFD8"/>
                </a:solidFill>
              </a:rPr>
              <a:t>small</a:t>
            </a:r>
            <a:r>
              <a:rPr b="1" i="0" lang="en-US" sz="1300" u="none" cap="none" strike="noStrike">
                <a:solidFill>
                  <a:srgbClr val="3CCFD8"/>
                </a:solidFill>
                <a:latin typeface="Arial"/>
                <a:ea typeface="Arial"/>
                <a:cs typeface="Arial"/>
                <a:sym typeface="Arial"/>
              </a:rPr>
              <a:t> · Ubuntu 24.04 · us-east-1</a:t>
            </a:r>
            <a:endParaRPr b="0" i="0" sz="1300" u="none" cap="none" strike="noStrike">
              <a:solidFill>
                <a:srgbClr val="F3EFF7"/>
              </a:solidFill>
              <a:latin typeface="Arial"/>
              <a:ea typeface="Arial"/>
              <a:cs typeface="Arial"/>
              <a:sym typeface="Arial"/>
            </a:endParaRPr>
          </a:p>
        </p:txBody>
      </p:sp>
      <p:sp>
        <p:nvSpPr>
          <p:cNvPr id="771" name="Google Shape;771;p25"/>
          <p:cNvSpPr/>
          <p:nvPr/>
        </p:nvSpPr>
        <p:spPr>
          <a:xfrm>
            <a:off x="3586659" y="2058591"/>
            <a:ext cx="3163500" cy="678000"/>
          </a:xfrm>
          <a:prstGeom prst="roundRect">
            <a:avLst>
              <a:gd fmla="val 12174" name="adj"/>
            </a:avLst>
          </a:prstGeom>
          <a:solidFill>
            <a:srgbClr val="12101C"/>
          </a:solidFill>
          <a:ln cap="flat" cmpd="sng" w="12700">
            <a:solidFill>
              <a:srgbClr val="F06BC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25"/>
          <p:cNvSpPr/>
          <p:nvPr/>
        </p:nvSpPr>
        <p:spPr>
          <a:xfrm>
            <a:off x="3720009" y="2166541"/>
            <a:ext cx="29835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06BC4"/>
              </a:buClr>
              <a:buSzPts val="1400"/>
              <a:buFont typeface="Arial"/>
              <a:buNone/>
            </a:pPr>
            <a:r>
              <a:rPr b="1" i="0" lang="en-US" sz="1400" u="none" cap="none" strike="noStrike">
                <a:solidFill>
                  <a:srgbClr val="F06BC4"/>
                </a:solidFill>
                <a:latin typeface="Arial"/>
                <a:ea typeface="Arial"/>
                <a:cs typeface="Arial"/>
                <a:sym typeface="Arial"/>
              </a:rPr>
              <a:t>web · Caddy</a:t>
            </a:r>
            <a:endParaRPr b="0" i="0" sz="1400" u="none" cap="none" strike="noStrike">
              <a:solidFill>
                <a:srgbClr val="F3EFF7"/>
              </a:solidFill>
              <a:latin typeface="Arial"/>
              <a:ea typeface="Arial"/>
              <a:cs typeface="Arial"/>
              <a:sym typeface="Arial"/>
            </a:endParaRPr>
          </a:p>
        </p:txBody>
      </p:sp>
      <p:sp>
        <p:nvSpPr>
          <p:cNvPr id="773" name="Google Shape;773;p25"/>
          <p:cNvSpPr/>
          <p:nvPr/>
        </p:nvSpPr>
        <p:spPr>
          <a:xfrm>
            <a:off x="3720009" y="2415381"/>
            <a:ext cx="29835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200"/>
              <a:buFont typeface="Arial"/>
              <a:buNone/>
            </a:pPr>
            <a:r>
              <a:rPr b="0" i="0" lang="en-US" sz="1200" u="none" cap="none" strike="noStrike">
                <a:solidFill>
                  <a:srgbClr val="A9A3BD"/>
                </a:solidFill>
                <a:latin typeface="Arial"/>
                <a:ea typeface="Arial"/>
                <a:cs typeface="Arial"/>
                <a:sym typeface="Arial"/>
              </a:rPr>
              <a:t>SPA, HTTPS automático, proxy</a:t>
            </a:r>
            <a:endParaRPr b="0" i="0" sz="1200" u="none" cap="none" strike="noStrike">
              <a:solidFill>
                <a:srgbClr val="F3EFF7"/>
              </a:solidFill>
              <a:latin typeface="Arial"/>
              <a:ea typeface="Arial"/>
              <a:cs typeface="Arial"/>
              <a:sym typeface="Arial"/>
            </a:endParaRPr>
          </a:p>
        </p:txBody>
      </p:sp>
      <p:sp>
        <p:nvSpPr>
          <p:cNvPr id="774" name="Google Shape;774;p25"/>
          <p:cNvSpPr/>
          <p:nvPr/>
        </p:nvSpPr>
        <p:spPr>
          <a:xfrm>
            <a:off x="3532667" y="2844602"/>
            <a:ext cx="3271500" cy="238800"/>
          </a:xfrm>
          <a:prstGeom prst="rect">
            <a:avLst/>
          </a:prstGeom>
          <a:noFill/>
          <a:ln>
            <a:noFill/>
          </a:ln>
        </p:spPr>
        <p:txBody>
          <a:bodyPr anchorCtr="0" anchor="t" bIns="0" lIns="0" spcFirstLastPara="1" rIns="0" wrap="square" tIns="0">
            <a:noAutofit/>
          </a:bodyPr>
          <a:lstStyle/>
          <a:p>
            <a:pPr indent="0" lvl="0" marL="0" marR="0" rtl="0" algn="ctr">
              <a:lnSpc>
                <a:spcPct val="140000"/>
              </a:lnSpc>
              <a:spcBef>
                <a:spcPts val="0"/>
              </a:spcBef>
              <a:spcAft>
                <a:spcPts val="0"/>
              </a:spcAft>
              <a:buClr>
                <a:srgbClr val="A9A3BD"/>
              </a:buClr>
              <a:buSzPts val="1200"/>
              <a:buFont typeface="Arial"/>
              <a:buNone/>
            </a:pPr>
            <a:r>
              <a:rPr b="0" i="0" lang="en-US" sz="1200" u="none" cap="none" strike="noStrike">
                <a:solidFill>
                  <a:srgbClr val="A9A3BD"/>
                </a:solidFill>
                <a:latin typeface="Arial"/>
                <a:ea typeface="Arial"/>
                <a:cs typeface="Arial"/>
                <a:sym typeface="Arial"/>
              </a:rPr>
              <a:t>↓ /api/* y /health → api:8000</a:t>
            </a:r>
            <a:endParaRPr b="0" i="0" sz="1200" u="none" cap="none" strike="noStrike">
              <a:solidFill>
                <a:srgbClr val="F3EFF7"/>
              </a:solidFill>
              <a:latin typeface="Arial"/>
              <a:ea typeface="Arial"/>
              <a:cs typeface="Arial"/>
              <a:sym typeface="Arial"/>
            </a:endParaRPr>
          </a:p>
        </p:txBody>
      </p:sp>
      <p:sp>
        <p:nvSpPr>
          <p:cNvPr id="775" name="Google Shape;775;p25"/>
          <p:cNvSpPr/>
          <p:nvPr/>
        </p:nvSpPr>
        <p:spPr>
          <a:xfrm>
            <a:off x="3586659" y="3165872"/>
            <a:ext cx="3163500" cy="678000"/>
          </a:xfrm>
          <a:prstGeom prst="roundRect">
            <a:avLst>
              <a:gd fmla="val 12174" name="adj"/>
            </a:avLst>
          </a:prstGeom>
          <a:solidFill>
            <a:srgbClr val="12101C"/>
          </a:solidFill>
          <a:ln cap="flat" cmpd="sng" w="12700">
            <a:solidFill>
              <a:srgbClr val="F3EFF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6" name="Google Shape;776;p25"/>
          <p:cNvSpPr/>
          <p:nvPr/>
        </p:nvSpPr>
        <p:spPr>
          <a:xfrm>
            <a:off x="3720009" y="3273822"/>
            <a:ext cx="2983500" cy="2742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3EFF7"/>
              </a:buClr>
              <a:buSzPts val="1400"/>
              <a:buFont typeface="Arial"/>
              <a:buNone/>
            </a:pPr>
            <a:r>
              <a:rPr b="1" i="0" lang="en-US" sz="1400" u="none" cap="none" strike="noStrike">
                <a:solidFill>
                  <a:srgbClr val="F3EFF7"/>
                </a:solidFill>
                <a:latin typeface="Arial"/>
                <a:ea typeface="Arial"/>
                <a:cs typeface="Arial"/>
                <a:sym typeface="Arial"/>
              </a:rPr>
              <a:t>api · FastAPI + Uvicorn</a:t>
            </a:r>
            <a:endParaRPr b="0" i="0" sz="1400" u="none" cap="none" strike="noStrike">
              <a:solidFill>
                <a:srgbClr val="F3EFF7"/>
              </a:solidFill>
              <a:latin typeface="Arial"/>
              <a:ea typeface="Arial"/>
              <a:cs typeface="Arial"/>
              <a:sym typeface="Arial"/>
            </a:endParaRPr>
          </a:p>
        </p:txBody>
      </p:sp>
      <p:sp>
        <p:nvSpPr>
          <p:cNvPr id="777" name="Google Shape;777;p25"/>
          <p:cNvSpPr/>
          <p:nvPr/>
        </p:nvSpPr>
        <p:spPr>
          <a:xfrm>
            <a:off x="3720009" y="3522663"/>
            <a:ext cx="29835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200"/>
              <a:buFont typeface="Arial"/>
              <a:buNone/>
            </a:pPr>
            <a:r>
              <a:rPr b="0" i="0" lang="en-US" sz="1200" u="none" cap="none" strike="noStrike">
                <a:solidFill>
                  <a:srgbClr val="A9A3BD"/>
                </a:solidFill>
                <a:latin typeface="Arial"/>
                <a:ea typeface="Arial"/>
                <a:cs typeface="Arial"/>
                <a:sym typeface="Arial"/>
              </a:rPr>
              <a:t>:8000 solo red de Docker</a:t>
            </a:r>
            <a:endParaRPr b="0" i="0" sz="1200" u="none" cap="none" strike="noStrike">
              <a:solidFill>
                <a:srgbClr val="F3EFF7"/>
              </a:solidFill>
              <a:latin typeface="Arial"/>
              <a:ea typeface="Arial"/>
              <a:cs typeface="Arial"/>
              <a:sym typeface="Arial"/>
            </a:endParaRPr>
          </a:p>
        </p:txBody>
      </p:sp>
      <p:sp>
        <p:nvSpPr>
          <p:cNvPr id="778" name="Google Shape;778;p25"/>
          <p:cNvSpPr/>
          <p:nvPr/>
        </p:nvSpPr>
        <p:spPr>
          <a:xfrm>
            <a:off x="1035050" y="4148733"/>
            <a:ext cx="1883700" cy="421500"/>
          </a:xfrm>
          <a:prstGeom prst="roundRect">
            <a:avLst>
              <a:gd fmla="val 16569" name="adj"/>
            </a:avLst>
          </a:prstGeom>
          <a:solidFill>
            <a:srgbClr val="12101C"/>
          </a:solidFill>
          <a:ln cap="flat" cmpd="sng" w="12700">
            <a:solidFill>
              <a:srgbClr val="3A3556"/>
            </a:solidFill>
            <a:prstDash val="solid"/>
            <a:round/>
            <a:headEnd len="sm" w="sm" type="none"/>
            <a:tailEnd len="sm" w="sm" type="none"/>
          </a:ln>
        </p:spPr>
        <p:txBody>
          <a:bodyPr anchorCtr="0" anchor="t" bIns="49375" lIns="49375" spcFirstLastPara="1" rIns="49375" wrap="square" tIns="74775">
            <a:noAutofit/>
          </a:bodyPr>
          <a:lstStyle/>
          <a:p>
            <a:pPr indent="0" lvl="0" marL="0" marR="0" rtl="0" algn="ctr">
              <a:lnSpc>
                <a:spcPct val="140000"/>
              </a:lnSpc>
              <a:spcBef>
                <a:spcPts val="0"/>
              </a:spcBef>
              <a:spcAft>
                <a:spcPts val="0"/>
              </a:spcAft>
              <a:buClr>
                <a:srgbClr val="F3EFF7"/>
              </a:buClr>
              <a:buSzPts val="1300"/>
              <a:buFont typeface="Arial"/>
              <a:buNone/>
            </a:pPr>
            <a:r>
              <a:rPr b="1" i="0" lang="en-US" sz="1300" u="none" cap="none" strike="noStrike">
                <a:solidFill>
                  <a:srgbClr val="F3EFF7"/>
                </a:solidFill>
                <a:latin typeface="Arial"/>
                <a:ea typeface="Arial"/>
                <a:cs typeface="Arial"/>
                <a:sym typeface="Arial"/>
              </a:rPr>
              <a:t>22</a:t>
            </a:r>
            <a:r>
              <a:rPr b="0" i="0" lang="en-US" sz="1300" u="none" cap="none" strike="noStrike">
                <a:solidFill>
                  <a:srgbClr val="F3EFF7"/>
                </a:solidFill>
                <a:latin typeface="Arial"/>
                <a:ea typeface="Arial"/>
                <a:cs typeface="Arial"/>
                <a:sym typeface="Arial"/>
              </a:rPr>
              <a:t> · solo mi IP</a:t>
            </a:r>
            <a:endParaRPr b="0" i="0" sz="1300" u="none" cap="none" strike="noStrike">
              <a:solidFill>
                <a:srgbClr val="F3EFF7"/>
              </a:solidFill>
              <a:latin typeface="Arial"/>
              <a:ea typeface="Arial"/>
              <a:cs typeface="Arial"/>
              <a:sym typeface="Arial"/>
            </a:endParaRPr>
          </a:p>
        </p:txBody>
      </p:sp>
      <p:sp>
        <p:nvSpPr>
          <p:cNvPr id="779" name="Google Shape;779;p25"/>
          <p:cNvSpPr/>
          <p:nvPr/>
        </p:nvSpPr>
        <p:spPr>
          <a:xfrm>
            <a:off x="3033117" y="4148733"/>
            <a:ext cx="1884000" cy="421500"/>
          </a:xfrm>
          <a:prstGeom prst="roundRect">
            <a:avLst>
              <a:gd fmla="val 16569" name="adj"/>
            </a:avLst>
          </a:prstGeom>
          <a:solidFill>
            <a:srgbClr val="12101C"/>
          </a:solidFill>
          <a:ln cap="flat" cmpd="sng" w="12700">
            <a:solidFill>
              <a:srgbClr val="3A3556"/>
            </a:solidFill>
            <a:prstDash val="solid"/>
            <a:round/>
            <a:headEnd len="sm" w="sm" type="none"/>
            <a:tailEnd len="sm" w="sm" type="none"/>
          </a:ln>
        </p:spPr>
        <p:txBody>
          <a:bodyPr anchorCtr="0" anchor="t" bIns="49375" lIns="49375" spcFirstLastPara="1" rIns="49375" wrap="square" tIns="74775">
            <a:noAutofit/>
          </a:bodyPr>
          <a:lstStyle/>
          <a:p>
            <a:pPr indent="0" lvl="0" marL="0" marR="0" rtl="0" algn="ctr">
              <a:lnSpc>
                <a:spcPct val="140000"/>
              </a:lnSpc>
              <a:spcBef>
                <a:spcPts val="0"/>
              </a:spcBef>
              <a:spcAft>
                <a:spcPts val="0"/>
              </a:spcAft>
              <a:buClr>
                <a:srgbClr val="F3EFF7"/>
              </a:buClr>
              <a:buSzPts val="1300"/>
              <a:buFont typeface="Arial"/>
              <a:buNone/>
            </a:pPr>
            <a:r>
              <a:rPr b="1" i="0" lang="en-US" sz="1300" u="none" cap="none" strike="noStrike">
                <a:solidFill>
                  <a:srgbClr val="F3EFF7"/>
                </a:solidFill>
                <a:latin typeface="Arial"/>
                <a:ea typeface="Arial"/>
                <a:cs typeface="Arial"/>
                <a:sym typeface="Arial"/>
              </a:rPr>
              <a:t>80</a:t>
            </a:r>
            <a:r>
              <a:rPr b="0" i="0" lang="en-US" sz="1300" u="none" cap="none" strike="noStrike">
                <a:solidFill>
                  <a:srgbClr val="F3EFF7"/>
                </a:solidFill>
                <a:latin typeface="Arial"/>
                <a:ea typeface="Arial"/>
                <a:cs typeface="Arial"/>
                <a:sym typeface="Arial"/>
              </a:rPr>
              <a:t> · Let’s Encrypt</a:t>
            </a:r>
            <a:endParaRPr b="0" i="0" sz="1300" u="none" cap="none" strike="noStrike">
              <a:solidFill>
                <a:srgbClr val="F3EFF7"/>
              </a:solidFill>
              <a:latin typeface="Arial"/>
              <a:ea typeface="Arial"/>
              <a:cs typeface="Arial"/>
              <a:sym typeface="Arial"/>
            </a:endParaRPr>
          </a:p>
        </p:txBody>
      </p:sp>
      <p:sp>
        <p:nvSpPr>
          <p:cNvPr id="780" name="Google Shape;780;p25"/>
          <p:cNvSpPr/>
          <p:nvPr/>
        </p:nvSpPr>
        <p:spPr>
          <a:xfrm>
            <a:off x="5031284" y="4148733"/>
            <a:ext cx="1884000" cy="421500"/>
          </a:xfrm>
          <a:prstGeom prst="roundRect">
            <a:avLst>
              <a:gd fmla="val 16569" name="adj"/>
            </a:avLst>
          </a:prstGeom>
          <a:solidFill>
            <a:srgbClr val="12101C"/>
          </a:solidFill>
          <a:ln cap="flat" cmpd="sng" w="12700">
            <a:solidFill>
              <a:srgbClr val="3A3556"/>
            </a:solidFill>
            <a:prstDash val="solid"/>
            <a:round/>
            <a:headEnd len="sm" w="sm" type="none"/>
            <a:tailEnd len="sm" w="sm" type="none"/>
          </a:ln>
        </p:spPr>
        <p:txBody>
          <a:bodyPr anchorCtr="0" anchor="t" bIns="49375" lIns="49375" spcFirstLastPara="1" rIns="49375" wrap="square" tIns="74775">
            <a:noAutofit/>
          </a:bodyPr>
          <a:lstStyle/>
          <a:p>
            <a:pPr indent="0" lvl="0" marL="0" marR="0" rtl="0" algn="ctr">
              <a:lnSpc>
                <a:spcPct val="140000"/>
              </a:lnSpc>
              <a:spcBef>
                <a:spcPts val="0"/>
              </a:spcBef>
              <a:spcAft>
                <a:spcPts val="0"/>
              </a:spcAft>
              <a:buClr>
                <a:srgbClr val="F3EFF7"/>
              </a:buClr>
              <a:buSzPts val="1300"/>
              <a:buFont typeface="Arial"/>
              <a:buNone/>
            </a:pPr>
            <a:r>
              <a:rPr b="1" i="0" lang="en-US" sz="1300" u="none" cap="none" strike="noStrike">
                <a:solidFill>
                  <a:srgbClr val="F3EFF7"/>
                </a:solidFill>
                <a:latin typeface="Arial"/>
                <a:ea typeface="Arial"/>
                <a:cs typeface="Arial"/>
                <a:sym typeface="Arial"/>
              </a:rPr>
              <a:t>443</a:t>
            </a:r>
            <a:r>
              <a:rPr b="0" i="0" lang="en-US" sz="1300" u="none" cap="none" strike="noStrike">
                <a:solidFill>
                  <a:srgbClr val="F3EFF7"/>
                </a:solidFill>
                <a:latin typeface="Arial"/>
                <a:ea typeface="Arial"/>
                <a:cs typeface="Arial"/>
                <a:sym typeface="Arial"/>
              </a:rPr>
              <a:t> · HTTPS</a:t>
            </a:r>
            <a:endParaRPr b="0" i="0" sz="1300" u="none" cap="none" strike="noStrike">
              <a:solidFill>
                <a:srgbClr val="F3EFF7"/>
              </a:solidFill>
              <a:latin typeface="Arial"/>
              <a:ea typeface="Arial"/>
              <a:cs typeface="Arial"/>
              <a:sym typeface="Arial"/>
            </a:endParaRPr>
          </a:p>
        </p:txBody>
      </p:sp>
      <p:sp>
        <p:nvSpPr>
          <p:cNvPr id="781" name="Google Shape;781;p25"/>
          <p:cNvSpPr/>
          <p:nvPr/>
        </p:nvSpPr>
        <p:spPr>
          <a:xfrm>
            <a:off x="1028700" y="4703663"/>
            <a:ext cx="60696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A3BD"/>
              </a:buClr>
              <a:buSzPts val="1200"/>
              <a:buFont typeface="Arial"/>
              <a:buNone/>
            </a:pPr>
            <a:r>
              <a:rPr b="0" i="0" lang="en-US" sz="1200" u="none" cap="none" strike="noStrike">
                <a:solidFill>
                  <a:srgbClr val="A9A3BD"/>
                </a:solidFill>
                <a:latin typeface="Arial"/>
                <a:ea typeface="Arial"/>
                <a:cs typeface="Arial"/>
                <a:sym typeface="Arial"/>
              </a:rPr>
              <a:t>La api consulta Clerk (JWKS) y Gemini (IA) hacia fuera.</a:t>
            </a:r>
            <a:endParaRPr b="0" i="0" sz="1200" u="none" cap="none" strike="noStrike">
              <a:solidFill>
                <a:srgbClr val="F3EFF7"/>
              </a:solidFill>
              <a:latin typeface="Arial"/>
              <a:ea typeface="Arial"/>
              <a:cs typeface="Arial"/>
              <a:sym typeface="Arial"/>
            </a:endParaRPr>
          </a:p>
        </p:txBody>
      </p:sp>
      <p:sp>
        <p:nvSpPr>
          <p:cNvPr id="782" name="Google Shape;782;p25"/>
          <p:cNvSpPr/>
          <p:nvPr/>
        </p:nvSpPr>
        <p:spPr>
          <a:xfrm>
            <a:off x="7321550" y="1344910"/>
            <a:ext cx="4051200" cy="1317900"/>
          </a:xfrm>
          <a:prstGeom prst="roundRect">
            <a:avLst>
              <a:gd fmla="val 9154" name="adj"/>
            </a:avLst>
          </a:prstGeom>
          <a:solidFill>
            <a:srgbClr val="1B1829"/>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3" name="Google Shape;783;p25"/>
          <p:cNvSpPr/>
          <p:nvPr/>
        </p:nvSpPr>
        <p:spPr>
          <a:xfrm>
            <a:off x="7505700" y="1503660"/>
            <a:ext cx="3793500" cy="269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06BC4"/>
              </a:buClr>
              <a:buSzPts val="1600"/>
              <a:buFont typeface="Arial"/>
              <a:buNone/>
            </a:pPr>
            <a:r>
              <a:rPr b="1" i="0" lang="en-US" sz="1600" u="none" cap="none" strike="noStrike">
                <a:solidFill>
                  <a:srgbClr val="F06BC4"/>
                </a:solidFill>
                <a:latin typeface="Arial"/>
                <a:ea typeface="Arial"/>
                <a:cs typeface="Arial"/>
                <a:sym typeface="Arial"/>
              </a:rPr>
              <a:t>Entorno · AWS Learner Lab</a:t>
            </a:r>
            <a:endParaRPr b="0" i="0" sz="1600" u="none" cap="none" strike="noStrike">
              <a:solidFill>
                <a:srgbClr val="F3EFF7"/>
              </a:solidFill>
              <a:latin typeface="Arial"/>
              <a:ea typeface="Arial"/>
              <a:cs typeface="Arial"/>
              <a:sym typeface="Arial"/>
            </a:endParaRPr>
          </a:p>
        </p:txBody>
      </p:sp>
      <p:sp>
        <p:nvSpPr>
          <p:cNvPr id="784" name="Google Shape;784;p25"/>
          <p:cNvSpPr/>
          <p:nvPr/>
        </p:nvSpPr>
        <p:spPr>
          <a:xfrm>
            <a:off x="7603744" y="1810941"/>
            <a:ext cx="3687900" cy="718500"/>
          </a:xfrm>
          <a:prstGeom prst="rect">
            <a:avLst/>
          </a:prstGeom>
          <a:noFill/>
          <a:ln>
            <a:noFill/>
          </a:ln>
        </p:spPr>
        <p:txBody>
          <a:bodyPr anchorCtr="0" anchor="t" bIns="0" lIns="0" spcFirstLastPara="1" rIns="0" wrap="square" tIns="0">
            <a:noAutofit/>
          </a:bodyPr>
          <a:lstStyle/>
          <a:p>
            <a:pPr indent="-155956" lvl="0" marL="155956" marR="0" rtl="0" algn="l">
              <a:lnSpc>
                <a:spcPct val="140000"/>
              </a:lnSpc>
              <a:spcBef>
                <a:spcPts val="0"/>
              </a:spcBef>
              <a:spcAft>
                <a:spcPts val="0"/>
              </a:spcAft>
              <a:buClr>
                <a:srgbClr val="D9D4E6"/>
              </a:buClr>
              <a:buSzPts val="1300"/>
              <a:buFont typeface="Arial"/>
              <a:buChar char="•"/>
            </a:pPr>
            <a:r>
              <a:rPr b="0" i="0" lang="en-US" sz="1300" u="none" cap="none" strike="noStrike">
                <a:solidFill>
                  <a:srgbClr val="D9D4E6"/>
                </a:solidFill>
                <a:latin typeface="Arial"/>
                <a:ea typeface="Arial"/>
                <a:cs typeface="Arial"/>
                <a:sym typeface="Arial"/>
              </a:rPr>
              <a:t>t3.</a:t>
            </a:r>
            <a:r>
              <a:rPr lang="en-US" sz="1300">
                <a:solidFill>
                  <a:srgbClr val="D9D4E6"/>
                </a:solidFill>
              </a:rPr>
              <a:t>small</a:t>
            </a:r>
            <a:r>
              <a:rPr b="0" i="0" lang="en-US" sz="1300" u="none" cap="none" strike="noStrike">
                <a:solidFill>
                  <a:srgbClr val="D9D4E6"/>
                </a:solidFill>
                <a:latin typeface="Arial"/>
                <a:ea typeface="Arial"/>
                <a:cs typeface="Arial"/>
                <a:sym typeface="Arial"/>
              </a:rPr>
              <a:t>: </a:t>
            </a:r>
            <a:r>
              <a:rPr lang="en-US" sz="1300">
                <a:solidFill>
                  <a:srgbClr val="D9D4E6"/>
                </a:solidFill>
              </a:rPr>
              <a:t>2</a:t>
            </a:r>
            <a:r>
              <a:rPr b="0" i="0" lang="en-US" sz="1300" u="none" cap="none" strike="noStrike">
                <a:solidFill>
                  <a:srgbClr val="D9D4E6"/>
                </a:solidFill>
                <a:latin typeface="Arial"/>
                <a:ea typeface="Arial"/>
                <a:cs typeface="Arial"/>
                <a:sym typeface="Arial"/>
              </a:rPr>
              <a:t> GiB RAM </a:t>
            </a:r>
            <a:endParaRPr sz="1300">
              <a:solidFill>
                <a:srgbClr val="D9D4E6"/>
              </a:solidFill>
            </a:endParaRPr>
          </a:p>
          <a:p>
            <a:pPr indent="-155956" lvl="0" marL="155956" marR="0" rtl="0" algn="l">
              <a:lnSpc>
                <a:spcPct val="140000"/>
              </a:lnSpc>
              <a:spcBef>
                <a:spcPts val="0"/>
              </a:spcBef>
              <a:spcAft>
                <a:spcPts val="0"/>
              </a:spcAft>
              <a:buClr>
                <a:srgbClr val="D9D4E6"/>
              </a:buClr>
              <a:buSzPts val="1300"/>
              <a:buFont typeface="Arial"/>
              <a:buChar char="•"/>
            </a:pPr>
            <a:r>
              <a:rPr b="0" i="0" lang="en-US" sz="1300" u="none" cap="none" strike="noStrike">
                <a:solidFill>
                  <a:srgbClr val="D9D4E6"/>
                </a:solidFill>
                <a:latin typeface="Arial"/>
                <a:ea typeface="Arial"/>
                <a:cs typeface="Arial"/>
                <a:sym typeface="Arial"/>
              </a:rPr>
              <a:t>Disco 16 GiB gp3 · LabInstanceProfile</a:t>
            </a:r>
            <a:endParaRPr b="0" i="0" sz="1300" u="none" cap="none" strike="noStrike">
              <a:solidFill>
                <a:srgbClr val="F3EFF7"/>
              </a:solidFill>
              <a:latin typeface="Arial"/>
              <a:ea typeface="Arial"/>
              <a:cs typeface="Arial"/>
              <a:sym typeface="Arial"/>
            </a:endParaRPr>
          </a:p>
          <a:p>
            <a:pPr indent="-155956" lvl="0" marL="155956" marR="0" rtl="0" algn="l">
              <a:lnSpc>
                <a:spcPct val="140000"/>
              </a:lnSpc>
              <a:spcBef>
                <a:spcPts val="0"/>
              </a:spcBef>
              <a:spcAft>
                <a:spcPts val="0"/>
              </a:spcAft>
              <a:buClr>
                <a:srgbClr val="D9D4E6"/>
              </a:buClr>
              <a:buSzPts val="1300"/>
              <a:buFont typeface="Arial"/>
              <a:buChar char="•"/>
            </a:pPr>
            <a:r>
              <a:rPr b="0" i="0" lang="en-US" sz="1300" u="none" cap="none" strike="noStrike">
                <a:solidFill>
                  <a:srgbClr val="D9D4E6"/>
                </a:solidFill>
                <a:latin typeface="Arial"/>
                <a:ea typeface="Arial"/>
                <a:cs typeface="Arial"/>
                <a:sym typeface="Arial"/>
              </a:rPr>
              <a:t>URL: </a:t>
            </a:r>
            <a:r>
              <a:rPr lang="en-US" sz="1300">
                <a:solidFill>
                  <a:srgbClr val="D9D4E6"/>
                </a:solidFill>
              </a:rPr>
              <a:t>(IPv4 pública Dinamica)</a:t>
            </a:r>
            <a:r>
              <a:rPr b="0" i="0" lang="en-US" sz="1300" u="none" cap="none" strike="noStrike">
                <a:solidFill>
                  <a:srgbClr val="D9D4E6"/>
                </a:solidFill>
                <a:latin typeface="Arial"/>
                <a:ea typeface="Arial"/>
                <a:cs typeface="Arial"/>
                <a:sym typeface="Arial"/>
              </a:rPr>
              <a:t>.sslip.io</a:t>
            </a:r>
            <a:endParaRPr b="0" i="0" sz="1300" u="none" cap="none" strike="noStrike">
              <a:solidFill>
                <a:srgbClr val="F3EFF7"/>
              </a:solidFill>
              <a:latin typeface="Arial"/>
              <a:ea typeface="Arial"/>
              <a:cs typeface="Arial"/>
              <a:sym typeface="Arial"/>
            </a:endParaRPr>
          </a:p>
        </p:txBody>
      </p:sp>
      <p:sp>
        <p:nvSpPr>
          <p:cNvPr id="785" name="Google Shape;785;p25"/>
          <p:cNvSpPr/>
          <p:nvPr/>
        </p:nvSpPr>
        <p:spPr>
          <a:xfrm>
            <a:off x="7321550" y="2802632"/>
            <a:ext cx="4051200" cy="1549200"/>
          </a:xfrm>
          <a:prstGeom prst="roundRect">
            <a:avLst>
              <a:gd fmla="val 7788" name="adj"/>
            </a:avLst>
          </a:prstGeom>
          <a:solidFill>
            <a:srgbClr val="1B1829"/>
          </a:solidFill>
          <a:ln cap="flat" cmpd="sng" w="12700">
            <a:solidFill>
              <a:srgbClr val="2E2A4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6" name="Google Shape;786;p25"/>
          <p:cNvSpPr/>
          <p:nvPr/>
        </p:nvSpPr>
        <p:spPr>
          <a:xfrm>
            <a:off x="7505700" y="2961382"/>
            <a:ext cx="3793500" cy="269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06BC4"/>
              </a:buClr>
              <a:buSzPts val="1600"/>
              <a:buFont typeface="Arial"/>
              <a:buNone/>
            </a:pPr>
            <a:r>
              <a:rPr b="1" i="0" lang="en-US" sz="1600" u="none" cap="none" strike="noStrike">
                <a:solidFill>
                  <a:srgbClr val="F06BC4"/>
                </a:solidFill>
                <a:latin typeface="Arial"/>
                <a:ea typeface="Arial"/>
                <a:cs typeface="Arial"/>
                <a:sym typeface="Arial"/>
              </a:rPr>
              <a:t>Primer despliegue</a:t>
            </a:r>
            <a:endParaRPr b="0" i="0" sz="1600" u="none" cap="none" strike="noStrike">
              <a:solidFill>
                <a:srgbClr val="F3EFF7"/>
              </a:solidFill>
              <a:latin typeface="Arial"/>
              <a:ea typeface="Arial"/>
              <a:cs typeface="Arial"/>
              <a:sym typeface="Arial"/>
            </a:endParaRPr>
          </a:p>
        </p:txBody>
      </p:sp>
      <p:sp>
        <p:nvSpPr>
          <p:cNvPr id="787" name="Google Shape;787;p25"/>
          <p:cNvSpPr/>
          <p:nvPr/>
        </p:nvSpPr>
        <p:spPr>
          <a:xfrm>
            <a:off x="7576046" y="3268663"/>
            <a:ext cx="3715500" cy="949800"/>
          </a:xfrm>
          <a:prstGeom prst="rect">
            <a:avLst/>
          </a:prstGeom>
          <a:noFill/>
          <a:ln>
            <a:noFill/>
          </a:ln>
        </p:spPr>
        <p:txBody>
          <a:bodyPr anchorCtr="0" anchor="t" bIns="0" lIns="0" spcFirstLastPara="1" rIns="0" wrap="square" tIns="0">
            <a:noAutofit/>
          </a:bodyPr>
          <a:lstStyle/>
          <a:p>
            <a:pPr indent="-183653" lvl="0" marL="183653" marR="0" rtl="0" algn="l">
              <a:lnSpc>
                <a:spcPct val="140000"/>
              </a:lnSpc>
              <a:spcBef>
                <a:spcPts val="0"/>
              </a:spcBef>
              <a:spcAft>
                <a:spcPts val="0"/>
              </a:spcAft>
              <a:buClr>
                <a:srgbClr val="D9D4E6"/>
              </a:buClr>
              <a:buSzPts val="1300"/>
              <a:buFont typeface="Arial"/>
              <a:buAutoNum type="arabicPeriod"/>
            </a:pPr>
            <a:r>
              <a:rPr b="0" i="0" lang="en-US" sz="1300" u="none" cap="none" strike="noStrike">
                <a:solidFill>
                  <a:srgbClr val="D9D4E6"/>
                </a:solidFill>
                <a:latin typeface="Arial"/>
                <a:ea typeface="Arial"/>
                <a:cs typeface="Arial"/>
                <a:sym typeface="Arial"/>
              </a:rPr>
              <a:t>Lanzar EC2 y abrir 22, 80 y 443</a:t>
            </a:r>
            <a:endParaRPr b="0" i="0" sz="1300" u="none" cap="none" strike="noStrike">
              <a:solidFill>
                <a:srgbClr val="F3EFF7"/>
              </a:solidFill>
              <a:latin typeface="Arial"/>
              <a:ea typeface="Arial"/>
              <a:cs typeface="Arial"/>
              <a:sym typeface="Arial"/>
            </a:endParaRPr>
          </a:p>
          <a:p>
            <a:pPr indent="-183653" lvl="0" marL="183653" marR="0" rtl="0" algn="l">
              <a:lnSpc>
                <a:spcPct val="140000"/>
              </a:lnSpc>
              <a:spcBef>
                <a:spcPts val="0"/>
              </a:spcBef>
              <a:spcAft>
                <a:spcPts val="0"/>
              </a:spcAft>
              <a:buClr>
                <a:srgbClr val="D9D4E6"/>
              </a:buClr>
              <a:buSzPts val="1300"/>
              <a:buFont typeface="Arial"/>
              <a:buAutoNum type="arabicPeriod"/>
            </a:pPr>
            <a:r>
              <a:rPr b="0" i="0" lang="en-US" sz="1300" u="none" cap="none" strike="noStrike">
                <a:solidFill>
                  <a:srgbClr val="D9D4E6"/>
                </a:solidFill>
                <a:latin typeface="Arial"/>
                <a:ea typeface="Arial"/>
                <a:cs typeface="Arial"/>
                <a:sym typeface="Arial"/>
              </a:rPr>
              <a:t>Swap e instalar Docker</a:t>
            </a:r>
            <a:endParaRPr b="0" i="0" sz="1300" u="none" cap="none" strike="noStrike">
              <a:solidFill>
                <a:srgbClr val="F3EFF7"/>
              </a:solidFill>
              <a:latin typeface="Arial"/>
              <a:ea typeface="Arial"/>
              <a:cs typeface="Arial"/>
              <a:sym typeface="Arial"/>
            </a:endParaRPr>
          </a:p>
          <a:p>
            <a:pPr indent="-183653" lvl="0" marL="183653" marR="0" rtl="0" algn="l">
              <a:lnSpc>
                <a:spcPct val="140000"/>
              </a:lnSpc>
              <a:spcBef>
                <a:spcPts val="0"/>
              </a:spcBef>
              <a:spcAft>
                <a:spcPts val="0"/>
              </a:spcAft>
              <a:buClr>
                <a:srgbClr val="D9D4E6"/>
              </a:buClr>
              <a:buSzPts val="1300"/>
              <a:buFont typeface="Arial"/>
              <a:buAutoNum type="arabicPeriod"/>
            </a:pPr>
            <a:r>
              <a:rPr b="0" i="0" lang="en-US" sz="1300" u="none" cap="none" strike="noStrike">
                <a:solidFill>
                  <a:srgbClr val="D9D4E6"/>
                </a:solidFill>
                <a:latin typeface="Arial"/>
                <a:ea typeface="Arial"/>
                <a:cs typeface="Arial"/>
                <a:sym typeface="Arial"/>
              </a:rPr>
              <a:t>Crear los .env en el servidor</a:t>
            </a:r>
            <a:endParaRPr b="0" i="0" sz="1300" u="none" cap="none" strike="noStrike">
              <a:solidFill>
                <a:srgbClr val="F3EFF7"/>
              </a:solidFill>
              <a:latin typeface="Arial"/>
              <a:ea typeface="Arial"/>
              <a:cs typeface="Arial"/>
              <a:sym typeface="Arial"/>
            </a:endParaRPr>
          </a:p>
          <a:p>
            <a:pPr indent="-183653" lvl="0" marL="183653" marR="0" rtl="0" algn="l">
              <a:lnSpc>
                <a:spcPct val="140000"/>
              </a:lnSpc>
              <a:spcBef>
                <a:spcPts val="0"/>
              </a:spcBef>
              <a:spcAft>
                <a:spcPts val="0"/>
              </a:spcAft>
              <a:buClr>
                <a:srgbClr val="D9D4E6"/>
              </a:buClr>
              <a:buSzPts val="1300"/>
              <a:buFont typeface="Arial"/>
              <a:buAutoNum type="arabicPeriod"/>
            </a:pPr>
            <a:r>
              <a:rPr b="0" i="0" lang="en-US" sz="1300" u="none" cap="none" strike="noStrike">
                <a:solidFill>
                  <a:srgbClr val="D9D4E6"/>
                </a:solidFill>
                <a:latin typeface="Arial"/>
                <a:ea typeface="Arial"/>
                <a:cs typeface="Arial"/>
                <a:sym typeface="Arial"/>
              </a:rPr>
              <a:t>docker compose up -d --build</a:t>
            </a:r>
            <a:endParaRPr b="0" i="0" sz="1300" u="none" cap="none" strike="noStrike">
              <a:solidFill>
                <a:srgbClr val="F3EFF7"/>
              </a:solidFill>
              <a:latin typeface="Arial"/>
              <a:ea typeface="Arial"/>
              <a:cs typeface="Arial"/>
              <a:sym typeface="Arial"/>
            </a:endParaRPr>
          </a:p>
        </p:txBody>
      </p:sp>
      <p:sp>
        <p:nvSpPr>
          <p:cNvPr id="788" name="Google Shape;788;p25"/>
          <p:cNvSpPr/>
          <p:nvPr/>
        </p:nvSpPr>
        <p:spPr>
          <a:xfrm>
            <a:off x="7321550" y="4491434"/>
            <a:ext cx="4051200" cy="1317900"/>
          </a:xfrm>
          <a:prstGeom prst="roundRect">
            <a:avLst>
              <a:gd fmla="val 9154" name="adj"/>
            </a:avLst>
          </a:prstGeom>
          <a:solidFill>
            <a:srgbClr val="1B1829"/>
          </a:solidFill>
          <a:ln cap="flat" cmpd="sng" w="12700">
            <a:solidFill>
              <a:srgbClr val="3CCFD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25"/>
          <p:cNvSpPr/>
          <p:nvPr/>
        </p:nvSpPr>
        <p:spPr>
          <a:xfrm>
            <a:off x="7505700" y="4650184"/>
            <a:ext cx="3793500" cy="2691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CCFD8"/>
              </a:buClr>
              <a:buSzPts val="1600"/>
              <a:buFont typeface="Arial"/>
              <a:buNone/>
            </a:pPr>
            <a:r>
              <a:rPr b="1" i="0" lang="en-US" sz="1600" u="none" cap="none" strike="noStrike">
                <a:solidFill>
                  <a:srgbClr val="3CCFD8"/>
                </a:solidFill>
                <a:latin typeface="Arial"/>
                <a:ea typeface="Arial"/>
                <a:cs typeface="Arial"/>
                <a:sym typeface="Arial"/>
              </a:rPr>
              <a:t>Sin IP elástica</a:t>
            </a:r>
            <a:endParaRPr b="0" i="0" sz="1600" u="none" cap="none" strike="noStrike">
              <a:solidFill>
                <a:srgbClr val="F3EFF7"/>
              </a:solidFill>
              <a:latin typeface="Arial"/>
              <a:ea typeface="Arial"/>
              <a:cs typeface="Arial"/>
              <a:sym typeface="Arial"/>
            </a:endParaRPr>
          </a:p>
        </p:txBody>
      </p:sp>
      <p:sp>
        <p:nvSpPr>
          <p:cNvPr id="790" name="Google Shape;790;p25"/>
          <p:cNvSpPr/>
          <p:nvPr/>
        </p:nvSpPr>
        <p:spPr>
          <a:xfrm>
            <a:off x="7505700" y="4957465"/>
            <a:ext cx="3793500" cy="718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D9D4E6"/>
              </a:buClr>
              <a:buSzPts val="1300"/>
              <a:buFont typeface="Arial"/>
              <a:buNone/>
            </a:pPr>
            <a:r>
              <a:rPr b="0" i="0" lang="en-US" sz="1300" u="none" cap="none" strike="noStrike">
                <a:solidFill>
                  <a:srgbClr val="D9D4E6"/>
                </a:solidFill>
                <a:latin typeface="Arial"/>
                <a:ea typeface="Arial"/>
                <a:cs typeface="Arial"/>
                <a:sym typeface="Arial"/>
              </a:rPr>
              <a:t>La IP cambia cada sesión (4 h): se actualizan DOMINIO y ALLOWED_ORIGINS y se relanza en menos de 1 min.</a:t>
            </a:r>
            <a:endParaRPr b="0" i="0" sz="1300" u="none" cap="none" strike="noStrike">
              <a:solidFill>
                <a:srgbClr val="F3EFF7"/>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4" name="Shape 794"/>
        <p:cNvGrpSpPr/>
        <p:nvPr/>
      </p:nvGrpSpPr>
      <p:grpSpPr>
        <a:xfrm>
          <a:off x="0" y="0"/>
          <a:ext cx="0" cy="0"/>
          <a:chOff x="0" y="0"/>
          <a:chExt cx="0" cy="0"/>
        </a:xfrm>
      </p:grpSpPr>
      <p:sp>
        <p:nvSpPr>
          <p:cNvPr id="795" name="Google Shape;795;p26"/>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Verificación en producción</a:t>
            </a:r>
            <a:endParaRPr b="0" sz="3400" u="none" strike="noStrike">
              <a:solidFill>
                <a:schemeClr val="dk1"/>
              </a:solidFill>
              <a:latin typeface="Calibri"/>
              <a:ea typeface="Calibri"/>
              <a:cs typeface="Calibri"/>
              <a:sym typeface="Calibri"/>
            </a:endParaRPr>
          </a:p>
        </p:txBody>
      </p:sp>
      <p:sp>
        <p:nvSpPr>
          <p:cNvPr id="796" name="Google Shape;796;p26"/>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CHECKLIST</a:t>
            </a:r>
            <a:endParaRPr b="0" i="0" sz="1200" u="none" cap="none" strike="noStrike">
              <a:solidFill>
                <a:schemeClr val="dk1"/>
              </a:solidFill>
              <a:latin typeface="Calibri"/>
              <a:ea typeface="Calibri"/>
              <a:cs typeface="Calibri"/>
              <a:sym typeface="Calibri"/>
            </a:endParaRPr>
          </a:p>
        </p:txBody>
      </p:sp>
      <p:sp>
        <p:nvSpPr>
          <p:cNvPr id="797" name="Google Shape;797;p26"/>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798" name="Google Shape;798;p26"/>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Mario Luna</a:t>
            </a:r>
            <a:endParaRPr b="0" i="0" spc="0" sz="1100" u="none" cap="none" strike="noStrike">
              <a:solidFill>
                <a:srgbClr val="FFFFFF"/>
              </a:solidFill>
              <a:latin typeface="Arial"/>
              <a:ea typeface="Arial"/>
              <a:cs typeface="Arial"/>
              <a:sym typeface="Arial"/>
            </a:endParaRPr>
          </a:p>
        </p:txBody>
      </p:sp>
      <p:sp>
        <p:nvSpPr>
          <p:cNvPr id="799" name="Google Shape;799;p26"/>
          <p:cNvSpPr/>
          <p:nvPr/>
        </p:nvSpPr>
        <p:spPr>
          <a:xfrm>
            <a:off x="548640" y="13716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00" name="Google Shape;800;p26"/>
          <p:cNvSpPr/>
          <p:nvPr/>
        </p:nvSpPr>
        <p:spPr>
          <a:xfrm>
            <a:off x="777240" y="16002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01" name="Google Shape;801;p26"/>
          <p:cNvSpPr/>
          <p:nvPr/>
        </p:nvSpPr>
        <p:spPr>
          <a:xfrm>
            <a:off x="777240" y="16002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US" spc="0" sz="1800" u="none" cap="none" strike="noStrike">
                <a:solidFill>
                  <a:schemeClr val="dk1"/>
                </a:solidFill>
                <a:latin typeface="Calibri"/>
                <a:ea typeface="Calibri"/>
                <a:cs typeface="Calibri"/>
                <a:sym typeface="Calibri"/>
              </a:rPr>
              <a:t>✓</a:t>
            </a:r>
            <a:endParaRPr b="0" i="0" spc="0" sz="1800" u="none" cap="none" strike="noStrike">
              <a:solidFill>
                <a:srgbClr val="FFFFFF"/>
              </a:solidFill>
              <a:latin typeface="Arial"/>
              <a:ea typeface="Arial"/>
              <a:cs typeface="Arial"/>
              <a:sym typeface="Arial"/>
            </a:endParaRPr>
          </a:p>
        </p:txBody>
      </p:sp>
      <p:sp>
        <p:nvSpPr>
          <p:cNvPr id="802" name="Google Shape;802;p26"/>
          <p:cNvSpPr/>
          <p:nvPr/>
        </p:nvSpPr>
        <p:spPr>
          <a:xfrm>
            <a:off x="822960" y="21945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i="0" lang="en-US" spc="0" sz="1600" u="none" cap="none" strike="noStrike">
                <a:solidFill>
                  <a:schemeClr val="lt1"/>
                </a:solidFill>
                <a:latin typeface="Calibri"/>
                <a:ea typeface="Calibri"/>
                <a:cs typeface="Calibri"/>
                <a:sym typeface="Calibri"/>
              </a:rPr>
              <a:t>App 1 en Vercel</a:t>
            </a:r>
            <a:endParaRPr b="0" i="0" spc="0" sz="1600" u="none" cap="none" strike="noStrike">
              <a:solidFill>
                <a:srgbClr val="FFFFFF"/>
              </a:solidFill>
              <a:latin typeface="Arial"/>
              <a:ea typeface="Arial"/>
              <a:cs typeface="Arial"/>
              <a:sym typeface="Arial"/>
            </a:endParaRPr>
          </a:p>
        </p:txBody>
      </p:sp>
      <p:sp>
        <p:nvSpPr>
          <p:cNvPr id="803" name="Google Shape;803;p26"/>
          <p:cNvSpPr/>
          <p:nvPr/>
        </p:nvSpPr>
        <p:spPr>
          <a:xfrm>
            <a:off x="822960" y="27432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Caso válido 200 y error 422 desde la URL pública (19/10).</a:t>
            </a:r>
            <a:endParaRPr b="0" i="0" spc="0" sz="1200" u="none" cap="none" strike="noStrike">
              <a:solidFill>
                <a:srgbClr val="FFFFFF"/>
              </a:solidFill>
              <a:latin typeface="Arial"/>
              <a:ea typeface="Arial"/>
              <a:cs typeface="Arial"/>
              <a:sym typeface="Arial"/>
            </a:endParaRPr>
          </a:p>
        </p:txBody>
      </p:sp>
      <p:sp>
        <p:nvSpPr>
          <p:cNvPr id="804" name="Google Shape;804;p26"/>
          <p:cNvSpPr/>
          <p:nvPr/>
        </p:nvSpPr>
        <p:spPr>
          <a:xfrm>
            <a:off x="4343400" y="13716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05" name="Google Shape;805;p26"/>
          <p:cNvSpPr/>
          <p:nvPr/>
        </p:nvSpPr>
        <p:spPr>
          <a:xfrm>
            <a:off x="4572000" y="16002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06" name="Google Shape;806;p26"/>
          <p:cNvSpPr/>
          <p:nvPr/>
        </p:nvSpPr>
        <p:spPr>
          <a:xfrm>
            <a:off x="4572000" y="16002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US" spc="0" sz="1800" u="none" cap="none" strike="noStrike">
                <a:solidFill>
                  <a:schemeClr val="dk1"/>
                </a:solidFill>
                <a:latin typeface="Calibri"/>
                <a:ea typeface="Calibri"/>
                <a:cs typeface="Calibri"/>
                <a:sym typeface="Calibri"/>
              </a:rPr>
              <a:t>✓</a:t>
            </a:r>
            <a:endParaRPr b="0" i="0" spc="0" sz="1800" u="none" cap="none" strike="noStrike">
              <a:solidFill>
                <a:srgbClr val="FFFFFF"/>
              </a:solidFill>
              <a:latin typeface="Arial"/>
              <a:ea typeface="Arial"/>
              <a:cs typeface="Arial"/>
              <a:sym typeface="Arial"/>
            </a:endParaRPr>
          </a:p>
        </p:txBody>
      </p:sp>
      <p:sp>
        <p:nvSpPr>
          <p:cNvPr id="807" name="Google Shape;807;p26"/>
          <p:cNvSpPr/>
          <p:nvPr/>
        </p:nvSpPr>
        <p:spPr>
          <a:xfrm>
            <a:off x="4617720" y="21945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i="0" lang="en-US" spc="0" sz="1600" u="none" cap="none" strike="noStrike">
                <a:solidFill>
                  <a:schemeClr val="lt1"/>
                </a:solidFill>
                <a:latin typeface="Calibri"/>
                <a:ea typeface="Calibri"/>
                <a:cs typeface="Calibri"/>
                <a:sym typeface="Calibri"/>
              </a:rPr>
              <a:t>App 2 en Vercel</a:t>
            </a:r>
            <a:endParaRPr b="0" i="0" spc="0" sz="1600" u="none" cap="none" strike="noStrike">
              <a:solidFill>
                <a:srgbClr val="FFFFFF"/>
              </a:solidFill>
              <a:latin typeface="Arial"/>
              <a:ea typeface="Arial"/>
              <a:cs typeface="Arial"/>
              <a:sym typeface="Arial"/>
            </a:endParaRPr>
          </a:p>
        </p:txBody>
      </p:sp>
      <p:sp>
        <p:nvSpPr>
          <p:cNvPr id="808" name="Google Shape;808;p26"/>
          <p:cNvSpPr/>
          <p:nvPr/>
        </p:nvSpPr>
        <p:spPr>
          <a:xfrm>
            <a:off x="4617720" y="27432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Con sesión: recomendaciones. Sin token: 401 NO_AUTORIZADO (28/10).</a:t>
            </a:r>
            <a:endParaRPr b="0" i="0" spc="0" sz="1200" u="none" cap="none" strike="noStrike">
              <a:solidFill>
                <a:srgbClr val="FFFFFF"/>
              </a:solidFill>
              <a:latin typeface="Arial"/>
              <a:ea typeface="Arial"/>
              <a:cs typeface="Arial"/>
              <a:sym typeface="Arial"/>
            </a:endParaRPr>
          </a:p>
        </p:txBody>
      </p:sp>
      <p:sp>
        <p:nvSpPr>
          <p:cNvPr id="809" name="Google Shape;809;p26"/>
          <p:cNvSpPr/>
          <p:nvPr/>
        </p:nvSpPr>
        <p:spPr>
          <a:xfrm>
            <a:off x="8138160" y="13716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10" name="Google Shape;810;p26"/>
          <p:cNvSpPr/>
          <p:nvPr/>
        </p:nvSpPr>
        <p:spPr>
          <a:xfrm>
            <a:off x="8366760" y="16002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11" name="Google Shape;811;p26"/>
          <p:cNvSpPr/>
          <p:nvPr/>
        </p:nvSpPr>
        <p:spPr>
          <a:xfrm>
            <a:off x="8366760" y="16002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US" spc="0" sz="1800" u="none" cap="none" strike="noStrike">
                <a:solidFill>
                  <a:schemeClr val="dk1"/>
                </a:solidFill>
                <a:latin typeface="Calibri"/>
                <a:ea typeface="Calibri"/>
                <a:cs typeface="Calibri"/>
                <a:sym typeface="Calibri"/>
              </a:rPr>
              <a:t>✓</a:t>
            </a:r>
            <a:endParaRPr b="0" i="0" spc="0" sz="1800" u="none" cap="none" strike="noStrike">
              <a:solidFill>
                <a:srgbClr val="FFFFFF"/>
              </a:solidFill>
              <a:latin typeface="Arial"/>
              <a:ea typeface="Arial"/>
              <a:cs typeface="Arial"/>
              <a:sym typeface="Arial"/>
            </a:endParaRPr>
          </a:p>
        </p:txBody>
      </p:sp>
      <p:sp>
        <p:nvSpPr>
          <p:cNvPr id="812" name="Google Shape;812;p26"/>
          <p:cNvSpPr/>
          <p:nvPr/>
        </p:nvSpPr>
        <p:spPr>
          <a:xfrm>
            <a:off x="8412480" y="21945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i="0" lang="en-US" spc="0" sz="1600" u="none" cap="none" strike="noStrike">
                <a:solidFill>
                  <a:schemeClr val="lt1"/>
                </a:solidFill>
                <a:latin typeface="Calibri"/>
                <a:ea typeface="Calibri"/>
                <a:cs typeface="Calibri"/>
                <a:sym typeface="Calibri"/>
              </a:rPr>
              <a:t>Sin claves expuestas</a:t>
            </a:r>
            <a:endParaRPr b="0" i="0" spc="0" sz="1600" u="none" cap="none" strike="noStrike">
              <a:solidFill>
                <a:srgbClr val="FFFFFF"/>
              </a:solidFill>
              <a:latin typeface="Arial"/>
              <a:ea typeface="Arial"/>
              <a:cs typeface="Arial"/>
              <a:sym typeface="Arial"/>
            </a:endParaRPr>
          </a:p>
        </p:txBody>
      </p:sp>
      <p:sp>
        <p:nvSpPr>
          <p:cNvPr id="813" name="Google Shape;813;p26"/>
          <p:cNvSpPr/>
          <p:nvPr/>
        </p:nvSpPr>
        <p:spPr>
          <a:xfrm>
            <a:off x="8412480" y="27432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pc="0" sz="1200" u="none" cap="none" strike="noStrike">
                <a:solidFill>
                  <a:schemeClr val="lt2"/>
                </a:solidFill>
                <a:latin typeface="Calibri"/>
                <a:ea typeface="Calibri"/>
                <a:cs typeface="Calibri"/>
                <a:sym typeface="Calibri"/>
              </a:rPr>
              <a:t>Solo .env.example en Git; la clave no está en el frontend compilado ni en el historial.</a:t>
            </a:r>
            <a:endParaRPr b="0" i="0" spc="0" sz="1200" u="none" cap="none" strike="noStrike">
              <a:solidFill>
                <a:srgbClr val="FFFFFF"/>
              </a:solidFill>
              <a:latin typeface="Arial"/>
              <a:ea typeface="Arial"/>
              <a:cs typeface="Arial"/>
              <a:sym typeface="Arial"/>
            </a:endParaRPr>
          </a:p>
        </p:txBody>
      </p:sp>
      <p:sp>
        <p:nvSpPr>
          <p:cNvPr id="814" name="Google Shape;814;p26"/>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815" name="Google Shape;815;p26"/>
          <p:cNvSpPr/>
          <p:nvPr/>
        </p:nvSpPr>
        <p:spPr>
          <a:xfrm>
            <a:off x="548640" y="37338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16" name="Google Shape;816;p26"/>
          <p:cNvSpPr/>
          <p:nvPr/>
        </p:nvSpPr>
        <p:spPr>
          <a:xfrm>
            <a:off x="777240" y="39624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17" name="Google Shape;817;p26"/>
          <p:cNvSpPr/>
          <p:nvPr/>
        </p:nvSpPr>
        <p:spPr>
          <a:xfrm>
            <a:off x="777240" y="39624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US" spc="0" sz="1800" u="none" cap="none" strike="noStrike">
                <a:solidFill>
                  <a:schemeClr val="dk1"/>
                </a:solidFill>
                <a:latin typeface="Calibri"/>
                <a:ea typeface="Calibri"/>
                <a:cs typeface="Calibri"/>
                <a:sym typeface="Calibri"/>
              </a:rPr>
              <a:t>✓</a:t>
            </a:r>
            <a:endParaRPr b="0" i="0" spc="0" sz="1800" u="none" cap="none" strike="noStrike">
              <a:solidFill>
                <a:srgbClr val="FFFFFF"/>
              </a:solidFill>
              <a:latin typeface="Arial"/>
              <a:ea typeface="Arial"/>
              <a:cs typeface="Arial"/>
              <a:sym typeface="Arial"/>
            </a:endParaRPr>
          </a:p>
        </p:txBody>
      </p:sp>
      <p:sp>
        <p:nvSpPr>
          <p:cNvPr id="818" name="Google Shape;818;p26"/>
          <p:cNvSpPr/>
          <p:nvPr/>
        </p:nvSpPr>
        <p:spPr>
          <a:xfrm>
            <a:off x="822960" y="45567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lang="en-US" sz="1600">
                <a:solidFill>
                  <a:schemeClr val="lt1"/>
                </a:solidFill>
                <a:latin typeface="Calibri"/>
                <a:ea typeface="Calibri"/>
                <a:cs typeface="Calibri"/>
                <a:sym typeface="Calibri"/>
              </a:rPr>
              <a:t>Claves en imágenes Docker </a:t>
            </a:r>
            <a:endParaRPr b="0" i="0" spc="0" sz="1600" u="none" cap="none" strike="noStrike">
              <a:solidFill>
                <a:srgbClr val="FFFFFF"/>
              </a:solidFill>
              <a:latin typeface="Arial"/>
              <a:ea typeface="Arial"/>
              <a:cs typeface="Arial"/>
              <a:sym typeface="Arial"/>
            </a:endParaRPr>
          </a:p>
        </p:txBody>
      </p:sp>
      <p:sp>
        <p:nvSpPr>
          <p:cNvPr id="819" name="Google Shape;819;p26"/>
          <p:cNvSpPr/>
          <p:nvPr/>
        </p:nvSpPr>
        <p:spPr>
          <a:xfrm>
            <a:off x="822960" y="51054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lang="en-US" sz="1200">
                <a:solidFill>
                  <a:schemeClr val="lt2"/>
                </a:solidFill>
                <a:latin typeface="Calibri"/>
                <a:ea typeface="Calibri"/>
                <a:cs typeface="Calibri"/>
                <a:sym typeface="Calibri"/>
              </a:rPr>
              <a:t>Comprobado con docker history y .dockerignore: ninguna capa contiene archivos .env ni la clave de Gemini (28/10).</a:t>
            </a:r>
            <a:endParaRPr b="0" i="0" spc="0" sz="1200" u="none" cap="none" strike="noStrike">
              <a:solidFill>
                <a:srgbClr val="FFFFFF"/>
              </a:solidFill>
              <a:latin typeface="Arial"/>
              <a:ea typeface="Arial"/>
              <a:cs typeface="Arial"/>
              <a:sym typeface="Arial"/>
            </a:endParaRPr>
          </a:p>
        </p:txBody>
      </p:sp>
      <p:sp>
        <p:nvSpPr>
          <p:cNvPr id="820" name="Google Shape;820;p26"/>
          <p:cNvSpPr/>
          <p:nvPr/>
        </p:nvSpPr>
        <p:spPr>
          <a:xfrm>
            <a:off x="4343400" y="37338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21" name="Google Shape;821;p26"/>
          <p:cNvSpPr/>
          <p:nvPr/>
        </p:nvSpPr>
        <p:spPr>
          <a:xfrm>
            <a:off x="4572000" y="39624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22" name="Google Shape;822;p26"/>
          <p:cNvSpPr/>
          <p:nvPr/>
        </p:nvSpPr>
        <p:spPr>
          <a:xfrm>
            <a:off x="4572000" y="39624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US" spc="0" sz="1800" u="none" cap="none" strike="noStrike">
                <a:solidFill>
                  <a:schemeClr val="dk1"/>
                </a:solidFill>
                <a:latin typeface="Calibri"/>
                <a:ea typeface="Calibri"/>
                <a:cs typeface="Calibri"/>
                <a:sym typeface="Calibri"/>
              </a:rPr>
              <a:t>✓</a:t>
            </a:r>
            <a:endParaRPr b="0" i="0" spc="0" sz="1800" u="none" cap="none" strike="noStrike">
              <a:solidFill>
                <a:srgbClr val="FFFFFF"/>
              </a:solidFill>
              <a:latin typeface="Arial"/>
              <a:ea typeface="Arial"/>
              <a:cs typeface="Arial"/>
              <a:sym typeface="Arial"/>
            </a:endParaRPr>
          </a:p>
        </p:txBody>
      </p:sp>
      <p:sp>
        <p:nvSpPr>
          <p:cNvPr id="823" name="Google Shape;823;p26"/>
          <p:cNvSpPr/>
          <p:nvPr/>
        </p:nvSpPr>
        <p:spPr>
          <a:xfrm>
            <a:off x="4617720" y="45567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lang="en-US" sz="1600">
                <a:solidFill>
                  <a:schemeClr val="lt1"/>
                </a:solidFill>
                <a:latin typeface="Calibri"/>
                <a:ea typeface="Calibri"/>
                <a:cs typeface="Calibri"/>
                <a:sym typeface="Calibri"/>
              </a:rPr>
              <a:t>EC2 desde otro dispositivo</a:t>
            </a:r>
            <a:endParaRPr b="0" i="0" spc="0" sz="1600" u="none" cap="none" strike="noStrike">
              <a:solidFill>
                <a:srgbClr val="FFFFFF"/>
              </a:solidFill>
              <a:latin typeface="Arial"/>
              <a:ea typeface="Arial"/>
              <a:cs typeface="Arial"/>
              <a:sym typeface="Arial"/>
            </a:endParaRPr>
          </a:p>
        </p:txBody>
      </p:sp>
      <p:sp>
        <p:nvSpPr>
          <p:cNvPr id="824" name="Google Shape;824;p26"/>
          <p:cNvSpPr/>
          <p:nvPr/>
        </p:nvSpPr>
        <p:spPr>
          <a:xfrm>
            <a:off x="4617720" y="51054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lang="en-US" sz="1200">
                <a:solidFill>
                  <a:schemeClr val="lt2"/>
                </a:solidFill>
                <a:latin typeface="Calibri"/>
                <a:ea typeface="Calibri"/>
                <a:cs typeface="Calibri"/>
                <a:sym typeface="Calibri"/>
              </a:rPr>
              <a:t>Probado desde móvil vía HTTPS (sslip.io): caso válido con sesión (200) y llamada sin token rechazada con 401 (28/10).</a:t>
            </a:r>
            <a:endParaRPr b="0" i="0" spc="0" sz="1200" u="none" cap="none" strike="noStrike">
              <a:solidFill>
                <a:srgbClr val="FFFFFF"/>
              </a:solidFill>
              <a:latin typeface="Arial"/>
              <a:ea typeface="Arial"/>
              <a:cs typeface="Arial"/>
              <a:sym typeface="Arial"/>
            </a:endParaRPr>
          </a:p>
        </p:txBody>
      </p:sp>
      <p:sp>
        <p:nvSpPr>
          <p:cNvPr id="825" name="Google Shape;825;p26"/>
          <p:cNvSpPr/>
          <p:nvPr/>
        </p:nvSpPr>
        <p:spPr>
          <a:xfrm>
            <a:off x="8138160" y="37338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26" name="Google Shape;826;p26"/>
          <p:cNvSpPr/>
          <p:nvPr/>
        </p:nvSpPr>
        <p:spPr>
          <a:xfrm>
            <a:off x="8366760" y="39624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27" name="Google Shape;827;p26"/>
          <p:cNvSpPr/>
          <p:nvPr/>
        </p:nvSpPr>
        <p:spPr>
          <a:xfrm>
            <a:off x="8366760" y="39624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1" i="0" lang="en-US" spc="0" sz="1800" u="none" cap="none" strike="noStrike">
                <a:solidFill>
                  <a:schemeClr val="dk1"/>
                </a:solidFill>
                <a:latin typeface="Calibri"/>
                <a:ea typeface="Calibri"/>
                <a:cs typeface="Calibri"/>
                <a:sym typeface="Calibri"/>
              </a:rPr>
              <a:t>✓</a:t>
            </a:r>
            <a:endParaRPr b="0" i="0" spc="0" sz="1800" u="none" cap="none" strike="noStrike">
              <a:solidFill>
                <a:srgbClr val="FFFFFF"/>
              </a:solidFill>
              <a:latin typeface="Arial"/>
              <a:ea typeface="Arial"/>
              <a:cs typeface="Arial"/>
              <a:sym typeface="Arial"/>
            </a:endParaRPr>
          </a:p>
        </p:txBody>
      </p:sp>
      <p:sp>
        <p:nvSpPr>
          <p:cNvPr id="828" name="Google Shape;828;p26"/>
          <p:cNvSpPr/>
          <p:nvPr/>
        </p:nvSpPr>
        <p:spPr>
          <a:xfrm>
            <a:off x="8412480" y="45567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600"/>
              <a:buFont typeface="Arial"/>
              <a:buNone/>
            </a:pPr>
            <a:r>
              <a:rPr b="1" lang="en-US" sz="1600">
                <a:solidFill>
                  <a:schemeClr val="lt1"/>
                </a:solidFill>
                <a:latin typeface="Calibri"/>
                <a:ea typeface="Calibri"/>
                <a:cs typeface="Calibri"/>
                <a:sym typeface="Calibri"/>
              </a:rPr>
              <a:t>Sin datos tras reiniciar</a:t>
            </a:r>
            <a:endParaRPr b="0" i="0" spc="0" sz="1600" u="none" cap="none" strike="noStrike">
              <a:solidFill>
                <a:srgbClr val="FFFFFF"/>
              </a:solidFill>
              <a:latin typeface="Arial"/>
              <a:ea typeface="Arial"/>
              <a:cs typeface="Arial"/>
              <a:sym typeface="Arial"/>
            </a:endParaRPr>
          </a:p>
        </p:txBody>
      </p:sp>
      <p:sp>
        <p:nvSpPr>
          <p:cNvPr id="829" name="Google Shape;829;p26"/>
          <p:cNvSpPr/>
          <p:nvPr/>
        </p:nvSpPr>
        <p:spPr>
          <a:xfrm>
            <a:off x="8412480" y="51054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lang="en-US" sz="1200">
                <a:solidFill>
                  <a:schemeClr val="lt2"/>
                </a:solidFill>
                <a:latin typeface="Calibri"/>
                <a:ea typeface="Calibri"/>
                <a:cs typeface="Calibri"/>
                <a:sym typeface="Calibri"/>
              </a:rPr>
              <a:t>Tras docker compose down &amp;&amp; up -d, 0 datos ni historial; el único volumen persistente es caddy_data para los certificados TLS (28/10).</a:t>
            </a:r>
            <a:endParaRPr b="0" i="0" spc="0" sz="1200" u="none" cap="none" strike="noStrike">
              <a:solidFill>
                <a:srgbClr val="FFFFFF"/>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3" name="Shape 833"/>
        <p:cNvGrpSpPr/>
        <p:nvPr/>
      </p:nvGrpSpPr>
      <p:grpSpPr>
        <a:xfrm>
          <a:off x="0" y="0"/>
          <a:ext cx="0" cy="0"/>
          <a:chOff x="0" y="0"/>
          <a:chExt cx="0" cy="0"/>
        </a:xfrm>
      </p:grpSpPr>
      <p:sp>
        <p:nvSpPr>
          <p:cNvPr id="834" name="Google Shape;834;p27"/>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Comparativa App 1 y App 2</a:t>
            </a:r>
            <a:endParaRPr b="0" sz="3400" u="none" strike="noStrike">
              <a:solidFill>
                <a:schemeClr val="dk1"/>
              </a:solidFill>
              <a:latin typeface="Calibri"/>
              <a:ea typeface="Calibri"/>
              <a:cs typeface="Calibri"/>
              <a:sym typeface="Calibri"/>
            </a:endParaRPr>
          </a:p>
        </p:txBody>
      </p:sp>
      <p:sp>
        <p:nvSpPr>
          <p:cNvPr id="835" name="Google Shape;835;p27"/>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MISMOS ESCENARIOS</a:t>
            </a:r>
            <a:endParaRPr b="0" i="0" sz="1200" u="none" cap="none" strike="noStrike">
              <a:solidFill>
                <a:schemeClr val="dk1"/>
              </a:solidFill>
              <a:latin typeface="Calibri"/>
              <a:ea typeface="Calibri"/>
              <a:cs typeface="Calibri"/>
              <a:sym typeface="Calibri"/>
            </a:endParaRPr>
          </a:p>
        </p:txBody>
      </p:sp>
      <p:sp>
        <p:nvSpPr>
          <p:cNvPr id="836" name="Google Shape;836;p27"/>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37" name="Google Shape;837;p27"/>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838" name="Google Shape;838;p27"/>
          <p:cNvSpPr/>
          <p:nvPr/>
        </p:nvSpPr>
        <p:spPr>
          <a:xfrm>
            <a:off x="548640" y="1371600"/>
            <a:ext cx="3565800" cy="1142640"/>
          </a:xfrm>
          <a:prstGeom prst="roundRect">
            <a:avLst>
              <a:gd fmla="val 96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39" name="Google Shape;839;p27"/>
          <p:cNvSpPr/>
          <p:nvPr/>
        </p:nvSpPr>
        <p:spPr>
          <a:xfrm>
            <a:off x="777240" y="1481400"/>
            <a:ext cx="3108600" cy="62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1"/>
                </a:solidFill>
                <a:latin typeface="Calibri"/>
                <a:ea typeface="Calibri"/>
                <a:cs typeface="Calibri"/>
                <a:sym typeface="Calibri"/>
              </a:rPr>
              <a:t>12 → 59</a:t>
            </a:r>
            <a:endParaRPr b="0" i="0" spc="0" sz="3400" u="none" cap="none" strike="noStrike">
              <a:solidFill>
                <a:srgbClr val="FFFFFF"/>
              </a:solidFill>
              <a:latin typeface="Arial"/>
              <a:ea typeface="Arial"/>
              <a:cs typeface="Arial"/>
              <a:sym typeface="Arial"/>
            </a:endParaRPr>
          </a:p>
        </p:txBody>
      </p:sp>
      <p:sp>
        <p:nvSpPr>
          <p:cNvPr id="840" name="Google Shape;840;p27"/>
          <p:cNvSpPr/>
          <p:nvPr/>
        </p:nvSpPr>
        <p:spPr>
          <a:xfrm>
            <a:off x="777240" y="205740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pruebas automáticas</a:t>
            </a:r>
            <a:endParaRPr b="0" i="0" spc="0" sz="1300" u="none" cap="none" strike="noStrike">
              <a:solidFill>
                <a:srgbClr val="FFFFFF"/>
              </a:solidFill>
              <a:latin typeface="Arial"/>
              <a:ea typeface="Arial"/>
              <a:cs typeface="Arial"/>
              <a:sym typeface="Arial"/>
            </a:endParaRPr>
          </a:p>
        </p:txBody>
      </p:sp>
      <p:sp>
        <p:nvSpPr>
          <p:cNvPr id="841" name="Google Shape;841;p27"/>
          <p:cNvSpPr/>
          <p:nvPr/>
        </p:nvSpPr>
        <p:spPr>
          <a:xfrm>
            <a:off x="4316040" y="1371600"/>
            <a:ext cx="3565800" cy="1142640"/>
          </a:xfrm>
          <a:prstGeom prst="roundRect">
            <a:avLst>
              <a:gd fmla="val 96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42" name="Google Shape;842;p27"/>
          <p:cNvSpPr/>
          <p:nvPr/>
        </p:nvSpPr>
        <p:spPr>
          <a:xfrm>
            <a:off x="4544640" y="1481400"/>
            <a:ext cx="3108600" cy="62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2"/>
                </a:solidFill>
                <a:latin typeface="Calibri"/>
                <a:ea typeface="Calibri"/>
                <a:cs typeface="Calibri"/>
                <a:sym typeface="Calibri"/>
              </a:rPr>
              <a:t>11 + 40 min</a:t>
            </a:r>
            <a:endParaRPr b="0" i="0" spc="0" sz="3400" u="none" cap="none" strike="noStrike">
              <a:solidFill>
                <a:srgbClr val="FFFFFF"/>
              </a:solidFill>
              <a:latin typeface="Arial"/>
              <a:ea typeface="Arial"/>
              <a:cs typeface="Arial"/>
              <a:sym typeface="Arial"/>
            </a:endParaRPr>
          </a:p>
        </p:txBody>
      </p:sp>
      <p:sp>
        <p:nvSpPr>
          <p:cNvPr id="843" name="Google Shape;843;p27"/>
          <p:cNvSpPr/>
          <p:nvPr/>
        </p:nvSpPr>
        <p:spPr>
          <a:xfrm>
            <a:off x="4544640" y="205740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IA escribiendo · equipo revisando</a:t>
            </a:r>
            <a:endParaRPr b="0" i="0" spc="0" sz="1300" u="none" cap="none" strike="noStrike">
              <a:solidFill>
                <a:srgbClr val="FFFFFF"/>
              </a:solidFill>
              <a:latin typeface="Arial"/>
              <a:ea typeface="Arial"/>
              <a:cs typeface="Arial"/>
              <a:sym typeface="Arial"/>
            </a:endParaRPr>
          </a:p>
        </p:txBody>
      </p:sp>
      <p:sp>
        <p:nvSpPr>
          <p:cNvPr id="844" name="Google Shape;844;p27"/>
          <p:cNvSpPr/>
          <p:nvPr/>
        </p:nvSpPr>
        <p:spPr>
          <a:xfrm>
            <a:off x="8092440" y="1371600"/>
            <a:ext cx="3565800" cy="1142640"/>
          </a:xfrm>
          <a:prstGeom prst="roundRect">
            <a:avLst>
              <a:gd fmla="val 96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45" name="Google Shape;845;p27"/>
          <p:cNvSpPr/>
          <p:nvPr/>
        </p:nvSpPr>
        <p:spPr>
          <a:xfrm>
            <a:off x="8321040" y="1481400"/>
            <a:ext cx="3108600" cy="62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3400"/>
              <a:buFont typeface="Arial"/>
              <a:buNone/>
            </a:pPr>
            <a:r>
              <a:rPr b="1" i="0" lang="en-US" spc="0" sz="3400" u="none" cap="none" strike="noStrike">
                <a:solidFill>
                  <a:schemeClr val="accent5"/>
                </a:solidFill>
                <a:latin typeface="Calibri"/>
                <a:ea typeface="Calibri"/>
                <a:cs typeface="Calibri"/>
                <a:sym typeface="Calibri"/>
              </a:rPr>
              <a:t>2 fallos</a:t>
            </a:r>
            <a:endParaRPr b="0" i="0" spc="0" sz="3400" u="none" cap="none" strike="noStrike">
              <a:solidFill>
                <a:srgbClr val="FFFFFF"/>
              </a:solidFill>
              <a:latin typeface="Arial"/>
              <a:ea typeface="Arial"/>
              <a:cs typeface="Arial"/>
              <a:sym typeface="Arial"/>
            </a:endParaRPr>
          </a:p>
        </p:txBody>
      </p:sp>
      <p:sp>
        <p:nvSpPr>
          <p:cNvPr id="846" name="Google Shape;846;p27"/>
          <p:cNvSpPr/>
          <p:nvPr/>
        </p:nvSpPr>
        <p:spPr>
          <a:xfrm>
            <a:off x="8321040" y="205740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US" spc="0" sz="1300" u="none" cap="none" strike="noStrike">
                <a:solidFill>
                  <a:schemeClr val="lt2"/>
                </a:solidFill>
                <a:latin typeface="Calibri"/>
                <a:ea typeface="Calibri"/>
                <a:cs typeface="Calibri"/>
                <a:sym typeface="Calibri"/>
              </a:rPr>
              <a:t>de la IA que solo salieron al ejecutar</a:t>
            </a:r>
            <a:endParaRPr b="0" i="0" spc="0" sz="1300" u="none" cap="none" strike="noStrike">
              <a:solidFill>
                <a:srgbClr val="FFFFFF"/>
              </a:solidFill>
              <a:latin typeface="Arial"/>
              <a:ea typeface="Arial"/>
              <a:cs typeface="Arial"/>
              <a:sym typeface="Arial"/>
            </a:endParaRPr>
          </a:p>
        </p:txBody>
      </p:sp>
      <p:graphicFrame>
        <p:nvGraphicFramePr>
          <p:cNvPr id="847" name="Google Shape;847;p27"/>
          <p:cNvGraphicFramePr/>
          <p:nvPr/>
        </p:nvGraphicFramePr>
        <p:xfrm>
          <a:off x="548640" y="2697480"/>
          <a:ext cx="3000000" cy="3000000"/>
        </p:xfrm>
        <a:graphic>
          <a:graphicData uri="http://schemas.openxmlformats.org/drawingml/2006/table">
            <a:tbl>
              <a:tblPr>
                <a:noFill/>
                <a:tableStyleId>{2CF13FB7-0205-41BE-8397-3389DFF363E2}</a:tableStyleId>
              </a:tblPr>
              <a:tblGrid>
                <a:gridCol w="1965950"/>
                <a:gridCol w="4572000"/>
                <a:gridCol w="4572000"/>
              </a:tblGrid>
              <a:tr h="45720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0B0B12"/>
                          </a:solidFill>
                          <a:latin typeface="Calibri"/>
                          <a:ea typeface="Calibri"/>
                          <a:cs typeface="Calibri"/>
                          <a:sym typeface="Calibri"/>
                        </a:rPr>
                        <a:t>Dimensión</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0B0B12"/>
                          </a:solidFill>
                          <a:latin typeface="Calibri"/>
                          <a:ea typeface="Calibri"/>
                          <a:cs typeface="Calibri"/>
                          <a:sym typeface="Calibri"/>
                        </a:rPr>
                        <a:t>App 1 · a mano</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0B0B12"/>
                          </a:solidFill>
                          <a:latin typeface="Calibri"/>
                          <a:ea typeface="Calibri"/>
                          <a:cs typeface="Calibri"/>
                          <a:sym typeface="Calibri"/>
                        </a:rPr>
                        <a:t>App 2 · Spec Kit + IA</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9B8CFF"/>
                    </a:solidFill>
                  </a:tcPr>
                </a:tc>
              </a:tr>
              <a:tr h="45720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Tiempo</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Horas por fase: frontend ≈ 7,5 h, Backend</a:t>
                      </a:r>
                      <a:r>
                        <a:rPr lang="en-US" spc="0" sz="1200" u="none" cap="none" strike="noStrike">
                          <a:solidFill>
                            <a:schemeClr val="lt1"/>
                          </a:solidFill>
                          <a:latin typeface="Calibri"/>
                          <a:ea typeface="Calibri"/>
                          <a:cs typeface="Calibri"/>
                          <a:sym typeface="Calibri"/>
                        </a:rPr>
                        <a:t>≈6 h</a:t>
                      </a:r>
                      <a:r>
                        <a:rPr b="0" lang="en-US" spc="0" sz="1200" u="none" cap="none" strike="noStrike">
                          <a:solidFill>
                            <a:srgbClr val="FFFFFF"/>
                          </a:solidFill>
                          <a:latin typeface="Calibri"/>
                          <a:ea typeface="Calibri"/>
                          <a:cs typeface="Calibri"/>
                          <a:sym typeface="Calibri"/>
                        </a:rPr>
                        <a:t> pruebas ≈ 5 h (estimaciones).</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Especificación en 31 min y código en ≈ 11 min; el coste está en revisar y probar.</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Calidad</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Contrato estable, 12 pruebas y trazabilidad completa en la ERS.</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Mismo contrato + 401, 59 pruebas y requisitos trazados a la ERS.</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Errores</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Nuestros: 402 de OpenRouter, saldo agotado, carpetas reorganizadas.</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De la IA: plan desfasado, .env sin cargar y vercel.json con 404.</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Mantenibilidad</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Cambiar de proveedor fue fácil: los tests simulan ask_model.</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Modelo y límites por variables de entorno, sin tocar código.</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Clr>
                          <a:srgbClr val="000000"/>
                        </a:buClr>
                        <a:buSzPts val="1200"/>
                        <a:buFont typeface="Arial"/>
                        <a:buNone/>
                      </a:pPr>
                      <a:r>
                        <a:rPr b="1" lang="en-US" spc="0" sz="1200" u="none" cap="none" strike="noStrike">
                          <a:solidFill>
                            <a:srgbClr val="E86CCA"/>
                          </a:solidFill>
                          <a:latin typeface="Calibri"/>
                          <a:ea typeface="Calibri"/>
                          <a:cs typeface="Calibri"/>
                          <a:sym typeface="Calibri"/>
                        </a:rPr>
                        <a:t>Utilidad de la IA</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Consultas puntuales: pytest, mocks y diagnóstico del 402.</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Clr>
                          <a:srgbClr val="000000"/>
                        </a:buClr>
                        <a:buSzPts val="1200"/>
                        <a:buFont typeface="Arial"/>
                        <a:buNone/>
                      </a:pPr>
                      <a:r>
                        <a:rPr b="0" lang="en-US" spc="0" sz="1200" u="none" cap="none" strike="noStrike">
                          <a:solidFill>
                            <a:srgbClr val="FFFFFF"/>
                          </a:solidFill>
                          <a:latin typeface="Calibri"/>
                          <a:ea typeface="Calibri"/>
                          <a:cs typeface="Calibri"/>
                          <a:sym typeface="Calibri"/>
                        </a:rPr>
                        <a:t>Lo escribió todo; el equipo decidió modelo, géneros y desviaciones.</a:t>
                      </a:r>
                      <a:endParaRPr b="0" spc="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bl>
          </a:graphicData>
        </a:graphic>
      </p:graphicFrame>
      <p:sp>
        <p:nvSpPr>
          <p:cNvPr id="848" name="Google Shape;848;p27"/>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2" name="Shape 852"/>
        <p:cNvGrpSpPr/>
        <p:nvPr/>
      </p:nvGrpSpPr>
      <p:grpSpPr>
        <a:xfrm>
          <a:off x="0" y="0"/>
          <a:ext cx="0" cy="0"/>
          <a:chOff x="0" y="0"/>
          <a:chExt cx="0" cy="0"/>
        </a:xfrm>
      </p:grpSpPr>
      <p:sp>
        <p:nvSpPr>
          <p:cNvPr id="853" name="Google Shape;853;p28"/>
          <p:cNvSpPr/>
          <p:nvPr/>
        </p:nvSpPr>
        <p:spPr>
          <a:xfrm>
            <a:off x="533400" y="4059898"/>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54" name="Google Shape;854;p28"/>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Demo en directo</a:t>
            </a:r>
            <a:endParaRPr b="0" sz="3400" u="none" strike="noStrike">
              <a:solidFill>
                <a:schemeClr val="dk1"/>
              </a:solidFill>
              <a:latin typeface="Calibri"/>
              <a:ea typeface="Calibri"/>
              <a:cs typeface="Calibri"/>
              <a:sym typeface="Calibri"/>
            </a:endParaRPr>
          </a:p>
        </p:txBody>
      </p:sp>
      <p:sp>
        <p:nvSpPr>
          <p:cNvPr id="855" name="Google Shape;855;p28"/>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5 PUNTOS DEL ENUNCIADO</a:t>
            </a:r>
            <a:endParaRPr b="0" i="0" sz="1200" u="none" cap="none" strike="noStrike">
              <a:solidFill>
                <a:schemeClr val="dk1"/>
              </a:solidFill>
              <a:latin typeface="Calibri"/>
              <a:ea typeface="Calibri"/>
              <a:cs typeface="Calibri"/>
              <a:sym typeface="Calibri"/>
            </a:endParaRPr>
          </a:p>
        </p:txBody>
      </p:sp>
      <p:sp>
        <p:nvSpPr>
          <p:cNvPr id="856" name="Google Shape;856;p28"/>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57" name="Google Shape;857;p28"/>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todo el equipo</a:t>
            </a:r>
            <a:endParaRPr b="0" i="0" spc="0" sz="1100" u="none" cap="none" strike="noStrike">
              <a:solidFill>
                <a:srgbClr val="FFFFFF"/>
              </a:solidFill>
              <a:latin typeface="Arial"/>
              <a:ea typeface="Arial"/>
              <a:cs typeface="Arial"/>
              <a:sym typeface="Arial"/>
            </a:endParaRPr>
          </a:p>
        </p:txBody>
      </p:sp>
      <p:sp>
        <p:nvSpPr>
          <p:cNvPr id="858" name="Google Shape;858;p28"/>
          <p:cNvSpPr/>
          <p:nvPr/>
        </p:nvSpPr>
        <p:spPr>
          <a:xfrm>
            <a:off x="548640" y="137160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59" name="Google Shape;859;p28"/>
          <p:cNvSpPr/>
          <p:nvPr/>
        </p:nvSpPr>
        <p:spPr>
          <a:xfrm>
            <a:off x="731520" y="155448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60" name="Google Shape;860;p28"/>
          <p:cNvSpPr/>
          <p:nvPr/>
        </p:nvSpPr>
        <p:spPr>
          <a:xfrm>
            <a:off x="731520" y="155448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1</a:t>
            </a:r>
            <a:endParaRPr b="0" i="0" spc="0" sz="1400" u="none" cap="none" strike="noStrike">
              <a:solidFill>
                <a:srgbClr val="FFFFFF"/>
              </a:solidFill>
              <a:latin typeface="Arial"/>
              <a:ea typeface="Arial"/>
              <a:cs typeface="Arial"/>
              <a:sym typeface="Arial"/>
            </a:endParaRPr>
          </a:p>
        </p:txBody>
      </p:sp>
      <p:sp>
        <p:nvSpPr>
          <p:cNvPr id="861" name="Google Shape;861;p28"/>
          <p:cNvSpPr/>
          <p:nvPr/>
        </p:nvSpPr>
        <p:spPr>
          <a:xfrm>
            <a:off x="1325880" y="137160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1"/>
                </a:solidFill>
                <a:latin typeface="Calibri"/>
                <a:ea typeface="Calibri"/>
                <a:cs typeface="Calibri"/>
                <a:sym typeface="Calibri"/>
              </a:rPr>
              <a:t>Entrada válida en la App 1 (Vercel): géneros y texto → recomendaciones en la misma pantalla.</a:t>
            </a:r>
            <a:endParaRPr b="0" i="0" spc="0" sz="1400" u="none" cap="none" strike="noStrike">
              <a:solidFill>
                <a:srgbClr val="FFFFFF"/>
              </a:solidFill>
              <a:latin typeface="Arial"/>
              <a:ea typeface="Arial"/>
              <a:cs typeface="Arial"/>
              <a:sym typeface="Arial"/>
            </a:endParaRPr>
          </a:p>
        </p:txBody>
      </p:sp>
      <p:sp>
        <p:nvSpPr>
          <p:cNvPr id="862" name="Google Shape;862;p28"/>
          <p:cNvSpPr/>
          <p:nvPr/>
        </p:nvSpPr>
        <p:spPr>
          <a:xfrm>
            <a:off x="6858000" y="158184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63" name="Google Shape;863;p28"/>
          <p:cNvSpPr/>
          <p:nvPr/>
        </p:nvSpPr>
        <p:spPr>
          <a:xfrm>
            <a:off x="6858000" y="158184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Jose</a:t>
            </a:r>
            <a:endParaRPr b="0" i="0" spc="0" sz="1200" u="none" cap="none" strike="noStrike">
              <a:solidFill>
                <a:srgbClr val="FFFFFF"/>
              </a:solidFill>
              <a:latin typeface="Arial"/>
              <a:ea typeface="Arial"/>
              <a:cs typeface="Arial"/>
              <a:sym typeface="Arial"/>
            </a:endParaRPr>
          </a:p>
        </p:txBody>
      </p:sp>
      <p:sp>
        <p:nvSpPr>
          <p:cNvPr id="864" name="Google Shape;864;p28"/>
          <p:cNvSpPr/>
          <p:nvPr/>
        </p:nvSpPr>
        <p:spPr>
          <a:xfrm>
            <a:off x="548640" y="226764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65" name="Google Shape;865;p28"/>
          <p:cNvSpPr/>
          <p:nvPr/>
        </p:nvSpPr>
        <p:spPr>
          <a:xfrm>
            <a:off x="731520" y="245052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66" name="Google Shape;866;p28"/>
          <p:cNvSpPr/>
          <p:nvPr/>
        </p:nvSpPr>
        <p:spPr>
          <a:xfrm>
            <a:off x="731520" y="245052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2</a:t>
            </a:r>
            <a:endParaRPr b="0" i="0" spc="0" sz="1400" u="none" cap="none" strike="noStrike">
              <a:solidFill>
                <a:srgbClr val="FFFFFF"/>
              </a:solidFill>
              <a:latin typeface="Arial"/>
              <a:ea typeface="Arial"/>
              <a:cs typeface="Arial"/>
              <a:sym typeface="Arial"/>
            </a:endParaRPr>
          </a:p>
        </p:txBody>
      </p:sp>
      <p:sp>
        <p:nvSpPr>
          <p:cNvPr id="867" name="Google Shape;867;p28"/>
          <p:cNvSpPr/>
          <p:nvPr/>
        </p:nvSpPr>
        <p:spPr>
          <a:xfrm>
            <a:off x="1325880" y="226764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1"/>
                </a:solidFill>
                <a:latin typeface="Calibri"/>
                <a:ea typeface="Calibri"/>
                <a:cs typeface="Calibri"/>
                <a:sym typeface="Calibri"/>
              </a:rPr>
              <a:t>Error controlado: formulario vacío (aviso) y 422 desde la consola del navegador.</a:t>
            </a:r>
            <a:endParaRPr b="0" i="0" spc="0" sz="1400" u="none" cap="none" strike="noStrike">
              <a:solidFill>
                <a:srgbClr val="FFFFFF"/>
              </a:solidFill>
              <a:latin typeface="Arial"/>
              <a:ea typeface="Arial"/>
              <a:cs typeface="Arial"/>
              <a:sym typeface="Arial"/>
            </a:endParaRPr>
          </a:p>
        </p:txBody>
      </p:sp>
      <p:sp>
        <p:nvSpPr>
          <p:cNvPr id="868" name="Google Shape;868;p28"/>
          <p:cNvSpPr/>
          <p:nvPr/>
        </p:nvSpPr>
        <p:spPr>
          <a:xfrm>
            <a:off x="6858000" y="247788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69" name="Google Shape;869;p28"/>
          <p:cNvSpPr/>
          <p:nvPr/>
        </p:nvSpPr>
        <p:spPr>
          <a:xfrm>
            <a:off x="6858000" y="247788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Jose</a:t>
            </a:r>
            <a:endParaRPr b="0" i="0" spc="0" sz="1200" u="none" cap="none" strike="noStrike">
              <a:solidFill>
                <a:srgbClr val="FFFFFF"/>
              </a:solidFill>
              <a:latin typeface="Arial"/>
              <a:ea typeface="Arial"/>
              <a:cs typeface="Arial"/>
              <a:sym typeface="Arial"/>
            </a:endParaRPr>
          </a:p>
        </p:txBody>
      </p:sp>
      <p:sp>
        <p:nvSpPr>
          <p:cNvPr id="870" name="Google Shape;870;p28"/>
          <p:cNvSpPr/>
          <p:nvPr/>
        </p:nvSpPr>
        <p:spPr>
          <a:xfrm>
            <a:off x="548640" y="316368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71" name="Google Shape;871;p28"/>
          <p:cNvSpPr/>
          <p:nvPr/>
        </p:nvSpPr>
        <p:spPr>
          <a:xfrm>
            <a:off x="731520" y="334656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72" name="Google Shape;872;p28"/>
          <p:cNvSpPr/>
          <p:nvPr/>
        </p:nvSpPr>
        <p:spPr>
          <a:xfrm>
            <a:off x="731520" y="334656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3</a:t>
            </a:r>
            <a:endParaRPr b="0" i="0" spc="0" sz="1400" u="none" cap="none" strike="noStrike">
              <a:solidFill>
                <a:srgbClr val="FFFFFF"/>
              </a:solidFill>
              <a:latin typeface="Arial"/>
              <a:ea typeface="Arial"/>
              <a:cs typeface="Arial"/>
              <a:sym typeface="Arial"/>
            </a:endParaRPr>
          </a:p>
        </p:txBody>
      </p:sp>
      <p:sp>
        <p:nvSpPr>
          <p:cNvPr id="873" name="Google Shape;873;p28"/>
          <p:cNvSpPr/>
          <p:nvPr/>
        </p:nvSpPr>
        <p:spPr>
          <a:xfrm>
            <a:off x="1325880" y="316368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1"/>
                </a:solidFill>
                <a:latin typeface="Calibri"/>
                <a:ea typeface="Calibri"/>
                <a:cs typeface="Calibri"/>
                <a:sym typeface="Calibri"/>
              </a:rPr>
              <a:t>App 2: inicio de sesión con Clerk y llamada sin token → 401.</a:t>
            </a:r>
            <a:endParaRPr b="0" i="0" spc="0" sz="1400" u="none" cap="none" strike="noStrike">
              <a:solidFill>
                <a:srgbClr val="FFFFFF"/>
              </a:solidFill>
              <a:latin typeface="Arial"/>
              <a:ea typeface="Arial"/>
              <a:cs typeface="Arial"/>
              <a:sym typeface="Arial"/>
            </a:endParaRPr>
          </a:p>
        </p:txBody>
      </p:sp>
      <p:sp>
        <p:nvSpPr>
          <p:cNvPr id="874" name="Google Shape;874;p28"/>
          <p:cNvSpPr/>
          <p:nvPr/>
        </p:nvSpPr>
        <p:spPr>
          <a:xfrm>
            <a:off x="6858000" y="337428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75" name="Google Shape;875;p28"/>
          <p:cNvSpPr/>
          <p:nvPr/>
        </p:nvSpPr>
        <p:spPr>
          <a:xfrm>
            <a:off x="6858000" y="337428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Mario</a:t>
            </a:r>
            <a:endParaRPr b="0" i="0" spc="0" sz="1200" u="none" cap="none" strike="noStrike">
              <a:solidFill>
                <a:srgbClr val="FFFFFF"/>
              </a:solidFill>
              <a:latin typeface="Arial"/>
              <a:ea typeface="Arial"/>
              <a:cs typeface="Arial"/>
              <a:sym typeface="Arial"/>
            </a:endParaRPr>
          </a:p>
        </p:txBody>
      </p:sp>
      <p:sp>
        <p:nvSpPr>
          <p:cNvPr id="876" name="Google Shape;876;p28"/>
          <p:cNvSpPr/>
          <p:nvPr/>
        </p:nvSpPr>
        <p:spPr>
          <a:xfrm>
            <a:off x="731520" y="4242960"/>
            <a:ext cx="411120" cy="402120"/>
          </a:xfrm>
          <a:prstGeom prst="roundRect">
            <a:avLst>
              <a:gd fmla="val 18182" name="adj"/>
            </a:avLst>
          </a:prstGeom>
          <a:solidFill>
            <a:srgbClr val="E86CCA"/>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000000"/>
              </a:solidFill>
              <a:latin typeface="Arial"/>
              <a:ea typeface="Arial"/>
              <a:cs typeface="Arial"/>
              <a:sym typeface="Arial"/>
            </a:endParaRPr>
          </a:p>
        </p:txBody>
      </p:sp>
      <p:sp>
        <p:nvSpPr>
          <p:cNvPr id="877" name="Google Shape;877;p28"/>
          <p:cNvSpPr/>
          <p:nvPr/>
        </p:nvSpPr>
        <p:spPr>
          <a:xfrm>
            <a:off x="731583" y="4242848"/>
            <a:ext cx="411000" cy="402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4</a:t>
            </a:r>
            <a:endParaRPr b="0" i="0" spc="0" sz="1400" u="none" cap="none" strike="noStrike">
              <a:solidFill>
                <a:srgbClr val="FFFFFF"/>
              </a:solidFill>
              <a:latin typeface="Arial"/>
              <a:ea typeface="Arial"/>
              <a:cs typeface="Arial"/>
              <a:sym typeface="Arial"/>
            </a:endParaRPr>
          </a:p>
        </p:txBody>
      </p:sp>
      <p:sp>
        <p:nvSpPr>
          <p:cNvPr id="878" name="Google Shape;878;p28"/>
          <p:cNvSpPr/>
          <p:nvPr/>
        </p:nvSpPr>
        <p:spPr>
          <a:xfrm>
            <a:off x="1325880" y="406008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1"/>
                </a:solidFill>
                <a:latin typeface="Calibri"/>
                <a:ea typeface="Calibri"/>
                <a:cs typeface="Calibri"/>
                <a:sym typeface="Calibri"/>
              </a:rPr>
              <a:t>App 2 funcionando en EC2 con HTTPS.</a:t>
            </a:r>
            <a:endParaRPr b="0" i="0" spc="0" sz="1400" u="none" cap="none" strike="noStrike">
              <a:solidFill>
                <a:srgbClr val="FFFFFF"/>
              </a:solidFill>
              <a:latin typeface="Arial"/>
              <a:ea typeface="Arial"/>
              <a:cs typeface="Arial"/>
              <a:sym typeface="Arial"/>
            </a:endParaRPr>
          </a:p>
        </p:txBody>
      </p:sp>
      <p:sp>
        <p:nvSpPr>
          <p:cNvPr id="879" name="Google Shape;879;p28"/>
          <p:cNvSpPr/>
          <p:nvPr/>
        </p:nvSpPr>
        <p:spPr>
          <a:xfrm>
            <a:off x="6858000" y="427032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80" name="Google Shape;880;p28"/>
          <p:cNvSpPr/>
          <p:nvPr/>
        </p:nvSpPr>
        <p:spPr>
          <a:xfrm>
            <a:off x="548640" y="495612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81" name="Google Shape;881;p28"/>
          <p:cNvSpPr/>
          <p:nvPr/>
        </p:nvSpPr>
        <p:spPr>
          <a:xfrm>
            <a:off x="731520" y="513900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82" name="Google Shape;882;p28"/>
          <p:cNvSpPr/>
          <p:nvPr/>
        </p:nvSpPr>
        <p:spPr>
          <a:xfrm>
            <a:off x="731520" y="513900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5</a:t>
            </a:r>
            <a:endParaRPr b="0" i="0" spc="0" sz="1400" u="none" cap="none" strike="noStrike">
              <a:solidFill>
                <a:srgbClr val="FFFFFF"/>
              </a:solidFill>
              <a:latin typeface="Arial"/>
              <a:ea typeface="Arial"/>
              <a:cs typeface="Arial"/>
              <a:sym typeface="Arial"/>
            </a:endParaRPr>
          </a:p>
        </p:txBody>
      </p:sp>
      <p:sp>
        <p:nvSpPr>
          <p:cNvPr id="883" name="Google Shape;883;p28"/>
          <p:cNvSpPr/>
          <p:nvPr/>
        </p:nvSpPr>
        <p:spPr>
          <a:xfrm>
            <a:off x="1325880" y="495612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1"/>
                </a:solidFill>
                <a:latin typeface="Calibri"/>
                <a:ea typeface="Calibri"/>
                <a:cs typeface="Calibri"/>
                <a:sym typeface="Calibri"/>
              </a:rPr>
              <a:t>Un test con mock (pytest -k timeout) y el commit de la especificación anterior al código.</a:t>
            </a:r>
            <a:endParaRPr b="0" i="0" spc="0" sz="1400" u="none" cap="none" strike="noStrike">
              <a:solidFill>
                <a:srgbClr val="FFFFFF"/>
              </a:solidFill>
              <a:latin typeface="Arial"/>
              <a:ea typeface="Arial"/>
              <a:cs typeface="Arial"/>
              <a:sym typeface="Arial"/>
            </a:endParaRPr>
          </a:p>
        </p:txBody>
      </p:sp>
      <p:sp>
        <p:nvSpPr>
          <p:cNvPr id="884" name="Google Shape;884;p28"/>
          <p:cNvSpPr/>
          <p:nvPr/>
        </p:nvSpPr>
        <p:spPr>
          <a:xfrm>
            <a:off x="6858000" y="516636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85" name="Google Shape;885;p28"/>
          <p:cNvSpPr/>
          <p:nvPr/>
        </p:nvSpPr>
        <p:spPr>
          <a:xfrm>
            <a:off x="6858000" y="516636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David</a:t>
            </a:r>
            <a:endParaRPr b="0" i="0" spc="0" sz="1200" u="none" cap="none" strike="noStrike">
              <a:solidFill>
                <a:srgbClr val="FFFFFF"/>
              </a:solidFill>
              <a:latin typeface="Arial"/>
              <a:ea typeface="Arial"/>
              <a:cs typeface="Arial"/>
              <a:sym typeface="Arial"/>
            </a:endParaRPr>
          </a:p>
        </p:txBody>
      </p:sp>
      <p:sp>
        <p:nvSpPr>
          <p:cNvPr id="886" name="Google Shape;886;p28"/>
          <p:cNvSpPr/>
          <p:nvPr/>
        </p:nvSpPr>
        <p:spPr>
          <a:xfrm>
            <a:off x="8366760" y="1371600"/>
            <a:ext cx="3291480" cy="4334040"/>
          </a:xfrm>
          <a:prstGeom prst="roundRect">
            <a:avLst>
              <a:gd fmla="val 333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87" name="Google Shape;887;p28"/>
          <p:cNvSpPr/>
          <p:nvPr/>
        </p:nvSpPr>
        <p:spPr>
          <a:xfrm>
            <a:off x="8595360" y="1554480"/>
            <a:ext cx="283428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2000"/>
              <a:buFont typeface="Arial"/>
              <a:buNone/>
            </a:pPr>
            <a:r>
              <a:rPr b="1" i="0" lang="en-US" spc="0" sz="2000" u="none" cap="none" strike="noStrike">
                <a:solidFill>
                  <a:schemeClr val="accent1"/>
                </a:solidFill>
                <a:latin typeface="Calibri"/>
                <a:ea typeface="Calibri"/>
                <a:cs typeface="Calibri"/>
                <a:sym typeface="Calibri"/>
              </a:rPr>
              <a:t>Plan B</a:t>
            </a:r>
            <a:endParaRPr b="0" i="0" spc="0" sz="2000" u="none" cap="none" strike="noStrike">
              <a:solidFill>
                <a:srgbClr val="FFFFFF"/>
              </a:solidFill>
              <a:latin typeface="Arial"/>
              <a:ea typeface="Arial"/>
              <a:cs typeface="Arial"/>
              <a:sym typeface="Arial"/>
            </a:endParaRPr>
          </a:p>
        </p:txBody>
      </p:sp>
      <p:sp>
        <p:nvSpPr>
          <p:cNvPr id="888" name="Google Shape;888;p28"/>
          <p:cNvSpPr/>
          <p:nvPr/>
        </p:nvSpPr>
        <p:spPr>
          <a:xfrm>
            <a:off x="8595360" y="2057400"/>
            <a:ext cx="2880000" cy="274284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Si falla Gemini, Clerk o la red: capturas de docs/evidencias, presentadas como capturas.</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Nunca un mock como si fuera la IA real.</a:t>
            </a:r>
            <a:endParaRPr b="0" i="0" spc="0" sz="1300" u="none" cap="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300"/>
              <a:buFont typeface="Noto Sans Symbols"/>
              <a:buChar char="∙"/>
            </a:pPr>
            <a:r>
              <a:rPr b="0" i="0" lang="en-US" spc="0" sz="1300" u="none" cap="none" strike="noStrike">
                <a:solidFill>
                  <a:schemeClr val="lt1"/>
                </a:solidFill>
                <a:latin typeface="Calibri"/>
                <a:ea typeface="Calibri"/>
                <a:cs typeface="Calibri"/>
                <a:sym typeface="Calibri"/>
              </a:rPr>
              <a:t>Datos ficticios en todas las entradas.</a:t>
            </a:r>
            <a:endParaRPr b="0" i="0" spc="0" sz="1300" u="none" cap="none" strike="noStrike">
              <a:solidFill>
                <a:srgbClr val="FFFFFF"/>
              </a:solidFill>
              <a:latin typeface="Arial"/>
              <a:ea typeface="Arial"/>
              <a:cs typeface="Arial"/>
              <a:sym typeface="Arial"/>
            </a:endParaRPr>
          </a:p>
        </p:txBody>
      </p:sp>
      <p:sp>
        <p:nvSpPr>
          <p:cNvPr id="889" name="Google Shape;889;p28"/>
          <p:cNvSpPr/>
          <p:nvPr/>
        </p:nvSpPr>
        <p:spPr>
          <a:xfrm>
            <a:off x="548640" y="5897880"/>
            <a:ext cx="75891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onsolas"/>
                <a:ea typeface="Consolas"/>
                <a:cs typeface="Consolas"/>
                <a:sym typeface="Consolas"/>
              </a:rPr>
              <a:t>Hito Git: 16aa54a (spec, 25/10) → 8924e16 (código, 27/10)</a:t>
            </a:r>
            <a:endParaRPr b="0" i="0" spc="0" sz="1100" u="none" cap="none" strike="noStrike">
              <a:solidFill>
                <a:srgbClr val="FFFFFF"/>
              </a:solidFill>
              <a:latin typeface="Arial"/>
              <a:ea typeface="Arial"/>
              <a:cs typeface="Arial"/>
              <a:sym typeface="Arial"/>
            </a:endParaRPr>
          </a:p>
        </p:txBody>
      </p:sp>
      <p:sp>
        <p:nvSpPr>
          <p:cNvPr id="890" name="Google Shape;890;p28"/>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891" name="Google Shape;891;p28"/>
          <p:cNvSpPr/>
          <p:nvPr/>
        </p:nvSpPr>
        <p:spPr>
          <a:xfrm>
            <a:off x="6858063" y="4283938"/>
            <a:ext cx="1096800" cy="319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pc="0" sz="1200" u="none" cap="none" strike="noStrike">
                <a:solidFill>
                  <a:schemeClr val="accent1"/>
                </a:solidFill>
                <a:latin typeface="Calibri"/>
                <a:ea typeface="Calibri"/>
                <a:cs typeface="Calibri"/>
                <a:sym typeface="Calibri"/>
              </a:rPr>
              <a:t>Mario</a:t>
            </a:r>
            <a:endParaRPr b="0" i="0" spc="0" sz="1200" u="none" cap="none" strike="noStrike">
              <a:solidFill>
                <a:srgbClr val="FFFFFF"/>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5" name="Shape 895"/>
        <p:cNvGrpSpPr/>
        <p:nvPr/>
      </p:nvGrpSpPr>
      <p:grpSpPr>
        <a:xfrm>
          <a:off x="0" y="0"/>
          <a:ext cx="0" cy="0"/>
          <a:chOff x="0" y="0"/>
          <a:chExt cx="0" cy="0"/>
        </a:xfrm>
      </p:grpSpPr>
      <p:sp>
        <p:nvSpPr>
          <p:cNvPr id="896" name="Google Shape;896;p29"/>
          <p:cNvSpPr txBox="1"/>
          <p:nvPr>
            <p:ph type="title"/>
          </p:nvPr>
        </p:nvSpPr>
        <p:spPr>
          <a:xfrm>
            <a:off x="548640" y="288639"/>
            <a:ext cx="8503500" cy="7770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Conclusiones</a:t>
            </a:r>
            <a:endParaRPr b="0" sz="3400" u="none" strike="noStrike">
              <a:solidFill>
                <a:schemeClr val="dk1"/>
              </a:solidFill>
              <a:latin typeface="Calibri"/>
              <a:ea typeface="Calibri"/>
              <a:cs typeface="Calibri"/>
              <a:sym typeface="Calibri"/>
            </a:endParaRPr>
          </a:p>
        </p:txBody>
      </p:sp>
      <p:sp>
        <p:nvSpPr>
          <p:cNvPr id="897" name="Google Shape;897;p29"/>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CIERRE</a:t>
            </a:r>
            <a:endParaRPr b="0" i="0" sz="1200" u="none" cap="none" strike="noStrike">
              <a:solidFill>
                <a:schemeClr val="dk1"/>
              </a:solidFill>
              <a:latin typeface="Calibri"/>
              <a:ea typeface="Calibri"/>
              <a:cs typeface="Calibri"/>
              <a:sym typeface="Calibri"/>
            </a:endParaRPr>
          </a:p>
        </p:txBody>
      </p:sp>
      <p:sp>
        <p:nvSpPr>
          <p:cNvPr id="898" name="Google Shape;898;p29"/>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899" name="Google Shape;899;p29"/>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100"/>
              <a:buFont typeface="Arial"/>
              <a:buNone/>
            </a:pPr>
            <a:r>
              <a:rPr b="0" i="0" lang="en-US" spc="0" sz="1100" u="none" cap="none" strike="noStrike">
                <a:solidFill>
                  <a:schemeClr val="lt2"/>
                </a:solidFill>
                <a:latin typeface="Calibri"/>
                <a:ea typeface="Calibri"/>
                <a:cs typeface="Calibri"/>
                <a:sym typeface="Calibri"/>
              </a:rPr>
              <a:t>Presenta · </a:t>
            </a:r>
            <a:r>
              <a:rPr b="1" i="0" lang="en-US" spc="0" sz="1100" u="none" cap="none" strike="noStrike">
                <a:solidFill>
                  <a:schemeClr val="accent1"/>
                </a:solidFill>
                <a:latin typeface="Calibri"/>
                <a:ea typeface="Calibri"/>
                <a:cs typeface="Calibri"/>
                <a:sym typeface="Calibri"/>
              </a:rPr>
              <a:t>David Molina</a:t>
            </a:r>
            <a:endParaRPr b="0" i="0" spc="0" sz="1100" u="none" cap="none" strike="noStrike">
              <a:solidFill>
                <a:srgbClr val="FFFFFF"/>
              </a:solidFill>
              <a:latin typeface="Arial"/>
              <a:ea typeface="Arial"/>
              <a:cs typeface="Arial"/>
              <a:sym typeface="Arial"/>
            </a:endParaRPr>
          </a:p>
        </p:txBody>
      </p:sp>
      <p:sp>
        <p:nvSpPr>
          <p:cNvPr id="900" name="Google Shape;900;p29"/>
          <p:cNvSpPr/>
          <p:nvPr/>
        </p:nvSpPr>
        <p:spPr>
          <a:xfrm>
            <a:off x="423050" y="107518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01" name="Google Shape;901;p29"/>
          <p:cNvSpPr/>
          <p:nvPr/>
        </p:nvSpPr>
        <p:spPr>
          <a:xfrm>
            <a:off x="697370" y="1294598"/>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02" name="Google Shape;902;p29"/>
          <p:cNvSpPr/>
          <p:nvPr/>
        </p:nvSpPr>
        <p:spPr>
          <a:xfrm>
            <a:off x="697370" y="1294598"/>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1</a:t>
            </a:r>
            <a:endParaRPr b="0" i="0" spc="0" sz="1400" u="none" cap="none" strike="noStrike">
              <a:solidFill>
                <a:srgbClr val="FFFFFF"/>
              </a:solidFill>
              <a:latin typeface="Arial"/>
              <a:ea typeface="Arial"/>
              <a:cs typeface="Arial"/>
              <a:sym typeface="Arial"/>
            </a:endParaRPr>
          </a:p>
        </p:txBody>
      </p:sp>
      <p:sp>
        <p:nvSpPr>
          <p:cNvPr id="903" name="Google Shape;903;p29"/>
          <p:cNvSpPr/>
          <p:nvPr/>
        </p:nvSpPr>
        <p:spPr>
          <a:xfrm>
            <a:off x="1337449" y="1294598"/>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Mismo resultado, procesos distintos</a:t>
            </a:r>
            <a:endParaRPr b="0" i="0" spc="0" sz="1800" u="none" cap="none" strike="noStrike">
              <a:solidFill>
                <a:srgbClr val="FFFFFF"/>
              </a:solidFill>
              <a:latin typeface="Arial"/>
              <a:ea typeface="Arial"/>
              <a:cs typeface="Arial"/>
              <a:sym typeface="Arial"/>
            </a:endParaRPr>
          </a:p>
        </p:txBody>
      </p:sp>
      <p:sp>
        <p:nvSpPr>
          <p:cNvPr id="904" name="Google Shape;904;p29"/>
          <p:cNvSpPr/>
          <p:nvPr/>
        </p:nvSpPr>
        <p:spPr>
          <a:xfrm>
            <a:off x="1337449" y="1696852"/>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2"/>
                </a:solidFill>
                <a:latin typeface="Calibri"/>
                <a:ea typeface="Calibri"/>
                <a:cs typeface="Calibri"/>
                <a:sym typeface="Calibri"/>
              </a:rPr>
              <a:t>Las dos apps cumplen los mismos escenarios de aceptación; lo que cambia es cómo llegamos a ellos.</a:t>
            </a:r>
            <a:endParaRPr b="0" i="0" spc="0" sz="1400" u="none" cap="none" strike="noStrike">
              <a:solidFill>
                <a:srgbClr val="FFFFFF"/>
              </a:solidFill>
              <a:latin typeface="Arial"/>
              <a:ea typeface="Arial"/>
              <a:cs typeface="Arial"/>
              <a:sym typeface="Arial"/>
            </a:endParaRPr>
          </a:p>
        </p:txBody>
      </p:sp>
      <p:sp>
        <p:nvSpPr>
          <p:cNvPr id="905" name="Google Shape;905;p29"/>
          <p:cNvSpPr/>
          <p:nvPr/>
        </p:nvSpPr>
        <p:spPr>
          <a:xfrm>
            <a:off x="6046602" y="107518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06" name="Google Shape;906;p29"/>
          <p:cNvSpPr/>
          <p:nvPr/>
        </p:nvSpPr>
        <p:spPr>
          <a:xfrm>
            <a:off x="6320922" y="1294598"/>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07" name="Google Shape;907;p29"/>
          <p:cNvSpPr/>
          <p:nvPr/>
        </p:nvSpPr>
        <p:spPr>
          <a:xfrm>
            <a:off x="6320922" y="1294598"/>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2</a:t>
            </a:r>
            <a:endParaRPr b="0" i="0" spc="0" sz="1400" u="none" cap="none" strike="noStrike">
              <a:solidFill>
                <a:srgbClr val="FFFFFF"/>
              </a:solidFill>
              <a:latin typeface="Arial"/>
              <a:ea typeface="Arial"/>
              <a:cs typeface="Arial"/>
              <a:sym typeface="Arial"/>
            </a:endParaRPr>
          </a:p>
        </p:txBody>
      </p:sp>
      <p:sp>
        <p:nvSpPr>
          <p:cNvPr id="908" name="Google Shape;908;p29"/>
          <p:cNvSpPr/>
          <p:nvPr/>
        </p:nvSpPr>
        <p:spPr>
          <a:xfrm>
            <a:off x="6961001" y="1294598"/>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La IA acelera, pero no se revisa sola</a:t>
            </a:r>
            <a:endParaRPr b="0" i="0" spc="0" sz="1800" u="none" cap="none" strike="noStrike">
              <a:solidFill>
                <a:srgbClr val="FFFFFF"/>
              </a:solidFill>
              <a:latin typeface="Arial"/>
              <a:ea typeface="Arial"/>
              <a:cs typeface="Arial"/>
              <a:sym typeface="Arial"/>
            </a:endParaRPr>
          </a:p>
        </p:txBody>
      </p:sp>
      <p:sp>
        <p:nvSpPr>
          <p:cNvPr id="909" name="Google Shape;909;p29"/>
          <p:cNvSpPr/>
          <p:nvPr/>
        </p:nvSpPr>
        <p:spPr>
          <a:xfrm>
            <a:off x="6961001" y="1696852"/>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2"/>
                </a:solidFill>
                <a:latin typeface="Calibri"/>
                <a:ea typeface="Calibri"/>
                <a:cs typeface="Calibri"/>
                <a:sym typeface="Calibri"/>
              </a:rPr>
              <a:t>Escribió el código en minutos, pero sus fallos solo aparecieron al ejecutar y desplegar.</a:t>
            </a:r>
            <a:endParaRPr b="0" i="0" spc="0" sz="1400" u="none" cap="none" strike="noStrike">
              <a:solidFill>
                <a:srgbClr val="FFFFFF"/>
              </a:solidFill>
              <a:latin typeface="Arial"/>
              <a:ea typeface="Arial"/>
              <a:cs typeface="Arial"/>
              <a:sym typeface="Arial"/>
            </a:endParaRPr>
          </a:p>
        </p:txBody>
      </p:sp>
      <p:sp>
        <p:nvSpPr>
          <p:cNvPr id="910" name="Google Shape;910;p29"/>
          <p:cNvSpPr/>
          <p:nvPr/>
        </p:nvSpPr>
        <p:spPr>
          <a:xfrm>
            <a:off x="423050" y="257449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11" name="Google Shape;911;p29"/>
          <p:cNvSpPr/>
          <p:nvPr/>
        </p:nvSpPr>
        <p:spPr>
          <a:xfrm>
            <a:off x="697370" y="2793907"/>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12" name="Google Shape;912;p29"/>
          <p:cNvSpPr/>
          <p:nvPr/>
        </p:nvSpPr>
        <p:spPr>
          <a:xfrm>
            <a:off x="697370" y="2793907"/>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3</a:t>
            </a:r>
            <a:endParaRPr b="0" i="0" spc="0" sz="1400" u="none" cap="none" strike="noStrike">
              <a:solidFill>
                <a:srgbClr val="FFFFFF"/>
              </a:solidFill>
              <a:latin typeface="Arial"/>
              <a:ea typeface="Arial"/>
              <a:cs typeface="Arial"/>
              <a:sym typeface="Arial"/>
            </a:endParaRPr>
          </a:p>
        </p:txBody>
      </p:sp>
      <p:sp>
        <p:nvSpPr>
          <p:cNvPr id="913" name="Google Shape;913;p29"/>
          <p:cNvSpPr/>
          <p:nvPr/>
        </p:nvSpPr>
        <p:spPr>
          <a:xfrm>
            <a:off x="1337449" y="2793907"/>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Especificar primero obliga a decidir</a:t>
            </a:r>
            <a:endParaRPr b="0" i="0" spc="0" sz="1800" u="none" cap="none" strike="noStrike">
              <a:solidFill>
                <a:srgbClr val="FFFFFF"/>
              </a:solidFill>
              <a:latin typeface="Arial"/>
              <a:ea typeface="Arial"/>
              <a:cs typeface="Arial"/>
              <a:sym typeface="Arial"/>
            </a:endParaRPr>
          </a:p>
        </p:txBody>
      </p:sp>
      <p:sp>
        <p:nvSpPr>
          <p:cNvPr id="914" name="Google Shape;914;p29"/>
          <p:cNvSpPr/>
          <p:nvPr/>
        </p:nvSpPr>
        <p:spPr>
          <a:xfrm>
            <a:off x="1337449" y="3196161"/>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2"/>
                </a:solidFill>
                <a:latin typeface="Calibri"/>
                <a:ea typeface="Calibri"/>
                <a:cs typeface="Calibri"/>
                <a:sym typeface="Calibri"/>
              </a:rPr>
              <a:t>Contrato, 401 y límites quedaron fijados antes de escribir una línea de código.</a:t>
            </a:r>
            <a:endParaRPr b="0" i="0" spc="0" sz="1400" u="none" cap="none" strike="noStrike">
              <a:solidFill>
                <a:srgbClr val="FFFFFF"/>
              </a:solidFill>
              <a:latin typeface="Arial"/>
              <a:ea typeface="Arial"/>
              <a:cs typeface="Arial"/>
              <a:sym typeface="Arial"/>
            </a:endParaRPr>
          </a:p>
        </p:txBody>
      </p:sp>
      <p:sp>
        <p:nvSpPr>
          <p:cNvPr id="915" name="Google Shape;915;p29"/>
          <p:cNvSpPr/>
          <p:nvPr/>
        </p:nvSpPr>
        <p:spPr>
          <a:xfrm>
            <a:off x="6046602" y="257449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16" name="Google Shape;916;p29"/>
          <p:cNvSpPr/>
          <p:nvPr/>
        </p:nvSpPr>
        <p:spPr>
          <a:xfrm>
            <a:off x="6320922" y="2793907"/>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17" name="Google Shape;917;p29"/>
          <p:cNvSpPr/>
          <p:nvPr/>
        </p:nvSpPr>
        <p:spPr>
          <a:xfrm>
            <a:off x="6320922" y="2793907"/>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4</a:t>
            </a:r>
            <a:endParaRPr b="0" i="0" spc="0" sz="1400" u="none" cap="none" strike="noStrike">
              <a:solidFill>
                <a:srgbClr val="FFFFFF"/>
              </a:solidFill>
              <a:latin typeface="Arial"/>
              <a:ea typeface="Arial"/>
              <a:cs typeface="Arial"/>
              <a:sym typeface="Arial"/>
            </a:endParaRPr>
          </a:p>
        </p:txBody>
      </p:sp>
      <p:sp>
        <p:nvSpPr>
          <p:cNvPr id="918" name="Google Shape;918;p29"/>
          <p:cNvSpPr/>
          <p:nvPr/>
        </p:nvSpPr>
        <p:spPr>
          <a:xfrm>
            <a:off x="6961001" y="2793907"/>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Seguridad por diseño</a:t>
            </a:r>
            <a:endParaRPr b="0" i="0" spc="0" sz="1800" u="none" cap="none" strike="noStrike">
              <a:solidFill>
                <a:srgbClr val="FFFFFF"/>
              </a:solidFill>
              <a:latin typeface="Arial"/>
              <a:ea typeface="Arial"/>
              <a:cs typeface="Arial"/>
              <a:sym typeface="Arial"/>
            </a:endParaRPr>
          </a:p>
        </p:txBody>
      </p:sp>
      <p:sp>
        <p:nvSpPr>
          <p:cNvPr id="919" name="Google Shape;919;p29"/>
          <p:cNvSpPr/>
          <p:nvPr/>
        </p:nvSpPr>
        <p:spPr>
          <a:xfrm>
            <a:off x="6961001" y="3196161"/>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2"/>
                </a:solidFill>
                <a:latin typeface="Calibri"/>
                <a:ea typeface="Calibri"/>
                <a:cs typeface="Calibri"/>
                <a:sym typeface="Calibri"/>
              </a:rPr>
              <a:t>La clave solo en el backend, el token antes que la IA y ningún dato guardado.</a:t>
            </a:r>
            <a:endParaRPr b="0" i="0" spc="0" sz="1400" u="none" cap="none" strike="noStrike">
              <a:solidFill>
                <a:srgbClr val="FFFFFF"/>
              </a:solidFill>
              <a:latin typeface="Arial"/>
              <a:ea typeface="Arial"/>
              <a:cs typeface="Arial"/>
              <a:sym typeface="Arial"/>
            </a:endParaRPr>
          </a:p>
        </p:txBody>
      </p:sp>
      <p:sp>
        <p:nvSpPr>
          <p:cNvPr id="920" name="Google Shape;920;p29"/>
          <p:cNvSpPr/>
          <p:nvPr/>
        </p:nvSpPr>
        <p:spPr>
          <a:xfrm>
            <a:off x="548640" y="5623560"/>
            <a:ext cx="11109600" cy="548280"/>
          </a:xfrm>
          <a:prstGeom prst="roundRect">
            <a:avLst>
              <a:gd fmla="val 20000"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pic>
        <p:nvPicPr>
          <p:cNvPr descr="Logo de Musicfy" id="921" name="Google Shape;921;p29"/>
          <p:cNvPicPr preferRelativeResize="0"/>
          <p:nvPr/>
        </p:nvPicPr>
        <p:blipFill rotWithShape="1">
          <a:blip r:embed="rId3">
            <a:alphaModFix/>
          </a:blip>
          <a:srcRect b="0" l="0" r="0" t="0"/>
          <a:stretch/>
        </p:blipFill>
        <p:spPr>
          <a:xfrm>
            <a:off x="777240" y="5669280"/>
            <a:ext cx="1206720" cy="456840"/>
          </a:xfrm>
          <a:prstGeom prst="rect">
            <a:avLst/>
          </a:prstGeom>
          <a:noFill/>
          <a:ln>
            <a:noFill/>
          </a:ln>
        </p:spPr>
      </p:pic>
      <p:sp>
        <p:nvSpPr>
          <p:cNvPr id="922" name="Google Shape;922;p29"/>
          <p:cNvSpPr/>
          <p:nvPr/>
        </p:nvSpPr>
        <p:spPr>
          <a:xfrm>
            <a:off x="2194560" y="5623560"/>
            <a:ext cx="9235080" cy="548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800"/>
              <a:buFont typeface="Arial"/>
              <a:buNone/>
            </a:pPr>
            <a:r>
              <a:rPr b="0" i="0" lang="en-US" spc="0" sz="1800" u="none" cap="none" strike="noStrike">
                <a:solidFill>
                  <a:schemeClr val="lt2"/>
                </a:solidFill>
                <a:latin typeface="Calibri"/>
                <a:ea typeface="Calibri"/>
                <a:cs typeface="Calibri"/>
                <a:sym typeface="Calibri"/>
              </a:rPr>
              <a:t>tus gustos, tus artistas, una sola pantalla  ·  </a:t>
            </a:r>
            <a:r>
              <a:rPr b="1" i="0" lang="en-US" spc="0" sz="1800" u="none" cap="none" strike="noStrike">
                <a:solidFill>
                  <a:schemeClr val="accent1"/>
                </a:solidFill>
                <a:latin typeface="Calibri"/>
                <a:ea typeface="Calibri"/>
                <a:cs typeface="Calibri"/>
                <a:sym typeface="Calibri"/>
              </a:rPr>
              <a:t>¡Gracias! ¿Preguntas?</a:t>
            </a:r>
            <a:endParaRPr b="0" i="0" spc="0" sz="1800" u="none" cap="none" strike="noStrike">
              <a:solidFill>
                <a:srgbClr val="FFFFFF"/>
              </a:solidFill>
              <a:latin typeface="Arial"/>
              <a:ea typeface="Arial"/>
              <a:cs typeface="Arial"/>
              <a:sym typeface="Arial"/>
            </a:endParaRPr>
          </a:p>
        </p:txBody>
      </p:sp>
      <p:sp>
        <p:nvSpPr>
          <p:cNvPr id="923" name="Google Shape;923;p29"/>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924" name="Google Shape;924;p29"/>
          <p:cNvSpPr/>
          <p:nvPr/>
        </p:nvSpPr>
        <p:spPr>
          <a:xfrm>
            <a:off x="415575" y="4073125"/>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25" name="Google Shape;925;p29"/>
          <p:cNvSpPr/>
          <p:nvPr/>
        </p:nvSpPr>
        <p:spPr>
          <a:xfrm>
            <a:off x="689895" y="4292536"/>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26" name="Google Shape;926;p29"/>
          <p:cNvSpPr/>
          <p:nvPr/>
        </p:nvSpPr>
        <p:spPr>
          <a:xfrm>
            <a:off x="689895" y="4292536"/>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5</a:t>
            </a:r>
            <a:endParaRPr b="0" i="0" spc="0" sz="1400" u="none" cap="none" strike="noStrike">
              <a:solidFill>
                <a:srgbClr val="FFFFFF"/>
              </a:solidFill>
              <a:latin typeface="Arial"/>
              <a:ea typeface="Arial"/>
              <a:cs typeface="Arial"/>
              <a:sym typeface="Arial"/>
            </a:endParaRPr>
          </a:p>
        </p:txBody>
      </p:sp>
      <p:sp>
        <p:nvSpPr>
          <p:cNvPr id="927" name="Google Shape;927;p29"/>
          <p:cNvSpPr/>
          <p:nvPr/>
        </p:nvSpPr>
        <p:spPr>
          <a:xfrm>
            <a:off x="1329974" y="4292536"/>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Una buena especificación es lo que más rinde </a:t>
            </a:r>
            <a:endParaRPr b="0" i="0" spc="0" sz="1800" u="none" cap="none" strike="noStrike">
              <a:solidFill>
                <a:srgbClr val="FFFFFF"/>
              </a:solidFill>
              <a:latin typeface="Arial"/>
              <a:ea typeface="Arial"/>
              <a:cs typeface="Arial"/>
              <a:sym typeface="Arial"/>
            </a:endParaRPr>
          </a:p>
        </p:txBody>
      </p:sp>
      <p:sp>
        <p:nvSpPr>
          <p:cNvPr id="928" name="Google Shape;928;p29"/>
          <p:cNvSpPr/>
          <p:nvPr/>
        </p:nvSpPr>
        <p:spPr>
          <a:xfrm>
            <a:off x="1329974" y="4694790"/>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2"/>
                </a:solidFill>
                <a:latin typeface="Calibri"/>
                <a:ea typeface="Calibri"/>
                <a:cs typeface="Calibri"/>
                <a:sym typeface="Calibri"/>
              </a:rPr>
              <a:t>Con requisitos, contrato y límites claros, el agente generó una aplicación completa y coherente</a:t>
            </a:r>
            <a:endParaRPr b="0" i="0" spc="0" sz="1400" u="none" cap="none" strike="noStrike">
              <a:solidFill>
                <a:srgbClr val="FFFFFF"/>
              </a:solidFill>
              <a:latin typeface="Arial"/>
              <a:ea typeface="Arial"/>
              <a:cs typeface="Arial"/>
              <a:sym typeface="Arial"/>
            </a:endParaRPr>
          </a:p>
        </p:txBody>
      </p:sp>
      <p:sp>
        <p:nvSpPr>
          <p:cNvPr id="929" name="Google Shape;929;p29"/>
          <p:cNvSpPr/>
          <p:nvPr/>
        </p:nvSpPr>
        <p:spPr>
          <a:xfrm>
            <a:off x="6039127" y="4073125"/>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30" name="Google Shape;930;p29"/>
          <p:cNvSpPr/>
          <p:nvPr/>
        </p:nvSpPr>
        <p:spPr>
          <a:xfrm>
            <a:off x="6313447" y="4292536"/>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Clr>
                <a:srgbClr val="000000"/>
              </a:buClr>
              <a:buSzPts val="1800"/>
              <a:buFont typeface="Arial"/>
              <a:buNone/>
            </a:pPr>
            <a:r>
              <a:t/>
            </a:r>
            <a:endParaRPr b="0" i="0" spc="0" sz="1800" u="none" cap="none" strike="noStrike">
              <a:solidFill>
                <a:srgbClr val="FFFFFF"/>
              </a:solidFill>
              <a:latin typeface="Arial"/>
              <a:ea typeface="Arial"/>
              <a:cs typeface="Arial"/>
              <a:sym typeface="Arial"/>
            </a:endParaRPr>
          </a:p>
        </p:txBody>
      </p:sp>
      <p:sp>
        <p:nvSpPr>
          <p:cNvPr id="931" name="Google Shape;931;p29"/>
          <p:cNvSpPr/>
          <p:nvPr/>
        </p:nvSpPr>
        <p:spPr>
          <a:xfrm>
            <a:off x="6313447" y="4292536"/>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400"/>
              <a:buFont typeface="Arial"/>
              <a:buNone/>
            </a:pPr>
            <a:r>
              <a:rPr b="1" i="0" lang="en-US" spc="0" sz="1400" u="none" cap="none" strike="noStrike">
                <a:solidFill>
                  <a:schemeClr val="dk1"/>
                </a:solidFill>
                <a:latin typeface="Calibri"/>
                <a:ea typeface="Calibri"/>
                <a:cs typeface="Calibri"/>
                <a:sym typeface="Calibri"/>
              </a:rPr>
              <a:t>6</a:t>
            </a:r>
            <a:endParaRPr b="0" i="0" spc="0" sz="1400" u="none" cap="none" strike="noStrike">
              <a:solidFill>
                <a:srgbClr val="FFFFFF"/>
              </a:solidFill>
              <a:latin typeface="Arial"/>
              <a:ea typeface="Arial"/>
              <a:cs typeface="Arial"/>
              <a:sym typeface="Arial"/>
            </a:endParaRPr>
          </a:p>
        </p:txBody>
      </p:sp>
      <p:sp>
        <p:nvSpPr>
          <p:cNvPr id="932" name="Google Shape;932;p29"/>
          <p:cNvSpPr/>
          <p:nvPr/>
        </p:nvSpPr>
        <p:spPr>
          <a:xfrm>
            <a:off x="6953526" y="4292536"/>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800"/>
              <a:buFont typeface="Arial"/>
              <a:buNone/>
            </a:pPr>
            <a:r>
              <a:rPr b="1" i="0" lang="en-US" spc="0" sz="1800" u="none" cap="none" strike="noStrike">
                <a:solidFill>
                  <a:schemeClr val="lt1"/>
                </a:solidFill>
                <a:latin typeface="Calibri"/>
                <a:ea typeface="Calibri"/>
                <a:cs typeface="Calibri"/>
                <a:sym typeface="Calibri"/>
              </a:rPr>
              <a:t>El conocimiento del código importa</a:t>
            </a:r>
            <a:endParaRPr b="0" i="0" spc="0" sz="1800" u="none" cap="none" strike="noStrike">
              <a:solidFill>
                <a:srgbClr val="FFFFFF"/>
              </a:solidFill>
              <a:latin typeface="Arial"/>
              <a:ea typeface="Arial"/>
              <a:cs typeface="Arial"/>
              <a:sym typeface="Arial"/>
            </a:endParaRPr>
          </a:p>
        </p:txBody>
      </p:sp>
      <p:sp>
        <p:nvSpPr>
          <p:cNvPr id="933" name="Google Shape;933;p29"/>
          <p:cNvSpPr/>
          <p:nvPr/>
        </p:nvSpPr>
        <p:spPr>
          <a:xfrm>
            <a:off x="6961001" y="4664183"/>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00"/>
              <a:buFont typeface="Arial"/>
              <a:buNone/>
            </a:pPr>
            <a:r>
              <a:rPr b="0" i="0" lang="en-US" spc="0" sz="1400" u="none" cap="none" strike="noStrike">
                <a:solidFill>
                  <a:schemeClr val="lt2"/>
                </a:solidFill>
                <a:latin typeface="Calibri"/>
                <a:ea typeface="Calibri"/>
                <a:cs typeface="Calibri"/>
                <a:sym typeface="Calibri"/>
              </a:rPr>
              <a:t>La App 1 la entendemos línea a línea; la App 2 exige leer el código para mantenerlo. Para un proyecto real, lo más razonable es combinar ambos enfoques</a:t>
            </a:r>
            <a:endParaRPr b="0" i="0" spc="0" sz="1400" u="none" cap="none"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Musicfy">
  <a:themeElements>
    <a:clrScheme name="Musicfy">
      <a:dk1>
        <a:srgbClr val="0B0B12"/>
      </a:dk1>
      <a:lt1>
        <a:srgbClr val="FFFFFF"/>
      </a:lt1>
      <a:dk2>
        <a:srgbClr val="171725"/>
      </a:dk2>
      <a:lt2>
        <a:srgbClr val="A9A9BF"/>
      </a:lt2>
      <a:accent1>
        <a:srgbClr val="E86CCA"/>
      </a:accent1>
      <a:accent2>
        <a:srgbClr val="9B8CFF"/>
      </a:accent2>
      <a:accent3>
        <a:srgbClr val="4FD1E8"/>
      </a:accent3>
      <a:accent4>
        <a:srgbClr val="F5B84B"/>
      </a:accent4>
      <a:accent5>
        <a:srgbClr val="F2667A"/>
      </a:accent5>
      <a:accent6>
        <a:srgbClr val="4ADE80"/>
      </a:accent6>
      <a:hlink>
        <a:srgbClr val="E86CCA"/>
      </a:hlink>
      <a:folHlink>
        <a:srgbClr val="9B8C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