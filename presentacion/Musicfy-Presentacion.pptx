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59831465-608b-b004-836e-fdb661c54a88}">
          <p14:sldIdLst>
            <p14:sldId id="256"/>
          </p14:sldIdLst>
        </p14:section>
        <p14:section name="Proyecto" id="{14321caa-3285-1e8e-4869-7b72a8195910}">
          <p14:sldIdLst>
            <p14:sldId id="257"/>
            <p14:sldId id="258"/>
            <p14:sldId id="259"/>
            <p14:sldId id="260"/>
          </p14:sldIdLst>
        </p14:section>
        <p14:section name="ERS" id="{2e858e48-d297-ba39-772f-9e1418a6944d}">
          <p14:sldIdLst>
            <p14:sldId id="261"/>
            <p14:sldId id="262"/>
            <p14:sldId id="263"/>
          </p14:sldIdLst>
        </p14:section>
        <p14:section name="Diagramas" id="{dc95ad4a-64ca-ded9-d8d2-b1d41d3bff9f}">
          <p14:sldIdLst>
            <p14:sldId id="264"/>
            <p14:sldId id="265"/>
            <p14:sldId id="266"/>
          </p14:sldIdLst>
        </p14:section>
        <p14:section name="App 1" id="{03c31139-39ad-d969-f6c4-72dfc1e5d8e0}">
          <p14:sldIdLst>
            <p14:sldId id="267"/>
            <p14:sldId id="268"/>
            <p14:sldId id="269"/>
          </p14:sldIdLst>
        </p14:section>
        <p14:section name="App 2" id="{5939cf77-6bcb-df43-0cf4-fcc4acd67318}">
          <p14:sldIdLst>
            <p14:sldId id="270"/>
            <p14:sldId id="271"/>
            <p14:sldId id="272"/>
          </p14:sldIdLst>
        </p14:section>
        <p14:section name="Calidad y despliegue" id="{12f79a80-cf9f-669e-2c76-5658280083a9}">
          <p14:sldIdLst>
            <p14:sldId id="273"/>
            <p14:sldId id="274"/>
            <p14:sldId id="275"/>
            <p14:sldId id="276"/>
          </p14:sldIdLst>
        </p14:section>
        <p14:section name="Cierre" id="{5f6dc073-0e21-dfcf-30f2-9f63348346a2}">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todos juntos. Una frase cada uno: quién soy y qué parte llevé. Musicfy recomienda artistas a partir de cómo describes tu música. Hicimos dos apps que resuelven lo mismo: la App 1 a mano y la App 2 con Spec Kit, IA y Clerk.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Seguimos el orden que pide el enunciado: necesidad, arquitectura y contrato, ERS, App 1, Spec Kit y App 2, pruebas, despliegues, comparativa y conclusiones. Cada bloque lo presenta quien lo hizo.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necesidad es pequeña y real: descubrir artistas parecidos a los que te gustan y saber por qué. El enunciado obliga a una pantalla, un formulario, una función y una API de IA, y prohíbe bases de datos, historial o login propio. En la App 2 la identidad la pone Clerk, dentro de la misma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flujo obligatorio del enunciado. El frontend nunca habla con la IA: todo pasa por FastAPI, que es el único que tiene la clave. En la App 2 se añade Clerk: el frontend obtiene un token y el backend lo comprueba con las claves públicas de Clerk antes de llamar a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contrato es el mismo en las dos apps: un campo tastes de hasta 500 caracteres. La respuesta es resultado o un error con código y mensaje. La App 2 solo añade la cabecera Authorization y el 401. El ejemplo de respuesta es real, sacado de la prueba en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tecnologías obligatorias son Python con FastAPI, Vue o React con Tailwind, pytest y una API de IA. Elegimos Vue con Tailwind y la API de Gemini. La App 2 vive en su propia carpeta, creada vacía con Spec Kit, sin copiar código de la App 1. Toda la documentación está en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requisitos funcionales comunes y uno más en la App 2 para la autenticación, como sugiere el enunciado. Cada uno tiene su ficha en la ERS con criterios Dado, cuando, entonces, y está enlazado con una prueba de la PR-01 a la PR-23.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no funcionales son medibles: dónde vive la clave, cuánto se espera a la IA, que no se guarde nada y la accesibilidad a 320 píxeles. A la derecha está el camino de una petición: si falla un control, no llega a la IA. Ocultar el botón no basta: el backend vuelve a comprobarlo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un caso principal: pedir recomendaciones. Incluye validar la entrada y consultar la IA, y en la App 2 también verificar el token. Las tres alternativas de la ERS acaban en un aviso de error: entrada no válida 422, fallo de la IA 502 o 504, y sin sesión 401. Clerk y Gemini son sistemas externos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importante es el orden: el token se comprueba antes de hacer nada. Si no es válido, se responde 401 y Gemini ni se entera. Solo con un token válido se valida la entrada y se hace una única llamada a la IA. Clerk y Gemini son dos servicios distintos que no se mezclan.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comporta la pantalla. Sin sesión el botón está desactivado. Al pulsar Recomendar se bloquea para evitar dobles envíos. Tanto el resultado como el error vuelven al formulario, sin acumular resultados. Si cierras sesión mientras esperas, la respuesta se descarta: lo añadió la IA y lo aceptamos porque cumple la 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backend es pequeño a propósito: un endpoint, validación con Pydantic y una función que llama a la IA, separada para poder simularla en las pruebas. Empezamos con OpenRouter, nos dio un 402 por la reserva de saldo, lo arreglamos limitando los tokens y, cuando se agotó el saldo en Vercel, cambiamos a Gemini. Siempre una sola API de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Llevé el frontend de la App 1. Una sola pantalla con aspecto de tele antigua. Los géneros y el texto libre se juntan en un único campo para no cambiar el contrato del backend. La respuesta de la IA es contenido no confiable, así que nunca la pintamos como HTML. La captura es de la app desplegada en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historial muestra el proceso real: primero la estructura, luego backend y pruebas, frontend, Vercel, y después la App 2. El dato clave para Spec Kit: la especificación, el plan y las tareas entran el 25/10 y el primer código de la App 2 el 27/10. Quedan Docker, EC2 y las etiquetas de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App 2 no empezamos programando, sino documentando. La constitución fija las reglas que la IA no puede saltarse. La especificación sale de nuestra ERS. Plan, tareas y commit, y solo entonces se implementa por fases. La IA escribió el código en unos 11 minutos; lo caro fue revisarlo y probarlo.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respuesta a qué propuso mal la IA. Acertó en el alcance y en las pruebas. Se desvió porque su plan usaba versiones antiguas de las librerías. Y falló en dos cosas que solo salieron al ejecutarla de verdad: el .env y el vercel.json. Sus 59 pruebas no lo detectaron porque no prueban la configuración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Creé la aplicación de Clerk con acceso por correo y Google. El token viaja en la cabecera Authorization y el backend lo verifica con las claves públicas de Clerk, sin decodificarlo a ciegas: firma, emisor, caducidad y origen. Si vence el token, el backend responde 401 y no llama a la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nunca llaman a Gemini: simulamos la función que habla con la IA, así no gastamos créditos y podemos provocar fallos. El mock comprueba que se llama una sola vez con la entrada válida y ninguna con la inválida. En la App 2 también se simula el verificador de Clerk. La IA hizo 59 pruebas, pero no detectaron el fallo del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App 1 es un único proyecto con dos servicios: el frontend llama a /api con ruta relativa y no hace falta CORS. La App 2 sigue el plan de Spec Kit con dos proyectos, así que necesita CORS con la cabecera Authorization. En las dos probamos desde la URL pública un caso válido y uno de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quedaría el despliegue final, con los archivos que ya generó la IA: dos contenedores, Caddy delante con HTTPS automático y FastAPI detrás, sin exponer su puerto. Solo se abren 80 y 443, y SSH desde nuestra IP. PENDIENTE: completar con la URL real, la región, la instancia y la captura cuando Mario termine el despliegue.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verde está comprobado y documentado en despliegues.md y pruebas.md. Lo amarillo depende del despliegue en EC2 y hay que actualizarlo antes de la exposición. Recordad borrar los recursos de AWS al terminar, incluidos discos e IP reservadas.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con los mismos escenarios de aceptación y separando Clerk e infraestructura, como pide el enunciado. No damos por hecho que la App 2 sea mejor: la IA es mucho más rápida escribiendo, pero el tiempo se va en revisar, y sus fallos fueron de configuración real. Los tiempos de la App 1 son estimaciones.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los cinco puntos mínimos de la demo del enunciado. Tened abiertas las URLs antes de empezar: App 1 en Vercel, App 2 en Vercel y EC2, una terminal con pytest y GitHub con el historial. Si algo externo falla, enseñamos las capturas diciendo que son capturas.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lo que hemos aprendido, siempre con datos de las dos apps. En las preguntas, cada uno explica su parte: dónde vive la clave, qué comprueba el mock, qué pasa si vence el token, qué propuso mal la IA y qué cambia entre Vercel y EC2.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7132320" cy="548640"/>
          </a:xfrm>
          <a:prstGeom prst="rect">
            <a:avLst/>
          </a:prstGeom>
          <a:noFill/>
          <a:ln/>
        </p:spPr>
        <p:txBody>
          <a:bodyPr wrap="square" rtlCol="0"/>
          <a:lstStyle>
            <a:lvl1pPr algn="l" indent="0" marL="0">
              <a:buNone/>
              <a:defRPr lang="en-US" sz="2600" dirty="0">
                <a:solidFill>
                  <a:schemeClr val="bg1"/>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rtlCol="0"/>
          <a:lstStyle>
            <a:lvl1pPr algn="r" indent="0" marL="0">
              <a:buNone/>
              <a:defRPr lang="en-US" sz="1200" b="1" spc="150" kern="0" dirty="0">
                <a:solidFill>
                  <a:schemeClr val="accent1"/>
                </a:solidFill>
              </a:defRPr>
            </a:lvl1pPr>
          </a:lstStyle>
          <a:p>
            <a:pPr algn="r" indent="0" marL="0">
              <a:buNone/>
            </a:pPr>
            <a:endParaRPr lang="en-US" sz="1200" dirty="0"/>
          </a:p>
        </p:txBody>
      </p:sp>
      <p:pic>
        <p:nvPicPr>
          <p:cNvPr id="4" name="Image 0" descr="/home/claude/deck/assets/logo.png">    </p:cNvPr>
          <p:cNvPicPr>
            <a:picLocks noChangeAspect="1"/>
          </p:cNvPicPr>
          <p:nvPr/>
        </p:nvPicPr>
        <p:blipFill>
          <a:blip r:embed="rId1"/>
          <a:stretch>
            <a:fillRect/>
          </a:stretch>
        </p:blipFill>
        <p:spPr>
          <a:xfrm>
            <a:off x="548640" y="6336792"/>
            <a:ext cx="795528" cy="301752"/>
          </a:xfrm>
          <a:prstGeom prst="rect">
            <a:avLst/>
          </a:prstGeom>
        </p:spPr>
      </p:pic>
      <p:sp>
        <p:nvSpPr>
          <p:cNvPr id="5" name="Text 0"/>
          <p:cNvSpPr/>
          <p:nvPr/>
        </p:nvSpPr>
        <p:spPr>
          <a:xfrm>
            <a:off x="1463040" y="6336792"/>
            <a:ext cx="5029200" cy="301752"/>
          </a:xfrm>
          <a:prstGeom prst="rect">
            <a:avLst/>
          </a:prstGeom>
          <a:noFill/>
          <a:ln/>
        </p:spPr>
        <p:txBody>
          <a:bodyPr wrap="square" lIns="0" tIns="0" rIns="0" bIns="0" rtlCol="0" anchor="ctr"/>
          <a:lstStyle/>
          <a:p>
            <a:pPr indent="0" marL="0">
              <a:buNone/>
            </a:pPr>
            <a:r>
              <a:rPr lang="en-US" sz="1000" dirty="0">
                <a:solidFill>
                  <a:schemeClr val="bg2"/>
                </a:solidFill>
              </a:rPr>
              <a:t>Musicfy · UD1 · Mini aplicación web con una API de IA</a:t>
            </a:r>
            <a:endParaRPr lang="en-US" sz="10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xt1"/>
          <p:cNvSpPr txBox="1"/>
          <p:nvPr/>
        </p:nvSpPr>
        <p:spPr>
          <a:xfrm>
            <a:off x="685800" y="548640"/>
            <a:ext cx="73152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PRÁCTICA UD1 · MINI APLICACIÓN WEB CON UNA API DE IA</a:t>
            </a:r>
            <a:endParaRPr lang="en-US" sz="1300" dirty="0"/>
          </a:p>
        </p:txBody>
      </p:sp>
      <p:pic>
        <p:nvPicPr>
          <p:cNvPr id="3" name="logo" descr="Logo de Musicfy">    </p:cNvPr>
          <p:cNvPicPr>
            <a:picLocks noChangeAspect="1"/>
          </p:cNvPicPr>
          <p:nvPr/>
        </p:nvPicPr>
        <p:blipFill>
          <a:blip r:embed="rId1"/>
          <a:stretch>
            <a:fillRect/>
          </a:stretch>
        </p:blipFill>
        <p:spPr>
          <a:xfrm>
            <a:off x="457200" y="1234440"/>
            <a:ext cx="6309360" cy="2395728"/>
          </a:xfrm>
          <a:prstGeom prst="rect">
            <a:avLst/>
          </a:prstGeom>
        </p:spPr>
      </p:pic>
      <p:sp>
        <p:nvSpPr>
          <p:cNvPr id="4" name="Text 0"/>
          <p:cNvSpPr/>
          <p:nvPr>
            <p:ph idx="100" type="title" hasCustomPrompt="1"/>
          </p:nvPr>
        </p:nvSpPr>
        <p:spPr>
          <a:xfrm>
            <a:off x="685800" y="3749040"/>
            <a:ext cx="7132320" cy="548640"/>
          </a:xfrm>
          <a:prstGeom prst="rect">
            <a:avLst/>
          </a:prstGeom>
          <a:noFill/>
          <a:ln/>
        </p:spPr>
        <p:txBody>
          <a:bodyPr wrap="square" lIns="0" tIns="0" rIns="0" bIns="0" rtlCol="0" anchor="ctr"/>
          <a:lstStyle/>
          <a:p>
            <a:pPr algn="l" indent="0" marL="0">
              <a:buNone/>
            </a:pPr>
            <a:r>
              <a:rPr lang="en-US" sz="2600" dirty="0">
                <a:solidFill>
                  <a:schemeClr val="bg1"/>
                </a:solidFill>
              </a:rPr>
              <a:t>Recomendador musical con inteligencia artificial</a:t>
            </a:r>
            <a:endParaRPr lang="en-US" sz="2600" dirty="0"/>
          </a:p>
        </p:txBody>
      </p:sp>
      <p:sp>
        <p:nvSpPr>
          <p:cNvPr id="5" name="txt2"/>
          <p:cNvSpPr txBox="1"/>
          <p:nvPr/>
        </p:nvSpPr>
        <p:spPr>
          <a:xfrm>
            <a:off x="685800" y="4434840"/>
            <a:ext cx="6675120" cy="731520"/>
          </a:xfrm>
          <a:prstGeom prst="rect">
            <a:avLst/>
          </a:prstGeom>
          <a:noFill/>
          <a:ln/>
        </p:spPr>
        <p:txBody>
          <a:bodyPr wrap="square" lIns="0" tIns="0" rIns="0" bIns="0" rtlCol="0" anchor="t"/>
          <a:lstStyle/>
          <a:p>
            <a:pPr indent="0" marL="0">
              <a:buNone/>
            </a:pPr>
            <a:r>
              <a:rPr lang="en-US" sz="1600" dirty="0">
                <a:solidFill>
                  <a:schemeClr val="bg2"/>
                </a:solidFill>
              </a:rPr>
              <a:t>Dos aplicaciones equivalentes: la App 1, hecha a mano, y la App 2, desarrollada con GitHub Spec Kit e IA y protegida con Clerk.</a:t>
            </a:r>
            <a:endParaRPr lang="en-US" sz="1600" dirty="0"/>
          </a:p>
        </p:txBody>
      </p:sp>
      <p:sp>
        <p:nvSpPr>
          <p:cNvPr id="6" name="pill3"/>
          <p:cNvSpPr/>
          <p:nvPr/>
        </p:nvSpPr>
        <p:spPr>
          <a:xfrm>
            <a:off x="8001000" y="1325880"/>
            <a:ext cx="1783080" cy="438912"/>
          </a:xfrm>
          <a:prstGeom prst="roundRect">
            <a:avLst>
              <a:gd name="adj" fmla="val 50000"/>
            </a:avLst>
          </a:prstGeom>
          <a:solidFill>
            <a:schemeClr val="accent1"/>
          </a:solidFill>
          <a:ln w="12700">
            <a:solidFill>
              <a:schemeClr val="accent1"/>
            </a:solidFill>
            <a:prstDash val="solid"/>
          </a:ln>
        </p:spPr>
      </p:sp>
      <p:sp>
        <p:nvSpPr>
          <p:cNvPr id="7" name="txt4"/>
          <p:cNvSpPr txBox="1"/>
          <p:nvPr/>
        </p:nvSpPr>
        <p:spPr>
          <a:xfrm>
            <a:off x="8001000" y="1325880"/>
            <a:ext cx="1783080" cy="438912"/>
          </a:xfrm>
          <a:prstGeom prst="rect">
            <a:avLst/>
          </a:prstGeom>
          <a:noFill/>
          <a:ln/>
        </p:spPr>
        <p:txBody>
          <a:bodyPr wrap="square" lIns="0" tIns="0" rIns="0" bIns="0" rtlCol="0" anchor="ctr"/>
          <a:lstStyle/>
          <a:p>
            <a:pPr algn="ctr" indent="0" marL="0">
              <a:buNone/>
            </a:pPr>
            <a:r>
              <a:rPr lang="en-US" sz="1300" b="1" dirty="0">
                <a:solidFill>
                  <a:schemeClr val="tx1"/>
                </a:solidFill>
              </a:rPr>
              <a:t>Vue 3</a:t>
            </a:r>
            <a:endParaRPr lang="en-US" sz="1300" dirty="0"/>
          </a:p>
        </p:txBody>
      </p:sp>
      <p:sp>
        <p:nvSpPr>
          <p:cNvPr id="8" name="pill5"/>
          <p:cNvSpPr/>
          <p:nvPr/>
        </p:nvSpPr>
        <p:spPr>
          <a:xfrm>
            <a:off x="9875520" y="1325880"/>
            <a:ext cx="1783080" cy="438912"/>
          </a:xfrm>
          <a:prstGeom prst="roundRect">
            <a:avLst>
              <a:gd name="adj" fmla="val 50000"/>
            </a:avLst>
          </a:prstGeom>
          <a:solidFill>
            <a:schemeClr val="tx2"/>
          </a:solidFill>
          <a:ln w="12700">
            <a:solidFill>
              <a:schemeClr val="accent1"/>
            </a:solidFill>
            <a:prstDash val="solid"/>
          </a:ln>
        </p:spPr>
      </p:sp>
      <p:sp>
        <p:nvSpPr>
          <p:cNvPr id="9" name="txt6"/>
          <p:cNvSpPr txBox="1"/>
          <p:nvPr/>
        </p:nvSpPr>
        <p:spPr>
          <a:xfrm>
            <a:off x="9875520" y="1325880"/>
            <a:ext cx="1783080" cy="438912"/>
          </a:xfrm>
          <a:prstGeom prst="rect">
            <a:avLst/>
          </a:prstGeom>
          <a:noFill/>
          <a:ln/>
        </p:spPr>
        <p:txBody>
          <a:bodyPr wrap="square" lIns="0" tIns="0" rIns="0" bIns="0" rtlCol="0" anchor="ctr"/>
          <a:lstStyle/>
          <a:p>
            <a:pPr algn="ctr" indent="0" marL="0">
              <a:buNone/>
            </a:pPr>
            <a:r>
              <a:rPr lang="en-US" sz="1300" b="1" dirty="0">
                <a:solidFill>
                  <a:schemeClr val="accent1"/>
                </a:solidFill>
              </a:rPr>
              <a:t>Tailwind CSS</a:t>
            </a:r>
            <a:endParaRPr lang="en-US" sz="1300" dirty="0"/>
          </a:p>
        </p:txBody>
      </p:sp>
      <p:sp>
        <p:nvSpPr>
          <p:cNvPr id="10" name="pill7"/>
          <p:cNvSpPr/>
          <p:nvPr/>
        </p:nvSpPr>
        <p:spPr>
          <a:xfrm>
            <a:off x="8001000" y="1892808"/>
            <a:ext cx="1783080" cy="438912"/>
          </a:xfrm>
          <a:prstGeom prst="roundRect">
            <a:avLst>
              <a:gd name="adj" fmla="val 50000"/>
            </a:avLst>
          </a:prstGeom>
          <a:solidFill>
            <a:schemeClr val="tx2"/>
          </a:solidFill>
          <a:ln w="12700">
            <a:solidFill>
              <a:schemeClr val="bg1"/>
            </a:solidFill>
            <a:prstDash val="solid"/>
          </a:ln>
        </p:spPr>
      </p:sp>
      <p:sp>
        <p:nvSpPr>
          <p:cNvPr id="11" name="txt8"/>
          <p:cNvSpPr txBox="1"/>
          <p:nvPr/>
        </p:nvSpPr>
        <p:spPr>
          <a:xfrm>
            <a:off x="8001000" y="1892808"/>
            <a:ext cx="1783080" cy="438912"/>
          </a:xfrm>
          <a:prstGeom prst="rect">
            <a:avLst/>
          </a:prstGeom>
          <a:noFill/>
          <a:ln/>
        </p:spPr>
        <p:txBody>
          <a:bodyPr wrap="square" lIns="0" tIns="0" rIns="0" bIns="0" rtlCol="0" anchor="ctr"/>
          <a:lstStyle/>
          <a:p>
            <a:pPr algn="ctr" indent="0" marL="0">
              <a:buNone/>
            </a:pPr>
            <a:r>
              <a:rPr lang="en-US" sz="1300" b="1" dirty="0">
                <a:solidFill>
                  <a:schemeClr val="bg1"/>
                </a:solidFill>
              </a:rPr>
              <a:t>FastAPI</a:t>
            </a:r>
            <a:endParaRPr lang="en-US" sz="1300" dirty="0"/>
          </a:p>
        </p:txBody>
      </p:sp>
      <p:sp>
        <p:nvSpPr>
          <p:cNvPr id="12" name="pill9"/>
          <p:cNvSpPr/>
          <p:nvPr/>
        </p:nvSpPr>
        <p:spPr>
          <a:xfrm>
            <a:off x="9875520" y="1892808"/>
            <a:ext cx="1783080" cy="438912"/>
          </a:xfrm>
          <a:prstGeom prst="roundRect">
            <a:avLst>
              <a:gd name="adj" fmla="val 50000"/>
            </a:avLst>
          </a:prstGeom>
          <a:solidFill>
            <a:schemeClr val="tx2"/>
          </a:solidFill>
          <a:ln w="12700">
            <a:solidFill>
              <a:schemeClr val="bg1"/>
            </a:solidFill>
            <a:prstDash val="solid"/>
          </a:ln>
        </p:spPr>
      </p:sp>
      <p:sp>
        <p:nvSpPr>
          <p:cNvPr id="13" name="txt10"/>
          <p:cNvSpPr txBox="1"/>
          <p:nvPr/>
        </p:nvSpPr>
        <p:spPr>
          <a:xfrm>
            <a:off x="9875520" y="1892808"/>
            <a:ext cx="1783080" cy="438912"/>
          </a:xfrm>
          <a:prstGeom prst="rect">
            <a:avLst/>
          </a:prstGeom>
          <a:noFill/>
          <a:ln/>
        </p:spPr>
        <p:txBody>
          <a:bodyPr wrap="square" lIns="0" tIns="0" rIns="0" bIns="0" rtlCol="0" anchor="ctr"/>
          <a:lstStyle/>
          <a:p>
            <a:pPr algn="ctr" indent="0" marL="0">
              <a:buNone/>
            </a:pPr>
            <a:r>
              <a:rPr lang="en-US" sz="1300" b="1" dirty="0">
                <a:solidFill>
                  <a:schemeClr val="bg1"/>
                </a:solidFill>
              </a:rPr>
              <a:t>Pydantic v2</a:t>
            </a:r>
            <a:endParaRPr lang="en-US" sz="1300" dirty="0"/>
          </a:p>
        </p:txBody>
      </p:sp>
      <p:sp>
        <p:nvSpPr>
          <p:cNvPr id="14" name="pill11"/>
          <p:cNvSpPr/>
          <p:nvPr/>
        </p:nvSpPr>
        <p:spPr>
          <a:xfrm>
            <a:off x="8001000" y="2459736"/>
            <a:ext cx="1783080" cy="438912"/>
          </a:xfrm>
          <a:prstGeom prst="roundRect">
            <a:avLst>
              <a:gd name="adj" fmla="val 50000"/>
            </a:avLst>
          </a:prstGeom>
          <a:solidFill>
            <a:schemeClr val="tx2"/>
          </a:solidFill>
          <a:ln w="12700">
            <a:solidFill>
              <a:schemeClr val="accent2"/>
            </a:solidFill>
            <a:prstDash val="solid"/>
          </a:ln>
        </p:spPr>
      </p:sp>
      <p:sp>
        <p:nvSpPr>
          <p:cNvPr id="15" name="txt12"/>
          <p:cNvSpPr txBox="1"/>
          <p:nvPr/>
        </p:nvSpPr>
        <p:spPr>
          <a:xfrm>
            <a:off x="8001000" y="2459736"/>
            <a:ext cx="1783080" cy="438912"/>
          </a:xfrm>
          <a:prstGeom prst="rect">
            <a:avLst/>
          </a:prstGeom>
          <a:noFill/>
          <a:ln/>
        </p:spPr>
        <p:txBody>
          <a:bodyPr wrap="square" lIns="0" tIns="0" rIns="0" bIns="0" rtlCol="0" anchor="ctr"/>
          <a:lstStyle/>
          <a:p>
            <a:pPr algn="ctr" indent="0" marL="0">
              <a:buNone/>
            </a:pPr>
            <a:r>
              <a:rPr lang="en-US" sz="1300" b="1" dirty="0">
                <a:solidFill>
                  <a:schemeClr val="accent2"/>
                </a:solidFill>
              </a:rPr>
              <a:t>API de Gemini</a:t>
            </a:r>
            <a:endParaRPr lang="en-US" sz="1300" dirty="0"/>
          </a:p>
        </p:txBody>
      </p:sp>
      <p:sp>
        <p:nvSpPr>
          <p:cNvPr id="16" name="pill13"/>
          <p:cNvSpPr/>
          <p:nvPr/>
        </p:nvSpPr>
        <p:spPr>
          <a:xfrm>
            <a:off x="9875520" y="2459736"/>
            <a:ext cx="1783080" cy="438912"/>
          </a:xfrm>
          <a:prstGeom prst="roundRect">
            <a:avLst>
              <a:gd name="adj" fmla="val 50000"/>
            </a:avLst>
          </a:prstGeom>
          <a:solidFill>
            <a:schemeClr val="tx2"/>
          </a:solidFill>
          <a:ln w="12700">
            <a:solidFill>
              <a:schemeClr val="bg1"/>
            </a:solidFill>
            <a:prstDash val="solid"/>
          </a:ln>
        </p:spPr>
      </p:sp>
      <p:sp>
        <p:nvSpPr>
          <p:cNvPr id="17" name="txt14"/>
          <p:cNvSpPr txBox="1"/>
          <p:nvPr/>
        </p:nvSpPr>
        <p:spPr>
          <a:xfrm>
            <a:off x="9875520" y="2459736"/>
            <a:ext cx="1783080" cy="438912"/>
          </a:xfrm>
          <a:prstGeom prst="rect">
            <a:avLst/>
          </a:prstGeom>
          <a:noFill/>
          <a:ln/>
        </p:spPr>
        <p:txBody>
          <a:bodyPr wrap="square" lIns="0" tIns="0" rIns="0" bIns="0" rtlCol="0" anchor="ctr"/>
          <a:lstStyle/>
          <a:p>
            <a:pPr algn="ctr" indent="0" marL="0">
              <a:buNone/>
            </a:pPr>
            <a:r>
              <a:rPr lang="en-US" sz="1300" b="1" dirty="0">
                <a:solidFill>
                  <a:schemeClr val="bg1"/>
                </a:solidFill>
              </a:rPr>
              <a:t>pytest + mocks</a:t>
            </a:r>
            <a:endParaRPr lang="en-US" sz="1300" dirty="0"/>
          </a:p>
        </p:txBody>
      </p:sp>
      <p:sp>
        <p:nvSpPr>
          <p:cNvPr id="18" name="pill15"/>
          <p:cNvSpPr/>
          <p:nvPr/>
        </p:nvSpPr>
        <p:spPr>
          <a:xfrm>
            <a:off x="8001000" y="3026664"/>
            <a:ext cx="1783080" cy="438912"/>
          </a:xfrm>
          <a:prstGeom prst="roundRect">
            <a:avLst>
              <a:gd name="adj" fmla="val 50000"/>
            </a:avLst>
          </a:prstGeom>
          <a:solidFill>
            <a:schemeClr val="tx2"/>
          </a:solidFill>
          <a:ln w="12700">
            <a:solidFill>
              <a:schemeClr val="accent2"/>
            </a:solidFill>
            <a:prstDash val="solid"/>
          </a:ln>
        </p:spPr>
      </p:sp>
      <p:sp>
        <p:nvSpPr>
          <p:cNvPr id="19" name="txt16"/>
          <p:cNvSpPr txBox="1"/>
          <p:nvPr/>
        </p:nvSpPr>
        <p:spPr>
          <a:xfrm>
            <a:off x="8001000" y="3026664"/>
            <a:ext cx="1783080" cy="438912"/>
          </a:xfrm>
          <a:prstGeom prst="rect">
            <a:avLst/>
          </a:prstGeom>
          <a:noFill/>
          <a:ln/>
        </p:spPr>
        <p:txBody>
          <a:bodyPr wrap="square" lIns="0" tIns="0" rIns="0" bIns="0" rtlCol="0" anchor="ctr"/>
          <a:lstStyle/>
          <a:p>
            <a:pPr algn="ctr" indent="0" marL="0">
              <a:buNone/>
            </a:pPr>
            <a:r>
              <a:rPr lang="en-US" sz="1300" b="1" dirty="0">
                <a:solidFill>
                  <a:schemeClr val="accent2"/>
                </a:solidFill>
              </a:rPr>
              <a:t>Clerk</a:t>
            </a:r>
            <a:endParaRPr lang="en-US" sz="1300" dirty="0"/>
          </a:p>
        </p:txBody>
      </p:sp>
      <p:sp>
        <p:nvSpPr>
          <p:cNvPr id="20" name="pill17"/>
          <p:cNvSpPr/>
          <p:nvPr/>
        </p:nvSpPr>
        <p:spPr>
          <a:xfrm>
            <a:off x="9875520" y="3026664"/>
            <a:ext cx="1783080" cy="438912"/>
          </a:xfrm>
          <a:prstGeom prst="roundRect">
            <a:avLst>
              <a:gd name="adj" fmla="val 50000"/>
            </a:avLst>
          </a:prstGeom>
          <a:solidFill>
            <a:schemeClr val="tx2"/>
          </a:solidFill>
          <a:ln w="12700">
            <a:solidFill>
              <a:schemeClr val="accent2"/>
            </a:solidFill>
            <a:prstDash val="solid"/>
          </a:ln>
        </p:spPr>
      </p:sp>
      <p:sp>
        <p:nvSpPr>
          <p:cNvPr id="21" name="txt18"/>
          <p:cNvSpPr txBox="1"/>
          <p:nvPr/>
        </p:nvSpPr>
        <p:spPr>
          <a:xfrm>
            <a:off x="9875520" y="3026664"/>
            <a:ext cx="1783080" cy="438912"/>
          </a:xfrm>
          <a:prstGeom prst="rect">
            <a:avLst/>
          </a:prstGeom>
          <a:noFill/>
          <a:ln/>
        </p:spPr>
        <p:txBody>
          <a:bodyPr wrap="square" lIns="0" tIns="0" rIns="0" bIns="0" rtlCol="0" anchor="ctr"/>
          <a:lstStyle/>
          <a:p>
            <a:pPr algn="ctr" indent="0" marL="0">
              <a:buNone/>
            </a:pPr>
            <a:r>
              <a:rPr lang="en-US" sz="1300" b="1" dirty="0">
                <a:solidFill>
                  <a:schemeClr val="accent2"/>
                </a:solidFill>
              </a:rPr>
              <a:t>GitHub Spec Kit</a:t>
            </a:r>
            <a:endParaRPr lang="en-US" sz="1300" dirty="0"/>
          </a:p>
        </p:txBody>
      </p:sp>
      <p:sp>
        <p:nvSpPr>
          <p:cNvPr id="22" name="pill19"/>
          <p:cNvSpPr/>
          <p:nvPr/>
        </p:nvSpPr>
        <p:spPr>
          <a:xfrm>
            <a:off x="8001000" y="3593592"/>
            <a:ext cx="1783080" cy="438912"/>
          </a:xfrm>
          <a:prstGeom prst="roundRect">
            <a:avLst>
              <a:gd name="adj" fmla="val 50000"/>
            </a:avLst>
          </a:prstGeom>
          <a:solidFill>
            <a:schemeClr val="tx2"/>
          </a:solidFill>
          <a:ln w="12700">
            <a:solidFill>
              <a:schemeClr val="accent3"/>
            </a:solidFill>
            <a:prstDash val="solid"/>
          </a:ln>
        </p:spPr>
      </p:sp>
      <p:sp>
        <p:nvSpPr>
          <p:cNvPr id="23" name="txt20"/>
          <p:cNvSpPr txBox="1"/>
          <p:nvPr/>
        </p:nvSpPr>
        <p:spPr>
          <a:xfrm>
            <a:off x="8001000" y="3593592"/>
            <a:ext cx="1783080" cy="438912"/>
          </a:xfrm>
          <a:prstGeom prst="rect">
            <a:avLst/>
          </a:prstGeom>
          <a:noFill/>
          <a:ln/>
        </p:spPr>
        <p:txBody>
          <a:bodyPr wrap="square" lIns="0" tIns="0" rIns="0" bIns="0" rtlCol="0" anchor="ctr"/>
          <a:lstStyle/>
          <a:p>
            <a:pPr algn="ctr" indent="0" marL="0">
              <a:buNone/>
            </a:pPr>
            <a:r>
              <a:rPr lang="en-US" sz="1300" b="1" dirty="0">
                <a:solidFill>
                  <a:schemeClr val="accent3"/>
                </a:solidFill>
              </a:rPr>
              <a:t>Vercel</a:t>
            </a:r>
            <a:endParaRPr lang="en-US" sz="1300" dirty="0"/>
          </a:p>
        </p:txBody>
      </p:sp>
      <p:sp>
        <p:nvSpPr>
          <p:cNvPr id="24" name="pill21"/>
          <p:cNvSpPr/>
          <p:nvPr/>
        </p:nvSpPr>
        <p:spPr>
          <a:xfrm>
            <a:off x="9875520" y="3593592"/>
            <a:ext cx="1783080" cy="438912"/>
          </a:xfrm>
          <a:prstGeom prst="roundRect">
            <a:avLst>
              <a:gd name="adj" fmla="val 50000"/>
            </a:avLst>
          </a:prstGeom>
          <a:solidFill>
            <a:schemeClr val="tx2"/>
          </a:solidFill>
          <a:ln w="12700">
            <a:solidFill>
              <a:schemeClr val="accent3"/>
            </a:solidFill>
            <a:prstDash val="solid"/>
          </a:ln>
        </p:spPr>
      </p:sp>
      <p:sp>
        <p:nvSpPr>
          <p:cNvPr id="25" name="txt22"/>
          <p:cNvSpPr txBox="1"/>
          <p:nvPr/>
        </p:nvSpPr>
        <p:spPr>
          <a:xfrm>
            <a:off x="9875520" y="3593592"/>
            <a:ext cx="1783080" cy="438912"/>
          </a:xfrm>
          <a:prstGeom prst="rect">
            <a:avLst/>
          </a:prstGeom>
          <a:noFill/>
          <a:ln/>
        </p:spPr>
        <p:txBody>
          <a:bodyPr wrap="square" lIns="0" tIns="0" rIns="0" bIns="0" rtlCol="0" anchor="ctr"/>
          <a:lstStyle/>
          <a:p>
            <a:pPr algn="ctr" indent="0" marL="0">
              <a:buNone/>
            </a:pPr>
            <a:r>
              <a:rPr lang="en-US" sz="1300" b="1" dirty="0">
                <a:solidFill>
                  <a:schemeClr val="accent3"/>
                </a:solidFill>
              </a:rPr>
              <a:t>Docker + AWS EC2</a:t>
            </a:r>
            <a:endParaRPr lang="en-US" sz="1300" dirty="0"/>
          </a:p>
        </p:txBody>
      </p:sp>
      <p:sp>
        <p:nvSpPr>
          <p:cNvPr id="26" name="card23"/>
          <p:cNvSpPr/>
          <p:nvPr/>
        </p:nvSpPr>
        <p:spPr>
          <a:xfrm>
            <a:off x="685800" y="5349240"/>
            <a:ext cx="3520440" cy="777240"/>
          </a:xfrm>
          <a:prstGeom prst="roundRect">
            <a:avLst>
              <a:gd name="adj" fmla="val 14118"/>
            </a:avLst>
          </a:prstGeom>
          <a:solidFill>
            <a:schemeClr val="tx2"/>
          </a:solidFill>
          <a:ln w="9525">
            <a:solidFill>
              <a:schemeClr val="bg2">
                <a:alpha val="28000"/>
              </a:schemeClr>
            </a:solidFill>
            <a:prstDash val="solid"/>
          </a:ln>
        </p:spPr>
      </p:sp>
      <p:sp>
        <p:nvSpPr>
          <p:cNvPr id="27" name="txt24"/>
          <p:cNvSpPr txBox="1"/>
          <p:nvPr/>
        </p:nvSpPr>
        <p:spPr>
          <a:xfrm>
            <a:off x="868680" y="5349240"/>
            <a:ext cx="3200400" cy="777240"/>
          </a:xfrm>
          <a:prstGeom prst="rect">
            <a:avLst/>
          </a:prstGeom>
          <a:noFill/>
          <a:ln/>
        </p:spPr>
        <p:txBody>
          <a:bodyPr wrap="square" lIns="0" tIns="0" rIns="0" bIns="0" rtlCol="0" anchor="ctr"/>
          <a:lstStyle/>
          <a:p>
            <a:pPr indent="0" marL="0">
              <a:buNone/>
            </a:pPr>
            <a:r>
              <a:rPr lang="en-US" sz="1500" b="1" dirty="0">
                <a:solidFill>
                  <a:schemeClr val="bg1"/>
                </a:solidFill>
              </a:rPr>
              <a:t>David Molina Castillo</a:t>
            </a:r>
            <a:endParaRPr lang="en-US" sz="1400" dirty="0"/>
          </a:p>
          <a:p>
            <a:pPr indent="0" marL="0">
              <a:buNone/>
            </a:pPr>
            <a:r>
              <a:rPr lang="en-US" sz="1200" dirty="0">
                <a:solidFill>
                  <a:schemeClr val="bg2"/>
                </a:solidFill>
              </a:rPr>
              <a:t>ERS, pruebas y comparativa</a:t>
            </a:r>
            <a:endParaRPr lang="en-US" sz="1400" dirty="0"/>
          </a:p>
        </p:txBody>
      </p:sp>
      <p:sp>
        <p:nvSpPr>
          <p:cNvPr id="28" name="card25"/>
          <p:cNvSpPr/>
          <p:nvPr/>
        </p:nvSpPr>
        <p:spPr>
          <a:xfrm>
            <a:off x="4343400" y="5349240"/>
            <a:ext cx="3520440" cy="777240"/>
          </a:xfrm>
          <a:prstGeom prst="roundRect">
            <a:avLst>
              <a:gd name="adj" fmla="val 14118"/>
            </a:avLst>
          </a:prstGeom>
          <a:solidFill>
            <a:schemeClr val="tx2"/>
          </a:solidFill>
          <a:ln w="9525">
            <a:solidFill>
              <a:schemeClr val="bg2">
                <a:alpha val="28000"/>
              </a:schemeClr>
            </a:solidFill>
            <a:prstDash val="solid"/>
          </a:ln>
        </p:spPr>
      </p:sp>
      <p:sp>
        <p:nvSpPr>
          <p:cNvPr id="29" name="txt26"/>
          <p:cNvSpPr txBox="1"/>
          <p:nvPr/>
        </p:nvSpPr>
        <p:spPr>
          <a:xfrm>
            <a:off x="4526280" y="5349240"/>
            <a:ext cx="3200400" cy="777240"/>
          </a:xfrm>
          <a:prstGeom prst="rect">
            <a:avLst/>
          </a:prstGeom>
          <a:noFill/>
          <a:ln/>
        </p:spPr>
        <p:txBody>
          <a:bodyPr wrap="square" lIns="0" tIns="0" rIns="0" bIns="0" rtlCol="0" anchor="ctr"/>
          <a:lstStyle/>
          <a:p>
            <a:pPr indent="0" marL="0">
              <a:buNone/>
            </a:pPr>
            <a:r>
              <a:rPr lang="en-US" sz="1500" b="1" dirty="0">
                <a:solidFill>
                  <a:schemeClr val="bg1"/>
                </a:solidFill>
              </a:rPr>
              <a:t>Mario Luna Lopez</a:t>
            </a:r>
            <a:endParaRPr lang="en-US" sz="1400" dirty="0"/>
          </a:p>
          <a:p>
            <a:pPr indent="0" marL="0">
              <a:buNone/>
            </a:pPr>
            <a:r>
              <a:rPr lang="en-US" sz="1200" dirty="0">
                <a:solidFill>
                  <a:schemeClr val="bg2"/>
                </a:solidFill>
              </a:rPr>
              <a:t>Backend, Clerk, Docker y EC2</a:t>
            </a:r>
            <a:endParaRPr lang="en-US" sz="1400" dirty="0"/>
          </a:p>
        </p:txBody>
      </p:sp>
      <p:sp>
        <p:nvSpPr>
          <p:cNvPr id="30" name="card27"/>
          <p:cNvSpPr/>
          <p:nvPr/>
        </p:nvSpPr>
        <p:spPr>
          <a:xfrm>
            <a:off x="8001000" y="5349240"/>
            <a:ext cx="3520440" cy="777240"/>
          </a:xfrm>
          <a:prstGeom prst="roundRect">
            <a:avLst>
              <a:gd name="adj" fmla="val 14118"/>
            </a:avLst>
          </a:prstGeom>
          <a:solidFill>
            <a:schemeClr val="tx2"/>
          </a:solidFill>
          <a:ln w="9525">
            <a:solidFill>
              <a:schemeClr val="bg2">
                <a:alpha val="28000"/>
              </a:schemeClr>
            </a:solidFill>
            <a:prstDash val="solid"/>
          </a:ln>
        </p:spPr>
      </p:sp>
      <p:sp>
        <p:nvSpPr>
          <p:cNvPr id="31" name="txt28"/>
          <p:cNvSpPr txBox="1"/>
          <p:nvPr/>
        </p:nvSpPr>
        <p:spPr>
          <a:xfrm>
            <a:off x="8183880" y="5349240"/>
            <a:ext cx="3200400" cy="777240"/>
          </a:xfrm>
          <a:prstGeom prst="rect">
            <a:avLst/>
          </a:prstGeom>
          <a:noFill/>
          <a:ln/>
        </p:spPr>
        <p:txBody>
          <a:bodyPr wrap="square" lIns="0" tIns="0" rIns="0" bIns="0" rtlCol="0" anchor="ctr"/>
          <a:lstStyle/>
          <a:p>
            <a:pPr indent="0" marL="0">
              <a:buNone/>
            </a:pPr>
            <a:r>
              <a:rPr lang="en-US" sz="1500" b="1" dirty="0">
                <a:solidFill>
                  <a:schemeClr val="bg1"/>
                </a:solidFill>
              </a:rPr>
              <a:t>Jose Antonio Nieto Perez</a:t>
            </a:r>
            <a:endParaRPr lang="en-US" sz="1400" dirty="0"/>
          </a:p>
          <a:p>
            <a:pPr indent="0" marL="0">
              <a:buNone/>
            </a:pPr>
            <a:r>
              <a:rPr lang="en-US" sz="1200" dirty="0">
                <a:solidFill>
                  <a:schemeClr val="bg2"/>
                </a:solidFill>
              </a:rPr>
              <a:t>Frontend, Vercel y Spec Kit</a:t>
            </a:r>
            <a:endParaRPr lang="en-US" sz="1400" dirty="0"/>
          </a:p>
        </p:txBody>
      </p:sp>
      <p:sp>
        <p:nvSpPr>
          <p:cNvPr id="32" name="txt29"/>
          <p:cNvSpPr txBox="1"/>
          <p:nvPr/>
        </p:nvSpPr>
        <p:spPr>
          <a:xfrm>
            <a:off x="685800" y="6355080"/>
            <a:ext cx="10789920" cy="274320"/>
          </a:xfrm>
          <a:prstGeom prst="rect">
            <a:avLst/>
          </a:prstGeom>
          <a:noFill/>
          <a:ln/>
        </p:spPr>
        <p:txBody>
          <a:bodyPr wrap="square" lIns="0" tIns="0" rIns="0" bIns="0" rtlCol="0" anchor="t"/>
          <a:lstStyle/>
          <a:p>
            <a:pPr indent="0" marL="0">
              <a:buNone/>
            </a:pPr>
            <a:r>
              <a:rPr lang="en-US" sz="1100" dirty="0">
                <a:solidFill>
                  <a:schemeClr val="bg2"/>
                </a:solidFill>
              </a:rPr>
              <a:t>Desarrollo de componentes software para sistemas de aprendizaje automático · Docente: Francisco Manuel Matías Prados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Índice y reparto</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8–10 MINUTOS</a:t>
            </a:r>
            <a:endParaRPr lang="en-US" sz="1200" dirty="0"/>
          </a:p>
        </p:txBody>
      </p:sp>
      <p:sp>
        <p:nvSpPr>
          <p:cNvPr id="4" name="presenta30"/>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31"/>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sp>
        <p:nvSpPr>
          <p:cNvPr id="6" name="card32"/>
          <p:cNvSpPr/>
          <p:nvPr/>
        </p:nvSpPr>
        <p:spPr>
          <a:xfrm>
            <a:off x="548640" y="1371600"/>
            <a:ext cx="3611880" cy="2194560"/>
          </a:xfrm>
          <a:prstGeom prst="roundRect">
            <a:avLst>
              <a:gd name="adj" fmla="val 5000"/>
            </a:avLst>
          </a:prstGeom>
          <a:solidFill>
            <a:schemeClr val="tx2"/>
          </a:solidFill>
          <a:ln w="9525">
            <a:solidFill>
              <a:schemeClr val="bg2">
                <a:alpha val="28000"/>
              </a:schemeClr>
            </a:solidFill>
            <a:prstDash val="solid"/>
          </a:ln>
        </p:spPr>
      </p:sp>
      <p:sp>
        <p:nvSpPr>
          <p:cNvPr id="7" name="badge33"/>
          <p:cNvSpPr/>
          <p:nvPr/>
        </p:nvSpPr>
        <p:spPr>
          <a:xfrm>
            <a:off x="777240" y="1600200"/>
            <a:ext cx="457200" cy="384048"/>
          </a:xfrm>
          <a:prstGeom prst="roundRect">
            <a:avLst>
              <a:gd name="adj" fmla="val 19048"/>
            </a:avLst>
          </a:prstGeom>
          <a:solidFill>
            <a:schemeClr val="accent1"/>
          </a:solidFill>
          <a:ln/>
        </p:spPr>
      </p:sp>
      <p:sp>
        <p:nvSpPr>
          <p:cNvPr id="8" name="txt34"/>
          <p:cNvSpPr txBox="1"/>
          <p:nvPr/>
        </p:nvSpPr>
        <p:spPr>
          <a:xfrm>
            <a:off x="777240" y="160020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01</a:t>
            </a:r>
            <a:endParaRPr lang="en-US" sz="1400" dirty="0"/>
          </a:p>
        </p:txBody>
      </p:sp>
      <p:sp>
        <p:nvSpPr>
          <p:cNvPr id="9" name="txt35"/>
          <p:cNvSpPr txBox="1"/>
          <p:nvPr/>
        </p:nvSpPr>
        <p:spPr>
          <a:xfrm>
            <a:off x="1371600" y="1600200"/>
            <a:ext cx="2651760" cy="384048"/>
          </a:xfrm>
          <a:prstGeom prst="rect">
            <a:avLst/>
          </a:prstGeom>
          <a:noFill/>
          <a:ln/>
        </p:spPr>
        <p:txBody>
          <a:bodyPr wrap="square" lIns="0" tIns="0" rIns="0" bIns="0" rtlCol="0" anchor="ctr"/>
          <a:lstStyle/>
          <a:p>
            <a:pPr indent="0" marL="0">
              <a:buNone/>
            </a:pPr>
            <a:r>
              <a:rPr lang="en-US" sz="1800" b="1" dirty="0">
                <a:solidFill>
                  <a:schemeClr val="bg1"/>
                </a:solidFill>
              </a:rPr>
              <a:t>Proyecto y arquitectura</a:t>
            </a:r>
            <a:endParaRPr lang="en-US" sz="1800" dirty="0"/>
          </a:p>
        </p:txBody>
      </p:sp>
      <p:sp>
        <p:nvSpPr>
          <p:cNvPr id="10" name="txt36"/>
          <p:cNvSpPr txBox="1"/>
          <p:nvPr/>
        </p:nvSpPr>
        <p:spPr>
          <a:xfrm>
            <a:off x="822960" y="2148840"/>
            <a:ext cx="310896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bg2"/>
                </a:solidFill>
              </a:rPr>
              <a:t>Necesidad y alcance</a:t>
            </a:r>
            <a:endParaRPr lang="en-US" sz="1400" dirty="0"/>
          </a:p>
          <a:p>
            <a:pPr marL="177800" indent="-177800">
              <a:spcAft>
                <a:spcPts val="300"/>
              </a:spcAft>
              <a:buSzPct val="100000"/>
              <a:buChar char="•"/>
            </a:pPr>
            <a:r>
              <a:rPr lang="en-US" sz="1300" dirty="0">
                <a:solidFill>
                  <a:schemeClr val="bg2"/>
                </a:solidFill>
              </a:rPr>
              <a:t>Arquitectura y flujo</a:t>
            </a:r>
            <a:endParaRPr lang="en-US" sz="1400" dirty="0"/>
          </a:p>
          <a:p>
            <a:pPr marL="177800" indent="-177800">
              <a:spcAft>
                <a:spcPts val="300"/>
              </a:spcAft>
              <a:buSzPct val="100000"/>
              <a:buChar char="•"/>
            </a:pPr>
            <a:r>
              <a:rPr lang="en-US" sz="1300" dirty="0">
                <a:solidFill>
                  <a:schemeClr val="bg2"/>
                </a:solidFill>
              </a:rPr>
              <a:t>Contrato de la API</a:t>
            </a:r>
            <a:endParaRPr lang="en-US" sz="1400" dirty="0"/>
          </a:p>
        </p:txBody>
      </p:sp>
      <p:sp>
        <p:nvSpPr>
          <p:cNvPr id="11" name="txt37"/>
          <p:cNvSpPr txBox="1"/>
          <p:nvPr/>
        </p:nvSpPr>
        <p:spPr>
          <a:xfrm>
            <a:off x="822960" y="3127248"/>
            <a:ext cx="3108960" cy="274320"/>
          </a:xfrm>
          <a:prstGeom prst="rect">
            <a:avLst/>
          </a:prstGeom>
          <a:noFill/>
          <a:ln/>
        </p:spPr>
        <p:txBody>
          <a:bodyPr wrap="square" lIns="0" tIns="0" rIns="0" bIns="0" rtlCol="0" anchor="t"/>
          <a:lstStyle/>
          <a:p>
            <a:pPr indent="0" marL="0">
              <a:buNone/>
            </a:pPr>
            <a:r>
              <a:rPr lang="en-US" sz="1200" b="1" dirty="0">
                <a:solidFill>
                  <a:schemeClr val="accent1"/>
                </a:solidFill>
              </a:rPr>
              <a:t>David · Mario</a:t>
            </a:r>
            <a:endParaRPr lang="en-US" sz="1200" dirty="0"/>
          </a:p>
        </p:txBody>
      </p:sp>
      <p:sp>
        <p:nvSpPr>
          <p:cNvPr id="12" name="card38"/>
          <p:cNvSpPr/>
          <p:nvPr/>
        </p:nvSpPr>
        <p:spPr>
          <a:xfrm>
            <a:off x="4343400" y="1371600"/>
            <a:ext cx="3611880" cy="2194560"/>
          </a:xfrm>
          <a:prstGeom prst="roundRect">
            <a:avLst>
              <a:gd name="adj" fmla="val 5000"/>
            </a:avLst>
          </a:prstGeom>
          <a:solidFill>
            <a:schemeClr val="tx2"/>
          </a:solidFill>
          <a:ln w="9525">
            <a:solidFill>
              <a:schemeClr val="bg2">
                <a:alpha val="28000"/>
              </a:schemeClr>
            </a:solidFill>
            <a:prstDash val="solid"/>
          </a:ln>
        </p:spPr>
      </p:sp>
      <p:sp>
        <p:nvSpPr>
          <p:cNvPr id="13" name="badge39"/>
          <p:cNvSpPr/>
          <p:nvPr/>
        </p:nvSpPr>
        <p:spPr>
          <a:xfrm>
            <a:off x="4572000" y="1600200"/>
            <a:ext cx="457200" cy="384048"/>
          </a:xfrm>
          <a:prstGeom prst="roundRect">
            <a:avLst>
              <a:gd name="adj" fmla="val 19048"/>
            </a:avLst>
          </a:prstGeom>
          <a:solidFill>
            <a:schemeClr val="accent1"/>
          </a:solidFill>
          <a:ln/>
        </p:spPr>
      </p:sp>
      <p:sp>
        <p:nvSpPr>
          <p:cNvPr id="14" name="txt40"/>
          <p:cNvSpPr txBox="1"/>
          <p:nvPr/>
        </p:nvSpPr>
        <p:spPr>
          <a:xfrm>
            <a:off x="4572000" y="160020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02</a:t>
            </a:r>
            <a:endParaRPr lang="en-US" sz="1400" dirty="0"/>
          </a:p>
        </p:txBody>
      </p:sp>
      <p:sp>
        <p:nvSpPr>
          <p:cNvPr id="15" name="txt41"/>
          <p:cNvSpPr txBox="1"/>
          <p:nvPr/>
        </p:nvSpPr>
        <p:spPr>
          <a:xfrm>
            <a:off x="5166360" y="1600200"/>
            <a:ext cx="2651760" cy="384048"/>
          </a:xfrm>
          <a:prstGeom prst="rect">
            <a:avLst/>
          </a:prstGeom>
          <a:noFill/>
          <a:ln/>
        </p:spPr>
        <p:txBody>
          <a:bodyPr wrap="square" lIns="0" tIns="0" rIns="0" bIns="0" rtlCol="0" anchor="ctr"/>
          <a:lstStyle/>
          <a:p>
            <a:pPr indent="0" marL="0">
              <a:buNone/>
            </a:pPr>
            <a:r>
              <a:rPr lang="en-US" sz="1800" b="1" dirty="0">
                <a:solidFill>
                  <a:schemeClr val="bg1"/>
                </a:solidFill>
              </a:rPr>
              <a:t>ERS y requisitos</a:t>
            </a:r>
            <a:endParaRPr lang="en-US" sz="1800" dirty="0"/>
          </a:p>
        </p:txBody>
      </p:sp>
      <p:sp>
        <p:nvSpPr>
          <p:cNvPr id="16" name="txt42"/>
          <p:cNvSpPr txBox="1"/>
          <p:nvPr/>
        </p:nvSpPr>
        <p:spPr>
          <a:xfrm>
            <a:off x="4617720" y="2148840"/>
            <a:ext cx="310896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bg2"/>
                </a:solidFill>
              </a:rPr>
              <a:t>Stack y estructura</a:t>
            </a:r>
            <a:endParaRPr lang="en-US" sz="1400" dirty="0"/>
          </a:p>
          <a:p>
            <a:pPr marL="177800" indent="-177800">
              <a:spcAft>
                <a:spcPts val="300"/>
              </a:spcAft>
              <a:buSzPct val="100000"/>
              <a:buChar char="•"/>
            </a:pPr>
            <a:r>
              <a:rPr lang="en-US" sz="1300" dirty="0">
                <a:solidFill>
                  <a:schemeClr val="bg2"/>
                </a:solidFill>
              </a:rPr>
              <a:t>Requisitos funcionales</a:t>
            </a:r>
            <a:endParaRPr lang="en-US" sz="1400" dirty="0"/>
          </a:p>
          <a:p>
            <a:pPr marL="177800" indent="-177800">
              <a:spcAft>
                <a:spcPts val="300"/>
              </a:spcAft>
              <a:buSzPct val="100000"/>
              <a:buChar char="•"/>
            </a:pPr>
            <a:r>
              <a:rPr lang="en-US" sz="1300" dirty="0">
                <a:solidFill>
                  <a:schemeClr val="bg2"/>
                </a:solidFill>
              </a:rPr>
              <a:t>No funcionales y seguridad</a:t>
            </a:r>
            <a:endParaRPr lang="en-US" sz="1400" dirty="0"/>
          </a:p>
        </p:txBody>
      </p:sp>
      <p:sp>
        <p:nvSpPr>
          <p:cNvPr id="17" name="txt43"/>
          <p:cNvSpPr txBox="1"/>
          <p:nvPr/>
        </p:nvSpPr>
        <p:spPr>
          <a:xfrm>
            <a:off x="4617720" y="3127248"/>
            <a:ext cx="3108960" cy="274320"/>
          </a:xfrm>
          <a:prstGeom prst="rect">
            <a:avLst/>
          </a:prstGeom>
          <a:noFill/>
          <a:ln/>
        </p:spPr>
        <p:txBody>
          <a:bodyPr wrap="square" lIns="0" tIns="0" rIns="0" bIns="0" rtlCol="0" anchor="t"/>
          <a:lstStyle/>
          <a:p>
            <a:pPr indent="0" marL="0">
              <a:buNone/>
            </a:pPr>
            <a:r>
              <a:rPr lang="en-US" sz="1200" b="1" dirty="0">
                <a:solidFill>
                  <a:schemeClr val="accent1"/>
                </a:solidFill>
              </a:rPr>
              <a:t>David</a:t>
            </a:r>
            <a:endParaRPr lang="en-US" sz="1200" dirty="0"/>
          </a:p>
        </p:txBody>
      </p:sp>
      <p:sp>
        <p:nvSpPr>
          <p:cNvPr id="18" name="card44"/>
          <p:cNvSpPr/>
          <p:nvPr/>
        </p:nvSpPr>
        <p:spPr>
          <a:xfrm>
            <a:off x="8138160" y="1371600"/>
            <a:ext cx="3611880" cy="2194560"/>
          </a:xfrm>
          <a:prstGeom prst="roundRect">
            <a:avLst>
              <a:gd name="adj" fmla="val 5000"/>
            </a:avLst>
          </a:prstGeom>
          <a:solidFill>
            <a:schemeClr val="tx2"/>
          </a:solidFill>
          <a:ln w="9525">
            <a:solidFill>
              <a:schemeClr val="bg2">
                <a:alpha val="28000"/>
              </a:schemeClr>
            </a:solidFill>
            <a:prstDash val="solid"/>
          </a:ln>
        </p:spPr>
      </p:sp>
      <p:sp>
        <p:nvSpPr>
          <p:cNvPr id="19" name="badge45"/>
          <p:cNvSpPr/>
          <p:nvPr/>
        </p:nvSpPr>
        <p:spPr>
          <a:xfrm>
            <a:off x="8366760" y="1600200"/>
            <a:ext cx="457200" cy="384048"/>
          </a:xfrm>
          <a:prstGeom prst="roundRect">
            <a:avLst>
              <a:gd name="adj" fmla="val 19048"/>
            </a:avLst>
          </a:prstGeom>
          <a:solidFill>
            <a:schemeClr val="accent1"/>
          </a:solidFill>
          <a:ln/>
        </p:spPr>
      </p:sp>
      <p:sp>
        <p:nvSpPr>
          <p:cNvPr id="20" name="txt46"/>
          <p:cNvSpPr txBox="1"/>
          <p:nvPr/>
        </p:nvSpPr>
        <p:spPr>
          <a:xfrm>
            <a:off x="8366760" y="160020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03</a:t>
            </a:r>
            <a:endParaRPr lang="en-US" sz="1400" dirty="0"/>
          </a:p>
        </p:txBody>
      </p:sp>
      <p:sp>
        <p:nvSpPr>
          <p:cNvPr id="21" name="txt47"/>
          <p:cNvSpPr txBox="1"/>
          <p:nvPr/>
        </p:nvSpPr>
        <p:spPr>
          <a:xfrm>
            <a:off x="8961120" y="1600200"/>
            <a:ext cx="2651760" cy="384048"/>
          </a:xfrm>
          <a:prstGeom prst="rect">
            <a:avLst/>
          </a:prstGeom>
          <a:noFill/>
          <a:ln/>
        </p:spPr>
        <p:txBody>
          <a:bodyPr wrap="square" lIns="0" tIns="0" rIns="0" bIns="0" rtlCol="0" anchor="ctr"/>
          <a:lstStyle/>
          <a:p>
            <a:pPr indent="0" marL="0">
              <a:buNone/>
            </a:pPr>
            <a:r>
              <a:rPr lang="en-US" sz="1800" b="1" dirty="0">
                <a:solidFill>
                  <a:schemeClr val="bg1"/>
                </a:solidFill>
              </a:rPr>
              <a:t>Diagramas</a:t>
            </a:r>
            <a:endParaRPr lang="en-US" sz="1800" dirty="0"/>
          </a:p>
        </p:txBody>
      </p:sp>
      <p:sp>
        <p:nvSpPr>
          <p:cNvPr id="22" name="txt48"/>
          <p:cNvSpPr txBox="1"/>
          <p:nvPr/>
        </p:nvSpPr>
        <p:spPr>
          <a:xfrm>
            <a:off x="8412480" y="2148840"/>
            <a:ext cx="310896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bg2"/>
                </a:solidFill>
              </a:rPr>
              <a:t>Casos de uso</a:t>
            </a:r>
            <a:endParaRPr lang="en-US" sz="1400" dirty="0"/>
          </a:p>
          <a:p>
            <a:pPr marL="177800" indent="-177800">
              <a:spcAft>
                <a:spcPts val="300"/>
              </a:spcAft>
              <a:buSzPct val="100000"/>
              <a:buChar char="•"/>
            </a:pPr>
            <a:r>
              <a:rPr lang="en-US" sz="1300" dirty="0">
                <a:solidFill>
                  <a:schemeClr val="bg2"/>
                </a:solidFill>
              </a:rPr>
              <a:t>Secuencia con Clerk</a:t>
            </a:r>
            <a:endParaRPr lang="en-US" sz="1400" dirty="0"/>
          </a:p>
          <a:p>
            <a:pPr marL="177800" indent="-177800">
              <a:spcAft>
                <a:spcPts val="300"/>
              </a:spcAft>
              <a:buSzPct val="100000"/>
              <a:buChar char="•"/>
            </a:pPr>
            <a:r>
              <a:rPr lang="en-US" sz="1300" dirty="0">
                <a:solidFill>
                  <a:schemeClr val="bg2"/>
                </a:solidFill>
              </a:rPr>
              <a:t>Estados del frontend</a:t>
            </a:r>
            <a:endParaRPr lang="en-US" sz="1400" dirty="0"/>
          </a:p>
        </p:txBody>
      </p:sp>
      <p:sp>
        <p:nvSpPr>
          <p:cNvPr id="23" name="txt49"/>
          <p:cNvSpPr txBox="1"/>
          <p:nvPr/>
        </p:nvSpPr>
        <p:spPr>
          <a:xfrm>
            <a:off x="8412480" y="3127248"/>
            <a:ext cx="3108960" cy="274320"/>
          </a:xfrm>
          <a:prstGeom prst="rect">
            <a:avLst/>
          </a:prstGeom>
          <a:noFill/>
          <a:ln/>
        </p:spPr>
        <p:txBody>
          <a:bodyPr wrap="square" lIns="0" tIns="0" rIns="0" bIns="0" rtlCol="0" anchor="t"/>
          <a:lstStyle/>
          <a:p>
            <a:pPr indent="0" marL="0">
              <a:buNone/>
            </a:pPr>
            <a:r>
              <a:rPr lang="en-US" sz="1200" b="1" dirty="0">
                <a:solidFill>
                  <a:schemeClr val="accent1"/>
                </a:solidFill>
              </a:rPr>
              <a:t>David · Mario · Jose</a:t>
            </a:r>
            <a:endParaRPr lang="en-US" sz="1200" dirty="0"/>
          </a:p>
        </p:txBody>
      </p:sp>
      <p:sp>
        <p:nvSpPr>
          <p:cNvPr id="24" name="card50"/>
          <p:cNvSpPr/>
          <p:nvPr/>
        </p:nvSpPr>
        <p:spPr>
          <a:xfrm>
            <a:off x="548640" y="3749040"/>
            <a:ext cx="3611880" cy="2194560"/>
          </a:xfrm>
          <a:prstGeom prst="roundRect">
            <a:avLst>
              <a:gd name="adj" fmla="val 5000"/>
            </a:avLst>
          </a:prstGeom>
          <a:solidFill>
            <a:schemeClr val="tx2"/>
          </a:solidFill>
          <a:ln w="9525">
            <a:solidFill>
              <a:schemeClr val="bg2">
                <a:alpha val="28000"/>
              </a:schemeClr>
            </a:solidFill>
            <a:prstDash val="solid"/>
          </a:ln>
        </p:spPr>
      </p:sp>
      <p:sp>
        <p:nvSpPr>
          <p:cNvPr id="25" name="badge51"/>
          <p:cNvSpPr/>
          <p:nvPr/>
        </p:nvSpPr>
        <p:spPr>
          <a:xfrm>
            <a:off x="777240" y="3977640"/>
            <a:ext cx="457200" cy="384048"/>
          </a:xfrm>
          <a:prstGeom prst="roundRect">
            <a:avLst>
              <a:gd name="adj" fmla="val 19048"/>
            </a:avLst>
          </a:prstGeom>
          <a:solidFill>
            <a:schemeClr val="accent1"/>
          </a:solidFill>
          <a:ln/>
        </p:spPr>
      </p:sp>
      <p:sp>
        <p:nvSpPr>
          <p:cNvPr id="26" name="txt52"/>
          <p:cNvSpPr txBox="1"/>
          <p:nvPr/>
        </p:nvSpPr>
        <p:spPr>
          <a:xfrm>
            <a:off x="777240" y="397764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04</a:t>
            </a:r>
            <a:endParaRPr lang="en-US" sz="1400" dirty="0"/>
          </a:p>
        </p:txBody>
      </p:sp>
      <p:sp>
        <p:nvSpPr>
          <p:cNvPr id="27" name="txt53"/>
          <p:cNvSpPr txBox="1"/>
          <p:nvPr/>
        </p:nvSpPr>
        <p:spPr>
          <a:xfrm>
            <a:off x="1371600" y="3977640"/>
            <a:ext cx="2651760" cy="384048"/>
          </a:xfrm>
          <a:prstGeom prst="rect">
            <a:avLst/>
          </a:prstGeom>
          <a:noFill/>
          <a:ln/>
        </p:spPr>
        <p:txBody>
          <a:bodyPr wrap="square" lIns="0" tIns="0" rIns="0" bIns="0" rtlCol="0" anchor="ctr"/>
          <a:lstStyle/>
          <a:p>
            <a:pPr indent="0" marL="0">
              <a:buNone/>
            </a:pPr>
            <a:r>
              <a:rPr lang="en-US" sz="1800" b="1" dirty="0">
                <a:solidFill>
                  <a:schemeClr val="bg1"/>
                </a:solidFill>
              </a:rPr>
              <a:t>App 1: hecha a mano</a:t>
            </a:r>
            <a:endParaRPr lang="en-US" sz="1800" dirty="0"/>
          </a:p>
        </p:txBody>
      </p:sp>
      <p:sp>
        <p:nvSpPr>
          <p:cNvPr id="28" name="txt54"/>
          <p:cNvSpPr txBox="1"/>
          <p:nvPr/>
        </p:nvSpPr>
        <p:spPr>
          <a:xfrm>
            <a:off x="822960" y="4526280"/>
            <a:ext cx="310896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bg2"/>
                </a:solidFill>
              </a:rPr>
              <a:t>Backend e IA</a:t>
            </a:r>
            <a:endParaRPr lang="en-US" sz="1400" dirty="0"/>
          </a:p>
          <a:p>
            <a:pPr marL="177800" indent="-177800">
              <a:spcAft>
                <a:spcPts val="300"/>
              </a:spcAft>
              <a:buSzPct val="100000"/>
              <a:buChar char="•"/>
            </a:pPr>
            <a:r>
              <a:rPr lang="en-US" sz="1300" dirty="0">
                <a:solidFill>
                  <a:schemeClr val="bg2"/>
                </a:solidFill>
              </a:rPr>
              <a:t>Frontend y diseño</a:t>
            </a:r>
            <a:endParaRPr lang="en-US" sz="1400" dirty="0"/>
          </a:p>
          <a:p>
            <a:pPr marL="177800" indent="-177800">
              <a:spcAft>
                <a:spcPts val="300"/>
              </a:spcAft>
              <a:buSzPct val="100000"/>
              <a:buChar char="•"/>
            </a:pPr>
            <a:r>
              <a:rPr lang="en-US" sz="1300" dirty="0">
                <a:solidFill>
                  <a:schemeClr val="bg2"/>
                </a:solidFill>
              </a:rPr>
              <a:t>Evolución en Git</a:t>
            </a:r>
            <a:endParaRPr lang="en-US" sz="1400" dirty="0"/>
          </a:p>
        </p:txBody>
      </p:sp>
      <p:sp>
        <p:nvSpPr>
          <p:cNvPr id="29" name="txt55"/>
          <p:cNvSpPr txBox="1"/>
          <p:nvPr/>
        </p:nvSpPr>
        <p:spPr>
          <a:xfrm>
            <a:off x="822960" y="5504688"/>
            <a:ext cx="3108960" cy="274320"/>
          </a:xfrm>
          <a:prstGeom prst="rect">
            <a:avLst/>
          </a:prstGeom>
          <a:noFill/>
          <a:ln/>
        </p:spPr>
        <p:txBody>
          <a:bodyPr wrap="square" lIns="0" tIns="0" rIns="0" bIns="0" rtlCol="0" anchor="t"/>
          <a:lstStyle/>
          <a:p>
            <a:pPr indent="0" marL="0">
              <a:buNone/>
            </a:pPr>
            <a:r>
              <a:rPr lang="en-US" sz="1200" b="1" dirty="0">
                <a:solidFill>
                  <a:schemeClr val="accent1"/>
                </a:solidFill>
              </a:rPr>
              <a:t>Mario · Jose</a:t>
            </a:r>
            <a:endParaRPr lang="en-US" sz="1200" dirty="0"/>
          </a:p>
        </p:txBody>
      </p:sp>
      <p:sp>
        <p:nvSpPr>
          <p:cNvPr id="30" name="card56"/>
          <p:cNvSpPr/>
          <p:nvPr/>
        </p:nvSpPr>
        <p:spPr>
          <a:xfrm>
            <a:off x="4343400" y="3749040"/>
            <a:ext cx="3611880" cy="2194560"/>
          </a:xfrm>
          <a:prstGeom prst="roundRect">
            <a:avLst>
              <a:gd name="adj" fmla="val 5000"/>
            </a:avLst>
          </a:prstGeom>
          <a:solidFill>
            <a:schemeClr val="tx2"/>
          </a:solidFill>
          <a:ln w="9525">
            <a:solidFill>
              <a:schemeClr val="bg2">
                <a:alpha val="28000"/>
              </a:schemeClr>
            </a:solidFill>
            <a:prstDash val="solid"/>
          </a:ln>
        </p:spPr>
      </p:sp>
      <p:sp>
        <p:nvSpPr>
          <p:cNvPr id="31" name="badge57"/>
          <p:cNvSpPr/>
          <p:nvPr/>
        </p:nvSpPr>
        <p:spPr>
          <a:xfrm>
            <a:off x="4572000" y="3977640"/>
            <a:ext cx="457200" cy="384048"/>
          </a:xfrm>
          <a:prstGeom prst="roundRect">
            <a:avLst>
              <a:gd name="adj" fmla="val 19048"/>
            </a:avLst>
          </a:prstGeom>
          <a:solidFill>
            <a:schemeClr val="accent1"/>
          </a:solidFill>
          <a:ln/>
        </p:spPr>
      </p:sp>
      <p:sp>
        <p:nvSpPr>
          <p:cNvPr id="32" name="txt58"/>
          <p:cNvSpPr txBox="1"/>
          <p:nvPr/>
        </p:nvSpPr>
        <p:spPr>
          <a:xfrm>
            <a:off x="4572000" y="397764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05</a:t>
            </a:r>
            <a:endParaRPr lang="en-US" sz="1400" dirty="0"/>
          </a:p>
        </p:txBody>
      </p:sp>
      <p:sp>
        <p:nvSpPr>
          <p:cNvPr id="33" name="txt59"/>
          <p:cNvSpPr txBox="1"/>
          <p:nvPr/>
        </p:nvSpPr>
        <p:spPr>
          <a:xfrm>
            <a:off x="5166360" y="3977640"/>
            <a:ext cx="2651760" cy="384048"/>
          </a:xfrm>
          <a:prstGeom prst="rect">
            <a:avLst/>
          </a:prstGeom>
          <a:noFill/>
          <a:ln/>
        </p:spPr>
        <p:txBody>
          <a:bodyPr wrap="square" lIns="0" tIns="0" rIns="0" bIns="0" rtlCol="0" anchor="ctr"/>
          <a:lstStyle/>
          <a:p>
            <a:pPr indent="0" marL="0">
              <a:buNone/>
            </a:pPr>
            <a:r>
              <a:rPr lang="en-US" sz="1800" b="1" dirty="0">
                <a:solidFill>
                  <a:schemeClr val="bg1"/>
                </a:solidFill>
              </a:rPr>
              <a:t>App 2: Spec Kit y Clerk</a:t>
            </a:r>
            <a:endParaRPr lang="en-US" sz="1800" dirty="0"/>
          </a:p>
        </p:txBody>
      </p:sp>
      <p:sp>
        <p:nvSpPr>
          <p:cNvPr id="34" name="txt60"/>
          <p:cNvSpPr txBox="1"/>
          <p:nvPr/>
        </p:nvSpPr>
        <p:spPr>
          <a:xfrm>
            <a:off x="4617720" y="4526280"/>
            <a:ext cx="310896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bg2"/>
                </a:solidFill>
              </a:rPr>
              <a:t>Proceso con Spec Kit</a:t>
            </a:r>
            <a:endParaRPr lang="en-US" sz="1400" dirty="0"/>
          </a:p>
          <a:p>
            <a:pPr marL="177800" indent="-177800">
              <a:spcAft>
                <a:spcPts val="300"/>
              </a:spcAft>
              <a:buSzPct val="100000"/>
              <a:buChar char="•"/>
            </a:pPr>
            <a:r>
              <a:rPr lang="en-US" sz="1300" dirty="0">
                <a:solidFill>
                  <a:schemeClr val="bg2"/>
                </a:solidFill>
              </a:rPr>
              <a:t>Revisión de la IA</a:t>
            </a:r>
            <a:endParaRPr lang="en-US" sz="1400" dirty="0"/>
          </a:p>
          <a:p>
            <a:pPr marL="177800" indent="-177800">
              <a:spcAft>
                <a:spcPts val="300"/>
              </a:spcAft>
              <a:buSzPct val="100000"/>
              <a:buChar char="•"/>
            </a:pPr>
            <a:r>
              <a:rPr lang="en-US" sz="1300" dirty="0">
                <a:solidFill>
                  <a:schemeClr val="bg2"/>
                </a:solidFill>
              </a:rPr>
              <a:t>Autenticación con Clerk</a:t>
            </a:r>
            <a:endParaRPr lang="en-US" sz="1400" dirty="0"/>
          </a:p>
        </p:txBody>
      </p:sp>
      <p:sp>
        <p:nvSpPr>
          <p:cNvPr id="35" name="txt61"/>
          <p:cNvSpPr txBox="1"/>
          <p:nvPr/>
        </p:nvSpPr>
        <p:spPr>
          <a:xfrm>
            <a:off x="4617720" y="5504688"/>
            <a:ext cx="3108960" cy="274320"/>
          </a:xfrm>
          <a:prstGeom prst="rect">
            <a:avLst/>
          </a:prstGeom>
          <a:noFill/>
          <a:ln/>
        </p:spPr>
        <p:txBody>
          <a:bodyPr wrap="square" lIns="0" tIns="0" rIns="0" bIns="0" rtlCol="0" anchor="t"/>
          <a:lstStyle/>
          <a:p>
            <a:pPr indent="0" marL="0">
              <a:buNone/>
            </a:pPr>
            <a:r>
              <a:rPr lang="en-US" sz="1200" b="1" dirty="0">
                <a:solidFill>
                  <a:schemeClr val="accent1"/>
                </a:solidFill>
              </a:rPr>
              <a:t>Jose · Mario</a:t>
            </a:r>
            <a:endParaRPr lang="en-US" sz="1200" dirty="0"/>
          </a:p>
        </p:txBody>
      </p:sp>
      <p:sp>
        <p:nvSpPr>
          <p:cNvPr id="36" name="card62"/>
          <p:cNvSpPr/>
          <p:nvPr/>
        </p:nvSpPr>
        <p:spPr>
          <a:xfrm>
            <a:off x="8138160" y="3749040"/>
            <a:ext cx="3611880" cy="2194560"/>
          </a:xfrm>
          <a:prstGeom prst="roundRect">
            <a:avLst>
              <a:gd name="adj" fmla="val 5000"/>
            </a:avLst>
          </a:prstGeom>
          <a:solidFill>
            <a:schemeClr val="tx2"/>
          </a:solidFill>
          <a:ln w="9525">
            <a:solidFill>
              <a:schemeClr val="bg2">
                <a:alpha val="28000"/>
              </a:schemeClr>
            </a:solidFill>
            <a:prstDash val="solid"/>
          </a:ln>
        </p:spPr>
      </p:sp>
      <p:sp>
        <p:nvSpPr>
          <p:cNvPr id="37" name="badge63"/>
          <p:cNvSpPr/>
          <p:nvPr/>
        </p:nvSpPr>
        <p:spPr>
          <a:xfrm>
            <a:off x="8366760" y="3977640"/>
            <a:ext cx="457200" cy="384048"/>
          </a:xfrm>
          <a:prstGeom prst="roundRect">
            <a:avLst>
              <a:gd name="adj" fmla="val 19048"/>
            </a:avLst>
          </a:prstGeom>
          <a:solidFill>
            <a:schemeClr val="accent1"/>
          </a:solidFill>
          <a:ln/>
        </p:spPr>
      </p:sp>
      <p:sp>
        <p:nvSpPr>
          <p:cNvPr id="38" name="txt64"/>
          <p:cNvSpPr txBox="1"/>
          <p:nvPr/>
        </p:nvSpPr>
        <p:spPr>
          <a:xfrm>
            <a:off x="8366760" y="397764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06</a:t>
            </a:r>
            <a:endParaRPr lang="en-US" sz="1400" dirty="0"/>
          </a:p>
        </p:txBody>
      </p:sp>
      <p:sp>
        <p:nvSpPr>
          <p:cNvPr id="39" name="txt65"/>
          <p:cNvSpPr txBox="1"/>
          <p:nvPr/>
        </p:nvSpPr>
        <p:spPr>
          <a:xfrm>
            <a:off x="8961120" y="3977640"/>
            <a:ext cx="2651760" cy="384048"/>
          </a:xfrm>
          <a:prstGeom prst="rect">
            <a:avLst/>
          </a:prstGeom>
          <a:noFill/>
          <a:ln/>
        </p:spPr>
        <p:txBody>
          <a:bodyPr wrap="square" lIns="0" tIns="0" rIns="0" bIns="0" rtlCol="0" anchor="ctr"/>
          <a:lstStyle/>
          <a:p>
            <a:pPr indent="0" marL="0">
              <a:buNone/>
            </a:pPr>
            <a:r>
              <a:rPr lang="en-US" sz="1800" b="1" dirty="0">
                <a:solidFill>
                  <a:schemeClr val="bg1"/>
                </a:solidFill>
              </a:rPr>
              <a:t>Calidad, despliegue y cierre</a:t>
            </a:r>
            <a:endParaRPr lang="en-US" sz="1800" dirty="0"/>
          </a:p>
        </p:txBody>
      </p:sp>
      <p:sp>
        <p:nvSpPr>
          <p:cNvPr id="40" name="txt66"/>
          <p:cNvSpPr txBox="1"/>
          <p:nvPr/>
        </p:nvSpPr>
        <p:spPr>
          <a:xfrm>
            <a:off x="8412480" y="4526280"/>
            <a:ext cx="310896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bg2"/>
                </a:solidFill>
              </a:rPr>
              <a:t>Pruebas con pytest</a:t>
            </a:r>
            <a:endParaRPr lang="en-US" sz="1400" dirty="0"/>
          </a:p>
          <a:p>
            <a:pPr marL="177800" indent="-177800">
              <a:spcAft>
                <a:spcPts val="300"/>
              </a:spcAft>
              <a:buSzPct val="100000"/>
              <a:buChar char="•"/>
            </a:pPr>
            <a:r>
              <a:rPr lang="en-US" sz="1300" dirty="0">
                <a:solidFill>
                  <a:schemeClr val="bg2"/>
                </a:solidFill>
              </a:rPr>
              <a:t>Vercel, Docker y EC2</a:t>
            </a:r>
            <a:endParaRPr lang="en-US" sz="1400" dirty="0"/>
          </a:p>
          <a:p>
            <a:pPr marL="177800" indent="-177800">
              <a:spcAft>
                <a:spcPts val="300"/>
              </a:spcAft>
              <a:buSzPct val="100000"/>
              <a:buChar char="•"/>
            </a:pPr>
            <a:r>
              <a:rPr lang="en-US" sz="1300" dirty="0">
                <a:solidFill>
                  <a:schemeClr val="bg2"/>
                </a:solidFill>
              </a:rPr>
              <a:t>Comparativa, demo y conclusiones</a:t>
            </a:r>
            <a:endParaRPr lang="en-US" sz="1400" dirty="0"/>
          </a:p>
        </p:txBody>
      </p:sp>
      <p:sp>
        <p:nvSpPr>
          <p:cNvPr id="41" name="txt67"/>
          <p:cNvSpPr txBox="1"/>
          <p:nvPr/>
        </p:nvSpPr>
        <p:spPr>
          <a:xfrm>
            <a:off x="8412480" y="5504688"/>
            <a:ext cx="3108960" cy="274320"/>
          </a:xfrm>
          <a:prstGeom prst="rect">
            <a:avLst/>
          </a:prstGeom>
          <a:noFill/>
          <a:ln/>
        </p:spPr>
        <p:txBody>
          <a:bodyPr wrap="square" lIns="0" tIns="0" rIns="0" bIns="0" rtlCol="0" anchor="t"/>
          <a:lstStyle/>
          <a:p>
            <a:pPr indent="0" marL="0">
              <a:buNone/>
            </a:pPr>
            <a:r>
              <a:rPr lang="en-US" sz="1200" b="1" dirty="0">
                <a:solidFill>
                  <a:schemeClr val="accent1"/>
                </a:solidFill>
              </a:rPr>
              <a:t>David · Mario · Jose</a:t>
            </a:r>
            <a:endParaRPr lang="en-US" sz="12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¿Qué es Musicfy?</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NECESIDAD Y ALCANCE</a:t>
            </a:r>
            <a:endParaRPr lang="en-US" sz="1200" dirty="0"/>
          </a:p>
        </p:txBody>
      </p:sp>
      <p:sp>
        <p:nvSpPr>
          <p:cNvPr id="4" name="presenta68"/>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69"/>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sp>
        <p:nvSpPr>
          <p:cNvPr id="6" name="card70"/>
          <p:cNvSpPr/>
          <p:nvPr/>
        </p:nvSpPr>
        <p:spPr>
          <a:xfrm>
            <a:off x="548640" y="1325880"/>
            <a:ext cx="11109960" cy="868680"/>
          </a:xfrm>
          <a:prstGeom prst="roundRect">
            <a:avLst>
              <a:gd name="adj" fmla="val 12632"/>
            </a:avLst>
          </a:prstGeom>
          <a:solidFill>
            <a:schemeClr val="tx2"/>
          </a:solidFill>
          <a:ln w="9525">
            <a:solidFill>
              <a:schemeClr val="accent1"/>
            </a:solidFill>
            <a:prstDash val="solid"/>
          </a:ln>
        </p:spPr>
      </p:sp>
      <p:sp>
        <p:nvSpPr>
          <p:cNvPr id="7" name="txt71"/>
          <p:cNvSpPr txBox="1"/>
          <p:nvPr/>
        </p:nvSpPr>
        <p:spPr>
          <a:xfrm>
            <a:off x="822960" y="1325880"/>
            <a:ext cx="10607040" cy="868680"/>
          </a:xfrm>
          <a:prstGeom prst="rect">
            <a:avLst/>
          </a:prstGeom>
          <a:noFill/>
          <a:ln/>
        </p:spPr>
        <p:txBody>
          <a:bodyPr wrap="square" lIns="0" tIns="0" rIns="0" bIns="0" rtlCol="0" anchor="ctr"/>
          <a:lstStyle/>
          <a:p>
            <a:pPr indent="0" marL="0">
              <a:buNone/>
            </a:pPr>
            <a:r>
              <a:rPr lang="en-US" sz="1700" b="1" dirty="0">
                <a:solidFill>
                  <a:schemeClr val="bg1"/>
                </a:solidFill>
              </a:rPr>
              <a:t>Describe con tus palabras la música que te gusta </a:t>
            </a:r>
            <a:pPr indent="0" marL="0">
              <a:buNone/>
            </a:pPr>
            <a:r>
              <a:rPr lang="en-US" sz="1700" dirty="0">
                <a:solidFill>
                  <a:schemeClr val="bg2"/>
                </a:solidFill>
              </a:rPr>
              <a:t>y recibe en la misma pantalla entre 3 y 5 artistas recomendados, con el porqué y una canción para empezar.</a:t>
            </a:r>
            <a:endParaRPr lang="en-US" sz="1700" dirty="0"/>
          </a:p>
        </p:txBody>
      </p:sp>
      <p:sp>
        <p:nvSpPr>
          <p:cNvPr id="8" name="card72"/>
          <p:cNvSpPr/>
          <p:nvPr/>
        </p:nvSpPr>
        <p:spPr>
          <a:xfrm>
            <a:off x="548640" y="2423160"/>
            <a:ext cx="5486400" cy="3657600"/>
          </a:xfrm>
          <a:prstGeom prst="roundRect">
            <a:avLst>
              <a:gd name="adj" fmla="val 3000"/>
            </a:avLst>
          </a:prstGeom>
          <a:solidFill>
            <a:schemeClr val="tx2"/>
          </a:solidFill>
          <a:ln w="9525">
            <a:solidFill>
              <a:schemeClr val="bg2">
                <a:alpha val="28000"/>
              </a:schemeClr>
            </a:solidFill>
            <a:prstDash val="solid"/>
          </a:ln>
        </p:spPr>
      </p:sp>
      <p:sp>
        <p:nvSpPr>
          <p:cNvPr id="9" name="txt73"/>
          <p:cNvSpPr txBox="1"/>
          <p:nvPr/>
        </p:nvSpPr>
        <p:spPr>
          <a:xfrm>
            <a:off x="822960" y="2606040"/>
            <a:ext cx="4937760" cy="365760"/>
          </a:xfrm>
          <a:prstGeom prst="rect">
            <a:avLst/>
          </a:prstGeom>
          <a:noFill/>
          <a:ln/>
        </p:spPr>
        <p:txBody>
          <a:bodyPr wrap="square" lIns="0" tIns="0" rIns="0" bIns="0" rtlCol="0" anchor="t"/>
          <a:lstStyle/>
          <a:p>
            <a:pPr indent="0" marL="0">
              <a:buNone/>
            </a:pPr>
            <a:r>
              <a:rPr lang="en-US" sz="2000" b="1" dirty="0">
                <a:solidFill>
                  <a:schemeClr val="accent1"/>
                </a:solidFill>
              </a:rPr>
              <a:t>La necesidad</a:t>
            </a:r>
            <a:endParaRPr lang="en-US" sz="2000" dirty="0"/>
          </a:p>
        </p:txBody>
      </p:sp>
      <p:sp>
        <p:nvSpPr>
          <p:cNvPr id="10" name="txt74"/>
          <p:cNvSpPr txBox="1"/>
          <p:nvPr/>
        </p:nvSpPr>
        <p:spPr>
          <a:xfrm>
            <a:off x="822960" y="3108960"/>
            <a:ext cx="4937760" cy="283464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bg1"/>
                </a:solidFill>
              </a:rPr>
              <a:t>Descubrir artistas nuevos suele obligar a buscar en varias fuentes.</a:t>
            </a:r>
            <a:endParaRPr lang="en-US" sz="1400" dirty="0"/>
          </a:p>
          <a:p>
            <a:pPr marL="177800" indent="-177800">
              <a:spcAft>
                <a:spcPts val="900"/>
              </a:spcAft>
              <a:buSzPct val="100000"/>
              <a:buChar char="•"/>
            </a:pPr>
            <a:r>
              <a:rPr lang="en-US" sz="1400" dirty="0">
                <a:solidFill>
                  <a:schemeClr val="bg1"/>
                </a:solidFill>
              </a:rPr>
              <a:t>Las recomendaciones habituales no explican por qué encajan contigo.</a:t>
            </a:r>
            <a:endParaRPr lang="en-US" sz="1400" dirty="0"/>
          </a:p>
          <a:p>
            <a:pPr marL="177800" indent="-177800">
              <a:spcAft>
                <a:spcPts val="900"/>
              </a:spcAft>
              <a:buSzPct val="100000"/>
              <a:buChar char="•"/>
            </a:pPr>
            <a:r>
              <a:rPr lang="en-US" sz="1400" dirty="0">
                <a:solidFill>
                  <a:schemeClr val="bg1"/>
                </a:solidFill>
              </a:rPr>
              <a:t>Usuario: cualquier persona que quiera descubrir música parecida a la que ya le gusta.</a:t>
            </a:r>
            <a:endParaRPr lang="en-US" sz="1400" dirty="0"/>
          </a:p>
          <a:p>
            <a:pPr marL="177800" indent="-177800">
              <a:spcAft>
                <a:spcPts val="900"/>
              </a:spcAft>
              <a:buSzPct val="100000"/>
              <a:buChar char="•"/>
            </a:pPr>
            <a:r>
              <a:rPr lang="en-US" sz="1400" dirty="0">
                <a:solidFill>
                  <a:schemeClr val="bg1"/>
                </a:solidFill>
              </a:rPr>
              <a:t>App 2: solo con sesión iniciada, para evitar usos anónimos de la IA.</a:t>
            </a:r>
            <a:endParaRPr lang="en-US" sz="1400" dirty="0"/>
          </a:p>
        </p:txBody>
      </p:sp>
      <p:sp>
        <p:nvSpPr>
          <p:cNvPr id="11" name="card75"/>
          <p:cNvSpPr/>
          <p:nvPr/>
        </p:nvSpPr>
        <p:spPr>
          <a:xfrm>
            <a:off x="6263640" y="2423160"/>
            <a:ext cx="5394960" cy="3657600"/>
          </a:xfrm>
          <a:prstGeom prst="roundRect">
            <a:avLst>
              <a:gd name="adj" fmla="val 3000"/>
            </a:avLst>
          </a:prstGeom>
          <a:solidFill>
            <a:schemeClr val="tx2"/>
          </a:solidFill>
          <a:ln w="9525">
            <a:solidFill>
              <a:schemeClr val="bg2">
                <a:alpha val="28000"/>
              </a:schemeClr>
            </a:solidFill>
            <a:prstDash val="solid"/>
          </a:ln>
        </p:spPr>
      </p:sp>
      <p:sp>
        <p:nvSpPr>
          <p:cNvPr id="12" name="txt76"/>
          <p:cNvSpPr txBox="1"/>
          <p:nvPr/>
        </p:nvSpPr>
        <p:spPr>
          <a:xfrm>
            <a:off x="6537960" y="260604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Regla de simplicidad</a:t>
            </a:r>
            <a:endParaRPr lang="en-US" sz="2000" dirty="0"/>
          </a:p>
        </p:txBody>
      </p:sp>
      <p:sp>
        <p:nvSpPr>
          <p:cNvPr id="13" name="card77"/>
          <p:cNvSpPr/>
          <p:nvPr/>
        </p:nvSpPr>
        <p:spPr>
          <a:xfrm>
            <a:off x="6537960" y="3108960"/>
            <a:ext cx="2331720" cy="822960"/>
          </a:xfrm>
          <a:prstGeom prst="roundRect">
            <a:avLst>
              <a:gd name="adj" fmla="val 13333"/>
            </a:avLst>
          </a:prstGeom>
          <a:solidFill>
            <a:schemeClr val="tx1"/>
          </a:solidFill>
          <a:ln w="9525">
            <a:solidFill>
              <a:schemeClr val="bg2">
                <a:alpha val="40000"/>
              </a:schemeClr>
            </a:solidFill>
            <a:prstDash val="solid"/>
          </a:ln>
        </p:spPr>
      </p:sp>
      <p:sp>
        <p:nvSpPr>
          <p:cNvPr id="14" name="txt78"/>
          <p:cNvSpPr txBox="1"/>
          <p:nvPr/>
        </p:nvSpPr>
        <p:spPr>
          <a:xfrm>
            <a:off x="6720840" y="3108960"/>
            <a:ext cx="2057400" cy="822960"/>
          </a:xfrm>
          <a:prstGeom prst="rect">
            <a:avLst/>
          </a:prstGeom>
          <a:noFill/>
          <a:ln/>
        </p:spPr>
        <p:txBody>
          <a:bodyPr wrap="square" lIns="0" tIns="0" rIns="0" bIns="0" rtlCol="0" anchor="ctr"/>
          <a:lstStyle/>
          <a:p>
            <a:pPr indent="0" marL="0">
              <a:buNone/>
            </a:pPr>
            <a:r>
              <a:rPr lang="en-US" sz="3000" b="1" dirty="0">
                <a:solidFill>
                  <a:schemeClr val="accent1"/>
                </a:solidFill>
              </a:rPr>
              <a:t>1  </a:t>
            </a:r>
            <a:pPr indent="0" marL="0">
              <a:buNone/>
            </a:pPr>
            <a:r>
              <a:rPr lang="en-US" sz="1600" b="1" dirty="0">
                <a:solidFill>
                  <a:schemeClr val="bg1"/>
                </a:solidFill>
              </a:rPr>
              <a:t>pantalla</a:t>
            </a:r>
            <a:endParaRPr lang="en-US" sz="1400" dirty="0"/>
          </a:p>
        </p:txBody>
      </p:sp>
      <p:sp>
        <p:nvSpPr>
          <p:cNvPr id="15" name="card79"/>
          <p:cNvSpPr/>
          <p:nvPr/>
        </p:nvSpPr>
        <p:spPr>
          <a:xfrm>
            <a:off x="9006840" y="3108960"/>
            <a:ext cx="2331720" cy="822960"/>
          </a:xfrm>
          <a:prstGeom prst="roundRect">
            <a:avLst>
              <a:gd name="adj" fmla="val 13333"/>
            </a:avLst>
          </a:prstGeom>
          <a:solidFill>
            <a:schemeClr val="tx1"/>
          </a:solidFill>
          <a:ln w="9525">
            <a:solidFill>
              <a:schemeClr val="bg2">
                <a:alpha val="40000"/>
              </a:schemeClr>
            </a:solidFill>
            <a:prstDash val="solid"/>
          </a:ln>
        </p:spPr>
      </p:sp>
      <p:sp>
        <p:nvSpPr>
          <p:cNvPr id="16" name="txt80"/>
          <p:cNvSpPr txBox="1"/>
          <p:nvPr/>
        </p:nvSpPr>
        <p:spPr>
          <a:xfrm>
            <a:off x="9189720" y="3108960"/>
            <a:ext cx="2057400" cy="822960"/>
          </a:xfrm>
          <a:prstGeom prst="rect">
            <a:avLst/>
          </a:prstGeom>
          <a:noFill/>
          <a:ln/>
        </p:spPr>
        <p:txBody>
          <a:bodyPr wrap="square" lIns="0" tIns="0" rIns="0" bIns="0" rtlCol="0" anchor="ctr"/>
          <a:lstStyle/>
          <a:p>
            <a:pPr indent="0" marL="0">
              <a:buNone/>
            </a:pPr>
            <a:r>
              <a:rPr lang="en-US" sz="3000" b="1" dirty="0">
                <a:solidFill>
                  <a:schemeClr val="accent1"/>
                </a:solidFill>
              </a:rPr>
              <a:t>1  </a:t>
            </a:r>
            <a:pPr indent="0" marL="0">
              <a:buNone/>
            </a:pPr>
            <a:r>
              <a:rPr lang="en-US" sz="1600" b="1" dirty="0">
                <a:solidFill>
                  <a:schemeClr val="bg1"/>
                </a:solidFill>
              </a:rPr>
              <a:t>formulario</a:t>
            </a:r>
            <a:endParaRPr lang="en-US" sz="1400" dirty="0"/>
          </a:p>
        </p:txBody>
      </p:sp>
      <p:sp>
        <p:nvSpPr>
          <p:cNvPr id="17" name="card81"/>
          <p:cNvSpPr/>
          <p:nvPr/>
        </p:nvSpPr>
        <p:spPr>
          <a:xfrm>
            <a:off x="6537960" y="4069080"/>
            <a:ext cx="2331720" cy="822960"/>
          </a:xfrm>
          <a:prstGeom prst="roundRect">
            <a:avLst>
              <a:gd name="adj" fmla="val 13333"/>
            </a:avLst>
          </a:prstGeom>
          <a:solidFill>
            <a:schemeClr val="tx1"/>
          </a:solidFill>
          <a:ln w="9525">
            <a:solidFill>
              <a:schemeClr val="bg2">
                <a:alpha val="40000"/>
              </a:schemeClr>
            </a:solidFill>
            <a:prstDash val="solid"/>
          </a:ln>
        </p:spPr>
      </p:sp>
      <p:sp>
        <p:nvSpPr>
          <p:cNvPr id="18" name="txt82"/>
          <p:cNvSpPr txBox="1"/>
          <p:nvPr/>
        </p:nvSpPr>
        <p:spPr>
          <a:xfrm>
            <a:off x="6720840" y="4069080"/>
            <a:ext cx="2057400" cy="822960"/>
          </a:xfrm>
          <a:prstGeom prst="rect">
            <a:avLst/>
          </a:prstGeom>
          <a:noFill/>
          <a:ln/>
        </p:spPr>
        <p:txBody>
          <a:bodyPr wrap="square" lIns="0" tIns="0" rIns="0" bIns="0" rtlCol="0" anchor="ctr"/>
          <a:lstStyle/>
          <a:p>
            <a:pPr indent="0" marL="0">
              <a:buNone/>
            </a:pPr>
            <a:r>
              <a:rPr lang="en-US" sz="3000" b="1" dirty="0">
                <a:solidFill>
                  <a:schemeClr val="accent1"/>
                </a:solidFill>
              </a:rPr>
              <a:t>1  </a:t>
            </a:r>
            <a:pPr indent="0" marL="0">
              <a:buNone/>
            </a:pPr>
            <a:r>
              <a:rPr lang="en-US" sz="1600" b="1" dirty="0">
                <a:solidFill>
                  <a:schemeClr val="bg1"/>
                </a:solidFill>
              </a:rPr>
              <a:t>función útil</a:t>
            </a:r>
            <a:endParaRPr lang="en-US" sz="1400" dirty="0"/>
          </a:p>
        </p:txBody>
      </p:sp>
      <p:sp>
        <p:nvSpPr>
          <p:cNvPr id="19" name="card83"/>
          <p:cNvSpPr/>
          <p:nvPr/>
        </p:nvSpPr>
        <p:spPr>
          <a:xfrm>
            <a:off x="9006840" y="4069080"/>
            <a:ext cx="2331720" cy="822960"/>
          </a:xfrm>
          <a:prstGeom prst="roundRect">
            <a:avLst>
              <a:gd name="adj" fmla="val 13333"/>
            </a:avLst>
          </a:prstGeom>
          <a:solidFill>
            <a:schemeClr val="tx1"/>
          </a:solidFill>
          <a:ln w="9525">
            <a:solidFill>
              <a:schemeClr val="bg2">
                <a:alpha val="40000"/>
              </a:schemeClr>
            </a:solidFill>
            <a:prstDash val="solid"/>
          </a:ln>
        </p:spPr>
      </p:sp>
      <p:sp>
        <p:nvSpPr>
          <p:cNvPr id="20" name="txt84"/>
          <p:cNvSpPr txBox="1"/>
          <p:nvPr/>
        </p:nvSpPr>
        <p:spPr>
          <a:xfrm>
            <a:off x="9189720" y="4069080"/>
            <a:ext cx="2057400" cy="822960"/>
          </a:xfrm>
          <a:prstGeom prst="rect">
            <a:avLst/>
          </a:prstGeom>
          <a:noFill/>
          <a:ln/>
        </p:spPr>
        <p:txBody>
          <a:bodyPr wrap="square" lIns="0" tIns="0" rIns="0" bIns="0" rtlCol="0" anchor="ctr"/>
          <a:lstStyle/>
          <a:p>
            <a:pPr indent="0" marL="0">
              <a:buNone/>
            </a:pPr>
            <a:r>
              <a:rPr lang="en-US" sz="3000" b="1" dirty="0">
                <a:solidFill>
                  <a:schemeClr val="accent1"/>
                </a:solidFill>
              </a:rPr>
              <a:t>1  </a:t>
            </a:r>
            <a:pPr indent="0" marL="0">
              <a:buNone/>
            </a:pPr>
            <a:r>
              <a:rPr lang="en-US" sz="1600" b="1" dirty="0">
                <a:solidFill>
                  <a:schemeClr val="bg1"/>
                </a:solidFill>
              </a:rPr>
              <a:t>API de IA</a:t>
            </a:r>
            <a:endParaRPr lang="en-US" sz="1400" dirty="0"/>
          </a:p>
        </p:txBody>
      </p:sp>
      <p:sp>
        <p:nvSpPr>
          <p:cNvPr id="21" name="txt85"/>
          <p:cNvSpPr txBox="1"/>
          <p:nvPr/>
        </p:nvSpPr>
        <p:spPr>
          <a:xfrm>
            <a:off x="6537960" y="5120640"/>
            <a:ext cx="4846320" cy="777240"/>
          </a:xfrm>
          <a:prstGeom prst="rect">
            <a:avLst/>
          </a:prstGeom>
          <a:noFill/>
          <a:ln/>
        </p:spPr>
        <p:txBody>
          <a:bodyPr wrap="square" lIns="0" tIns="0" rIns="0" bIns="0" rtlCol="0" anchor="t"/>
          <a:lstStyle/>
          <a:p>
            <a:pPr indent="0" marL="0">
              <a:buNone/>
            </a:pPr>
            <a:r>
              <a:rPr lang="en-US" sz="1300" b="1" dirty="0">
                <a:solidFill>
                  <a:schemeClr val="bg1"/>
                </a:solidFill>
              </a:rPr>
              <a:t>Fuera del alcance: </a:t>
            </a:r>
            <a:pPr indent="0" marL="0">
              <a:buNone/>
            </a:pPr>
            <a:r>
              <a:rPr lang="en-US" sz="1300" dirty="0">
                <a:solidFill>
                  <a:schemeClr val="bg2"/>
                </a:solidFill>
              </a:rPr>
              <a:t>bases de datos y localStorage, historial y chat, login propio o varias pantallas.</a:t>
            </a:r>
            <a:endParaRPr lang="en-US" sz="13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Arquitectura y flujo</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DIAGRAMA DE CONTEXTO</a:t>
            </a:r>
            <a:endParaRPr lang="en-US" sz="1200" dirty="0"/>
          </a:p>
        </p:txBody>
      </p:sp>
      <p:sp>
        <p:nvSpPr>
          <p:cNvPr id="4" name="presenta86"/>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87"/>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Mario Luna</a:t>
            </a:r>
            <a:endParaRPr lang="en-US" sz="1100" dirty="0"/>
          </a:p>
        </p:txBody>
      </p:sp>
      <p:sp>
        <p:nvSpPr>
          <p:cNvPr id="6" name="card88"/>
          <p:cNvSpPr/>
          <p:nvPr/>
        </p:nvSpPr>
        <p:spPr>
          <a:xfrm>
            <a:off x="548640" y="2331720"/>
            <a:ext cx="1737360" cy="960120"/>
          </a:xfrm>
          <a:prstGeom prst="roundRect">
            <a:avLst>
              <a:gd name="adj" fmla="val 11429"/>
            </a:avLst>
          </a:prstGeom>
          <a:solidFill>
            <a:schemeClr val="tx2"/>
          </a:solidFill>
          <a:ln w="15875">
            <a:solidFill>
              <a:schemeClr val="bg1"/>
            </a:solidFill>
            <a:prstDash val="solid"/>
          </a:ln>
        </p:spPr>
      </p:sp>
      <p:sp>
        <p:nvSpPr>
          <p:cNvPr id="7" name="txt89"/>
          <p:cNvSpPr txBox="1"/>
          <p:nvPr/>
        </p:nvSpPr>
        <p:spPr>
          <a:xfrm>
            <a:off x="621792" y="2331720"/>
            <a:ext cx="1591056" cy="960120"/>
          </a:xfrm>
          <a:prstGeom prst="rect">
            <a:avLst/>
          </a:prstGeom>
          <a:noFill/>
          <a:ln/>
        </p:spPr>
        <p:txBody>
          <a:bodyPr wrap="square" lIns="0" tIns="0" rIns="0" bIns="0" rtlCol="0" anchor="ctr"/>
          <a:lstStyle/>
          <a:p>
            <a:pPr algn="ctr" indent="0" marL="0">
              <a:buNone/>
            </a:pPr>
            <a:r>
              <a:rPr lang="en-US" sz="1400" b="1" dirty="0">
                <a:solidFill>
                  <a:schemeClr val="bg1"/>
                </a:solidFill>
              </a:rPr>
              <a:t>Usuario</a:t>
            </a:r>
            <a:endParaRPr lang="en-US" sz="1400" dirty="0"/>
          </a:p>
          <a:p>
            <a:pPr algn="ctr" indent="0" marL="0">
              <a:buNone/>
            </a:pPr>
            <a:r>
              <a:rPr lang="en-US" sz="1100" dirty="0">
                <a:solidFill>
                  <a:schemeClr val="bg2"/>
                </a:solidFill>
              </a:rPr>
              <a:t>navegador</a:t>
            </a:r>
            <a:endParaRPr lang="en-US" sz="1400" dirty="0"/>
          </a:p>
        </p:txBody>
      </p:sp>
      <p:sp>
        <p:nvSpPr>
          <p:cNvPr id="8" name="card90"/>
          <p:cNvSpPr/>
          <p:nvPr/>
        </p:nvSpPr>
        <p:spPr>
          <a:xfrm>
            <a:off x="2926080" y="2331720"/>
            <a:ext cx="2377440" cy="960120"/>
          </a:xfrm>
          <a:prstGeom prst="roundRect">
            <a:avLst>
              <a:gd name="adj" fmla="val 11429"/>
            </a:avLst>
          </a:prstGeom>
          <a:solidFill>
            <a:schemeClr val="tx2"/>
          </a:solidFill>
          <a:ln w="15875">
            <a:solidFill>
              <a:schemeClr val="accent1"/>
            </a:solidFill>
            <a:prstDash val="solid"/>
          </a:ln>
        </p:spPr>
      </p:sp>
      <p:sp>
        <p:nvSpPr>
          <p:cNvPr id="9" name="txt91"/>
          <p:cNvSpPr txBox="1"/>
          <p:nvPr/>
        </p:nvSpPr>
        <p:spPr>
          <a:xfrm>
            <a:off x="2999232" y="2331720"/>
            <a:ext cx="2231136" cy="960120"/>
          </a:xfrm>
          <a:prstGeom prst="rect">
            <a:avLst/>
          </a:prstGeom>
          <a:noFill/>
          <a:ln/>
        </p:spPr>
        <p:txBody>
          <a:bodyPr wrap="square" lIns="0" tIns="0" rIns="0" bIns="0" rtlCol="0" anchor="ctr"/>
          <a:lstStyle/>
          <a:p>
            <a:pPr algn="ctr" indent="0" marL="0">
              <a:buNone/>
            </a:pPr>
            <a:r>
              <a:rPr lang="en-US" sz="1400" b="1" dirty="0">
                <a:solidFill>
                  <a:schemeClr val="accent1"/>
                </a:solidFill>
              </a:rPr>
              <a:t>Frontend SPA</a:t>
            </a:r>
            <a:endParaRPr lang="en-US" sz="1400" dirty="0"/>
          </a:p>
          <a:p>
            <a:pPr algn="ctr" indent="0" marL="0">
              <a:buNone/>
            </a:pPr>
            <a:r>
              <a:rPr lang="en-US" sz="1100" dirty="0">
                <a:solidFill>
                  <a:schemeClr val="bg2"/>
                </a:solidFill>
              </a:rPr>
              <a:t>Vue 3 + Tailwind</a:t>
            </a:r>
            <a:endParaRPr lang="en-US" sz="1400" dirty="0"/>
          </a:p>
        </p:txBody>
      </p:sp>
      <p:sp>
        <p:nvSpPr>
          <p:cNvPr id="10" name="card92"/>
          <p:cNvSpPr/>
          <p:nvPr/>
        </p:nvSpPr>
        <p:spPr>
          <a:xfrm>
            <a:off x="5943600" y="2331720"/>
            <a:ext cx="2377440" cy="960120"/>
          </a:xfrm>
          <a:prstGeom prst="roundRect">
            <a:avLst>
              <a:gd name="adj" fmla="val 11429"/>
            </a:avLst>
          </a:prstGeom>
          <a:solidFill>
            <a:schemeClr val="tx2"/>
          </a:solidFill>
          <a:ln w="15875">
            <a:solidFill>
              <a:schemeClr val="bg1"/>
            </a:solidFill>
            <a:prstDash val="solid"/>
          </a:ln>
        </p:spPr>
      </p:sp>
      <p:sp>
        <p:nvSpPr>
          <p:cNvPr id="11" name="txt93"/>
          <p:cNvSpPr txBox="1"/>
          <p:nvPr/>
        </p:nvSpPr>
        <p:spPr>
          <a:xfrm>
            <a:off x="6016752" y="2331720"/>
            <a:ext cx="2231136" cy="960120"/>
          </a:xfrm>
          <a:prstGeom prst="rect">
            <a:avLst/>
          </a:prstGeom>
          <a:noFill/>
          <a:ln/>
        </p:spPr>
        <p:txBody>
          <a:bodyPr wrap="square" lIns="0" tIns="0" rIns="0" bIns="0" rtlCol="0" anchor="ctr"/>
          <a:lstStyle/>
          <a:p>
            <a:pPr algn="ctr" indent="0" marL="0">
              <a:buNone/>
            </a:pPr>
            <a:r>
              <a:rPr lang="en-US" sz="1400" b="1" dirty="0">
                <a:solidFill>
                  <a:schemeClr val="bg1"/>
                </a:solidFill>
              </a:rPr>
              <a:t>Backend FastAPI</a:t>
            </a:r>
            <a:endParaRPr lang="en-US" sz="1400" dirty="0"/>
          </a:p>
          <a:p>
            <a:pPr algn="ctr" indent="0" marL="0">
              <a:buNone/>
            </a:pPr>
            <a:r>
              <a:rPr lang="en-US" sz="1100" dirty="0">
                <a:solidFill>
                  <a:schemeClr val="bg2"/>
                </a:solidFill>
              </a:rPr>
              <a:t>valida y llama a la IA</a:t>
            </a:r>
            <a:endParaRPr lang="en-US" sz="1400" dirty="0"/>
          </a:p>
        </p:txBody>
      </p:sp>
      <p:sp>
        <p:nvSpPr>
          <p:cNvPr id="12" name="card94"/>
          <p:cNvSpPr/>
          <p:nvPr/>
        </p:nvSpPr>
        <p:spPr>
          <a:xfrm>
            <a:off x="8961120" y="2331720"/>
            <a:ext cx="2697480" cy="960120"/>
          </a:xfrm>
          <a:prstGeom prst="roundRect">
            <a:avLst>
              <a:gd name="adj" fmla="val 11429"/>
            </a:avLst>
          </a:prstGeom>
          <a:solidFill>
            <a:schemeClr val="tx2"/>
          </a:solidFill>
          <a:ln w="15875">
            <a:solidFill>
              <a:schemeClr val="accent2"/>
            </a:solidFill>
            <a:prstDash val="solid"/>
          </a:ln>
        </p:spPr>
      </p:sp>
      <p:sp>
        <p:nvSpPr>
          <p:cNvPr id="13" name="txt95"/>
          <p:cNvSpPr txBox="1"/>
          <p:nvPr/>
        </p:nvSpPr>
        <p:spPr>
          <a:xfrm>
            <a:off x="9034272" y="2331720"/>
            <a:ext cx="2551176" cy="960120"/>
          </a:xfrm>
          <a:prstGeom prst="rect">
            <a:avLst/>
          </a:prstGeom>
          <a:noFill/>
          <a:ln/>
        </p:spPr>
        <p:txBody>
          <a:bodyPr wrap="square" lIns="0" tIns="0" rIns="0" bIns="0" rtlCol="0" anchor="ctr"/>
          <a:lstStyle/>
          <a:p>
            <a:pPr algn="ctr" indent="0" marL="0">
              <a:buNone/>
            </a:pPr>
            <a:r>
              <a:rPr lang="en-US" sz="1400" b="1" dirty="0">
                <a:solidFill>
                  <a:schemeClr val="accent2"/>
                </a:solidFill>
              </a:rPr>
              <a:t>API de Gemini</a:t>
            </a:r>
            <a:endParaRPr lang="en-US" sz="1400" dirty="0"/>
          </a:p>
          <a:p>
            <a:pPr algn="ctr" indent="0" marL="0">
              <a:buNone/>
            </a:pPr>
            <a:r>
              <a:rPr lang="en-US" sz="1100" dirty="0">
                <a:solidFill>
                  <a:schemeClr val="bg2"/>
                </a:solidFill>
              </a:rPr>
              <a:t>gemini-3.5-flash-lite</a:t>
            </a:r>
            <a:endParaRPr lang="en-US" sz="1400" dirty="0"/>
          </a:p>
        </p:txBody>
      </p:sp>
      <p:sp>
        <p:nvSpPr>
          <p:cNvPr id="14" name="card96"/>
          <p:cNvSpPr/>
          <p:nvPr/>
        </p:nvSpPr>
        <p:spPr>
          <a:xfrm>
            <a:off x="4206240" y="1325880"/>
            <a:ext cx="3291840" cy="548640"/>
          </a:xfrm>
          <a:prstGeom prst="roundRect">
            <a:avLst>
              <a:gd name="adj" fmla="val 20000"/>
            </a:avLst>
          </a:prstGeom>
          <a:solidFill>
            <a:schemeClr val="tx2"/>
          </a:solidFill>
          <a:ln w="15875">
            <a:solidFill>
              <a:schemeClr val="accent2"/>
            </a:solidFill>
            <a:prstDash val="dash"/>
          </a:ln>
        </p:spPr>
      </p:sp>
      <p:sp>
        <p:nvSpPr>
          <p:cNvPr id="15" name="txt97"/>
          <p:cNvSpPr txBox="1"/>
          <p:nvPr/>
        </p:nvSpPr>
        <p:spPr>
          <a:xfrm>
            <a:off x="4279392" y="1325880"/>
            <a:ext cx="3145536" cy="548640"/>
          </a:xfrm>
          <a:prstGeom prst="rect">
            <a:avLst/>
          </a:prstGeom>
          <a:noFill/>
          <a:ln/>
        </p:spPr>
        <p:txBody>
          <a:bodyPr wrap="square" lIns="0" tIns="0" rIns="0" bIns="0" rtlCol="0" anchor="ctr"/>
          <a:lstStyle/>
          <a:p>
            <a:pPr algn="ctr" indent="0" marL="0">
              <a:buNone/>
            </a:pPr>
            <a:r>
              <a:rPr lang="en-US" sz="1300" b="1" dirty="0">
                <a:solidFill>
                  <a:schemeClr val="accent2"/>
                </a:solidFill>
              </a:rPr>
              <a:t>Clerk · solo App 2</a:t>
            </a:r>
            <a:endParaRPr lang="en-US" sz="1400" dirty="0"/>
          </a:p>
        </p:txBody>
      </p:sp>
      <p:sp>
        <p:nvSpPr>
          <p:cNvPr id="16" name="line98"/>
          <p:cNvSpPr/>
          <p:nvPr/>
        </p:nvSpPr>
        <p:spPr>
          <a:xfrm>
            <a:off x="4754880" y="1874520"/>
            <a:ext cx="0" cy="457200"/>
          </a:xfrm>
          <a:prstGeom prst="line">
            <a:avLst/>
          </a:prstGeom>
          <a:noFill/>
          <a:ln w="15875">
            <a:solidFill>
              <a:schemeClr val="accent2"/>
            </a:solidFill>
            <a:prstDash val="dash"/>
          </a:ln>
        </p:spPr>
      </p:sp>
      <p:sp>
        <p:nvSpPr>
          <p:cNvPr id="17" name="line99"/>
          <p:cNvSpPr/>
          <p:nvPr/>
        </p:nvSpPr>
        <p:spPr>
          <a:xfrm>
            <a:off x="6949440" y="1874520"/>
            <a:ext cx="0" cy="457200"/>
          </a:xfrm>
          <a:prstGeom prst="line">
            <a:avLst/>
          </a:prstGeom>
          <a:noFill/>
          <a:ln w="15875">
            <a:solidFill>
              <a:schemeClr val="accent2"/>
            </a:solidFill>
            <a:prstDash val="dash"/>
          </a:ln>
        </p:spPr>
      </p:sp>
      <p:sp>
        <p:nvSpPr>
          <p:cNvPr id="18" name="txt100"/>
          <p:cNvSpPr txBox="1"/>
          <p:nvPr/>
        </p:nvSpPr>
        <p:spPr>
          <a:xfrm>
            <a:off x="4160520" y="1965960"/>
            <a:ext cx="548640" cy="274320"/>
          </a:xfrm>
          <a:prstGeom prst="rect">
            <a:avLst/>
          </a:prstGeom>
          <a:noFill/>
          <a:ln/>
        </p:spPr>
        <p:txBody>
          <a:bodyPr wrap="square" lIns="0" tIns="0" rIns="0" bIns="0" rtlCol="0" anchor="t"/>
          <a:lstStyle/>
          <a:p>
            <a:pPr algn="r" indent="0" marL="0">
              <a:buNone/>
            </a:pPr>
            <a:r>
              <a:rPr lang="en-US" sz="1000" dirty="0">
                <a:solidFill>
                  <a:schemeClr val="accent2"/>
                </a:solidFill>
              </a:rPr>
              <a:t>token</a:t>
            </a:r>
            <a:endParaRPr lang="en-US" sz="1000" dirty="0"/>
          </a:p>
        </p:txBody>
      </p:sp>
      <p:sp>
        <p:nvSpPr>
          <p:cNvPr id="19" name="txt101"/>
          <p:cNvSpPr txBox="1"/>
          <p:nvPr/>
        </p:nvSpPr>
        <p:spPr>
          <a:xfrm>
            <a:off x="7022592" y="1965960"/>
            <a:ext cx="548640" cy="274320"/>
          </a:xfrm>
          <a:prstGeom prst="rect">
            <a:avLst/>
          </a:prstGeom>
          <a:noFill/>
          <a:ln/>
        </p:spPr>
        <p:txBody>
          <a:bodyPr wrap="square" lIns="0" tIns="0" rIns="0" bIns="0" rtlCol="0" anchor="t"/>
          <a:lstStyle/>
          <a:p>
            <a:pPr indent="0" marL="0">
              <a:buNone/>
            </a:pPr>
            <a:r>
              <a:rPr lang="en-US" sz="1000" dirty="0">
                <a:solidFill>
                  <a:schemeClr val="accent2"/>
                </a:solidFill>
              </a:rPr>
              <a:t>JWKS</a:t>
            </a:r>
            <a:endParaRPr lang="en-US" sz="1000" dirty="0"/>
          </a:p>
        </p:txBody>
      </p:sp>
      <p:sp>
        <p:nvSpPr>
          <p:cNvPr id="20" name="line102"/>
          <p:cNvSpPr/>
          <p:nvPr/>
        </p:nvSpPr>
        <p:spPr>
          <a:xfrm>
            <a:off x="2286000" y="2633472"/>
            <a:ext cx="640080" cy="0"/>
          </a:xfrm>
          <a:prstGeom prst="line">
            <a:avLst/>
          </a:prstGeom>
          <a:noFill/>
          <a:ln w="15875">
            <a:solidFill>
              <a:schemeClr val="accent1"/>
            </a:solidFill>
            <a:prstDash val="solid"/>
            <a:tailEnd type="triangle"/>
          </a:ln>
        </p:spPr>
      </p:sp>
      <p:sp>
        <p:nvSpPr>
          <p:cNvPr id="21" name="dot103"/>
          <p:cNvSpPr/>
          <p:nvPr/>
        </p:nvSpPr>
        <p:spPr>
          <a:xfrm>
            <a:off x="2468880" y="2496312"/>
            <a:ext cx="274320" cy="274320"/>
          </a:xfrm>
          <a:prstGeom prst="ellipse">
            <a:avLst/>
          </a:prstGeom>
          <a:solidFill>
            <a:schemeClr val="accent1"/>
          </a:solidFill>
          <a:ln w="19050">
            <a:solidFill>
              <a:schemeClr val="tx1"/>
            </a:solidFill>
            <a:prstDash val="solid"/>
          </a:ln>
        </p:spPr>
      </p:sp>
      <p:sp>
        <p:nvSpPr>
          <p:cNvPr id="22" name="txt104"/>
          <p:cNvSpPr txBox="1"/>
          <p:nvPr/>
        </p:nvSpPr>
        <p:spPr>
          <a:xfrm>
            <a:off x="2468880" y="249631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23" name="line105"/>
          <p:cNvSpPr/>
          <p:nvPr/>
        </p:nvSpPr>
        <p:spPr>
          <a:xfrm>
            <a:off x="5303520" y="2633472"/>
            <a:ext cx="640080" cy="0"/>
          </a:xfrm>
          <a:prstGeom prst="line">
            <a:avLst/>
          </a:prstGeom>
          <a:noFill/>
          <a:ln w="15875">
            <a:solidFill>
              <a:schemeClr val="accent1"/>
            </a:solidFill>
            <a:prstDash val="solid"/>
            <a:tailEnd type="triangle"/>
          </a:ln>
        </p:spPr>
      </p:sp>
      <p:sp>
        <p:nvSpPr>
          <p:cNvPr id="24" name="dot106"/>
          <p:cNvSpPr/>
          <p:nvPr/>
        </p:nvSpPr>
        <p:spPr>
          <a:xfrm>
            <a:off x="5486400" y="2496312"/>
            <a:ext cx="274320" cy="274320"/>
          </a:xfrm>
          <a:prstGeom prst="ellipse">
            <a:avLst/>
          </a:prstGeom>
          <a:solidFill>
            <a:schemeClr val="accent1"/>
          </a:solidFill>
          <a:ln w="19050">
            <a:solidFill>
              <a:schemeClr val="tx1"/>
            </a:solidFill>
            <a:prstDash val="solid"/>
          </a:ln>
        </p:spPr>
      </p:sp>
      <p:sp>
        <p:nvSpPr>
          <p:cNvPr id="25" name="txt107"/>
          <p:cNvSpPr txBox="1"/>
          <p:nvPr/>
        </p:nvSpPr>
        <p:spPr>
          <a:xfrm>
            <a:off x="5486400" y="249631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26" name="line108"/>
          <p:cNvSpPr/>
          <p:nvPr/>
        </p:nvSpPr>
        <p:spPr>
          <a:xfrm>
            <a:off x="8321040" y="2633472"/>
            <a:ext cx="640080" cy="0"/>
          </a:xfrm>
          <a:prstGeom prst="line">
            <a:avLst/>
          </a:prstGeom>
          <a:noFill/>
          <a:ln w="15875">
            <a:solidFill>
              <a:schemeClr val="accent1"/>
            </a:solidFill>
            <a:prstDash val="solid"/>
            <a:tailEnd type="triangle"/>
          </a:ln>
        </p:spPr>
      </p:sp>
      <p:sp>
        <p:nvSpPr>
          <p:cNvPr id="27" name="dot109"/>
          <p:cNvSpPr/>
          <p:nvPr/>
        </p:nvSpPr>
        <p:spPr>
          <a:xfrm>
            <a:off x="8503920" y="2496312"/>
            <a:ext cx="274320" cy="274320"/>
          </a:xfrm>
          <a:prstGeom prst="ellipse">
            <a:avLst/>
          </a:prstGeom>
          <a:solidFill>
            <a:schemeClr val="accent1"/>
          </a:solidFill>
          <a:ln w="19050">
            <a:solidFill>
              <a:schemeClr val="tx1"/>
            </a:solidFill>
            <a:prstDash val="solid"/>
          </a:ln>
        </p:spPr>
      </p:sp>
      <p:sp>
        <p:nvSpPr>
          <p:cNvPr id="28" name="txt110"/>
          <p:cNvSpPr txBox="1"/>
          <p:nvPr/>
        </p:nvSpPr>
        <p:spPr>
          <a:xfrm>
            <a:off x="8503920" y="249631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29" name="line111"/>
          <p:cNvSpPr/>
          <p:nvPr/>
        </p:nvSpPr>
        <p:spPr>
          <a:xfrm flipH="1">
            <a:off x="8321040" y="3017520"/>
            <a:ext cx="640080" cy="0"/>
          </a:xfrm>
          <a:prstGeom prst="line">
            <a:avLst/>
          </a:prstGeom>
          <a:noFill/>
          <a:ln w="15875">
            <a:solidFill>
              <a:schemeClr val="bg2"/>
            </a:solidFill>
            <a:prstDash val="dash"/>
            <a:tailEnd type="triangle"/>
          </a:ln>
        </p:spPr>
      </p:sp>
      <p:sp>
        <p:nvSpPr>
          <p:cNvPr id="30" name="dot112"/>
          <p:cNvSpPr/>
          <p:nvPr/>
        </p:nvSpPr>
        <p:spPr>
          <a:xfrm>
            <a:off x="8503920" y="2880360"/>
            <a:ext cx="274320" cy="274320"/>
          </a:xfrm>
          <a:prstGeom prst="ellipse">
            <a:avLst/>
          </a:prstGeom>
          <a:solidFill>
            <a:schemeClr val="bg1"/>
          </a:solidFill>
          <a:ln w="19050">
            <a:solidFill>
              <a:schemeClr val="tx1"/>
            </a:solidFill>
            <a:prstDash val="solid"/>
          </a:ln>
        </p:spPr>
      </p:sp>
      <p:sp>
        <p:nvSpPr>
          <p:cNvPr id="31" name="txt113"/>
          <p:cNvSpPr txBox="1"/>
          <p:nvPr/>
        </p:nvSpPr>
        <p:spPr>
          <a:xfrm>
            <a:off x="8503920" y="28803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2" name="line114"/>
          <p:cNvSpPr/>
          <p:nvPr/>
        </p:nvSpPr>
        <p:spPr>
          <a:xfrm flipH="1">
            <a:off x="5303520" y="3017520"/>
            <a:ext cx="640080" cy="0"/>
          </a:xfrm>
          <a:prstGeom prst="line">
            <a:avLst/>
          </a:prstGeom>
          <a:noFill/>
          <a:ln w="15875">
            <a:solidFill>
              <a:schemeClr val="bg2"/>
            </a:solidFill>
            <a:prstDash val="dash"/>
            <a:tailEnd type="triangle"/>
          </a:ln>
        </p:spPr>
      </p:sp>
      <p:sp>
        <p:nvSpPr>
          <p:cNvPr id="33" name="dot115"/>
          <p:cNvSpPr/>
          <p:nvPr/>
        </p:nvSpPr>
        <p:spPr>
          <a:xfrm>
            <a:off x="5486400" y="2880360"/>
            <a:ext cx="274320" cy="274320"/>
          </a:xfrm>
          <a:prstGeom prst="ellipse">
            <a:avLst/>
          </a:prstGeom>
          <a:solidFill>
            <a:schemeClr val="bg1"/>
          </a:solidFill>
          <a:ln w="19050">
            <a:solidFill>
              <a:schemeClr val="tx1"/>
            </a:solidFill>
            <a:prstDash val="solid"/>
          </a:ln>
        </p:spPr>
      </p:sp>
      <p:sp>
        <p:nvSpPr>
          <p:cNvPr id="34" name="txt116"/>
          <p:cNvSpPr txBox="1"/>
          <p:nvPr/>
        </p:nvSpPr>
        <p:spPr>
          <a:xfrm>
            <a:off x="5486400" y="28803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35" name="line117"/>
          <p:cNvSpPr/>
          <p:nvPr/>
        </p:nvSpPr>
        <p:spPr>
          <a:xfrm flipH="1">
            <a:off x="2286000" y="3017520"/>
            <a:ext cx="640080" cy="0"/>
          </a:xfrm>
          <a:prstGeom prst="line">
            <a:avLst/>
          </a:prstGeom>
          <a:noFill/>
          <a:ln w="15875">
            <a:solidFill>
              <a:schemeClr val="bg2"/>
            </a:solidFill>
            <a:prstDash val="dash"/>
            <a:tailEnd type="triangle"/>
          </a:ln>
        </p:spPr>
      </p:sp>
      <p:sp>
        <p:nvSpPr>
          <p:cNvPr id="36" name="dot118"/>
          <p:cNvSpPr/>
          <p:nvPr/>
        </p:nvSpPr>
        <p:spPr>
          <a:xfrm>
            <a:off x="2468880" y="2880360"/>
            <a:ext cx="274320" cy="274320"/>
          </a:xfrm>
          <a:prstGeom prst="ellipse">
            <a:avLst/>
          </a:prstGeom>
          <a:solidFill>
            <a:schemeClr val="bg1"/>
          </a:solidFill>
          <a:ln w="19050">
            <a:solidFill>
              <a:schemeClr val="tx1"/>
            </a:solidFill>
            <a:prstDash val="solid"/>
          </a:ln>
        </p:spPr>
      </p:sp>
      <p:sp>
        <p:nvSpPr>
          <p:cNvPr id="37" name="txt119"/>
          <p:cNvSpPr txBox="1"/>
          <p:nvPr/>
        </p:nvSpPr>
        <p:spPr>
          <a:xfrm>
            <a:off x="2468880" y="288036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6</a:t>
            </a:r>
            <a:endParaRPr lang="en-US" sz="1100" dirty="0"/>
          </a:p>
        </p:txBody>
      </p:sp>
      <p:sp>
        <p:nvSpPr>
          <p:cNvPr id="38" name="card120"/>
          <p:cNvSpPr/>
          <p:nvPr/>
        </p:nvSpPr>
        <p:spPr>
          <a:xfrm>
            <a:off x="548640" y="3749040"/>
            <a:ext cx="1755648" cy="2286000"/>
          </a:xfrm>
          <a:prstGeom prst="roundRect">
            <a:avLst>
              <a:gd name="adj" fmla="val 6250"/>
            </a:avLst>
          </a:prstGeom>
          <a:solidFill>
            <a:schemeClr val="tx2"/>
          </a:solidFill>
          <a:ln w="9525">
            <a:solidFill>
              <a:schemeClr val="bg2">
                <a:alpha val="28000"/>
              </a:schemeClr>
            </a:solidFill>
            <a:prstDash val="solid"/>
          </a:ln>
        </p:spPr>
      </p:sp>
      <p:sp>
        <p:nvSpPr>
          <p:cNvPr id="39" name="badge121"/>
          <p:cNvSpPr/>
          <p:nvPr/>
        </p:nvSpPr>
        <p:spPr>
          <a:xfrm>
            <a:off x="731520" y="3931920"/>
            <a:ext cx="384048" cy="347472"/>
          </a:xfrm>
          <a:prstGeom prst="roundRect">
            <a:avLst>
              <a:gd name="adj" fmla="val 21053"/>
            </a:avLst>
          </a:prstGeom>
          <a:solidFill>
            <a:schemeClr val="accent1"/>
          </a:solidFill>
          <a:ln/>
        </p:spPr>
      </p:sp>
      <p:sp>
        <p:nvSpPr>
          <p:cNvPr id="40" name="txt122"/>
          <p:cNvSpPr txBox="1"/>
          <p:nvPr/>
        </p:nvSpPr>
        <p:spPr>
          <a:xfrm>
            <a:off x="731520" y="3931920"/>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41" name="txt123"/>
          <p:cNvSpPr txBox="1"/>
          <p:nvPr/>
        </p:nvSpPr>
        <p:spPr>
          <a:xfrm>
            <a:off x="731520" y="4434840"/>
            <a:ext cx="1417320" cy="1508760"/>
          </a:xfrm>
          <a:prstGeom prst="rect">
            <a:avLst/>
          </a:prstGeom>
          <a:noFill/>
          <a:ln/>
        </p:spPr>
        <p:txBody>
          <a:bodyPr wrap="square" lIns="0" tIns="0" rIns="0" bIns="0" rtlCol="0" anchor="t"/>
          <a:lstStyle/>
          <a:p>
            <a:pPr indent="0" marL="0">
              <a:buNone/>
            </a:pPr>
            <a:r>
              <a:rPr lang="en-US" sz="1300" dirty="0">
                <a:solidFill>
                  <a:schemeClr val="bg2"/>
                </a:solidFill>
              </a:rPr>
              <a:t>El usuario elige géneros y escribe sus gustos en el único formulario.</a:t>
            </a:r>
            <a:endParaRPr lang="en-US" sz="1300" dirty="0"/>
          </a:p>
        </p:txBody>
      </p:sp>
      <p:sp>
        <p:nvSpPr>
          <p:cNvPr id="42" name="card124"/>
          <p:cNvSpPr/>
          <p:nvPr/>
        </p:nvSpPr>
        <p:spPr>
          <a:xfrm>
            <a:off x="2414016" y="3749040"/>
            <a:ext cx="1755648" cy="2286000"/>
          </a:xfrm>
          <a:prstGeom prst="roundRect">
            <a:avLst>
              <a:gd name="adj" fmla="val 6250"/>
            </a:avLst>
          </a:prstGeom>
          <a:solidFill>
            <a:schemeClr val="tx2"/>
          </a:solidFill>
          <a:ln w="9525">
            <a:solidFill>
              <a:schemeClr val="bg2">
                <a:alpha val="28000"/>
              </a:schemeClr>
            </a:solidFill>
            <a:prstDash val="solid"/>
          </a:ln>
        </p:spPr>
      </p:sp>
      <p:sp>
        <p:nvSpPr>
          <p:cNvPr id="43" name="badge125"/>
          <p:cNvSpPr/>
          <p:nvPr/>
        </p:nvSpPr>
        <p:spPr>
          <a:xfrm>
            <a:off x="2596896" y="3931920"/>
            <a:ext cx="384048" cy="347472"/>
          </a:xfrm>
          <a:prstGeom prst="roundRect">
            <a:avLst>
              <a:gd name="adj" fmla="val 21053"/>
            </a:avLst>
          </a:prstGeom>
          <a:solidFill>
            <a:schemeClr val="accent1"/>
          </a:solidFill>
          <a:ln/>
        </p:spPr>
      </p:sp>
      <p:sp>
        <p:nvSpPr>
          <p:cNvPr id="44" name="txt126"/>
          <p:cNvSpPr txBox="1"/>
          <p:nvPr/>
        </p:nvSpPr>
        <p:spPr>
          <a:xfrm>
            <a:off x="2596896" y="3931920"/>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45" name="txt127"/>
          <p:cNvSpPr txBox="1"/>
          <p:nvPr/>
        </p:nvSpPr>
        <p:spPr>
          <a:xfrm>
            <a:off x="2596896" y="4434840"/>
            <a:ext cx="1417320" cy="1508760"/>
          </a:xfrm>
          <a:prstGeom prst="rect">
            <a:avLst/>
          </a:prstGeom>
          <a:noFill/>
          <a:ln/>
        </p:spPr>
        <p:txBody>
          <a:bodyPr wrap="square" lIns="0" tIns="0" rIns="0" bIns="0" rtlCol="0" anchor="t"/>
          <a:lstStyle/>
          <a:p>
            <a:pPr indent="0" marL="0">
              <a:buNone/>
            </a:pPr>
            <a:r>
              <a:rPr lang="en-US" sz="1300" dirty="0">
                <a:solidFill>
                  <a:schemeClr val="bg2"/>
                </a:solidFill>
              </a:rPr>
              <a:t>La SPA envía POST /api/recommend con JSON (y el token de Clerk en la App 2).</a:t>
            </a:r>
            <a:endParaRPr lang="en-US" sz="1300" dirty="0"/>
          </a:p>
        </p:txBody>
      </p:sp>
      <p:sp>
        <p:nvSpPr>
          <p:cNvPr id="46" name="card128"/>
          <p:cNvSpPr/>
          <p:nvPr/>
        </p:nvSpPr>
        <p:spPr>
          <a:xfrm>
            <a:off x="4279392" y="3749040"/>
            <a:ext cx="1755648" cy="2286000"/>
          </a:xfrm>
          <a:prstGeom prst="roundRect">
            <a:avLst>
              <a:gd name="adj" fmla="val 6250"/>
            </a:avLst>
          </a:prstGeom>
          <a:solidFill>
            <a:schemeClr val="tx2"/>
          </a:solidFill>
          <a:ln w="9525">
            <a:solidFill>
              <a:schemeClr val="bg2">
                <a:alpha val="28000"/>
              </a:schemeClr>
            </a:solidFill>
            <a:prstDash val="solid"/>
          </a:ln>
        </p:spPr>
      </p:sp>
      <p:sp>
        <p:nvSpPr>
          <p:cNvPr id="47" name="badge129"/>
          <p:cNvSpPr/>
          <p:nvPr/>
        </p:nvSpPr>
        <p:spPr>
          <a:xfrm>
            <a:off x="4462272" y="3931920"/>
            <a:ext cx="384048" cy="347472"/>
          </a:xfrm>
          <a:prstGeom prst="roundRect">
            <a:avLst>
              <a:gd name="adj" fmla="val 21053"/>
            </a:avLst>
          </a:prstGeom>
          <a:solidFill>
            <a:schemeClr val="accent1"/>
          </a:solidFill>
          <a:ln/>
        </p:spPr>
      </p:sp>
      <p:sp>
        <p:nvSpPr>
          <p:cNvPr id="48" name="txt130"/>
          <p:cNvSpPr txBox="1"/>
          <p:nvPr/>
        </p:nvSpPr>
        <p:spPr>
          <a:xfrm>
            <a:off x="4462272" y="3931920"/>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49" name="txt131"/>
          <p:cNvSpPr txBox="1"/>
          <p:nvPr/>
        </p:nvSpPr>
        <p:spPr>
          <a:xfrm>
            <a:off x="4462272" y="4434840"/>
            <a:ext cx="1417320" cy="1508760"/>
          </a:xfrm>
          <a:prstGeom prst="rect">
            <a:avLst/>
          </a:prstGeom>
          <a:noFill/>
          <a:ln/>
        </p:spPr>
        <p:txBody>
          <a:bodyPr wrap="square" lIns="0" tIns="0" rIns="0" bIns="0" rtlCol="0" anchor="t"/>
          <a:lstStyle/>
          <a:p>
            <a:pPr indent="0" marL="0">
              <a:buNone/>
            </a:pPr>
            <a:r>
              <a:rPr lang="en-US" sz="1300" dirty="0">
                <a:solidFill>
                  <a:schemeClr val="bg2"/>
                </a:solidFill>
              </a:rPr>
              <a:t>FastAPI verifica el token, valida con Pydantic y hace una sola llamada a Gemini.</a:t>
            </a:r>
            <a:endParaRPr lang="en-US" sz="1300" dirty="0"/>
          </a:p>
        </p:txBody>
      </p:sp>
      <p:sp>
        <p:nvSpPr>
          <p:cNvPr id="50" name="card132"/>
          <p:cNvSpPr/>
          <p:nvPr/>
        </p:nvSpPr>
        <p:spPr>
          <a:xfrm>
            <a:off x="6144768" y="3749040"/>
            <a:ext cx="1755648" cy="2286000"/>
          </a:xfrm>
          <a:prstGeom prst="roundRect">
            <a:avLst>
              <a:gd name="adj" fmla="val 6250"/>
            </a:avLst>
          </a:prstGeom>
          <a:solidFill>
            <a:schemeClr val="tx2"/>
          </a:solidFill>
          <a:ln w="9525">
            <a:solidFill>
              <a:schemeClr val="bg2">
                <a:alpha val="28000"/>
              </a:schemeClr>
            </a:solidFill>
            <a:prstDash val="solid"/>
          </a:ln>
        </p:spPr>
      </p:sp>
      <p:sp>
        <p:nvSpPr>
          <p:cNvPr id="51" name="badge133"/>
          <p:cNvSpPr/>
          <p:nvPr/>
        </p:nvSpPr>
        <p:spPr>
          <a:xfrm>
            <a:off x="6327648" y="3931920"/>
            <a:ext cx="384048" cy="347472"/>
          </a:xfrm>
          <a:prstGeom prst="roundRect">
            <a:avLst>
              <a:gd name="adj" fmla="val 21053"/>
            </a:avLst>
          </a:prstGeom>
          <a:solidFill>
            <a:schemeClr val="bg1"/>
          </a:solidFill>
          <a:ln/>
        </p:spPr>
      </p:sp>
      <p:sp>
        <p:nvSpPr>
          <p:cNvPr id="52" name="txt134"/>
          <p:cNvSpPr txBox="1"/>
          <p:nvPr/>
        </p:nvSpPr>
        <p:spPr>
          <a:xfrm>
            <a:off x="6327648" y="3931920"/>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53" name="txt135"/>
          <p:cNvSpPr txBox="1"/>
          <p:nvPr/>
        </p:nvSpPr>
        <p:spPr>
          <a:xfrm>
            <a:off x="6327648" y="4434840"/>
            <a:ext cx="1417320" cy="1508760"/>
          </a:xfrm>
          <a:prstGeom prst="rect">
            <a:avLst/>
          </a:prstGeom>
          <a:noFill/>
          <a:ln/>
        </p:spPr>
        <p:txBody>
          <a:bodyPr wrap="square" lIns="0" tIns="0" rIns="0" bIns="0" rtlCol="0" anchor="t"/>
          <a:lstStyle/>
          <a:p>
            <a:pPr indent="0" marL="0">
              <a:buNone/>
            </a:pPr>
            <a:r>
              <a:rPr lang="en-US" sz="1300" dirty="0">
                <a:solidFill>
                  <a:schemeClr val="bg2"/>
                </a:solidFill>
              </a:rPr>
              <a:t>Gemini devuelve el texto de las recomendaciones.</a:t>
            </a:r>
            <a:endParaRPr lang="en-US" sz="1300" dirty="0"/>
          </a:p>
        </p:txBody>
      </p:sp>
      <p:sp>
        <p:nvSpPr>
          <p:cNvPr id="54" name="card136"/>
          <p:cNvSpPr/>
          <p:nvPr/>
        </p:nvSpPr>
        <p:spPr>
          <a:xfrm>
            <a:off x="8010144" y="3749040"/>
            <a:ext cx="1755648" cy="2286000"/>
          </a:xfrm>
          <a:prstGeom prst="roundRect">
            <a:avLst>
              <a:gd name="adj" fmla="val 6250"/>
            </a:avLst>
          </a:prstGeom>
          <a:solidFill>
            <a:schemeClr val="tx2"/>
          </a:solidFill>
          <a:ln w="9525">
            <a:solidFill>
              <a:schemeClr val="bg2">
                <a:alpha val="28000"/>
              </a:schemeClr>
            </a:solidFill>
            <a:prstDash val="solid"/>
          </a:ln>
        </p:spPr>
      </p:sp>
      <p:sp>
        <p:nvSpPr>
          <p:cNvPr id="55" name="badge137"/>
          <p:cNvSpPr/>
          <p:nvPr/>
        </p:nvSpPr>
        <p:spPr>
          <a:xfrm>
            <a:off x="8193024" y="3931920"/>
            <a:ext cx="384048" cy="347472"/>
          </a:xfrm>
          <a:prstGeom prst="roundRect">
            <a:avLst>
              <a:gd name="adj" fmla="val 21053"/>
            </a:avLst>
          </a:prstGeom>
          <a:solidFill>
            <a:schemeClr val="bg1"/>
          </a:solidFill>
          <a:ln/>
        </p:spPr>
      </p:sp>
      <p:sp>
        <p:nvSpPr>
          <p:cNvPr id="56" name="txt138"/>
          <p:cNvSpPr txBox="1"/>
          <p:nvPr/>
        </p:nvSpPr>
        <p:spPr>
          <a:xfrm>
            <a:off x="8193024" y="3931920"/>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57" name="txt139"/>
          <p:cNvSpPr txBox="1"/>
          <p:nvPr/>
        </p:nvSpPr>
        <p:spPr>
          <a:xfrm>
            <a:off x="8193024" y="4434840"/>
            <a:ext cx="1417320" cy="1508760"/>
          </a:xfrm>
          <a:prstGeom prst="rect">
            <a:avLst/>
          </a:prstGeom>
          <a:noFill/>
          <a:ln/>
        </p:spPr>
        <p:txBody>
          <a:bodyPr wrap="square" lIns="0" tIns="0" rIns="0" bIns="0" rtlCol="0" anchor="t"/>
          <a:lstStyle/>
          <a:p>
            <a:pPr indent="0" marL="0">
              <a:buNone/>
            </a:pPr>
            <a:r>
              <a:rPr lang="en-US" sz="1300" dirty="0">
                <a:solidFill>
                  <a:schemeClr val="bg2"/>
                </a:solidFill>
              </a:rPr>
              <a:t>FastAPI lo envuelve en {"resultado"} o en un error JSON controlado.</a:t>
            </a:r>
            <a:endParaRPr lang="en-US" sz="1300" dirty="0"/>
          </a:p>
        </p:txBody>
      </p:sp>
      <p:sp>
        <p:nvSpPr>
          <p:cNvPr id="58" name="card140"/>
          <p:cNvSpPr/>
          <p:nvPr/>
        </p:nvSpPr>
        <p:spPr>
          <a:xfrm>
            <a:off x="9875520" y="3749040"/>
            <a:ext cx="1755648" cy="2286000"/>
          </a:xfrm>
          <a:prstGeom prst="roundRect">
            <a:avLst>
              <a:gd name="adj" fmla="val 6250"/>
            </a:avLst>
          </a:prstGeom>
          <a:solidFill>
            <a:schemeClr val="tx2"/>
          </a:solidFill>
          <a:ln w="9525">
            <a:solidFill>
              <a:schemeClr val="bg2">
                <a:alpha val="28000"/>
              </a:schemeClr>
            </a:solidFill>
            <a:prstDash val="solid"/>
          </a:ln>
        </p:spPr>
      </p:sp>
      <p:sp>
        <p:nvSpPr>
          <p:cNvPr id="59" name="badge141"/>
          <p:cNvSpPr/>
          <p:nvPr/>
        </p:nvSpPr>
        <p:spPr>
          <a:xfrm>
            <a:off x="10058400" y="3931920"/>
            <a:ext cx="384048" cy="347472"/>
          </a:xfrm>
          <a:prstGeom prst="roundRect">
            <a:avLst>
              <a:gd name="adj" fmla="val 21053"/>
            </a:avLst>
          </a:prstGeom>
          <a:solidFill>
            <a:schemeClr val="bg1"/>
          </a:solidFill>
          <a:ln/>
        </p:spPr>
      </p:sp>
      <p:sp>
        <p:nvSpPr>
          <p:cNvPr id="60" name="txt142"/>
          <p:cNvSpPr txBox="1"/>
          <p:nvPr/>
        </p:nvSpPr>
        <p:spPr>
          <a:xfrm>
            <a:off x="10058400" y="3931920"/>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61" name="txt143"/>
          <p:cNvSpPr txBox="1"/>
          <p:nvPr/>
        </p:nvSpPr>
        <p:spPr>
          <a:xfrm>
            <a:off x="10058400" y="4434840"/>
            <a:ext cx="1417320" cy="1508760"/>
          </a:xfrm>
          <a:prstGeom prst="rect">
            <a:avLst/>
          </a:prstGeom>
          <a:noFill/>
          <a:ln/>
        </p:spPr>
        <p:txBody>
          <a:bodyPr wrap="square" lIns="0" tIns="0" rIns="0" bIns="0" rtlCol="0" anchor="t"/>
          <a:lstStyle/>
          <a:p>
            <a:pPr indent="0" marL="0">
              <a:buNone/>
            </a:pPr>
            <a:r>
              <a:rPr lang="en-US" sz="1300" dirty="0">
                <a:solidFill>
                  <a:schemeClr val="bg2"/>
                </a:solidFill>
              </a:rPr>
              <a:t>La SPA lo muestra como texto en la misma pantalla.</a:t>
            </a:r>
            <a:endParaRPr lang="en-US" sz="13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Contrato de la API</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POST /api/recommend</a:t>
            </a:r>
            <a:endParaRPr lang="en-US" sz="1200" dirty="0"/>
          </a:p>
        </p:txBody>
      </p:sp>
      <p:sp>
        <p:nvSpPr>
          <p:cNvPr id="4" name="presenta144"/>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145"/>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Mario Luna</a:t>
            </a:r>
            <a:endParaRPr lang="en-US" sz="1100" dirty="0"/>
          </a:p>
        </p:txBody>
      </p:sp>
      <p:sp>
        <p:nvSpPr>
          <p:cNvPr id="6" name="txt146"/>
          <p:cNvSpPr txBox="1"/>
          <p:nvPr/>
        </p:nvSpPr>
        <p:spPr>
          <a:xfrm>
            <a:off x="548640" y="1325880"/>
            <a:ext cx="5669280" cy="320040"/>
          </a:xfrm>
          <a:prstGeom prst="rect">
            <a:avLst/>
          </a:prstGeom>
          <a:noFill/>
          <a:ln/>
        </p:spPr>
        <p:txBody>
          <a:bodyPr wrap="square" lIns="0" tIns="0" rIns="0" bIns="0" rtlCol="0" anchor="t"/>
          <a:lstStyle/>
          <a:p>
            <a:pPr indent="0" marL="0">
              <a:buNone/>
            </a:pPr>
            <a:r>
              <a:rPr lang="en-US" sz="1400" b="1" dirty="0">
                <a:solidFill>
                  <a:schemeClr val="accent1"/>
                </a:solidFill>
              </a:rPr>
              <a:t>Petición</a:t>
            </a:r>
            <a:endParaRPr lang="en-US" sz="1400" dirty="0"/>
          </a:p>
        </p:txBody>
      </p:sp>
      <p:sp>
        <p:nvSpPr>
          <p:cNvPr id="7" name="card147"/>
          <p:cNvSpPr/>
          <p:nvPr/>
        </p:nvSpPr>
        <p:spPr>
          <a:xfrm>
            <a:off x="548640" y="1691640"/>
            <a:ext cx="5806440" cy="1600200"/>
          </a:xfrm>
          <a:prstGeom prst="roundRect">
            <a:avLst>
              <a:gd name="adj" fmla="val 4571"/>
            </a:avLst>
          </a:prstGeom>
          <a:solidFill>
            <a:schemeClr val="tx1"/>
          </a:solidFill>
          <a:ln w="9525">
            <a:solidFill>
              <a:schemeClr val="bg2">
                <a:alpha val="45000"/>
              </a:schemeClr>
            </a:solidFill>
            <a:prstDash val="solid"/>
          </a:ln>
        </p:spPr>
      </p:sp>
      <p:sp>
        <p:nvSpPr>
          <p:cNvPr id="8" name="txt148"/>
          <p:cNvSpPr txBox="1"/>
          <p:nvPr/>
        </p:nvSpPr>
        <p:spPr>
          <a:xfrm>
            <a:off x="731520" y="1828800"/>
            <a:ext cx="5440680" cy="1325880"/>
          </a:xfrm>
          <a:prstGeom prst="rect">
            <a:avLst/>
          </a:prstGeom>
          <a:noFill/>
          <a:ln/>
        </p:spPr>
        <p:txBody>
          <a:bodyPr wrap="square" lIns="0" tIns="0" rIns="0" bIns="0" rtlCol="0" anchor="t"/>
          <a:lstStyle/>
          <a:p>
            <a:pPr indent="0" marL="0">
              <a:buNone/>
            </a:pPr>
            <a:r>
              <a:rPr lang="en-US" sz="1200" dirty="0">
                <a:solidFill>
                  <a:schemeClr val="bg1"/>
                </a:solidFill>
                <a:latin typeface="Consolas" pitchFamily="34" charset="0"/>
                <a:ea typeface="Consolas" pitchFamily="34" charset="-122"/>
                <a:cs typeface="Consolas" pitchFamily="34" charset="-120"/>
              </a:rPr>
              <a:t>POST /api/recommend</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Authorization: Bearer &lt;token&gt;   ← solo App 2</a:t>
            </a:r>
            <a:endParaRPr lang="en-US" sz="1200" dirty="0"/>
          </a:p>
          <a:p>
            <a:pPr indent="0" marL="0">
              <a:buNone/>
            </a:pP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 "tastes": "Géneros: Electrónica, Flamenco, Metal.</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             Además: Me gusta la musica de los 2000s" }</a:t>
            </a:r>
            <a:endParaRPr lang="en-US" sz="1200" dirty="0"/>
          </a:p>
        </p:txBody>
      </p:sp>
      <p:sp>
        <p:nvSpPr>
          <p:cNvPr id="9" name="txt149"/>
          <p:cNvSpPr txBox="1"/>
          <p:nvPr/>
        </p:nvSpPr>
        <p:spPr>
          <a:xfrm>
            <a:off x="548640" y="3474720"/>
            <a:ext cx="5669280" cy="320040"/>
          </a:xfrm>
          <a:prstGeom prst="rect">
            <a:avLst/>
          </a:prstGeom>
          <a:noFill/>
          <a:ln/>
        </p:spPr>
        <p:txBody>
          <a:bodyPr wrap="square" lIns="0" tIns="0" rIns="0" bIns="0" rtlCol="0" anchor="t"/>
          <a:lstStyle/>
          <a:p>
            <a:pPr indent="0" marL="0">
              <a:buNone/>
            </a:pPr>
            <a:r>
              <a:rPr lang="en-US" sz="1400" b="1" dirty="0">
                <a:solidFill>
                  <a:schemeClr val="accent6"/>
                </a:solidFill>
              </a:rPr>
              <a:t>Respuesta 200 (de la demo en Vercel)</a:t>
            </a:r>
            <a:endParaRPr lang="en-US" sz="1400" dirty="0"/>
          </a:p>
        </p:txBody>
      </p:sp>
      <p:sp>
        <p:nvSpPr>
          <p:cNvPr id="10" name="card150"/>
          <p:cNvSpPr/>
          <p:nvPr/>
        </p:nvSpPr>
        <p:spPr>
          <a:xfrm>
            <a:off x="548640" y="3840480"/>
            <a:ext cx="5806440" cy="960120"/>
          </a:xfrm>
          <a:prstGeom prst="roundRect">
            <a:avLst>
              <a:gd name="adj" fmla="val 7619"/>
            </a:avLst>
          </a:prstGeom>
          <a:solidFill>
            <a:schemeClr val="tx1"/>
          </a:solidFill>
          <a:ln w="9525">
            <a:solidFill>
              <a:schemeClr val="bg2">
                <a:alpha val="45000"/>
              </a:schemeClr>
            </a:solidFill>
            <a:prstDash val="solid"/>
          </a:ln>
        </p:spPr>
      </p:sp>
      <p:sp>
        <p:nvSpPr>
          <p:cNvPr id="11" name="txt151"/>
          <p:cNvSpPr txBox="1"/>
          <p:nvPr/>
        </p:nvSpPr>
        <p:spPr>
          <a:xfrm>
            <a:off x="731520" y="3977640"/>
            <a:ext cx="5440680" cy="685800"/>
          </a:xfrm>
          <a:prstGeom prst="rect">
            <a:avLst/>
          </a:prstGeom>
          <a:noFill/>
          <a:ln/>
        </p:spPr>
        <p:txBody>
          <a:bodyPr wrap="square" lIns="0" tIns="0" rIns="0" bIns="0" rtlCol="0" anchor="t"/>
          <a:lstStyle/>
          <a:p>
            <a:pPr indent="0" marL="0">
              <a:buNone/>
            </a:pPr>
            <a:r>
              <a:rPr lang="en-US" sz="1200" dirty="0">
                <a:solidFill>
                  <a:schemeClr val="bg1"/>
                </a:solidFill>
                <a:latin typeface="Consolas" pitchFamily="34" charset="0"/>
                <a:ea typeface="Consolas" pitchFamily="34" charset="-122"/>
                <a:cs typeface="Consolas" pitchFamily="34" charset="-120"/>
              </a:rPr>
              <a:t>{ "resultado": "1. Rodrigo y Gabriela – Dúo acústico</a:t>
            </a:r>
            <a:endParaRPr lang="en-US" sz="1200" dirty="0"/>
          </a:p>
          <a:p>
            <a:pPr indent="0" marL="0">
              <a:buNone/>
            </a:pPr>
            <a:r>
              <a:rPr lang="en-US" sz="1200" dirty="0">
                <a:solidFill>
                  <a:schemeClr val="bg1"/>
                </a:solidFill>
                <a:latin typeface="Consolas" pitchFamily="34" charset="0"/>
                <a:ea typeface="Consolas" pitchFamily="34" charset="-122"/>
                <a:cs typeface="Consolas" pitchFamily="34" charset="-120"/>
              </a:rPr>
              <a:t>   mexicano que fusiona el flamenco con el metal…" }</a:t>
            </a:r>
            <a:endParaRPr lang="en-US" sz="1200" dirty="0"/>
          </a:p>
        </p:txBody>
      </p:sp>
      <p:sp>
        <p:nvSpPr>
          <p:cNvPr id="12" name="card152"/>
          <p:cNvSpPr/>
          <p:nvPr/>
        </p:nvSpPr>
        <p:spPr>
          <a:xfrm>
            <a:off x="548640" y="5029200"/>
            <a:ext cx="5806440" cy="1005840"/>
          </a:xfrm>
          <a:prstGeom prst="roundRect">
            <a:avLst>
              <a:gd name="adj" fmla="val 10909"/>
            </a:avLst>
          </a:prstGeom>
          <a:solidFill>
            <a:schemeClr val="tx2"/>
          </a:solidFill>
          <a:ln w="9525">
            <a:solidFill>
              <a:schemeClr val="accent1">
                <a:alpha val="60000"/>
              </a:schemeClr>
            </a:solidFill>
            <a:prstDash val="solid"/>
          </a:ln>
        </p:spPr>
      </p:sp>
      <p:sp>
        <p:nvSpPr>
          <p:cNvPr id="13" name="txt153"/>
          <p:cNvSpPr txBox="1"/>
          <p:nvPr/>
        </p:nvSpPr>
        <p:spPr>
          <a:xfrm>
            <a:off x="777240" y="5029200"/>
            <a:ext cx="5394960" cy="1005840"/>
          </a:xfrm>
          <a:prstGeom prst="rect">
            <a:avLst/>
          </a:prstGeom>
          <a:noFill/>
          <a:ln/>
        </p:spPr>
        <p:txBody>
          <a:bodyPr wrap="square" lIns="0" tIns="0" rIns="0" bIns="0" rtlCol="0" anchor="ctr"/>
          <a:lstStyle/>
          <a:p>
            <a:pPr indent="0" marL="0">
              <a:buNone/>
            </a:pPr>
            <a:r>
              <a:rPr lang="en-US" sz="1400" dirty="0">
                <a:solidFill>
                  <a:schemeClr val="bg1"/>
                </a:solidFill>
              </a:rPr>
              <a:t>El modelo devuelve texto: FastAPI lo envuelve en JSON y el frontend lo pinta como texto, nunca como HTML.</a:t>
            </a:r>
            <a:endParaRPr lang="en-US" sz="1400" dirty="0"/>
          </a:p>
        </p:txBody>
      </p:sp>
      <p:sp>
        <p:nvSpPr>
          <p:cNvPr id="14" name="txt154"/>
          <p:cNvSpPr txBox="1"/>
          <p:nvPr/>
        </p:nvSpPr>
        <p:spPr>
          <a:xfrm>
            <a:off x="6629400" y="1325880"/>
            <a:ext cx="5029200" cy="320040"/>
          </a:xfrm>
          <a:prstGeom prst="rect">
            <a:avLst/>
          </a:prstGeom>
          <a:noFill/>
          <a:ln/>
        </p:spPr>
        <p:txBody>
          <a:bodyPr wrap="square" lIns="0" tIns="0" rIns="0" bIns="0" rtlCol="0" anchor="t"/>
          <a:lstStyle/>
          <a:p>
            <a:pPr indent="0" marL="0">
              <a:buNone/>
            </a:pPr>
            <a:r>
              <a:rPr lang="en-US" sz="1400" b="1" dirty="0">
                <a:solidFill>
                  <a:schemeClr val="accent1"/>
                </a:solidFill>
              </a:rPr>
              <a:t>Códigos de respuesta</a:t>
            </a:r>
            <a:endParaRPr lang="en-US" sz="1400" dirty="0"/>
          </a:p>
        </p:txBody>
      </p:sp>
      <p:sp>
        <p:nvSpPr>
          <p:cNvPr id="15" name="card155"/>
          <p:cNvSpPr/>
          <p:nvPr/>
        </p:nvSpPr>
        <p:spPr>
          <a:xfrm>
            <a:off x="6629400" y="1691640"/>
            <a:ext cx="5029200" cy="530352"/>
          </a:xfrm>
          <a:prstGeom prst="roundRect">
            <a:avLst>
              <a:gd name="adj" fmla="val 13793"/>
            </a:avLst>
          </a:prstGeom>
          <a:solidFill>
            <a:schemeClr val="tx2"/>
          </a:solidFill>
          <a:ln w="9525">
            <a:solidFill>
              <a:schemeClr val="bg2">
                <a:alpha val="28000"/>
              </a:schemeClr>
            </a:solidFill>
            <a:prstDash val="solid"/>
          </a:ln>
        </p:spPr>
      </p:sp>
      <p:sp>
        <p:nvSpPr>
          <p:cNvPr id="16" name="badge156"/>
          <p:cNvSpPr/>
          <p:nvPr/>
        </p:nvSpPr>
        <p:spPr>
          <a:xfrm>
            <a:off x="6748272" y="1783080"/>
            <a:ext cx="566928" cy="347472"/>
          </a:xfrm>
          <a:prstGeom prst="roundRect">
            <a:avLst>
              <a:gd name="adj" fmla="val 21053"/>
            </a:avLst>
          </a:prstGeom>
          <a:solidFill>
            <a:schemeClr val="accent6"/>
          </a:solidFill>
          <a:ln/>
        </p:spPr>
      </p:sp>
      <p:sp>
        <p:nvSpPr>
          <p:cNvPr id="17" name="txt157"/>
          <p:cNvSpPr txBox="1"/>
          <p:nvPr/>
        </p:nvSpPr>
        <p:spPr>
          <a:xfrm>
            <a:off x="6748272" y="1783080"/>
            <a:ext cx="566928" cy="347472"/>
          </a:xfrm>
          <a:prstGeom prst="rect">
            <a:avLst/>
          </a:prstGeom>
          <a:noFill/>
          <a:ln/>
        </p:spPr>
        <p:txBody>
          <a:bodyPr wrap="square" lIns="0" tIns="0" rIns="0" bIns="0" rtlCol="0" anchor="ctr"/>
          <a:lstStyle/>
          <a:p>
            <a:pPr algn="ctr" indent="0" marL="0">
              <a:buNone/>
            </a:pPr>
            <a:r>
              <a:rPr lang="en-US" sz="1300" b="1" dirty="0">
                <a:solidFill>
                  <a:schemeClr val="tx1"/>
                </a:solidFill>
              </a:rPr>
              <a:t>200</a:t>
            </a:r>
            <a:endParaRPr lang="en-US" sz="1300" dirty="0"/>
          </a:p>
        </p:txBody>
      </p:sp>
      <p:sp>
        <p:nvSpPr>
          <p:cNvPr id="18" name="txt158"/>
          <p:cNvSpPr txBox="1"/>
          <p:nvPr/>
        </p:nvSpPr>
        <p:spPr>
          <a:xfrm>
            <a:off x="7452360" y="1709928"/>
            <a:ext cx="4114800" cy="493776"/>
          </a:xfrm>
          <a:prstGeom prst="rect">
            <a:avLst/>
          </a:prstGeom>
          <a:noFill/>
          <a:ln/>
        </p:spPr>
        <p:txBody>
          <a:bodyPr wrap="square" lIns="0" tIns="0" rIns="0" bIns="0" rtlCol="0" anchor="ctr"/>
          <a:lstStyle/>
          <a:p>
            <a:pPr indent="0" marL="0">
              <a:buNone/>
            </a:pPr>
            <a:r>
              <a:rPr lang="en-US" sz="1100" dirty="0">
                <a:solidFill>
                  <a:schemeClr val="accent6"/>
                </a:solidFill>
                <a:latin typeface="Consolas" pitchFamily="34" charset="0"/>
                <a:ea typeface="Consolas" pitchFamily="34" charset="-122"/>
                <a:cs typeface="Consolas" pitchFamily="34" charset="-120"/>
              </a:rPr>
              <a:t>resultado</a:t>
            </a:r>
            <a:endParaRPr lang="en-US" sz="1400" dirty="0"/>
          </a:p>
          <a:p>
            <a:pPr indent="0" marL="0">
              <a:buNone/>
            </a:pPr>
            <a:r>
              <a:rPr lang="en-US" sz="1200" dirty="0">
                <a:solidFill>
                  <a:schemeClr val="bg2"/>
                </a:solidFill>
              </a:rPr>
              <a:t>Recomendaciones de la IA</a:t>
            </a:r>
            <a:endParaRPr lang="en-US" sz="1400" dirty="0"/>
          </a:p>
        </p:txBody>
      </p:sp>
      <p:sp>
        <p:nvSpPr>
          <p:cNvPr id="19" name="card159"/>
          <p:cNvSpPr/>
          <p:nvPr/>
        </p:nvSpPr>
        <p:spPr>
          <a:xfrm>
            <a:off x="6629400" y="2295144"/>
            <a:ext cx="5029200" cy="530352"/>
          </a:xfrm>
          <a:prstGeom prst="roundRect">
            <a:avLst>
              <a:gd name="adj" fmla="val 13793"/>
            </a:avLst>
          </a:prstGeom>
          <a:solidFill>
            <a:schemeClr val="tx2"/>
          </a:solidFill>
          <a:ln w="9525">
            <a:solidFill>
              <a:schemeClr val="bg2">
                <a:alpha val="28000"/>
              </a:schemeClr>
            </a:solidFill>
            <a:prstDash val="solid"/>
          </a:ln>
        </p:spPr>
      </p:sp>
      <p:sp>
        <p:nvSpPr>
          <p:cNvPr id="20" name="badge160"/>
          <p:cNvSpPr/>
          <p:nvPr/>
        </p:nvSpPr>
        <p:spPr>
          <a:xfrm>
            <a:off x="6748272" y="2386584"/>
            <a:ext cx="566928" cy="347472"/>
          </a:xfrm>
          <a:prstGeom prst="roundRect">
            <a:avLst>
              <a:gd name="adj" fmla="val 21053"/>
            </a:avLst>
          </a:prstGeom>
          <a:solidFill>
            <a:schemeClr val="accent2"/>
          </a:solidFill>
          <a:ln/>
        </p:spPr>
      </p:sp>
      <p:sp>
        <p:nvSpPr>
          <p:cNvPr id="21" name="txt161"/>
          <p:cNvSpPr txBox="1"/>
          <p:nvPr/>
        </p:nvSpPr>
        <p:spPr>
          <a:xfrm>
            <a:off x="6748272" y="2386584"/>
            <a:ext cx="566928" cy="347472"/>
          </a:xfrm>
          <a:prstGeom prst="rect">
            <a:avLst/>
          </a:prstGeom>
          <a:noFill/>
          <a:ln/>
        </p:spPr>
        <p:txBody>
          <a:bodyPr wrap="square" lIns="0" tIns="0" rIns="0" bIns="0" rtlCol="0" anchor="ctr"/>
          <a:lstStyle/>
          <a:p>
            <a:pPr algn="ctr" indent="0" marL="0">
              <a:buNone/>
            </a:pPr>
            <a:r>
              <a:rPr lang="en-US" sz="1300" b="1" dirty="0">
                <a:solidFill>
                  <a:schemeClr val="tx1"/>
                </a:solidFill>
              </a:rPr>
              <a:t>401</a:t>
            </a:r>
            <a:endParaRPr lang="en-US" sz="1300" dirty="0"/>
          </a:p>
        </p:txBody>
      </p:sp>
      <p:sp>
        <p:nvSpPr>
          <p:cNvPr id="22" name="txt162"/>
          <p:cNvSpPr txBox="1"/>
          <p:nvPr/>
        </p:nvSpPr>
        <p:spPr>
          <a:xfrm>
            <a:off x="7452360" y="2313432"/>
            <a:ext cx="4114800" cy="493776"/>
          </a:xfrm>
          <a:prstGeom prst="rect">
            <a:avLst/>
          </a:prstGeom>
          <a:noFill/>
          <a:ln/>
        </p:spPr>
        <p:txBody>
          <a:bodyPr wrap="square" lIns="0" tIns="0" rIns="0" bIns="0" rtlCol="0" anchor="ctr"/>
          <a:lstStyle/>
          <a:p>
            <a:pPr indent="0" marL="0">
              <a:buNone/>
            </a:pPr>
            <a:r>
              <a:rPr lang="en-US" sz="1100" dirty="0">
                <a:solidFill>
                  <a:schemeClr val="accent2"/>
                </a:solidFill>
                <a:latin typeface="Consolas" pitchFamily="34" charset="0"/>
                <a:ea typeface="Consolas" pitchFamily="34" charset="-122"/>
                <a:cs typeface="Consolas" pitchFamily="34" charset="-120"/>
              </a:rPr>
              <a:t>NO_AUTORIZADO</a:t>
            </a:r>
            <a:endParaRPr lang="en-US" sz="1400" dirty="0"/>
          </a:p>
          <a:p>
            <a:pPr indent="0" marL="0">
              <a:buNone/>
            </a:pPr>
            <a:r>
              <a:rPr lang="en-US" sz="1200" dirty="0">
                <a:solidFill>
                  <a:schemeClr val="bg2"/>
                </a:solidFill>
              </a:rPr>
              <a:t>App 2: sin token, inválido o caducado</a:t>
            </a:r>
            <a:endParaRPr lang="en-US" sz="1400" dirty="0"/>
          </a:p>
        </p:txBody>
      </p:sp>
      <p:sp>
        <p:nvSpPr>
          <p:cNvPr id="23" name="card163"/>
          <p:cNvSpPr/>
          <p:nvPr/>
        </p:nvSpPr>
        <p:spPr>
          <a:xfrm>
            <a:off x="6629400" y="2898648"/>
            <a:ext cx="5029200" cy="530352"/>
          </a:xfrm>
          <a:prstGeom prst="roundRect">
            <a:avLst>
              <a:gd name="adj" fmla="val 13793"/>
            </a:avLst>
          </a:prstGeom>
          <a:solidFill>
            <a:schemeClr val="tx2"/>
          </a:solidFill>
          <a:ln w="9525">
            <a:solidFill>
              <a:schemeClr val="bg2">
                <a:alpha val="28000"/>
              </a:schemeClr>
            </a:solidFill>
            <a:prstDash val="solid"/>
          </a:ln>
        </p:spPr>
      </p:sp>
      <p:sp>
        <p:nvSpPr>
          <p:cNvPr id="24" name="badge164"/>
          <p:cNvSpPr/>
          <p:nvPr/>
        </p:nvSpPr>
        <p:spPr>
          <a:xfrm>
            <a:off x="6748272" y="2990088"/>
            <a:ext cx="566928" cy="347472"/>
          </a:xfrm>
          <a:prstGeom prst="roundRect">
            <a:avLst>
              <a:gd name="adj" fmla="val 21053"/>
            </a:avLst>
          </a:prstGeom>
          <a:solidFill>
            <a:schemeClr val="accent4"/>
          </a:solidFill>
          <a:ln/>
        </p:spPr>
      </p:sp>
      <p:sp>
        <p:nvSpPr>
          <p:cNvPr id="25" name="txt165"/>
          <p:cNvSpPr txBox="1"/>
          <p:nvPr/>
        </p:nvSpPr>
        <p:spPr>
          <a:xfrm>
            <a:off x="6748272" y="2990088"/>
            <a:ext cx="566928" cy="347472"/>
          </a:xfrm>
          <a:prstGeom prst="rect">
            <a:avLst/>
          </a:prstGeom>
          <a:noFill/>
          <a:ln/>
        </p:spPr>
        <p:txBody>
          <a:bodyPr wrap="square" lIns="0" tIns="0" rIns="0" bIns="0" rtlCol="0" anchor="ctr"/>
          <a:lstStyle/>
          <a:p>
            <a:pPr algn="ctr" indent="0" marL="0">
              <a:buNone/>
            </a:pPr>
            <a:r>
              <a:rPr lang="en-US" sz="1300" b="1" dirty="0">
                <a:solidFill>
                  <a:schemeClr val="tx1"/>
                </a:solidFill>
              </a:rPr>
              <a:t>422</a:t>
            </a:r>
            <a:endParaRPr lang="en-US" sz="1300" dirty="0"/>
          </a:p>
        </p:txBody>
      </p:sp>
      <p:sp>
        <p:nvSpPr>
          <p:cNvPr id="26" name="txt166"/>
          <p:cNvSpPr txBox="1"/>
          <p:nvPr/>
        </p:nvSpPr>
        <p:spPr>
          <a:xfrm>
            <a:off x="7452360" y="2916936"/>
            <a:ext cx="4114800" cy="493776"/>
          </a:xfrm>
          <a:prstGeom prst="rect">
            <a:avLst/>
          </a:prstGeom>
          <a:noFill/>
          <a:ln/>
        </p:spPr>
        <p:txBody>
          <a:bodyPr wrap="square" lIns="0" tIns="0" rIns="0" bIns="0" rtlCol="0" anchor="ctr"/>
          <a:lstStyle/>
          <a:p>
            <a:pPr indent="0" marL="0">
              <a:buNone/>
            </a:pPr>
            <a:r>
              <a:rPr lang="en-US" sz="1100" dirty="0">
                <a:solidFill>
                  <a:schemeClr val="accent4"/>
                </a:solidFill>
                <a:latin typeface="Consolas" pitchFamily="34" charset="0"/>
                <a:ea typeface="Consolas" pitchFamily="34" charset="-122"/>
                <a:cs typeface="Consolas" pitchFamily="34" charset="-120"/>
              </a:rPr>
              <a:t>validación</a:t>
            </a:r>
            <a:endParaRPr lang="en-US" sz="1400" dirty="0"/>
          </a:p>
          <a:p>
            <a:pPr indent="0" marL="0">
              <a:buNone/>
            </a:pPr>
            <a:r>
              <a:rPr lang="en-US" sz="1200" dirty="0">
                <a:solidFill>
                  <a:schemeClr val="bg2"/>
                </a:solidFill>
              </a:rPr>
              <a:t>Vacío, solo espacios o más de 500 caracteres</a:t>
            </a:r>
            <a:endParaRPr lang="en-US" sz="1400" dirty="0"/>
          </a:p>
        </p:txBody>
      </p:sp>
      <p:sp>
        <p:nvSpPr>
          <p:cNvPr id="27" name="card167"/>
          <p:cNvSpPr/>
          <p:nvPr/>
        </p:nvSpPr>
        <p:spPr>
          <a:xfrm>
            <a:off x="6629400" y="3502152"/>
            <a:ext cx="5029200" cy="530352"/>
          </a:xfrm>
          <a:prstGeom prst="roundRect">
            <a:avLst>
              <a:gd name="adj" fmla="val 13793"/>
            </a:avLst>
          </a:prstGeom>
          <a:solidFill>
            <a:schemeClr val="tx2"/>
          </a:solidFill>
          <a:ln w="9525">
            <a:solidFill>
              <a:schemeClr val="bg2">
                <a:alpha val="28000"/>
              </a:schemeClr>
            </a:solidFill>
            <a:prstDash val="solid"/>
          </a:ln>
        </p:spPr>
      </p:sp>
      <p:sp>
        <p:nvSpPr>
          <p:cNvPr id="28" name="badge168"/>
          <p:cNvSpPr/>
          <p:nvPr/>
        </p:nvSpPr>
        <p:spPr>
          <a:xfrm>
            <a:off x="6748272" y="3593592"/>
            <a:ext cx="566928" cy="347472"/>
          </a:xfrm>
          <a:prstGeom prst="roundRect">
            <a:avLst>
              <a:gd name="adj" fmla="val 21053"/>
            </a:avLst>
          </a:prstGeom>
          <a:solidFill>
            <a:schemeClr val="accent5"/>
          </a:solidFill>
          <a:ln/>
        </p:spPr>
      </p:sp>
      <p:sp>
        <p:nvSpPr>
          <p:cNvPr id="29" name="txt169"/>
          <p:cNvSpPr txBox="1"/>
          <p:nvPr/>
        </p:nvSpPr>
        <p:spPr>
          <a:xfrm>
            <a:off x="6748272" y="3593592"/>
            <a:ext cx="566928" cy="347472"/>
          </a:xfrm>
          <a:prstGeom prst="rect">
            <a:avLst/>
          </a:prstGeom>
          <a:noFill/>
          <a:ln/>
        </p:spPr>
        <p:txBody>
          <a:bodyPr wrap="square" lIns="0" tIns="0" rIns="0" bIns="0" rtlCol="0" anchor="ctr"/>
          <a:lstStyle/>
          <a:p>
            <a:pPr algn="ctr" indent="0" marL="0">
              <a:buNone/>
            </a:pPr>
            <a:r>
              <a:rPr lang="en-US" sz="1300" b="1" dirty="0">
                <a:solidFill>
                  <a:schemeClr val="tx1"/>
                </a:solidFill>
              </a:rPr>
              <a:t>502</a:t>
            </a:r>
            <a:endParaRPr lang="en-US" sz="1300" dirty="0"/>
          </a:p>
        </p:txBody>
      </p:sp>
      <p:sp>
        <p:nvSpPr>
          <p:cNvPr id="30" name="txt170"/>
          <p:cNvSpPr txBox="1"/>
          <p:nvPr/>
        </p:nvSpPr>
        <p:spPr>
          <a:xfrm>
            <a:off x="7452360" y="3520440"/>
            <a:ext cx="4114800" cy="493776"/>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IA_NO_DISPONIBLE · RESPUESTA_INVALIDA</a:t>
            </a:r>
            <a:endParaRPr lang="en-US" sz="1400" dirty="0"/>
          </a:p>
          <a:p>
            <a:pPr indent="0" marL="0">
              <a:buNone/>
            </a:pPr>
            <a:r>
              <a:rPr lang="en-US" sz="1200" dirty="0">
                <a:solidFill>
                  <a:schemeClr val="bg2"/>
                </a:solidFill>
              </a:rPr>
              <a:t>Gemini falla o responde sin texto</a:t>
            </a:r>
            <a:endParaRPr lang="en-US" sz="1400" dirty="0"/>
          </a:p>
        </p:txBody>
      </p:sp>
      <p:sp>
        <p:nvSpPr>
          <p:cNvPr id="31" name="card171"/>
          <p:cNvSpPr/>
          <p:nvPr/>
        </p:nvSpPr>
        <p:spPr>
          <a:xfrm>
            <a:off x="6629400" y="4105656"/>
            <a:ext cx="5029200" cy="530352"/>
          </a:xfrm>
          <a:prstGeom prst="roundRect">
            <a:avLst>
              <a:gd name="adj" fmla="val 13793"/>
            </a:avLst>
          </a:prstGeom>
          <a:solidFill>
            <a:schemeClr val="tx2"/>
          </a:solidFill>
          <a:ln w="9525">
            <a:solidFill>
              <a:schemeClr val="bg2">
                <a:alpha val="28000"/>
              </a:schemeClr>
            </a:solidFill>
            <a:prstDash val="solid"/>
          </a:ln>
        </p:spPr>
      </p:sp>
      <p:sp>
        <p:nvSpPr>
          <p:cNvPr id="32" name="badge172"/>
          <p:cNvSpPr/>
          <p:nvPr/>
        </p:nvSpPr>
        <p:spPr>
          <a:xfrm>
            <a:off x="6748272" y="4197096"/>
            <a:ext cx="566928" cy="347472"/>
          </a:xfrm>
          <a:prstGeom prst="roundRect">
            <a:avLst>
              <a:gd name="adj" fmla="val 21053"/>
            </a:avLst>
          </a:prstGeom>
          <a:solidFill>
            <a:schemeClr val="accent5"/>
          </a:solidFill>
          <a:ln/>
        </p:spPr>
      </p:sp>
      <p:sp>
        <p:nvSpPr>
          <p:cNvPr id="33" name="txt173"/>
          <p:cNvSpPr txBox="1"/>
          <p:nvPr/>
        </p:nvSpPr>
        <p:spPr>
          <a:xfrm>
            <a:off x="6748272" y="4197096"/>
            <a:ext cx="566928" cy="347472"/>
          </a:xfrm>
          <a:prstGeom prst="rect">
            <a:avLst/>
          </a:prstGeom>
          <a:noFill/>
          <a:ln/>
        </p:spPr>
        <p:txBody>
          <a:bodyPr wrap="square" lIns="0" tIns="0" rIns="0" bIns="0" rtlCol="0" anchor="ctr"/>
          <a:lstStyle/>
          <a:p>
            <a:pPr algn="ctr" indent="0" marL="0">
              <a:buNone/>
            </a:pPr>
            <a:r>
              <a:rPr lang="en-US" sz="1300" b="1" dirty="0">
                <a:solidFill>
                  <a:schemeClr val="tx1"/>
                </a:solidFill>
              </a:rPr>
              <a:t>504</a:t>
            </a:r>
            <a:endParaRPr lang="en-US" sz="1300" dirty="0"/>
          </a:p>
        </p:txBody>
      </p:sp>
      <p:sp>
        <p:nvSpPr>
          <p:cNvPr id="34" name="txt174"/>
          <p:cNvSpPr txBox="1"/>
          <p:nvPr/>
        </p:nvSpPr>
        <p:spPr>
          <a:xfrm>
            <a:off x="7452360" y="4123944"/>
            <a:ext cx="4114800" cy="493776"/>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TIMEOUT</a:t>
            </a:r>
            <a:endParaRPr lang="en-US" sz="1400" dirty="0"/>
          </a:p>
          <a:p>
            <a:pPr indent="0" marL="0">
              <a:buNone/>
            </a:pPr>
            <a:r>
              <a:rPr lang="en-US" sz="1200" dirty="0">
                <a:solidFill>
                  <a:schemeClr val="bg2"/>
                </a:solidFill>
              </a:rPr>
              <a:t>Gemini tarda más de 25 s</a:t>
            </a:r>
            <a:endParaRPr lang="en-US" sz="1400" dirty="0"/>
          </a:p>
        </p:txBody>
      </p:sp>
      <p:sp>
        <p:nvSpPr>
          <p:cNvPr id="35" name="card175"/>
          <p:cNvSpPr/>
          <p:nvPr/>
        </p:nvSpPr>
        <p:spPr>
          <a:xfrm>
            <a:off x="6629400" y="4709160"/>
            <a:ext cx="5029200" cy="530352"/>
          </a:xfrm>
          <a:prstGeom prst="roundRect">
            <a:avLst>
              <a:gd name="adj" fmla="val 13793"/>
            </a:avLst>
          </a:prstGeom>
          <a:solidFill>
            <a:schemeClr val="tx2"/>
          </a:solidFill>
          <a:ln w="9525">
            <a:solidFill>
              <a:schemeClr val="bg2">
                <a:alpha val="28000"/>
              </a:schemeClr>
            </a:solidFill>
            <a:prstDash val="solid"/>
          </a:ln>
        </p:spPr>
      </p:sp>
      <p:sp>
        <p:nvSpPr>
          <p:cNvPr id="36" name="badge176"/>
          <p:cNvSpPr/>
          <p:nvPr/>
        </p:nvSpPr>
        <p:spPr>
          <a:xfrm>
            <a:off x="6748272" y="4800600"/>
            <a:ext cx="566928" cy="347472"/>
          </a:xfrm>
          <a:prstGeom prst="roundRect">
            <a:avLst>
              <a:gd name="adj" fmla="val 21053"/>
            </a:avLst>
          </a:prstGeom>
          <a:solidFill>
            <a:schemeClr val="accent5"/>
          </a:solidFill>
          <a:ln/>
        </p:spPr>
      </p:sp>
      <p:sp>
        <p:nvSpPr>
          <p:cNvPr id="37" name="txt177"/>
          <p:cNvSpPr txBox="1"/>
          <p:nvPr/>
        </p:nvSpPr>
        <p:spPr>
          <a:xfrm>
            <a:off x="6748272" y="4800600"/>
            <a:ext cx="566928" cy="347472"/>
          </a:xfrm>
          <a:prstGeom prst="rect">
            <a:avLst/>
          </a:prstGeom>
          <a:noFill/>
          <a:ln/>
        </p:spPr>
        <p:txBody>
          <a:bodyPr wrap="square" lIns="0" tIns="0" rIns="0" bIns="0" rtlCol="0" anchor="ctr"/>
          <a:lstStyle/>
          <a:p>
            <a:pPr algn="ctr" indent="0" marL="0">
              <a:buNone/>
            </a:pPr>
            <a:r>
              <a:rPr lang="en-US" sz="1300" b="1" dirty="0">
                <a:solidFill>
                  <a:schemeClr val="tx1"/>
                </a:solidFill>
              </a:rPr>
              <a:t>500</a:t>
            </a:r>
            <a:endParaRPr lang="en-US" sz="1300" dirty="0"/>
          </a:p>
        </p:txBody>
      </p:sp>
      <p:sp>
        <p:nvSpPr>
          <p:cNvPr id="38" name="txt178"/>
          <p:cNvSpPr txBox="1"/>
          <p:nvPr/>
        </p:nvSpPr>
        <p:spPr>
          <a:xfrm>
            <a:off x="7452360" y="4727448"/>
            <a:ext cx="4114800" cy="493776"/>
          </a:xfrm>
          <a:prstGeom prst="rect">
            <a:avLst/>
          </a:prstGeom>
          <a:noFill/>
          <a:ln/>
        </p:spPr>
        <p:txBody>
          <a:bodyPr wrap="square" lIns="0" tIns="0" rIns="0" bIns="0" rtlCol="0" anchor="ctr"/>
          <a:lstStyle/>
          <a:p>
            <a:pPr indent="0" marL="0">
              <a:buNone/>
            </a:pPr>
            <a:r>
              <a:rPr lang="en-US" sz="1100" dirty="0">
                <a:solidFill>
                  <a:schemeClr val="accent5"/>
                </a:solidFill>
                <a:latin typeface="Consolas" pitchFamily="34" charset="0"/>
                <a:ea typeface="Consolas" pitchFamily="34" charset="-122"/>
                <a:cs typeface="Consolas" pitchFamily="34" charset="-120"/>
              </a:rPr>
              <a:t>ERROR_INTERNO</a:t>
            </a:r>
            <a:endParaRPr lang="en-US" sz="1400" dirty="0"/>
          </a:p>
          <a:p>
            <a:pPr indent="0" marL="0">
              <a:buNone/>
            </a:pPr>
            <a:r>
              <a:rPr lang="en-US" sz="1200" dirty="0">
                <a:solidFill>
                  <a:schemeClr val="bg2"/>
                </a:solidFill>
              </a:rPr>
              <a:t>Fallo inesperado, sin detalles internos</a:t>
            </a:r>
            <a:endParaRPr lang="en-US" sz="1400" dirty="0"/>
          </a:p>
        </p:txBody>
      </p:sp>
      <p:sp>
        <p:nvSpPr>
          <p:cNvPr id="39" name="card179"/>
          <p:cNvSpPr/>
          <p:nvPr/>
        </p:nvSpPr>
        <p:spPr>
          <a:xfrm>
            <a:off x="6629400" y="5440680"/>
            <a:ext cx="5029200" cy="594360"/>
          </a:xfrm>
          <a:prstGeom prst="roundRect">
            <a:avLst>
              <a:gd name="adj" fmla="val 12308"/>
            </a:avLst>
          </a:prstGeom>
          <a:solidFill>
            <a:schemeClr val="tx1"/>
          </a:solidFill>
          <a:ln w="9525">
            <a:solidFill>
              <a:schemeClr val="bg2">
                <a:alpha val="45000"/>
              </a:schemeClr>
            </a:solidFill>
            <a:prstDash val="solid"/>
          </a:ln>
        </p:spPr>
      </p:sp>
      <p:sp>
        <p:nvSpPr>
          <p:cNvPr id="40" name="txt180"/>
          <p:cNvSpPr txBox="1"/>
          <p:nvPr/>
        </p:nvSpPr>
        <p:spPr>
          <a:xfrm>
            <a:off x="6812280" y="5577840"/>
            <a:ext cx="4663440" cy="320040"/>
          </a:xfrm>
          <a:prstGeom prst="rect">
            <a:avLst/>
          </a:prstGeom>
          <a:noFill/>
          <a:ln/>
        </p:spPr>
        <p:txBody>
          <a:bodyPr wrap="square" lIns="0" tIns="0" rIns="0" bIns="0" rtlCol="0" anchor="t"/>
          <a:lstStyle/>
          <a:p>
            <a:pPr indent="0" marL="0">
              <a:buNone/>
            </a:pPr>
            <a:r>
              <a:rPr lang="en-US" sz="1200" dirty="0">
                <a:solidFill>
                  <a:schemeClr val="bg1"/>
                </a:solidFill>
                <a:latin typeface="Consolas" pitchFamily="34" charset="0"/>
                <a:ea typeface="Consolas" pitchFamily="34" charset="-122"/>
                <a:cs typeface="Consolas" pitchFamily="34" charset="-120"/>
              </a:rPr>
              <a:t>{"error": {"codigo": "TIMEOUT", "mensaje": "…"}}</a:t>
            </a:r>
            <a:endParaRPr lang="en-US" sz="12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Stack y estructura del repositorio</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TECNOLOGÍAS</a:t>
            </a:r>
            <a:endParaRPr lang="en-US" sz="1200" dirty="0"/>
          </a:p>
        </p:txBody>
      </p:sp>
      <p:sp>
        <p:nvSpPr>
          <p:cNvPr id="4" name="presenta181"/>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182"/>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graphicFrame>
        <p:nvGraphicFramePr>
          <p:cNvPr id="7" name="tablaStack"/>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a:tblGrid>
                <a:gridCol w="1600200"/>
                <a:gridCol w="2148840"/>
                <a:gridCol w="2560320"/>
              </a:tblGrid>
              <a:tr h="438912">
                <a:tc>
                  <a:txBody>
                    <a:bodyPr/>
                    <a:lstStyle/>
                    <a:p>
                      <a:pPr indent="0" marL="0">
                        <a:buNone/>
                      </a:pPr>
                      <a:r>
                        <a:rPr lang="en-US" sz="1200" b="1" dirty="0">
                          <a:solidFill>
                            <a:srgbClr val="0B0B12"/>
                          </a:solidFill>
                        </a:rPr>
                        <a:t>Capa</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E86CCA"/>
                    </a:solidFill>
                  </a:tcPr>
                </a:tc>
                <a:tc>
                  <a:txBody>
                    <a:bodyPr/>
                    <a:lstStyle/>
                    <a:p>
                      <a:pPr indent="0" marL="0">
                        <a:buNone/>
                      </a:pPr>
                      <a:r>
                        <a:rPr lang="en-US" sz="1200" b="1" dirty="0">
                          <a:solidFill>
                            <a:srgbClr val="0B0B12"/>
                          </a:solidFill>
                        </a:rPr>
                        <a:t>Tecnología</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E86CCA"/>
                    </a:solidFill>
                  </a:tcPr>
                </a:tc>
                <a:tc>
                  <a:txBody>
                    <a:bodyPr/>
                    <a:lstStyle/>
                    <a:p>
                      <a:pPr indent="0" marL="0">
                        <a:buNone/>
                      </a:pPr>
                      <a:r>
                        <a:rPr lang="en-US" sz="1200" b="1" dirty="0">
                          <a:solidFill>
                            <a:srgbClr val="0B0B12"/>
                          </a:solidFill>
                        </a:rPr>
                        <a:t>Para qué</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E86CCA"/>
                    </a:solidFill>
                  </a:tcPr>
                </a:tc>
              </a:tr>
              <a:tr h="438912">
                <a:tc>
                  <a:txBody>
                    <a:bodyPr/>
                    <a:lstStyle/>
                    <a:p>
                      <a:pPr indent="0" marL="0">
                        <a:buNone/>
                      </a:pPr>
                      <a:r>
                        <a:rPr lang="en-US" sz="1200" dirty="0">
                          <a:solidFill>
                            <a:srgbClr val="A9A9BF"/>
                          </a:solidFill>
                        </a:rPr>
                        <a:t>Frontend</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Vue 3.5 + Vite 8</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SPA de una sola pantalla</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38912">
                <a:tc>
                  <a:txBody>
                    <a:bodyPr/>
                    <a:lstStyle/>
                    <a:p>
                      <a:pPr indent="0" marL="0">
                        <a:buNone/>
                      </a:pPr>
                      <a:r>
                        <a:rPr lang="en-US" sz="1200" dirty="0">
                          <a:solidFill>
                            <a:srgbClr val="A9A9BF"/>
                          </a:solidFill>
                        </a:rPr>
                        <a:t>Estilos</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Tailwind CSS 4</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Adaptable a móvil, foco visible</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38912">
                <a:tc>
                  <a:txBody>
                    <a:bodyPr/>
                    <a:lstStyle/>
                    <a:p>
                      <a:pPr indent="0" marL="0">
                        <a:buNone/>
                      </a:pPr>
                      <a:r>
                        <a:rPr lang="en-US" sz="1200" dirty="0">
                          <a:solidFill>
                            <a:srgbClr val="A9A9BF"/>
                          </a:solidFill>
                        </a:rPr>
                        <a:t>Backend</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FastAPI + Pydantic v2</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Validación y contrato JSON</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38912">
                <a:tc>
                  <a:txBody>
                    <a:bodyPr/>
                    <a:lstStyle/>
                    <a:p>
                      <a:pPr indent="0" marL="0">
                        <a:buNone/>
                      </a:pPr>
                      <a:r>
                        <a:rPr lang="en-US" sz="1200" dirty="0">
                          <a:solidFill>
                            <a:srgbClr val="A9A9BF"/>
                          </a:solidFill>
                        </a:rPr>
                        <a:t>Cliente IA</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httpx asíncrono</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Timeout de 25 s</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38912">
                <a:tc>
                  <a:txBody>
                    <a:bodyPr/>
                    <a:lstStyle/>
                    <a:p>
                      <a:pPr indent="0" marL="0">
                        <a:buNone/>
                      </a:pPr>
                      <a:r>
                        <a:rPr lang="en-US" sz="1200" dirty="0">
                          <a:solidFill>
                            <a:srgbClr val="A9A9BF"/>
                          </a:solidFill>
                        </a:rPr>
                        <a:t>IA</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API de Gemini</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gemini-3.5-flash-lite, 600 tokens</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38912">
                <a:tc>
                  <a:txBody>
                    <a:bodyPr/>
                    <a:lstStyle/>
                    <a:p>
                      <a:pPr indent="0" marL="0">
                        <a:buNone/>
                      </a:pPr>
                      <a:r>
                        <a:rPr lang="en-US" sz="1200" dirty="0">
                          <a:solidFill>
                            <a:srgbClr val="A9A9BF"/>
                          </a:solidFill>
                        </a:rPr>
                        <a:t>Pruebas</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pytest + mocks</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Sin llamar a la IA real</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38912">
                <a:tc>
                  <a:txBody>
                    <a:bodyPr/>
                    <a:lstStyle/>
                    <a:p>
                      <a:pPr indent="0" marL="0">
                        <a:buNone/>
                      </a:pPr>
                      <a:r>
                        <a:rPr lang="en-US" sz="1200" dirty="0">
                          <a:solidFill>
                            <a:srgbClr val="A9A9BF"/>
                          </a:solidFill>
                        </a:rPr>
                        <a:t>Identidad (App 2)</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Clerk + PyJWT</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Token verificado con JWKS</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38912">
                <a:tc>
                  <a:txBody>
                    <a:bodyPr/>
                    <a:lstStyle/>
                    <a:p>
                      <a:pPr indent="0" marL="0">
                        <a:buNone/>
                      </a:pPr>
                      <a:r>
                        <a:rPr lang="en-US" sz="1200" dirty="0">
                          <a:solidFill>
                            <a:srgbClr val="A9A9BF"/>
                          </a:solidFill>
                        </a:rPr>
                        <a:t>Desarrollo App 2</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Spec Kit + Claude Code</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De la especificación al código</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38912">
                <a:tc>
                  <a:txBody>
                    <a:bodyPr/>
                    <a:lstStyle/>
                    <a:p>
                      <a:pPr indent="0" marL="0">
                        <a:buNone/>
                      </a:pPr>
                      <a:r>
                        <a:rPr lang="en-US" sz="1200" dirty="0">
                          <a:solidFill>
                            <a:srgbClr val="A9A9BF"/>
                          </a:solidFill>
                        </a:rPr>
                        <a:t>Despliegue</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b="1" dirty="0">
                          <a:solidFill>
                            <a:srgbClr val="E86CCA"/>
                          </a:solidFill>
                        </a:rPr>
                        <a:t>Vercel · Docker + Caddy</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App 1 y App 2 · EC2 con HTTPS</a:t>
                      </a:r>
                      <a:endParaRPr lang="en-US" sz="1200" dirty="0"/>
                    </a:p>
                  </a:txBody>
                  <a:tcPr marL="91440" marR="73152"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bl>
          </a:graphicData>
        </a:graphic>
      </p:graphicFrame>
      <p:sp>
        <p:nvSpPr>
          <p:cNvPr id="7" name="card183"/>
          <p:cNvSpPr/>
          <p:nvPr/>
        </p:nvSpPr>
        <p:spPr>
          <a:xfrm>
            <a:off x="7086600" y="1371600"/>
            <a:ext cx="4572000" cy="4663440"/>
          </a:xfrm>
          <a:prstGeom prst="roundRect">
            <a:avLst>
              <a:gd name="adj" fmla="val 1600"/>
            </a:avLst>
          </a:prstGeom>
          <a:solidFill>
            <a:schemeClr val="tx1"/>
          </a:solidFill>
          <a:ln w="9525">
            <a:solidFill>
              <a:schemeClr val="bg2">
                <a:alpha val="45000"/>
              </a:schemeClr>
            </a:solidFill>
            <a:prstDash val="solid"/>
          </a:ln>
        </p:spPr>
      </p:sp>
      <p:sp>
        <p:nvSpPr>
          <p:cNvPr id="8" name="txt184"/>
          <p:cNvSpPr txBox="1"/>
          <p:nvPr/>
        </p:nvSpPr>
        <p:spPr>
          <a:xfrm>
            <a:off x="7269480" y="1508760"/>
            <a:ext cx="4206240" cy="4389120"/>
          </a:xfrm>
          <a:prstGeom prst="rect">
            <a:avLst/>
          </a:prstGeom>
          <a:noFill/>
          <a:ln/>
        </p:spPr>
        <p:txBody>
          <a:bodyPr wrap="square" lIns="0" tIns="0" rIns="0" bIns="0" rtlCol="0" anchor="t"/>
          <a:lstStyle/>
          <a:p>
            <a:pPr indent="0" marL="0">
              <a:buNone/>
            </a:pPr>
            <a:r>
              <a:rPr lang="en-US" sz="1100" dirty="0">
                <a:solidFill>
                  <a:schemeClr val="bg1"/>
                </a:solidFill>
                <a:latin typeface="Consolas" pitchFamily="34" charset="0"/>
                <a:ea typeface="Consolas" pitchFamily="34" charset="-122"/>
                <a:cs typeface="Consolas" pitchFamily="34" charset="-120"/>
              </a:rPr>
              <a:t>ProyectoWebIA/</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app1-Musicfy/       hecha a mano</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 backend/        main.py · ai_client.py</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 frontend/       Vue + Tailwind</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app2-Musicfy/       proyecto nuevo</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 .specify/       constitución</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 specs/          spec · plan · tasks</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 backend/        app/ · tests/ (59)</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 frontend/       Vue + Clerk · Caddy</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 docker-compose.yml</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docs/               ERS · pruebas · proceso</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comparativa · uso-ia</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despliegues · evidencias</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portal/             portal de prácticas</a:t>
            </a:r>
            <a:endParaRPr lang="en-US" sz="1100" dirty="0"/>
          </a:p>
          <a:p>
            <a:pPr indent="0" marL="0">
              <a:buNone/>
            </a:pPr>
            <a:r>
              <a:rPr lang="en-US" sz="1100" dirty="0">
                <a:solidFill>
                  <a:schemeClr val="bg1"/>
                </a:solidFill>
                <a:latin typeface="Consolas" pitchFamily="34" charset="0"/>
                <a:ea typeface="Consolas" pitchFamily="34" charset="-122"/>
                <a:cs typeface="Consolas" pitchFamily="34" charset="-120"/>
              </a:rPr>
              <a:t>└── vercel.json         App 1: 1 proyecto</a:t>
            </a:r>
            <a:endParaRPr lang="en-US" sz="11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Requisitos funcionales</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RF-01 … RF-06</a:t>
            </a:r>
            <a:endParaRPr lang="en-US" sz="1200" dirty="0"/>
          </a:p>
        </p:txBody>
      </p:sp>
      <p:sp>
        <p:nvSpPr>
          <p:cNvPr id="4" name="presenta185"/>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186"/>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sp>
        <p:nvSpPr>
          <p:cNvPr id="6" name="card187"/>
          <p:cNvSpPr/>
          <p:nvPr/>
        </p:nvSpPr>
        <p:spPr>
          <a:xfrm>
            <a:off x="548640" y="1371600"/>
            <a:ext cx="3611880" cy="2194560"/>
          </a:xfrm>
          <a:prstGeom prst="roundRect">
            <a:avLst>
              <a:gd name="adj" fmla="val 5000"/>
            </a:avLst>
          </a:prstGeom>
          <a:solidFill>
            <a:schemeClr val="tx2"/>
          </a:solidFill>
          <a:ln w="9525">
            <a:solidFill>
              <a:schemeClr val="bg2">
                <a:alpha val="28000"/>
              </a:schemeClr>
            </a:solidFill>
            <a:prstDash val="solid"/>
          </a:ln>
        </p:spPr>
      </p:sp>
      <p:sp>
        <p:nvSpPr>
          <p:cNvPr id="7" name="txt188"/>
          <p:cNvSpPr txBox="1"/>
          <p:nvPr/>
        </p:nvSpPr>
        <p:spPr>
          <a:xfrm>
            <a:off x="822960" y="1600200"/>
            <a:ext cx="1097280" cy="32004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RF-01</a:t>
            </a:r>
            <a:endParaRPr lang="en-US" sz="1300" dirty="0"/>
          </a:p>
        </p:txBody>
      </p:sp>
      <p:sp>
        <p:nvSpPr>
          <p:cNvPr id="8" name="txt189"/>
          <p:cNvSpPr txBox="1"/>
          <p:nvPr/>
        </p:nvSpPr>
        <p:spPr>
          <a:xfrm>
            <a:off x="822960" y="2011680"/>
            <a:ext cx="3108960" cy="411480"/>
          </a:xfrm>
          <a:prstGeom prst="rect">
            <a:avLst/>
          </a:prstGeom>
          <a:noFill/>
          <a:ln/>
        </p:spPr>
        <p:txBody>
          <a:bodyPr wrap="square" lIns="0" tIns="0" rIns="0" bIns="0" rtlCol="0" anchor="t"/>
          <a:lstStyle/>
          <a:p>
            <a:pPr indent="0" marL="0">
              <a:buNone/>
            </a:pPr>
            <a:r>
              <a:rPr lang="en-US" sz="1800" b="1" dirty="0">
                <a:solidFill>
                  <a:schemeClr val="bg1"/>
                </a:solidFill>
              </a:rPr>
              <a:t>Introducir los gustos</a:t>
            </a:r>
            <a:endParaRPr lang="en-US" sz="1800" dirty="0"/>
          </a:p>
        </p:txBody>
      </p:sp>
      <p:sp>
        <p:nvSpPr>
          <p:cNvPr id="9" name="txt190"/>
          <p:cNvSpPr txBox="1"/>
          <p:nvPr/>
        </p:nvSpPr>
        <p:spPr>
          <a:xfrm>
            <a:off x="822960" y="2468880"/>
            <a:ext cx="3108960" cy="960120"/>
          </a:xfrm>
          <a:prstGeom prst="rect">
            <a:avLst/>
          </a:prstGeom>
          <a:noFill/>
          <a:ln/>
        </p:spPr>
        <p:txBody>
          <a:bodyPr wrap="square" lIns="0" tIns="0" rIns="0" bIns="0" rtlCol="0" anchor="t"/>
          <a:lstStyle/>
          <a:p>
            <a:pPr indent="0" marL="0">
              <a:buNone/>
            </a:pPr>
            <a:r>
              <a:rPr lang="en-US" sz="1300" dirty="0">
                <a:solidFill>
                  <a:schemeClr val="bg2"/>
                </a:solidFill>
              </a:rPr>
              <a:t>12 botones de género (máximo 5) y texto libre, que se unen en un único campo tastes.</a:t>
            </a:r>
            <a:endParaRPr lang="en-US" sz="1300" dirty="0"/>
          </a:p>
        </p:txBody>
      </p:sp>
      <p:sp>
        <p:nvSpPr>
          <p:cNvPr id="10" name="card191"/>
          <p:cNvSpPr/>
          <p:nvPr/>
        </p:nvSpPr>
        <p:spPr>
          <a:xfrm>
            <a:off x="4343400" y="1371600"/>
            <a:ext cx="3611880" cy="2194560"/>
          </a:xfrm>
          <a:prstGeom prst="roundRect">
            <a:avLst>
              <a:gd name="adj" fmla="val 5000"/>
            </a:avLst>
          </a:prstGeom>
          <a:solidFill>
            <a:schemeClr val="tx2"/>
          </a:solidFill>
          <a:ln w="9525">
            <a:solidFill>
              <a:schemeClr val="bg2">
                <a:alpha val="28000"/>
              </a:schemeClr>
            </a:solidFill>
            <a:prstDash val="solid"/>
          </a:ln>
        </p:spPr>
      </p:sp>
      <p:sp>
        <p:nvSpPr>
          <p:cNvPr id="11" name="txt192"/>
          <p:cNvSpPr txBox="1"/>
          <p:nvPr/>
        </p:nvSpPr>
        <p:spPr>
          <a:xfrm>
            <a:off x="4617720" y="1600200"/>
            <a:ext cx="1097280" cy="32004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RF-02</a:t>
            </a:r>
            <a:endParaRPr lang="en-US" sz="1300" dirty="0"/>
          </a:p>
        </p:txBody>
      </p:sp>
      <p:sp>
        <p:nvSpPr>
          <p:cNvPr id="12" name="txt193"/>
          <p:cNvSpPr txBox="1"/>
          <p:nvPr/>
        </p:nvSpPr>
        <p:spPr>
          <a:xfrm>
            <a:off x="4617720" y="2011680"/>
            <a:ext cx="3108960" cy="411480"/>
          </a:xfrm>
          <a:prstGeom prst="rect">
            <a:avLst/>
          </a:prstGeom>
          <a:noFill/>
          <a:ln/>
        </p:spPr>
        <p:txBody>
          <a:bodyPr wrap="square" lIns="0" tIns="0" rIns="0" bIns="0" rtlCol="0" anchor="t"/>
          <a:lstStyle/>
          <a:p>
            <a:pPr indent="0" marL="0">
              <a:buNone/>
            </a:pPr>
            <a:r>
              <a:rPr lang="en-US" sz="1800" b="1" dirty="0">
                <a:solidFill>
                  <a:schemeClr val="bg1"/>
                </a:solidFill>
              </a:rPr>
              <a:t>Validar la entrada</a:t>
            </a:r>
            <a:endParaRPr lang="en-US" sz="1800" dirty="0"/>
          </a:p>
        </p:txBody>
      </p:sp>
      <p:sp>
        <p:nvSpPr>
          <p:cNvPr id="13" name="txt194"/>
          <p:cNvSpPr txBox="1"/>
          <p:nvPr/>
        </p:nvSpPr>
        <p:spPr>
          <a:xfrm>
            <a:off x="4617720" y="2468880"/>
            <a:ext cx="3108960" cy="960120"/>
          </a:xfrm>
          <a:prstGeom prst="rect">
            <a:avLst/>
          </a:prstGeom>
          <a:noFill/>
          <a:ln/>
        </p:spPr>
        <p:txBody>
          <a:bodyPr wrap="square" lIns="0" tIns="0" rIns="0" bIns="0" rtlCol="0" anchor="t"/>
          <a:lstStyle/>
          <a:p>
            <a:pPr indent="0" marL="0">
              <a:buNone/>
            </a:pPr>
            <a:r>
              <a:rPr lang="en-US" sz="1300" dirty="0">
                <a:solidFill>
                  <a:schemeClr val="bg2"/>
                </a:solidFill>
              </a:rPr>
              <a:t>De 1 a 500 caracteres tras quitar espacios. Si no, 422 sin llamar a la IA.</a:t>
            </a:r>
            <a:endParaRPr lang="en-US" sz="1300" dirty="0"/>
          </a:p>
        </p:txBody>
      </p:sp>
      <p:sp>
        <p:nvSpPr>
          <p:cNvPr id="14" name="card195"/>
          <p:cNvSpPr/>
          <p:nvPr/>
        </p:nvSpPr>
        <p:spPr>
          <a:xfrm>
            <a:off x="8138160" y="1371600"/>
            <a:ext cx="3611880" cy="2194560"/>
          </a:xfrm>
          <a:prstGeom prst="roundRect">
            <a:avLst>
              <a:gd name="adj" fmla="val 5000"/>
            </a:avLst>
          </a:prstGeom>
          <a:solidFill>
            <a:schemeClr val="tx2"/>
          </a:solidFill>
          <a:ln w="9525">
            <a:solidFill>
              <a:schemeClr val="bg2">
                <a:alpha val="28000"/>
              </a:schemeClr>
            </a:solidFill>
            <a:prstDash val="solid"/>
          </a:ln>
        </p:spPr>
      </p:sp>
      <p:sp>
        <p:nvSpPr>
          <p:cNvPr id="15" name="txt196"/>
          <p:cNvSpPr txBox="1"/>
          <p:nvPr/>
        </p:nvSpPr>
        <p:spPr>
          <a:xfrm>
            <a:off x="8412480" y="1600200"/>
            <a:ext cx="1097280" cy="32004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RF-03</a:t>
            </a:r>
            <a:endParaRPr lang="en-US" sz="1300" dirty="0"/>
          </a:p>
        </p:txBody>
      </p:sp>
      <p:sp>
        <p:nvSpPr>
          <p:cNvPr id="16" name="txt197"/>
          <p:cNvSpPr txBox="1"/>
          <p:nvPr/>
        </p:nvSpPr>
        <p:spPr>
          <a:xfrm>
            <a:off x="8412480" y="2011680"/>
            <a:ext cx="3108960" cy="411480"/>
          </a:xfrm>
          <a:prstGeom prst="rect">
            <a:avLst/>
          </a:prstGeom>
          <a:noFill/>
          <a:ln/>
        </p:spPr>
        <p:txBody>
          <a:bodyPr wrap="square" lIns="0" tIns="0" rIns="0" bIns="0" rtlCol="0" anchor="t"/>
          <a:lstStyle/>
          <a:p>
            <a:pPr indent="0" marL="0">
              <a:buNone/>
            </a:pPr>
            <a:r>
              <a:rPr lang="en-US" sz="1800" b="1" dirty="0">
                <a:solidFill>
                  <a:schemeClr val="bg1"/>
                </a:solidFill>
              </a:rPr>
              <a:t>Obtener recomendaciones</a:t>
            </a:r>
            <a:endParaRPr lang="en-US" sz="1800" dirty="0"/>
          </a:p>
        </p:txBody>
      </p:sp>
      <p:sp>
        <p:nvSpPr>
          <p:cNvPr id="17" name="txt198"/>
          <p:cNvSpPr txBox="1"/>
          <p:nvPr/>
        </p:nvSpPr>
        <p:spPr>
          <a:xfrm>
            <a:off x="8412480" y="2468880"/>
            <a:ext cx="3108960" cy="960120"/>
          </a:xfrm>
          <a:prstGeom prst="rect">
            <a:avLst/>
          </a:prstGeom>
          <a:noFill/>
          <a:ln/>
        </p:spPr>
        <p:txBody>
          <a:bodyPr wrap="square" lIns="0" tIns="0" rIns="0" bIns="0" rtlCol="0" anchor="t"/>
          <a:lstStyle/>
          <a:p>
            <a:pPr indent="0" marL="0">
              <a:buNone/>
            </a:pPr>
            <a:r>
              <a:rPr lang="en-US" sz="1300" dirty="0">
                <a:solidFill>
                  <a:schemeClr val="bg2"/>
                </a:solidFill>
              </a:rPr>
              <a:t>Una sola consulta a Gemini por envío válido: de 3 a 5 artistas con el porqué.</a:t>
            </a:r>
            <a:endParaRPr lang="en-US" sz="1300" dirty="0"/>
          </a:p>
        </p:txBody>
      </p:sp>
      <p:sp>
        <p:nvSpPr>
          <p:cNvPr id="18" name="card199"/>
          <p:cNvSpPr/>
          <p:nvPr/>
        </p:nvSpPr>
        <p:spPr>
          <a:xfrm>
            <a:off x="548640" y="3749040"/>
            <a:ext cx="3611880" cy="2194560"/>
          </a:xfrm>
          <a:prstGeom prst="roundRect">
            <a:avLst>
              <a:gd name="adj" fmla="val 5000"/>
            </a:avLst>
          </a:prstGeom>
          <a:solidFill>
            <a:schemeClr val="tx2"/>
          </a:solidFill>
          <a:ln w="9525">
            <a:solidFill>
              <a:schemeClr val="bg2">
                <a:alpha val="28000"/>
              </a:schemeClr>
            </a:solidFill>
            <a:prstDash val="solid"/>
          </a:ln>
        </p:spPr>
      </p:sp>
      <p:sp>
        <p:nvSpPr>
          <p:cNvPr id="19" name="txt200"/>
          <p:cNvSpPr txBox="1"/>
          <p:nvPr/>
        </p:nvSpPr>
        <p:spPr>
          <a:xfrm>
            <a:off x="822960" y="3977640"/>
            <a:ext cx="1097280" cy="32004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RF-04</a:t>
            </a:r>
            <a:endParaRPr lang="en-US" sz="1300" dirty="0"/>
          </a:p>
        </p:txBody>
      </p:sp>
      <p:sp>
        <p:nvSpPr>
          <p:cNvPr id="20" name="txt201"/>
          <p:cNvSpPr txBox="1"/>
          <p:nvPr/>
        </p:nvSpPr>
        <p:spPr>
          <a:xfrm>
            <a:off x="822960" y="4389120"/>
            <a:ext cx="3108960" cy="411480"/>
          </a:xfrm>
          <a:prstGeom prst="rect">
            <a:avLst/>
          </a:prstGeom>
          <a:noFill/>
          <a:ln/>
        </p:spPr>
        <p:txBody>
          <a:bodyPr wrap="square" lIns="0" tIns="0" rIns="0" bIns="0" rtlCol="0" anchor="t"/>
          <a:lstStyle/>
          <a:p>
            <a:pPr indent="0" marL="0">
              <a:buNone/>
            </a:pPr>
            <a:r>
              <a:rPr lang="en-US" sz="1800" b="1" dirty="0">
                <a:solidFill>
                  <a:schemeClr val="bg1"/>
                </a:solidFill>
              </a:rPr>
              <a:t>Mostrar en la misma pantalla</a:t>
            </a:r>
            <a:endParaRPr lang="en-US" sz="1800" dirty="0"/>
          </a:p>
        </p:txBody>
      </p:sp>
      <p:sp>
        <p:nvSpPr>
          <p:cNvPr id="21" name="txt202"/>
          <p:cNvSpPr txBox="1"/>
          <p:nvPr/>
        </p:nvSpPr>
        <p:spPr>
          <a:xfrm>
            <a:off x="822960" y="4846320"/>
            <a:ext cx="3108960" cy="960120"/>
          </a:xfrm>
          <a:prstGeom prst="rect">
            <a:avLst/>
          </a:prstGeom>
          <a:noFill/>
          <a:ln/>
        </p:spPr>
        <p:txBody>
          <a:bodyPr wrap="square" lIns="0" tIns="0" rIns="0" bIns="0" rtlCol="0" anchor="t"/>
          <a:lstStyle/>
          <a:p>
            <a:pPr indent="0" marL="0">
              <a:buNone/>
            </a:pPr>
            <a:r>
              <a:rPr lang="en-US" sz="1300" dirty="0">
                <a:solidFill>
                  <a:schemeClr val="bg2"/>
                </a:solidFill>
              </a:rPr>
              <a:t>Estados de espera, resultado y error, sin acumular resultados anteriores.</a:t>
            </a:r>
            <a:endParaRPr lang="en-US" sz="1300" dirty="0"/>
          </a:p>
        </p:txBody>
      </p:sp>
      <p:sp>
        <p:nvSpPr>
          <p:cNvPr id="22" name="card203"/>
          <p:cNvSpPr/>
          <p:nvPr/>
        </p:nvSpPr>
        <p:spPr>
          <a:xfrm>
            <a:off x="4343400" y="3749040"/>
            <a:ext cx="3611880" cy="2194560"/>
          </a:xfrm>
          <a:prstGeom prst="roundRect">
            <a:avLst>
              <a:gd name="adj" fmla="val 5000"/>
            </a:avLst>
          </a:prstGeom>
          <a:solidFill>
            <a:schemeClr val="tx2"/>
          </a:solidFill>
          <a:ln w="9525">
            <a:solidFill>
              <a:schemeClr val="bg2">
                <a:alpha val="28000"/>
              </a:schemeClr>
            </a:solidFill>
            <a:prstDash val="solid"/>
          </a:ln>
        </p:spPr>
      </p:sp>
      <p:sp>
        <p:nvSpPr>
          <p:cNvPr id="23" name="txt204"/>
          <p:cNvSpPr txBox="1"/>
          <p:nvPr/>
        </p:nvSpPr>
        <p:spPr>
          <a:xfrm>
            <a:off x="4617720" y="3977640"/>
            <a:ext cx="1097280" cy="320040"/>
          </a:xfrm>
          <a:prstGeom prst="rect">
            <a:avLst/>
          </a:prstGeom>
          <a:noFill/>
          <a:ln/>
        </p:spPr>
        <p:txBody>
          <a:bodyPr wrap="square" lIns="0" tIns="0" rIns="0" bIns="0" rtlCol="0" anchor="t"/>
          <a:lstStyle/>
          <a:p>
            <a:pPr indent="0" marL="0">
              <a:buNone/>
            </a:pPr>
            <a:r>
              <a:rPr lang="en-US" sz="1300" b="1" dirty="0">
                <a:solidFill>
                  <a:schemeClr val="accent1"/>
                </a:solidFill>
                <a:latin typeface="Consolas" pitchFamily="34" charset="0"/>
                <a:ea typeface="Consolas" pitchFamily="34" charset="-122"/>
                <a:cs typeface="Consolas" pitchFamily="34" charset="-120"/>
              </a:rPr>
              <a:t>RF-05</a:t>
            </a:r>
            <a:endParaRPr lang="en-US" sz="1300" dirty="0"/>
          </a:p>
        </p:txBody>
      </p:sp>
      <p:sp>
        <p:nvSpPr>
          <p:cNvPr id="24" name="txt205"/>
          <p:cNvSpPr txBox="1"/>
          <p:nvPr/>
        </p:nvSpPr>
        <p:spPr>
          <a:xfrm>
            <a:off x="4617720" y="4389120"/>
            <a:ext cx="3108960" cy="411480"/>
          </a:xfrm>
          <a:prstGeom prst="rect">
            <a:avLst/>
          </a:prstGeom>
          <a:noFill/>
          <a:ln/>
        </p:spPr>
        <p:txBody>
          <a:bodyPr wrap="square" lIns="0" tIns="0" rIns="0" bIns="0" rtlCol="0" anchor="t"/>
          <a:lstStyle/>
          <a:p>
            <a:pPr indent="0" marL="0">
              <a:buNone/>
            </a:pPr>
            <a:r>
              <a:rPr lang="en-US" sz="1800" b="1" dirty="0">
                <a:solidFill>
                  <a:schemeClr val="bg1"/>
                </a:solidFill>
              </a:rPr>
              <a:t>Informar de errores de la IA</a:t>
            </a:r>
            <a:endParaRPr lang="en-US" sz="1800" dirty="0"/>
          </a:p>
        </p:txBody>
      </p:sp>
      <p:sp>
        <p:nvSpPr>
          <p:cNvPr id="25" name="txt206"/>
          <p:cNvSpPr txBox="1"/>
          <p:nvPr/>
        </p:nvSpPr>
        <p:spPr>
          <a:xfrm>
            <a:off x="4617720" y="4846320"/>
            <a:ext cx="3108960" cy="960120"/>
          </a:xfrm>
          <a:prstGeom prst="rect">
            <a:avLst/>
          </a:prstGeom>
          <a:noFill/>
          <a:ln/>
        </p:spPr>
        <p:txBody>
          <a:bodyPr wrap="square" lIns="0" tIns="0" rIns="0" bIns="0" rtlCol="0" anchor="t"/>
          <a:lstStyle/>
          <a:p>
            <a:pPr indent="0" marL="0">
              <a:buNone/>
            </a:pPr>
            <a:r>
              <a:rPr lang="en-US" sz="1300" dirty="0">
                <a:solidFill>
                  <a:schemeClr val="bg2"/>
                </a:solidFill>
              </a:rPr>
              <a:t>502 o 504 con un mensaje comprensible, sin trazas ni detalles internos.</a:t>
            </a:r>
            <a:endParaRPr lang="en-US" sz="1300" dirty="0"/>
          </a:p>
        </p:txBody>
      </p:sp>
      <p:sp>
        <p:nvSpPr>
          <p:cNvPr id="26" name="card207"/>
          <p:cNvSpPr/>
          <p:nvPr/>
        </p:nvSpPr>
        <p:spPr>
          <a:xfrm>
            <a:off x="8138160" y="3749040"/>
            <a:ext cx="3611880" cy="2194560"/>
          </a:xfrm>
          <a:prstGeom prst="roundRect">
            <a:avLst>
              <a:gd name="adj" fmla="val 5000"/>
            </a:avLst>
          </a:prstGeom>
          <a:solidFill>
            <a:schemeClr val="tx2"/>
          </a:solidFill>
          <a:ln w="9525">
            <a:solidFill>
              <a:schemeClr val="accent2"/>
            </a:solidFill>
            <a:prstDash val="solid"/>
          </a:ln>
        </p:spPr>
      </p:sp>
      <p:sp>
        <p:nvSpPr>
          <p:cNvPr id="27" name="txt208"/>
          <p:cNvSpPr txBox="1"/>
          <p:nvPr/>
        </p:nvSpPr>
        <p:spPr>
          <a:xfrm>
            <a:off x="8412480" y="3977640"/>
            <a:ext cx="1097280" cy="320040"/>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RF-06</a:t>
            </a:r>
            <a:endParaRPr lang="en-US" sz="1300" dirty="0"/>
          </a:p>
        </p:txBody>
      </p:sp>
      <p:sp>
        <p:nvSpPr>
          <p:cNvPr id="28" name="pill209"/>
          <p:cNvSpPr/>
          <p:nvPr/>
        </p:nvSpPr>
        <p:spPr>
          <a:xfrm>
            <a:off x="10652760" y="3950208"/>
            <a:ext cx="868680" cy="329184"/>
          </a:xfrm>
          <a:prstGeom prst="roundRect">
            <a:avLst>
              <a:gd name="adj" fmla="val 50000"/>
            </a:avLst>
          </a:prstGeom>
          <a:solidFill>
            <a:schemeClr val="accent2"/>
          </a:solidFill>
          <a:ln w="12700">
            <a:solidFill>
              <a:schemeClr val="accent2"/>
            </a:solidFill>
            <a:prstDash val="solid"/>
          </a:ln>
        </p:spPr>
      </p:sp>
      <p:sp>
        <p:nvSpPr>
          <p:cNvPr id="29" name="txt210"/>
          <p:cNvSpPr txBox="1"/>
          <p:nvPr/>
        </p:nvSpPr>
        <p:spPr>
          <a:xfrm>
            <a:off x="10652760" y="3950208"/>
            <a:ext cx="868680" cy="329184"/>
          </a:xfrm>
          <a:prstGeom prst="rect">
            <a:avLst/>
          </a:prstGeom>
          <a:noFill/>
          <a:ln/>
        </p:spPr>
        <p:txBody>
          <a:bodyPr wrap="square" lIns="0" tIns="0" rIns="0" bIns="0" rtlCol="0" anchor="ctr"/>
          <a:lstStyle/>
          <a:p>
            <a:pPr algn="ctr" indent="0" marL="0">
              <a:buNone/>
            </a:pPr>
            <a:r>
              <a:rPr lang="en-US" sz="1100" b="1" dirty="0">
                <a:solidFill>
                  <a:schemeClr val="tx1"/>
                </a:solidFill>
              </a:rPr>
              <a:t>App 2</a:t>
            </a:r>
            <a:endParaRPr lang="en-US" sz="1100" dirty="0"/>
          </a:p>
        </p:txBody>
      </p:sp>
      <p:sp>
        <p:nvSpPr>
          <p:cNvPr id="30" name="txt211"/>
          <p:cNvSpPr txBox="1"/>
          <p:nvPr/>
        </p:nvSpPr>
        <p:spPr>
          <a:xfrm>
            <a:off x="8412480" y="4389120"/>
            <a:ext cx="3108960" cy="411480"/>
          </a:xfrm>
          <a:prstGeom prst="rect">
            <a:avLst/>
          </a:prstGeom>
          <a:noFill/>
          <a:ln/>
        </p:spPr>
        <p:txBody>
          <a:bodyPr wrap="square" lIns="0" tIns="0" rIns="0" bIns="0" rtlCol="0" anchor="t"/>
          <a:lstStyle/>
          <a:p>
            <a:pPr indent="0" marL="0">
              <a:buNone/>
            </a:pPr>
            <a:r>
              <a:rPr lang="en-US" sz="1800" b="1" dirty="0">
                <a:solidFill>
                  <a:schemeClr val="bg1"/>
                </a:solidFill>
              </a:rPr>
              <a:t>Autenticar y proteger</a:t>
            </a:r>
            <a:endParaRPr lang="en-US" sz="1800" dirty="0"/>
          </a:p>
        </p:txBody>
      </p:sp>
      <p:sp>
        <p:nvSpPr>
          <p:cNvPr id="31" name="txt212"/>
          <p:cNvSpPr txBox="1"/>
          <p:nvPr/>
        </p:nvSpPr>
        <p:spPr>
          <a:xfrm>
            <a:off x="8412480" y="4846320"/>
            <a:ext cx="3108960" cy="960120"/>
          </a:xfrm>
          <a:prstGeom prst="rect">
            <a:avLst/>
          </a:prstGeom>
          <a:noFill/>
          <a:ln/>
        </p:spPr>
        <p:txBody>
          <a:bodyPr wrap="square" lIns="0" tIns="0" rIns="0" bIns="0" rtlCol="0" anchor="t"/>
          <a:lstStyle/>
          <a:p>
            <a:pPr indent="0" marL="0">
              <a:buNone/>
            </a:pPr>
            <a:r>
              <a:rPr lang="en-US" sz="1300" dirty="0">
                <a:solidFill>
                  <a:schemeClr val="bg2"/>
                </a:solidFill>
              </a:rPr>
              <a:t>Clerk en la misma pantalla. Sin token válido, 401 y no se consulta a la IA.</a:t>
            </a:r>
            <a:endParaRPr lang="en-US" sz="13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Requisitos no funcionales y seguridad</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RNF-01 … RNF-05</a:t>
            </a:r>
            <a:endParaRPr lang="en-US" sz="1200" dirty="0"/>
          </a:p>
        </p:txBody>
      </p:sp>
      <p:sp>
        <p:nvSpPr>
          <p:cNvPr id="4" name="presenta213"/>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214"/>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sp>
        <p:nvSpPr>
          <p:cNvPr id="6" name="card215"/>
          <p:cNvSpPr/>
          <p:nvPr/>
        </p:nvSpPr>
        <p:spPr>
          <a:xfrm>
            <a:off x="548640" y="1371600"/>
            <a:ext cx="3291840" cy="1463040"/>
          </a:xfrm>
          <a:prstGeom prst="roundRect">
            <a:avLst>
              <a:gd name="adj" fmla="val 7500"/>
            </a:avLst>
          </a:prstGeom>
          <a:solidFill>
            <a:schemeClr val="tx2"/>
          </a:solidFill>
          <a:ln w="9525">
            <a:solidFill>
              <a:schemeClr val="bg2">
                <a:alpha val="28000"/>
              </a:schemeClr>
            </a:solidFill>
            <a:prstDash val="solid"/>
          </a:ln>
        </p:spPr>
      </p:sp>
      <p:sp>
        <p:nvSpPr>
          <p:cNvPr id="7" name="txt216"/>
          <p:cNvSpPr txBox="1"/>
          <p:nvPr/>
        </p:nvSpPr>
        <p:spPr>
          <a:xfrm>
            <a:off x="777240" y="1536192"/>
            <a:ext cx="1188720" cy="274320"/>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RNF-01</a:t>
            </a:r>
            <a:endParaRPr lang="en-US" sz="1200" dirty="0"/>
          </a:p>
        </p:txBody>
      </p:sp>
      <p:sp>
        <p:nvSpPr>
          <p:cNvPr id="8" name="txt217"/>
          <p:cNvSpPr txBox="1"/>
          <p:nvPr/>
        </p:nvSpPr>
        <p:spPr>
          <a:xfrm>
            <a:off x="777240" y="1801368"/>
            <a:ext cx="2880360" cy="320040"/>
          </a:xfrm>
          <a:prstGeom prst="rect">
            <a:avLst/>
          </a:prstGeom>
          <a:noFill/>
          <a:ln/>
        </p:spPr>
        <p:txBody>
          <a:bodyPr wrap="square" lIns="0" tIns="0" rIns="0" bIns="0" rtlCol="0" anchor="t"/>
          <a:lstStyle/>
          <a:p>
            <a:pPr indent="0" marL="0">
              <a:buNone/>
            </a:pPr>
            <a:r>
              <a:rPr lang="en-US" sz="1500" b="1" dirty="0">
                <a:solidFill>
                  <a:schemeClr val="bg1"/>
                </a:solidFill>
              </a:rPr>
              <a:t>Secretos solo en el backend</a:t>
            </a:r>
            <a:endParaRPr lang="en-US" sz="1500" dirty="0"/>
          </a:p>
        </p:txBody>
      </p:sp>
      <p:sp>
        <p:nvSpPr>
          <p:cNvPr id="9" name="txt218"/>
          <p:cNvSpPr txBox="1"/>
          <p:nvPr/>
        </p:nvSpPr>
        <p:spPr>
          <a:xfrm>
            <a:off x="777240" y="2148840"/>
            <a:ext cx="2880360" cy="640080"/>
          </a:xfrm>
          <a:prstGeom prst="rect">
            <a:avLst/>
          </a:prstGeom>
          <a:noFill/>
          <a:ln/>
        </p:spPr>
        <p:txBody>
          <a:bodyPr wrap="square" lIns="0" tIns="0" rIns="0" bIns="0" rtlCol="0" anchor="t"/>
          <a:lstStyle/>
          <a:p>
            <a:pPr indent="0" marL="0">
              <a:buNone/>
            </a:pPr>
            <a:r>
              <a:rPr lang="en-US" sz="1200" dirty="0">
                <a:solidFill>
                  <a:schemeClr val="bg2"/>
                </a:solidFill>
              </a:rPr>
              <a:t>La clave de Gemini no está en el frontend, ni en el repo, ni en su historial, ni en las imágenes.</a:t>
            </a:r>
            <a:endParaRPr lang="en-US" sz="1200" dirty="0"/>
          </a:p>
        </p:txBody>
      </p:sp>
      <p:sp>
        <p:nvSpPr>
          <p:cNvPr id="10" name="card219"/>
          <p:cNvSpPr/>
          <p:nvPr/>
        </p:nvSpPr>
        <p:spPr>
          <a:xfrm>
            <a:off x="3977640" y="1371600"/>
            <a:ext cx="3291840" cy="1463040"/>
          </a:xfrm>
          <a:prstGeom prst="roundRect">
            <a:avLst>
              <a:gd name="adj" fmla="val 7500"/>
            </a:avLst>
          </a:prstGeom>
          <a:solidFill>
            <a:schemeClr val="tx2"/>
          </a:solidFill>
          <a:ln w="9525">
            <a:solidFill>
              <a:schemeClr val="bg2">
                <a:alpha val="28000"/>
              </a:schemeClr>
            </a:solidFill>
            <a:prstDash val="solid"/>
          </a:ln>
        </p:spPr>
      </p:sp>
      <p:sp>
        <p:nvSpPr>
          <p:cNvPr id="11" name="txt220"/>
          <p:cNvSpPr txBox="1"/>
          <p:nvPr/>
        </p:nvSpPr>
        <p:spPr>
          <a:xfrm>
            <a:off x="4206240" y="1536192"/>
            <a:ext cx="1188720" cy="274320"/>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RNF-02</a:t>
            </a:r>
            <a:endParaRPr lang="en-US" sz="1200" dirty="0"/>
          </a:p>
        </p:txBody>
      </p:sp>
      <p:sp>
        <p:nvSpPr>
          <p:cNvPr id="12" name="txt221"/>
          <p:cNvSpPr txBox="1"/>
          <p:nvPr/>
        </p:nvSpPr>
        <p:spPr>
          <a:xfrm>
            <a:off x="4206240" y="1801368"/>
            <a:ext cx="2880360" cy="320040"/>
          </a:xfrm>
          <a:prstGeom prst="rect">
            <a:avLst/>
          </a:prstGeom>
          <a:noFill/>
          <a:ln/>
        </p:spPr>
        <p:txBody>
          <a:bodyPr wrap="square" lIns="0" tIns="0" rIns="0" bIns="0" rtlCol="0" anchor="t"/>
          <a:lstStyle/>
          <a:p>
            <a:pPr indent="0" marL="0">
              <a:buNone/>
            </a:pPr>
            <a:r>
              <a:rPr lang="en-US" sz="1500" b="1" dirty="0">
                <a:solidFill>
                  <a:schemeClr val="bg1"/>
                </a:solidFill>
              </a:rPr>
              <a:t>Timeout de 25 s</a:t>
            </a:r>
            <a:endParaRPr lang="en-US" sz="1500" dirty="0"/>
          </a:p>
        </p:txBody>
      </p:sp>
      <p:sp>
        <p:nvSpPr>
          <p:cNvPr id="13" name="txt222"/>
          <p:cNvSpPr txBox="1"/>
          <p:nvPr/>
        </p:nvSpPr>
        <p:spPr>
          <a:xfrm>
            <a:off x="4206240" y="2148840"/>
            <a:ext cx="2880360" cy="640080"/>
          </a:xfrm>
          <a:prstGeom prst="rect">
            <a:avLst/>
          </a:prstGeom>
          <a:noFill/>
          <a:ln/>
        </p:spPr>
        <p:txBody>
          <a:bodyPr wrap="square" lIns="0" tIns="0" rIns="0" bIns="0" rtlCol="0" anchor="t"/>
          <a:lstStyle/>
          <a:p>
            <a:pPr indent="0" marL="0">
              <a:buNone/>
            </a:pPr>
            <a:r>
              <a:rPr lang="en-US" sz="1200" dirty="0">
                <a:solidFill>
                  <a:schemeClr val="bg2"/>
                </a:solidFill>
              </a:rPr>
              <a:t>Si la IA no responde a tiempo: 504 TIMEOUT sin detalles internos.</a:t>
            </a:r>
            <a:endParaRPr lang="en-US" sz="1200" dirty="0"/>
          </a:p>
        </p:txBody>
      </p:sp>
      <p:sp>
        <p:nvSpPr>
          <p:cNvPr id="14" name="card223"/>
          <p:cNvSpPr/>
          <p:nvPr/>
        </p:nvSpPr>
        <p:spPr>
          <a:xfrm>
            <a:off x="548640" y="2971800"/>
            <a:ext cx="3291840" cy="1463040"/>
          </a:xfrm>
          <a:prstGeom prst="roundRect">
            <a:avLst>
              <a:gd name="adj" fmla="val 7500"/>
            </a:avLst>
          </a:prstGeom>
          <a:solidFill>
            <a:schemeClr val="tx2"/>
          </a:solidFill>
          <a:ln w="9525">
            <a:solidFill>
              <a:schemeClr val="bg2">
                <a:alpha val="28000"/>
              </a:schemeClr>
            </a:solidFill>
            <a:prstDash val="solid"/>
          </a:ln>
        </p:spPr>
      </p:sp>
      <p:sp>
        <p:nvSpPr>
          <p:cNvPr id="15" name="txt224"/>
          <p:cNvSpPr txBox="1"/>
          <p:nvPr/>
        </p:nvSpPr>
        <p:spPr>
          <a:xfrm>
            <a:off x="777240" y="3136392"/>
            <a:ext cx="1188720" cy="274320"/>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RNF-03</a:t>
            </a:r>
            <a:endParaRPr lang="en-US" sz="1200" dirty="0"/>
          </a:p>
        </p:txBody>
      </p:sp>
      <p:sp>
        <p:nvSpPr>
          <p:cNvPr id="16" name="txt225"/>
          <p:cNvSpPr txBox="1"/>
          <p:nvPr/>
        </p:nvSpPr>
        <p:spPr>
          <a:xfrm>
            <a:off x="777240" y="3401568"/>
            <a:ext cx="2880360" cy="320040"/>
          </a:xfrm>
          <a:prstGeom prst="rect">
            <a:avLst/>
          </a:prstGeom>
          <a:noFill/>
          <a:ln/>
        </p:spPr>
        <p:txBody>
          <a:bodyPr wrap="square" lIns="0" tIns="0" rIns="0" bIns="0" rtlCol="0" anchor="t"/>
          <a:lstStyle/>
          <a:p>
            <a:pPr indent="0" marL="0">
              <a:buNone/>
            </a:pPr>
            <a:r>
              <a:rPr lang="en-US" sz="1500" b="1" dirty="0">
                <a:solidFill>
                  <a:schemeClr val="bg1"/>
                </a:solidFill>
              </a:rPr>
              <a:t>Privacidad</a:t>
            </a:r>
            <a:endParaRPr lang="en-US" sz="1500" dirty="0"/>
          </a:p>
        </p:txBody>
      </p:sp>
      <p:sp>
        <p:nvSpPr>
          <p:cNvPr id="17" name="txt226"/>
          <p:cNvSpPr txBox="1"/>
          <p:nvPr/>
        </p:nvSpPr>
        <p:spPr>
          <a:xfrm>
            <a:off x="777240" y="3749040"/>
            <a:ext cx="2880360" cy="640080"/>
          </a:xfrm>
          <a:prstGeom prst="rect">
            <a:avLst/>
          </a:prstGeom>
          <a:noFill/>
          <a:ln/>
        </p:spPr>
        <p:txBody>
          <a:bodyPr wrap="square" lIns="0" tIns="0" rIns="0" bIns="0" rtlCol="0" anchor="t"/>
          <a:lstStyle/>
          <a:p>
            <a:pPr indent="0" marL="0">
              <a:buNone/>
            </a:pPr>
            <a:r>
              <a:rPr lang="en-US" sz="1200" dirty="0">
                <a:solidFill>
                  <a:schemeClr val="bg2"/>
                </a:solidFill>
              </a:rPr>
              <a:t>No se guarda nada: tras recargar o reiniciar no aparece ninguna consulta anterior.</a:t>
            </a:r>
            <a:endParaRPr lang="en-US" sz="1200" dirty="0"/>
          </a:p>
        </p:txBody>
      </p:sp>
      <p:sp>
        <p:nvSpPr>
          <p:cNvPr id="18" name="card227"/>
          <p:cNvSpPr/>
          <p:nvPr/>
        </p:nvSpPr>
        <p:spPr>
          <a:xfrm>
            <a:off x="3977640" y="2971800"/>
            <a:ext cx="3291840" cy="1463040"/>
          </a:xfrm>
          <a:prstGeom prst="roundRect">
            <a:avLst>
              <a:gd name="adj" fmla="val 7500"/>
            </a:avLst>
          </a:prstGeom>
          <a:solidFill>
            <a:schemeClr val="tx2"/>
          </a:solidFill>
          <a:ln w="9525">
            <a:solidFill>
              <a:schemeClr val="bg2">
                <a:alpha val="28000"/>
              </a:schemeClr>
            </a:solidFill>
            <a:prstDash val="solid"/>
          </a:ln>
        </p:spPr>
      </p:sp>
      <p:sp>
        <p:nvSpPr>
          <p:cNvPr id="19" name="txt228"/>
          <p:cNvSpPr txBox="1"/>
          <p:nvPr/>
        </p:nvSpPr>
        <p:spPr>
          <a:xfrm>
            <a:off x="4206240" y="3136392"/>
            <a:ext cx="1188720" cy="274320"/>
          </a:xfrm>
          <a:prstGeom prst="rect">
            <a:avLst/>
          </a:prstGeom>
          <a:noFill/>
          <a:ln/>
        </p:spPr>
        <p:txBody>
          <a:bodyPr wrap="square" lIns="0" tIns="0" rIns="0" bIns="0" rtlCol="0" anchor="t"/>
          <a:lstStyle/>
          <a:p>
            <a:pPr indent="0" marL="0">
              <a:buNone/>
            </a:pPr>
            <a:r>
              <a:rPr lang="en-US" sz="1200" b="1" dirty="0">
                <a:solidFill>
                  <a:schemeClr val="accent1"/>
                </a:solidFill>
                <a:latin typeface="Consolas" pitchFamily="34" charset="0"/>
                <a:ea typeface="Consolas" pitchFamily="34" charset="-122"/>
                <a:cs typeface="Consolas" pitchFamily="34" charset="-120"/>
              </a:rPr>
              <a:t>RNF-04</a:t>
            </a:r>
            <a:endParaRPr lang="en-US" sz="1200" dirty="0"/>
          </a:p>
        </p:txBody>
      </p:sp>
      <p:sp>
        <p:nvSpPr>
          <p:cNvPr id="20" name="txt229"/>
          <p:cNvSpPr txBox="1"/>
          <p:nvPr/>
        </p:nvSpPr>
        <p:spPr>
          <a:xfrm>
            <a:off x="4206240" y="3401568"/>
            <a:ext cx="2880360" cy="320040"/>
          </a:xfrm>
          <a:prstGeom prst="rect">
            <a:avLst/>
          </a:prstGeom>
          <a:noFill/>
          <a:ln/>
        </p:spPr>
        <p:txBody>
          <a:bodyPr wrap="square" lIns="0" tIns="0" rIns="0" bIns="0" rtlCol="0" anchor="t"/>
          <a:lstStyle/>
          <a:p>
            <a:pPr indent="0" marL="0">
              <a:buNone/>
            </a:pPr>
            <a:r>
              <a:rPr lang="en-US" sz="1500" b="1" dirty="0">
                <a:solidFill>
                  <a:schemeClr val="bg1"/>
                </a:solidFill>
              </a:rPr>
              <a:t>Accesibilidad</a:t>
            </a:r>
            <a:endParaRPr lang="en-US" sz="1500" dirty="0"/>
          </a:p>
        </p:txBody>
      </p:sp>
      <p:sp>
        <p:nvSpPr>
          <p:cNvPr id="21" name="txt230"/>
          <p:cNvSpPr txBox="1"/>
          <p:nvPr/>
        </p:nvSpPr>
        <p:spPr>
          <a:xfrm>
            <a:off x="4206240" y="3749040"/>
            <a:ext cx="2880360" cy="640080"/>
          </a:xfrm>
          <a:prstGeom prst="rect">
            <a:avLst/>
          </a:prstGeom>
          <a:noFill/>
          <a:ln/>
        </p:spPr>
        <p:txBody>
          <a:bodyPr wrap="square" lIns="0" tIns="0" rIns="0" bIns="0" rtlCol="0" anchor="t"/>
          <a:lstStyle/>
          <a:p>
            <a:pPr indent="0" marL="0">
              <a:buNone/>
            </a:pPr>
            <a:r>
              <a:rPr lang="en-US" sz="1200" dirty="0">
                <a:solidFill>
                  <a:schemeClr val="bg2"/>
                </a:solidFill>
              </a:rPr>
              <a:t>Todo se usa con teclado, con foco visible y sin scroll horizontal a 320 px.</a:t>
            </a:r>
            <a:endParaRPr lang="en-US" sz="1200" dirty="0"/>
          </a:p>
        </p:txBody>
      </p:sp>
      <p:sp>
        <p:nvSpPr>
          <p:cNvPr id="22" name="card231"/>
          <p:cNvSpPr/>
          <p:nvPr/>
        </p:nvSpPr>
        <p:spPr>
          <a:xfrm>
            <a:off x="548640" y="4572000"/>
            <a:ext cx="6720840" cy="1463040"/>
          </a:xfrm>
          <a:prstGeom prst="roundRect">
            <a:avLst>
              <a:gd name="adj" fmla="val 7500"/>
            </a:avLst>
          </a:prstGeom>
          <a:solidFill>
            <a:schemeClr val="tx2"/>
          </a:solidFill>
          <a:ln w="9525">
            <a:solidFill>
              <a:schemeClr val="accent2"/>
            </a:solidFill>
            <a:prstDash val="solid"/>
          </a:ln>
        </p:spPr>
      </p:sp>
      <p:sp>
        <p:nvSpPr>
          <p:cNvPr id="23" name="txt232"/>
          <p:cNvSpPr txBox="1"/>
          <p:nvPr/>
        </p:nvSpPr>
        <p:spPr>
          <a:xfrm>
            <a:off x="777240" y="4736592"/>
            <a:ext cx="1188720" cy="274320"/>
          </a:xfrm>
          <a:prstGeom prst="rect">
            <a:avLst/>
          </a:prstGeom>
          <a:noFill/>
          <a:ln/>
        </p:spPr>
        <p:txBody>
          <a:bodyPr wrap="square" lIns="0" tIns="0" rIns="0" bIns="0" rtlCol="0" anchor="t"/>
          <a:lstStyle/>
          <a:p>
            <a:pPr indent="0" marL="0">
              <a:buNone/>
            </a:pPr>
            <a:r>
              <a:rPr lang="en-US" sz="1200" b="1" dirty="0">
                <a:solidFill>
                  <a:schemeClr val="accent2"/>
                </a:solidFill>
                <a:latin typeface="Consolas" pitchFamily="34" charset="0"/>
                <a:ea typeface="Consolas" pitchFamily="34" charset="-122"/>
                <a:cs typeface="Consolas" pitchFamily="34" charset="-120"/>
              </a:rPr>
              <a:t>RNF-05</a:t>
            </a:r>
            <a:endParaRPr lang="en-US" sz="1200" dirty="0"/>
          </a:p>
        </p:txBody>
      </p:sp>
      <p:sp>
        <p:nvSpPr>
          <p:cNvPr id="24" name="pill233"/>
          <p:cNvSpPr/>
          <p:nvPr/>
        </p:nvSpPr>
        <p:spPr>
          <a:xfrm>
            <a:off x="6217920" y="4709160"/>
            <a:ext cx="868680" cy="310896"/>
          </a:xfrm>
          <a:prstGeom prst="roundRect">
            <a:avLst>
              <a:gd name="adj" fmla="val 50000"/>
            </a:avLst>
          </a:prstGeom>
          <a:solidFill>
            <a:schemeClr val="accent2"/>
          </a:solidFill>
          <a:ln w="12700">
            <a:solidFill>
              <a:schemeClr val="accent2"/>
            </a:solidFill>
            <a:prstDash val="solid"/>
          </a:ln>
        </p:spPr>
      </p:sp>
      <p:sp>
        <p:nvSpPr>
          <p:cNvPr id="25" name="txt234"/>
          <p:cNvSpPr txBox="1"/>
          <p:nvPr/>
        </p:nvSpPr>
        <p:spPr>
          <a:xfrm>
            <a:off x="6217920" y="4709160"/>
            <a:ext cx="868680" cy="310896"/>
          </a:xfrm>
          <a:prstGeom prst="rect">
            <a:avLst/>
          </a:prstGeom>
          <a:noFill/>
          <a:ln/>
        </p:spPr>
        <p:txBody>
          <a:bodyPr wrap="square" lIns="0" tIns="0" rIns="0" bIns="0" rtlCol="0" anchor="ctr"/>
          <a:lstStyle/>
          <a:p>
            <a:pPr algn="ctr" indent="0" marL="0">
              <a:buNone/>
            </a:pPr>
            <a:r>
              <a:rPr lang="en-US" sz="1100" b="1" dirty="0">
                <a:solidFill>
                  <a:schemeClr val="tx1"/>
                </a:solidFill>
              </a:rPr>
              <a:t>App 2</a:t>
            </a:r>
            <a:endParaRPr lang="en-US" sz="1100" dirty="0"/>
          </a:p>
        </p:txBody>
      </p:sp>
      <p:sp>
        <p:nvSpPr>
          <p:cNvPr id="26" name="txt235"/>
          <p:cNvSpPr txBox="1"/>
          <p:nvPr/>
        </p:nvSpPr>
        <p:spPr>
          <a:xfrm>
            <a:off x="777240" y="5001768"/>
            <a:ext cx="5943600" cy="320040"/>
          </a:xfrm>
          <a:prstGeom prst="rect">
            <a:avLst/>
          </a:prstGeom>
          <a:noFill/>
          <a:ln/>
        </p:spPr>
        <p:txBody>
          <a:bodyPr wrap="square" lIns="0" tIns="0" rIns="0" bIns="0" rtlCol="0" anchor="t"/>
          <a:lstStyle/>
          <a:p>
            <a:pPr indent="0" marL="0">
              <a:buNone/>
            </a:pPr>
            <a:r>
              <a:rPr lang="en-US" sz="1500" b="1" dirty="0">
                <a:solidFill>
                  <a:schemeClr val="bg1"/>
                </a:solidFill>
              </a:rPr>
              <a:t>Token verificado y solo por HTTPS</a:t>
            </a:r>
            <a:endParaRPr lang="en-US" sz="1500" dirty="0"/>
          </a:p>
        </p:txBody>
      </p:sp>
      <p:sp>
        <p:nvSpPr>
          <p:cNvPr id="27" name="txt236"/>
          <p:cNvSpPr txBox="1"/>
          <p:nvPr/>
        </p:nvSpPr>
        <p:spPr>
          <a:xfrm>
            <a:off x="777240" y="5349240"/>
            <a:ext cx="6263640" cy="640080"/>
          </a:xfrm>
          <a:prstGeom prst="rect">
            <a:avLst/>
          </a:prstGeom>
          <a:noFill/>
          <a:ln/>
        </p:spPr>
        <p:txBody>
          <a:bodyPr wrap="square" lIns="0" tIns="0" rIns="0" bIns="0" rtlCol="0" anchor="t"/>
          <a:lstStyle/>
          <a:p>
            <a:pPr indent="0" marL="0">
              <a:buNone/>
            </a:pPr>
            <a:r>
              <a:rPr lang="en-US" sz="1200" dirty="0">
                <a:solidFill>
                  <a:schemeClr val="bg2"/>
                </a:solidFill>
              </a:rPr>
              <a:t>El backend comprueba firma, emisor y caducidad. Sin token, inválido o caducado: 401 sin llamar a la IA. Vercel y EC2 se sirven por HTTPS.</a:t>
            </a:r>
            <a:endParaRPr lang="en-US" sz="1200" dirty="0"/>
          </a:p>
        </p:txBody>
      </p:sp>
      <p:sp>
        <p:nvSpPr>
          <p:cNvPr id="28" name="card237"/>
          <p:cNvSpPr/>
          <p:nvPr/>
        </p:nvSpPr>
        <p:spPr>
          <a:xfrm>
            <a:off x="7543800" y="1371600"/>
            <a:ext cx="4114800" cy="4663440"/>
          </a:xfrm>
          <a:prstGeom prst="roundRect">
            <a:avLst>
              <a:gd name="adj" fmla="val 2667"/>
            </a:avLst>
          </a:prstGeom>
          <a:solidFill>
            <a:schemeClr val="tx2"/>
          </a:solidFill>
          <a:ln w="9525">
            <a:solidFill>
              <a:schemeClr val="bg2">
                <a:alpha val="28000"/>
              </a:schemeClr>
            </a:solidFill>
            <a:prstDash val="solid"/>
          </a:ln>
        </p:spPr>
      </p:sp>
      <p:sp>
        <p:nvSpPr>
          <p:cNvPr id="29" name="txt238"/>
          <p:cNvSpPr txBox="1"/>
          <p:nvPr/>
        </p:nvSpPr>
        <p:spPr>
          <a:xfrm>
            <a:off x="7772400" y="1536192"/>
            <a:ext cx="3657600" cy="320040"/>
          </a:xfrm>
          <a:prstGeom prst="rect">
            <a:avLst/>
          </a:prstGeom>
          <a:noFill/>
          <a:ln/>
        </p:spPr>
        <p:txBody>
          <a:bodyPr wrap="square" lIns="0" tIns="0" rIns="0" bIns="0" rtlCol="0" anchor="t"/>
          <a:lstStyle/>
          <a:p>
            <a:pPr indent="0" marL="0">
              <a:buNone/>
            </a:pPr>
            <a:r>
              <a:rPr lang="en-US" sz="1500" b="1" dirty="0">
                <a:solidFill>
                  <a:schemeClr val="accent1"/>
                </a:solidFill>
              </a:rPr>
              <a:t>Qué atraviesa cada petición</a:t>
            </a:r>
            <a:endParaRPr lang="en-US" sz="1500" dirty="0"/>
          </a:p>
        </p:txBody>
      </p:sp>
      <p:sp>
        <p:nvSpPr>
          <p:cNvPr id="30" name="card239"/>
          <p:cNvSpPr/>
          <p:nvPr/>
        </p:nvSpPr>
        <p:spPr>
          <a:xfrm>
            <a:off x="7772400" y="2011680"/>
            <a:ext cx="3657600" cy="749808"/>
          </a:xfrm>
          <a:prstGeom prst="roundRect">
            <a:avLst>
              <a:gd name="adj" fmla="val 14634"/>
            </a:avLst>
          </a:prstGeom>
          <a:solidFill>
            <a:schemeClr val="tx1"/>
          </a:solidFill>
          <a:ln w="9525">
            <a:solidFill>
              <a:schemeClr val="accent1"/>
            </a:solidFill>
            <a:prstDash val="solid"/>
          </a:ln>
        </p:spPr>
      </p:sp>
      <p:sp>
        <p:nvSpPr>
          <p:cNvPr id="31" name="txt240"/>
          <p:cNvSpPr txBox="1"/>
          <p:nvPr/>
        </p:nvSpPr>
        <p:spPr>
          <a:xfrm>
            <a:off x="7936992" y="2011680"/>
            <a:ext cx="2651760" cy="749808"/>
          </a:xfrm>
          <a:prstGeom prst="rect">
            <a:avLst/>
          </a:prstGeom>
          <a:noFill/>
          <a:ln/>
        </p:spPr>
        <p:txBody>
          <a:bodyPr wrap="square" lIns="0" tIns="0" rIns="0" bIns="0" rtlCol="0" anchor="ctr"/>
          <a:lstStyle/>
          <a:p>
            <a:pPr indent="0" marL="0">
              <a:buNone/>
            </a:pPr>
            <a:r>
              <a:rPr lang="en-US" sz="1300" b="1" dirty="0">
                <a:solidFill>
                  <a:schemeClr val="accent1"/>
                </a:solidFill>
              </a:rPr>
              <a:t>Frontend</a:t>
            </a:r>
            <a:endParaRPr lang="en-US" sz="1300" dirty="0"/>
          </a:p>
          <a:p>
            <a:pPr indent="0" marL="0">
              <a:buNone/>
            </a:pPr>
            <a:r>
              <a:rPr lang="en-US" sz="1100" dirty="0">
                <a:solidFill>
                  <a:schemeClr val="bg2"/>
                </a:solidFill>
              </a:rPr>
              <a:t>no envía si no hay géneros ni texto</a:t>
            </a:r>
            <a:endParaRPr lang="en-US" sz="1300" dirty="0"/>
          </a:p>
        </p:txBody>
      </p:sp>
      <p:sp>
        <p:nvSpPr>
          <p:cNvPr id="32" name="line241"/>
          <p:cNvSpPr/>
          <p:nvPr/>
        </p:nvSpPr>
        <p:spPr>
          <a:xfrm>
            <a:off x="9601200" y="2761488"/>
            <a:ext cx="0" cy="237744"/>
          </a:xfrm>
          <a:prstGeom prst="line">
            <a:avLst/>
          </a:prstGeom>
          <a:noFill/>
          <a:ln w="15875">
            <a:solidFill>
              <a:schemeClr val="bg2"/>
            </a:solidFill>
            <a:prstDash val="solid"/>
            <a:tailEnd type="triangle"/>
          </a:ln>
        </p:spPr>
      </p:sp>
      <p:sp>
        <p:nvSpPr>
          <p:cNvPr id="33" name="card242"/>
          <p:cNvSpPr/>
          <p:nvPr/>
        </p:nvSpPr>
        <p:spPr>
          <a:xfrm>
            <a:off x="7772400" y="2999232"/>
            <a:ext cx="3657600" cy="749808"/>
          </a:xfrm>
          <a:prstGeom prst="roundRect">
            <a:avLst>
              <a:gd name="adj" fmla="val 14634"/>
            </a:avLst>
          </a:prstGeom>
          <a:solidFill>
            <a:schemeClr val="tx1"/>
          </a:solidFill>
          <a:ln w="9525">
            <a:solidFill>
              <a:schemeClr val="accent2"/>
            </a:solidFill>
            <a:prstDash val="solid"/>
          </a:ln>
        </p:spPr>
      </p:sp>
      <p:sp>
        <p:nvSpPr>
          <p:cNvPr id="34" name="txt243"/>
          <p:cNvSpPr txBox="1"/>
          <p:nvPr/>
        </p:nvSpPr>
        <p:spPr>
          <a:xfrm>
            <a:off x="7936992" y="2999232"/>
            <a:ext cx="2651760" cy="749808"/>
          </a:xfrm>
          <a:prstGeom prst="rect">
            <a:avLst/>
          </a:prstGeom>
          <a:noFill/>
          <a:ln/>
        </p:spPr>
        <p:txBody>
          <a:bodyPr wrap="square" lIns="0" tIns="0" rIns="0" bIns="0" rtlCol="0" anchor="ctr"/>
          <a:lstStyle/>
          <a:p>
            <a:pPr indent="0" marL="0">
              <a:buNone/>
            </a:pPr>
            <a:r>
              <a:rPr lang="en-US" sz="1300" b="1" dirty="0">
                <a:solidFill>
                  <a:schemeClr val="accent2"/>
                </a:solidFill>
              </a:rPr>
              <a:t>Clerk (App 2)</a:t>
            </a:r>
            <a:endParaRPr lang="en-US" sz="1300" dirty="0"/>
          </a:p>
          <a:p>
            <a:pPr indent="0" marL="0">
              <a:buNone/>
            </a:pPr>
            <a:r>
              <a:rPr lang="en-US" sz="1100" dirty="0">
                <a:solidFill>
                  <a:schemeClr val="bg2"/>
                </a:solidFill>
              </a:rPr>
              <a:t>token ausente, inválido o caducado</a:t>
            </a:r>
            <a:endParaRPr lang="en-US" sz="1300" dirty="0"/>
          </a:p>
        </p:txBody>
      </p:sp>
      <p:sp>
        <p:nvSpPr>
          <p:cNvPr id="35" name="txt244"/>
          <p:cNvSpPr txBox="1"/>
          <p:nvPr/>
        </p:nvSpPr>
        <p:spPr>
          <a:xfrm>
            <a:off x="10469880" y="2999232"/>
            <a:ext cx="868680" cy="749808"/>
          </a:xfrm>
          <a:prstGeom prst="rect">
            <a:avLst/>
          </a:prstGeom>
          <a:noFill/>
          <a:ln/>
        </p:spPr>
        <p:txBody>
          <a:bodyPr wrap="square" lIns="0" tIns="0" rIns="0" bIns="0" rtlCol="0" anchor="ctr"/>
          <a:lstStyle/>
          <a:p>
            <a:pPr algn="r" indent="0" marL="0">
              <a:buNone/>
            </a:pPr>
            <a:r>
              <a:rPr lang="en-US" sz="1200" b="1" dirty="0">
                <a:solidFill>
                  <a:schemeClr val="accent2"/>
                </a:solidFill>
              </a:rPr>
              <a:t>401</a:t>
            </a:r>
            <a:endParaRPr lang="en-US" sz="1200" dirty="0"/>
          </a:p>
        </p:txBody>
      </p:sp>
      <p:sp>
        <p:nvSpPr>
          <p:cNvPr id="36" name="line245"/>
          <p:cNvSpPr/>
          <p:nvPr/>
        </p:nvSpPr>
        <p:spPr>
          <a:xfrm>
            <a:off x="9601200" y="3749040"/>
            <a:ext cx="0" cy="237744"/>
          </a:xfrm>
          <a:prstGeom prst="line">
            <a:avLst/>
          </a:prstGeom>
          <a:noFill/>
          <a:ln w="15875">
            <a:solidFill>
              <a:schemeClr val="bg2"/>
            </a:solidFill>
            <a:prstDash val="solid"/>
            <a:tailEnd type="triangle"/>
          </a:ln>
        </p:spPr>
      </p:sp>
      <p:sp>
        <p:nvSpPr>
          <p:cNvPr id="37" name="card246"/>
          <p:cNvSpPr/>
          <p:nvPr/>
        </p:nvSpPr>
        <p:spPr>
          <a:xfrm>
            <a:off x="7772400" y="3986784"/>
            <a:ext cx="3657600" cy="749808"/>
          </a:xfrm>
          <a:prstGeom prst="roundRect">
            <a:avLst>
              <a:gd name="adj" fmla="val 14634"/>
            </a:avLst>
          </a:prstGeom>
          <a:solidFill>
            <a:schemeClr val="tx1"/>
          </a:solidFill>
          <a:ln w="9525">
            <a:solidFill>
              <a:schemeClr val="accent4"/>
            </a:solidFill>
            <a:prstDash val="solid"/>
          </a:ln>
        </p:spPr>
      </p:sp>
      <p:sp>
        <p:nvSpPr>
          <p:cNvPr id="38" name="txt247"/>
          <p:cNvSpPr txBox="1"/>
          <p:nvPr/>
        </p:nvSpPr>
        <p:spPr>
          <a:xfrm>
            <a:off x="7936992" y="3986784"/>
            <a:ext cx="2651760" cy="749808"/>
          </a:xfrm>
          <a:prstGeom prst="rect">
            <a:avLst/>
          </a:prstGeom>
          <a:noFill/>
          <a:ln/>
        </p:spPr>
        <p:txBody>
          <a:bodyPr wrap="square" lIns="0" tIns="0" rIns="0" bIns="0" rtlCol="0" anchor="ctr"/>
          <a:lstStyle/>
          <a:p>
            <a:pPr indent="0" marL="0">
              <a:buNone/>
            </a:pPr>
            <a:r>
              <a:rPr lang="en-US" sz="1300" b="1" dirty="0">
                <a:solidFill>
                  <a:schemeClr val="accent4"/>
                </a:solidFill>
              </a:rPr>
              <a:t>Pydantic</a:t>
            </a:r>
            <a:endParaRPr lang="en-US" sz="1300" dirty="0"/>
          </a:p>
          <a:p>
            <a:pPr indent="0" marL="0">
              <a:buNone/>
            </a:pPr>
            <a:r>
              <a:rPr lang="en-US" sz="1100" dirty="0">
                <a:solidFill>
                  <a:schemeClr val="bg2"/>
                </a:solidFill>
              </a:rPr>
              <a:t>vacío, solo espacios o &gt; 500 caracteres</a:t>
            </a:r>
            <a:endParaRPr lang="en-US" sz="1300" dirty="0"/>
          </a:p>
        </p:txBody>
      </p:sp>
      <p:sp>
        <p:nvSpPr>
          <p:cNvPr id="39" name="txt248"/>
          <p:cNvSpPr txBox="1"/>
          <p:nvPr/>
        </p:nvSpPr>
        <p:spPr>
          <a:xfrm>
            <a:off x="10469880" y="3986784"/>
            <a:ext cx="868680" cy="749808"/>
          </a:xfrm>
          <a:prstGeom prst="rect">
            <a:avLst/>
          </a:prstGeom>
          <a:noFill/>
          <a:ln/>
        </p:spPr>
        <p:txBody>
          <a:bodyPr wrap="square" lIns="0" tIns="0" rIns="0" bIns="0" rtlCol="0" anchor="ctr"/>
          <a:lstStyle/>
          <a:p>
            <a:pPr algn="r" indent="0" marL="0">
              <a:buNone/>
            </a:pPr>
            <a:r>
              <a:rPr lang="en-US" sz="1200" b="1" dirty="0">
                <a:solidFill>
                  <a:schemeClr val="accent4"/>
                </a:solidFill>
              </a:rPr>
              <a:t>422</a:t>
            </a:r>
            <a:endParaRPr lang="en-US" sz="1200" dirty="0"/>
          </a:p>
        </p:txBody>
      </p:sp>
      <p:sp>
        <p:nvSpPr>
          <p:cNvPr id="40" name="line249"/>
          <p:cNvSpPr/>
          <p:nvPr/>
        </p:nvSpPr>
        <p:spPr>
          <a:xfrm>
            <a:off x="9601200" y="4736592"/>
            <a:ext cx="0" cy="237744"/>
          </a:xfrm>
          <a:prstGeom prst="line">
            <a:avLst/>
          </a:prstGeom>
          <a:noFill/>
          <a:ln w="15875">
            <a:solidFill>
              <a:schemeClr val="bg2"/>
            </a:solidFill>
            <a:prstDash val="solid"/>
            <a:tailEnd type="triangle"/>
          </a:ln>
        </p:spPr>
      </p:sp>
      <p:sp>
        <p:nvSpPr>
          <p:cNvPr id="41" name="card250"/>
          <p:cNvSpPr/>
          <p:nvPr/>
        </p:nvSpPr>
        <p:spPr>
          <a:xfrm>
            <a:off x="7772400" y="4974336"/>
            <a:ext cx="3657600" cy="749808"/>
          </a:xfrm>
          <a:prstGeom prst="roundRect">
            <a:avLst>
              <a:gd name="adj" fmla="val 14634"/>
            </a:avLst>
          </a:prstGeom>
          <a:solidFill>
            <a:schemeClr val="tx1"/>
          </a:solidFill>
          <a:ln w="9525">
            <a:solidFill>
              <a:schemeClr val="accent3"/>
            </a:solidFill>
            <a:prstDash val="solid"/>
          </a:ln>
        </p:spPr>
      </p:sp>
      <p:sp>
        <p:nvSpPr>
          <p:cNvPr id="42" name="txt251"/>
          <p:cNvSpPr txBox="1"/>
          <p:nvPr/>
        </p:nvSpPr>
        <p:spPr>
          <a:xfrm>
            <a:off x="7936992" y="4974336"/>
            <a:ext cx="2651760" cy="749808"/>
          </a:xfrm>
          <a:prstGeom prst="rect">
            <a:avLst/>
          </a:prstGeom>
          <a:noFill/>
          <a:ln/>
        </p:spPr>
        <p:txBody>
          <a:bodyPr wrap="square" lIns="0" tIns="0" rIns="0" bIns="0" rtlCol="0" anchor="ctr"/>
          <a:lstStyle/>
          <a:p>
            <a:pPr indent="0" marL="0">
              <a:buNone/>
            </a:pPr>
            <a:r>
              <a:rPr lang="en-US" sz="1300" b="1" dirty="0">
                <a:solidFill>
                  <a:schemeClr val="accent3"/>
                </a:solidFill>
              </a:rPr>
              <a:t>Gemini</a:t>
            </a:r>
            <a:endParaRPr lang="en-US" sz="1300" dirty="0"/>
          </a:p>
          <a:p>
            <a:pPr indent="0" marL="0">
              <a:buNone/>
            </a:pPr>
            <a:r>
              <a:rPr lang="en-US" sz="1100" dirty="0">
                <a:solidFill>
                  <a:schemeClr val="bg2"/>
                </a:solidFill>
              </a:rPr>
              <a:t>una llamada con la clave privada</a:t>
            </a:r>
            <a:endParaRPr lang="en-US" sz="1300" dirty="0"/>
          </a:p>
        </p:txBody>
      </p:sp>
      <p:sp>
        <p:nvSpPr>
          <p:cNvPr id="43" name="txt252"/>
          <p:cNvSpPr txBox="1"/>
          <p:nvPr/>
        </p:nvSpPr>
        <p:spPr>
          <a:xfrm>
            <a:off x="10469880" y="4974336"/>
            <a:ext cx="868680" cy="749808"/>
          </a:xfrm>
          <a:prstGeom prst="rect">
            <a:avLst/>
          </a:prstGeom>
          <a:noFill/>
          <a:ln/>
        </p:spPr>
        <p:txBody>
          <a:bodyPr wrap="square" lIns="0" tIns="0" rIns="0" bIns="0" rtlCol="0" anchor="ctr"/>
          <a:lstStyle/>
          <a:p>
            <a:pPr algn="r" indent="0" marL="0">
              <a:buNone/>
            </a:pPr>
            <a:r>
              <a:rPr lang="en-US" sz="1200" b="1" dirty="0">
                <a:solidFill>
                  <a:schemeClr val="accent3"/>
                </a:solidFill>
              </a:rPr>
              <a:t>502 · 504</a:t>
            </a:r>
            <a:endParaRPr lang="en-US" sz="12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Diagrama de casos de uso</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DIAGRAMAS · 1 / 3</a:t>
            </a:r>
            <a:endParaRPr lang="en-US" sz="1200" dirty="0"/>
          </a:p>
        </p:txBody>
      </p:sp>
      <p:sp>
        <p:nvSpPr>
          <p:cNvPr id="4" name="presenta253"/>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254"/>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sp>
        <p:nvSpPr>
          <p:cNvPr id="6" name="actorHead"/>
          <p:cNvSpPr/>
          <p:nvPr/>
        </p:nvSpPr>
        <p:spPr>
          <a:xfrm>
            <a:off x="850392" y="2743200"/>
            <a:ext cx="402336" cy="402336"/>
          </a:xfrm>
          <a:prstGeom prst="ellipse">
            <a:avLst/>
          </a:prstGeom>
          <a:solidFill>
            <a:schemeClr val="tx2"/>
          </a:solidFill>
          <a:ln w="19050">
            <a:solidFill>
              <a:schemeClr val="bg1"/>
            </a:solidFill>
            <a:prstDash val="solid"/>
          </a:ln>
        </p:spPr>
      </p:sp>
      <p:sp>
        <p:nvSpPr>
          <p:cNvPr id="7" name="line255"/>
          <p:cNvSpPr/>
          <p:nvPr/>
        </p:nvSpPr>
        <p:spPr>
          <a:xfrm>
            <a:off x="1051560" y="3145536"/>
            <a:ext cx="0" cy="649224"/>
          </a:xfrm>
          <a:prstGeom prst="line">
            <a:avLst/>
          </a:prstGeom>
          <a:noFill/>
          <a:ln w="19050">
            <a:solidFill>
              <a:schemeClr val="bg1"/>
            </a:solidFill>
            <a:prstDash val="solid"/>
          </a:ln>
        </p:spPr>
      </p:sp>
      <p:sp>
        <p:nvSpPr>
          <p:cNvPr id="8" name="line256"/>
          <p:cNvSpPr/>
          <p:nvPr/>
        </p:nvSpPr>
        <p:spPr>
          <a:xfrm>
            <a:off x="704088" y="3337560"/>
            <a:ext cx="694944" cy="0"/>
          </a:xfrm>
          <a:prstGeom prst="line">
            <a:avLst/>
          </a:prstGeom>
          <a:noFill/>
          <a:ln w="19050">
            <a:solidFill>
              <a:schemeClr val="bg1"/>
            </a:solidFill>
            <a:prstDash val="solid"/>
          </a:ln>
        </p:spPr>
      </p:sp>
      <p:sp>
        <p:nvSpPr>
          <p:cNvPr id="9" name="line257"/>
          <p:cNvSpPr/>
          <p:nvPr/>
        </p:nvSpPr>
        <p:spPr>
          <a:xfrm flipH="1">
            <a:off x="777240" y="3794760"/>
            <a:ext cx="274320" cy="411480"/>
          </a:xfrm>
          <a:prstGeom prst="line">
            <a:avLst/>
          </a:prstGeom>
          <a:noFill/>
          <a:ln w="19050">
            <a:solidFill>
              <a:schemeClr val="bg1"/>
            </a:solidFill>
            <a:prstDash val="solid"/>
          </a:ln>
        </p:spPr>
      </p:sp>
      <p:sp>
        <p:nvSpPr>
          <p:cNvPr id="10" name="line258"/>
          <p:cNvSpPr/>
          <p:nvPr/>
        </p:nvSpPr>
        <p:spPr>
          <a:xfrm>
            <a:off x="1051560" y="3794760"/>
            <a:ext cx="274320" cy="411480"/>
          </a:xfrm>
          <a:prstGeom prst="line">
            <a:avLst/>
          </a:prstGeom>
          <a:noFill/>
          <a:ln w="19050">
            <a:solidFill>
              <a:schemeClr val="bg1"/>
            </a:solidFill>
            <a:prstDash val="solid"/>
          </a:ln>
        </p:spPr>
      </p:sp>
      <p:sp>
        <p:nvSpPr>
          <p:cNvPr id="11" name="txt259"/>
          <p:cNvSpPr txBox="1"/>
          <p:nvPr/>
        </p:nvSpPr>
        <p:spPr>
          <a:xfrm>
            <a:off x="502920" y="4297680"/>
            <a:ext cx="1097280" cy="274320"/>
          </a:xfrm>
          <a:prstGeom prst="rect">
            <a:avLst/>
          </a:prstGeom>
          <a:noFill/>
          <a:ln/>
        </p:spPr>
        <p:txBody>
          <a:bodyPr wrap="square" lIns="0" tIns="0" rIns="0" bIns="0" rtlCol="0" anchor="t"/>
          <a:lstStyle/>
          <a:p>
            <a:pPr algn="ctr" indent="0" marL="0">
              <a:buNone/>
            </a:pPr>
            <a:r>
              <a:rPr lang="en-US" sz="1300" b="1" dirty="0">
                <a:solidFill>
                  <a:schemeClr val="bg1"/>
                </a:solidFill>
              </a:rPr>
              <a:t>Usuario</a:t>
            </a:r>
            <a:endParaRPr lang="en-US" sz="1300" dirty="0"/>
          </a:p>
        </p:txBody>
      </p:sp>
      <p:sp>
        <p:nvSpPr>
          <p:cNvPr id="12" name="card260"/>
          <p:cNvSpPr/>
          <p:nvPr/>
        </p:nvSpPr>
        <p:spPr>
          <a:xfrm>
            <a:off x="2103120" y="1371600"/>
            <a:ext cx="7086600" cy="4663440"/>
          </a:xfrm>
          <a:prstGeom prst="roundRect">
            <a:avLst>
              <a:gd name="adj" fmla="val 2353"/>
            </a:avLst>
          </a:prstGeom>
          <a:solidFill>
            <a:schemeClr val="tx1"/>
          </a:solidFill>
          <a:ln w="9525">
            <a:solidFill>
              <a:schemeClr val="bg2">
                <a:alpha val="50000"/>
              </a:schemeClr>
            </a:solidFill>
            <a:prstDash val="dash"/>
          </a:ln>
        </p:spPr>
      </p:sp>
      <p:sp>
        <p:nvSpPr>
          <p:cNvPr id="13" name="txt261"/>
          <p:cNvSpPr txBox="1"/>
          <p:nvPr/>
        </p:nvSpPr>
        <p:spPr>
          <a:xfrm>
            <a:off x="2286000" y="1444752"/>
            <a:ext cx="2743200" cy="274320"/>
          </a:xfrm>
          <a:prstGeom prst="rect">
            <a:avLst/>
          </a:prstGeom>
          <a:noFill/>
          <a:ln/>
        </p:spPr>
        <p:txBody>
          <a:bodyPr wrap="square" lIns="0" tIns="0" rIns="0" bIns="0" rtlCol="0" anchor="t"/>
          <a:lstStyle/>
          <a:p>
            <a:pPr indent="0" marL="0">
              <a:buNone/>
            </a:pPr>
            <a:r>
              <a:rPr lang="en-US" sz="1200" b="1" dirty="0">
                <a:solidFill>
                  <a:schemeClr val="accent1"/>
                </a:solidFill>
              </a:rPr>
              <a:t>Sistema Musicfy</a:t>
            </a:r>
            <a:endParaRPr lang="en-US" sz="1200" dirty="0"/>
          </a:p>
        </p:txBody>
      </p:sp>
      <p:sp>
        <p:nvSpPr>
          <p:cNvPr id="14" name="uc262"/>
          <p:cNvSpPr/>
          <p:nvPr/>
        </p:nvSpPr>
        <p:spPr>
          <a:xfrm>
            <a:off x="2423160" y="1828800"/>
            <a:ext cx="2606040" cy="685800"/>
          </a:xfrm>
          <a:prstGeom prst="ellipse">
            <a:avLst/>
          </a:prstGeom>
          <a:solidFill>
            <a:schemeClr val="tx2"/>
          </a:solidFill>
          <a:ln w="15875">
            <a:solidFill>
              <a:schemeClr val="accent2"/>
            </a:solidFill>
            <a:prstDash val="solid"/>
          </a:ln>
        </p:spPr>
      </p:sp>
      <p:sp>
        <p:nvSpPr>
          <p:cNvPr id="15" name="txt263"/>
          <p:cNvSpPr txBox="1"/>
          <p:nvPr/>
        </p:nvSpPr>
        <p:spPr>
          <a:xfrm>
            <a:off x="2560320" y="1828800"/>
            <a:ext cx="2331720" cy="685800"/>
          </a:xfrm>
          <a:prstGeom prst="rect">
            <a:avLst/>
          </a:prstGeom>
          <a:noFill/>
          <a:ln/>
        </p:spPr>
        <p:txBody>
          <a:bodyPr wrap="square" lIns="0" tIns="0" rIns="0" bIns="0" rtlCol="0" anchor="ctr"/>
          <a:lstStyle/>
          <a:p>
            <a:pPr algn="ctr" indent="0" marL="0">
              <a:buNone/>
            </a:pPr>
            <a:r>
              <a:rPr lang="en-US" sz="1200" b="1" dirty="0">
                <a:solidFill>
                  <a:schemeClr val="bg1"/>
                </a:solidFill>
              </a:rPr>
              <a:t>Iniciar sesión (App 2)</a:t>
            </a:r>
            <a:endParaRPr lang="en-US" sz="1200" dirty="0"/>
          </a:p>
        </p:txBody>
      </p:sp>
      <p:sp>
        <p:nvSpPr>
          <p:cNvPr id="16" name="uc264"/>
          <p:cNvSpPr/>
          <p:nvPr/>
        </p:nvSpPr>
        <p:spPr>
          <a:xfrm>
            <a:off x="2423160" y="3154680"/>
            <a:ext cx="2606040" cy="685800"/>
          </a:xfrm>
          <a:prstGeom prst="ellipse">
            <a:avLst/>
          </a:prstGeom>
          <a:solidFill>
            <a:schemeClr val="tx2"/>
          </a:solidFill>
          <a:ln w="15875">
            <a:solidFill>
              <a:schemeClr val="accent1"/>
            </a:solidFill>
            <a:prstDash val="solid"/>
          </a:ln>
        </p:spPr>
      </p:sp>
      <p:sp>
        <p:nvSpPr>
          <p:cNvPr id="17" name="txt265"/>
          <p:cNvSpPr txBox="1"/>
          <p:nvPr/>
        </p:nvSpPr>
        <p:spPr>
          <a:xfrm>
            <a:off x="2560320" y="3154680"/>
            <a:ext cx="2331720" cy="685800"/>
          </a:xfrm>
          <a:prstGeom prst="rect">
            <a:avLst/>
          </a:prstGeom>
          <a:noFill/>
          <a:ln/>
        </p:spPr>
        <p:txBody>
          <a:bodyPr wrap="square" lIns="0" tIns="0" rIns="0" bIns="0" rtlCol="0" anchor="ctr"/>
          <a:lstStyle/>
          <a:p>
            <a:pPr algn="ctr" indent="0" marL="0">
              <a:buNone/>
            </a:pPr>
            <a:r>
              <a:rPr lang="en-US" sz="1200" b="1" dirty="0">
                <a:solidFill>
                  <a:schemeClr val="bg1"/>
                </a:solidFill>
              </a:rPr>
              <a:t>Pedir recomendaciones</a:t>
            </a:r>
            <a:endParaRPr lang="en-US" sz="1200" dirty="0"/>
          </a:p>
        </p:txBody>
      </p:sp>
      <p:sp>
        <p:nvSpPr>
          <p:cNvPr id="18" name="uc266"/>
          <p:cNvSpPr/>
          <p:nvPr/>
        </p:nvSpPr>
        <p:spPr>
          <a:xfrm>
            <a:off x="2423160" y="4526280"/>
            <a:ext cx="2606040" cy="685800"/>
          </a:xfrm>
          <a:prstGeom prst="ellipse">
            <a:avLst/>
          </a:prstGeom>
          <a:solidFill>
            <a:schemeClr val="tx2"/>
          </a:solidFill>
          <a:ln w="15875">
            <a:solidFill>
              <a:schemeClr val="accent1"/>
            </a:solidFill>
            <a:prstDash val="solid"/>
          </a:ln>
        </p:spPr>
      </p:sp>
      <p:sp>
        <p:nvSpPr>
          <p:cNvPr id="19" name="txt267"/>
          <p:cNvSpPr txBox="1"/>
          <p:nvPr/>
        </p:nvSpPr>
        <p:spPr>
          <a:xfrm>
            <a:off x="2560320" y="4526280"/>
            <a:ext cx="2331720" cy="685800"/>
          </a:xfrm>
          <a:prstGeom prst="rect">
            <a:avLst/>
          </a:prstGeom>
          <a:noFill/>
          <a:ln/>
        </p:spPr>
        <p:txBody>
          <a:bodyPr wrap="square" lIns="0" tIns="0" rIns="0" bIns="0" rtlCol="0" anchor="ctr"/>
          <a:lstStyle/>
          <a:p>
            <a:pPr algn="ctr" indent="0" marL="0">
              <a:buNone/>
            </a:pPr>
            <a:r>
              <a:rPr lang="en-US" sz="1200" b="1" dirty="0">
                <a:solidFill>
                  <a:schemeClr val="bg1"/>
                </a:solidFill>
              </a:rPr>
              <a:t>Ver recomendaciones</a:t>
            </a:r>
            <a:endParaRPr lang="en-US" sz="1200" dirty="0"/>
          </a:p>
        </p:txBody>
      </p:sp>
      <p:sp>
        <p:nvSpPr>
          <p:cNvPr id="20" name="uc268"/>
          <p:cNvSpPr/>
          <p:nvPr/>
        </p:nvSpPr>
        <p:spPr>
          <a:xfrm>
            <a:off x="6263640" y="1828800"/>
            <a:ext cx="2697480" cy="685800"/>
          </a:xfrm>
          <a:prstGeom prst="ellipse">
            <a:avLst/>
          </a:prstGeom>
          <a:solidFill>
            <a:schemeClr val="tx2"/>
          </a:solidFill>
          <a:ln w="15875">
            <a:solidFill>
              <a:schemeClr val="accent2"/>
            </a:solidFill>
            <a:prstDash val="solid"/>
          </a:ln>
        </p:spPr>
      </p:sp>
      <p:sp>
        <p:nvSpPr>
          <p:cNvPr id="21" name="txt269"/>
          <p:cNvSpPr txBox="1"/>
          <p:nvPr/>
        </p:nvSpPr>
        <p:spPr>
          <a:xfrm>
            <a:off x="6400800" y="1828800"/>
            <a:ext cx="2423160" cy="685800"/>
          </a:xfrm>
          <a:prstGeom prst="rect">
            <a:avLst/>
          </a:prstGeom>
          <a:noFill/>
          <a:ln/>
        </p:spPr>
        <p:txBody>
          <a:bodyPr wrap="square" lIns="0" tIns="0" rIns="0" bIns="0" rtlCol="0" anchor="ctr"/>
          <a:lstStyle/>
          <a:p>
            <a:pPr algn="ctr" indent="0" marL="0">
              <a:buNone/>
            </a:pPr>
            <a:r>
              <a:rPr lang="en-US" sz="1200" b="1" dirty="0">
                <a:solidFill>
                  <a:schemeClr val="bg1"/>
                </a:solidFill>
              </a:rPr>
              <a:t>Verificar token (App 2)</a:t>
            </a:r>
            <a:endParaRPr lang="en-US" sz="1200" dirty="0"/>
          </a:p>
        </p:txBody>
      </p:sp>
      <p:sp>
        <p:nvSpPr>
          <p:cNvPr id="22" name="uc270"/>
          <p:cNvSpPr/>
          <p:nvPr/>
        </p:nvSpPr>
        <p:spPr>
          <a:xfrm>
            <a:off x="6263640" y="2788920"/>
            <a:ext cx="2697480" cy="685800"/>
          </a:xfrm>
          <a:prstGeom prst="ellipse">
            <a:avLst/>
          </a:prstGeom>
          <a:solidFill>
            <a:schemeClr val="tx2"/>
          </a:solidFill>
          <a:ln w="15875">
            <a:solidFill>
              <a:schemeClr val="accent1"/>
            </a:solidFill>
            <a:prstDash val="solid"/>
          </a:ln>
        </p:spPr>
      </p:sp>
      <p:sp>
        <p:nvSpPr>
          <p:cNvPr id="23" name="txt271"/>
          <p:cNvSpPr txBox="1"/>
          <p:nvPr/>
        </p:nvSpPr>
        <p:spPr>
          <a:xfrm>
            <a:off x="6400800" y="2788920"/>
            <a:ext cx="2423160" cy="685800"/>
          </a:xfrm>
          <a:prstGeom prst="rect">
            <a:avLst/>
          </a:prstGeom>
          <a:noFill/>
          <a:ln/>
        </p:spPr>
        <p:txBody>
          <a:bodyPr wrap="square" lIns="0" tIns="0" rIns="0" bIns="0" rtlCol="0" anchor="ctr"/>
          <a:lstStyle/>
          <a:p>
            <a:pPr algn="ctr" indent="0" marL="0">
              <a:buNone/>
            </a:pPr>
            <a:r>
              <a:rPr lang="en-US" sz="1200" b="1" dirty="0">
                <a:solidFill>
                  <a:schemeClr val="bg1"/>
                </a:solidFill>
              </a:rPr>
              <a:t>Validar entrada</a:t>
            </a:r>
            <a:endParaRPr lang="en-US" sz="1200" dirty="0"/>
          </a:p>
        </p:txBody>
      </p:sp>
      <p:sp>
        <p:nvSpPr>
          <p:cNvPr id="24" name="uc272"/>
          <p:cNvSpPr/>
          <p:nvPr/>
        </p:nvSpPr>
        <p:spPr>
          <a:xfrm>
            <a:off x="6263640" y="3749040"/>
            <a:ext cx="2697480" cy="685800"/>
          </a:xfrm>
          <a:prstGeom prst="ellipse">
            <a:avLst/>
          </a:prstGeom>
          <a:solidFill>
            <a:schemeClr val="tx2"/>
          </a:solidFill>
          <a:ln w="15875">
            <a:solidFill>
              <a:schemeClr val="accent1"/>
            </a:solidFill>
            <a:prstDash val="solid"/>
          </a:ln>
        </p:spPr>
      </p:sp>
      <p:sp>
        <p:nvSpPr>
          <p:cNvPr id="25" name="txt273"/>
          <p:cNvSpPr txBox="1"/>
          <p:nvPr/>
        </p:nvSpPr>
        <p:spPr>
          <a:xfrm>
            <a:off x="6400800" y="3749040"/>
            <a:ext cx="2423160" cy="685800"/>
          </a:xfrm>
          <a:prstGeom prst="rect">
            <a:avLst/>
          </a:prstGeom>
          <a:noFill/>
          <a:ln/>
        </p:spPr>
        <p:txBody>
          <a:bodyPr wrap="square" lIns="0" tIns="0" rIns="0" bIns="0" rtlCol="0" anchor="ctr"/>
          <a:lstStyle/>
          <a:p>
            <a:pPr algn="ctr" indent="0" marL="0">
              <a:buNone/>
            </a:pPr>
            <a:r>
              <a:rPr lang="en-US" sz="1200" b="1" dirty="0">
                <a:solidFill>
                  <a:schemeClr val="bg1"/>
                </a:solidFill>
              </a:rPr>
              <a:t>Consultar la IA</a:t>
            </a:r>
            <a:endParaRPr lang="en-US" sz="1200" dirty="0"/>
          </a:p>
        </p:txBody>
      </p:sp>
      <p:sp>
        <p:nvSpPr>
          <p:cNvPr id="26" name="uc274"/>
          <p:cNvSpPr/>
          <p:nvPr/>
        </p:nvSpPr>
        <p:spPr>
          <a:xfrm>
            <a:off x="6263640" y="4937760"/>
            <a:ext cx="2697480" cy="685800"/>
          </a:xfrm>
          <a:prstGeom prst="ellipse">
            <a:avLst/>
          </a:prstGeom>
          <a:solidFill>
            <a:schemeClr val="tx2"/>
          </a:solidFill>
          <a:ln w="15875">
            <a:solidFill>
              <a:schemeClr val="accent5"/>
            </a:solidFill>
            <a:prstDash val="solid"/>
          </a:ln>
        </p:spPr>
      </p:sp>
      <p:sp>
        <p:nvSpPr>
          <p:cNvPr id="27" name="txt275"/>
          <p:cNvSpPr txBox="1"/>
          <p:nvPr/>
        </p:nvSpPr>
        <p:spPr>
          <a:xfrm>
            <a:off x="6400800" y="4937760"/>
            <a:ext cx="2423160" cy="685800"/>
          </a:xfrm>
          <a:prstGeom prst="rect">
            <a:avLst/>
          </a:prstGeom>
          <a:noFill/>
          <a:ln/>
        </p:spPr>
        <p:txBody>
          <a:bodyPr wrap="square" lIns="0" tIns="0" rIns="0" bIns="0" rtlCol="0" anchor="ctr"/>
          <a:lstStyle/>
          <a:p>
            <a:pPr algn="ctr" indent="0" marL="0">
              <a:buNone/>
            </a:pPr>
            <a:r>
              <a:rPr lang="en-US" sz="1200" b="1" dirty="0">
                <a:solidFill>
                  <a:schemeClr val="bg1"/>
                </a:solidFill>
              </a:rPr>
              <a:t>Ver aviso de error</a:t>
            </a:r>
            <a:endParaRPr lang="en-US" sz="1200" dirty="0"/>
          </a:p>
        </p:txBody>
      </p:sp>
      <p:sp>
        <p:nvSpPr>
          <p:cNvPr id="28" name="line276"/>
          <p:cNvSpPr/>
          <p:nvPr/>
        </p:nvSpPr>
        <p:spPr>
          <a:xfrm flipV="1">
            <a:off x="1463040" y="2176272"/>
            <a:ext cx="960120" cy="1161288"/>
          </a:xfrm>
          <a:prstGeom prst="line">
            <a:avLst/>
          </a:prstGeom>
          <a:noFill/>
          <a:ln w="15875">
            <a:solidFill>
              <a:schemeClr val="bg1"/>
            </a:solidFill>
            <a:prstDash val="solid"/>
          </a:ln>
        </p:spPr>
      </p:sp>
      <p:sp>
        <p:nvSpPr>
          <p:cNvPr id="29" name="line277"/>
          <p:cNvSpPr/>
          <p:nvPr/>
        </p:nvSpPr>
        <p:spPr>
          <a:xfrm>
            <a:off x="1463040" y="3337560"/>
            <a:ext cx="960120" cy="164592"/>
          </a:xfrm>
          <a:prstGeom prst="line">
            <a:avLst/>
          </a:prstGeom>
          <a:noFill/>
          <a:ln w="15875">
            <a:solidFill>
              <a:schemeClr val="bg1"/>
            </a:solidFill>
            <a:prstDash val="solid"/>
          </a:ln>
        </p:spPr>
      </p:sp>
      <p:sp>
        <p:nvSpPr>
          <p:cNvPr id="30" name="line278"/>
          <p:cNvSpPr/>
          <p:nvPr/>
        </p:nvSpPr>
        <p:spPr>
          <a:xfrm>
            <a:off x="1463040" y="3337560"/>
            <a:ext cx="960120" cy="1536192"/>
          </a:xfrm>
          <a:prstGeom prst="line">
            <a:avLst/>
          </a:prstGeom>
          <a:noFill/>
          <a:ln w="15875">
            <a:solidFill>
              <a:schemeClr val="bg1"/>
            </a:solidFill>
            <a:prstDash val="solid"/>
          </a:ln>
        </p:spPr>
      </p:sp>
      <p:sp>
        <p:nvSpPr>
          <p:cNvPr id="31" name="line279"/>
          <p:cNvSpPr/>
          <p:nvPr/>
        </p:nvSpPr>
        <p:spPr>
          <a:xfrm flipV="1">
            <a:off x="5029200" y="2194560"/>
            <a:ext cx="1234440" cy="1143000"/>
          </a:xfrm>
          <a:prstGeom prst="line">
            <a:avLst/>
          </a:prstGeom>
          <a:noFill/>
          <a:ln w="15875">
            <a:solidFill>
              <a:schemeClr val="accent1"/>
            </a:solidFill>
            <a:prstDash val="dash"/>
            <a:tailEnd type="triangle"/>
          </a:ln>
        </p:spPr>
      </p:sp>
      <p:sp>
        <p:nvSpPr>
          <p:cNvPr id="32" name="line280"/>
          <p:cNvSpPr/>
          <p:nvPr/>
        </p:nvSpPr>
        <p:spPr>
          <a:xfrm flipV="1">
            <a:off x="5029200" y="3127248"/>
            <a:ext cx="1234440" cy="347472"/>
          </a:xfrm>
          <a:prstGeom prst="line">
            <a:avLst/>
          </a:prstGeom>
          <a:noFill/>
          <a:ln w="15875">
            <a:solidFill>
              <a:schemeClr val="accent1"/>
            </a:solidFill>
            <a:prstDash val="dash"/>
            <a:tailEnd type="triangle"/>
          </a:ln>
        </p:spPr>
      </p:sp>
      <p:sp>
        <p:nvSpPr>
          <p:cNvPr id="33" name="line281"/>
          <p:cNvSpPr/>
          <p:nvPr/>
        </p:nvSpPr>
        <p:spPr>
          <a:xfrm>
            <a:off x="5029200" y="3611880"/>
            <a:ext cx="1234440" cy="457200"/>
          </a:xfrm>
          <a:prstGeom prst="line">
            <a:avLst/>
          </a:prstGeom>
          <a:noFill/>
          <a:ln w="15875">
            <a:solidFill>
              <a:schemeClr val="accent1"/>
            </a:solidFill>
            <a:prstDash val="dash"/>
            <a:tailEnd type="triangle"/>
          </a:ln>
        </p:spPr>
      </p:sp>
      <p:sp>
        <p:nvSpPr>
          <p:cNvPr id="34" name="txt282"/>
          <p:cNvSpPr txBox="1"/>
          <p:nvPr/>
        </p:nvSpPr>
        <p:spPr>
          <a:xfrm>
            <a:off x="5074920" y="2606040"/>
            <a:ext cx="914400" cy="228600"/>
          </a:xfrm>
          <a:prstGeom prst="rect">
            <a:avLst/>
          </a:prstGeom>
          <a:noFill/>
          <a:ln/>
        </p:spPr>
        <p:txBody>
          <a:bodyPr wrap="square" lIns="0" tIns="0" rIns="0" bIns="0" rtlCol="0" anchor="t"/>
          <a:lstStyle/>
          <a:p>
            <a:pPr indent="0" marL="0">
              <a:buNone/>
            </a:pPr>
            <a:r>
              <a:rPr lang="en-US" sz="1000" dirty="0">
                <a:solidFill>
                  <a:schemeClr val="accent1"/>
                </a:solidFill>
              </a:rPr>
              <a:t>«include»</a:t>
            </a:r>
            <a:endParaRPr lang="en-US" sz="1000" dirty="0"/>
          </a:p>
        </p:txBody>
      </p:sp>
      <p:sp>
        <p:nvSpPr>
          <p:cNvPr id="35" name="line283"/>
          <p:cNvSpPr/>
          <p:nvPr/>
        </p:nvSpPr>
        <p:spPr>
          <a:xfrm flipH="1" flipV="1">
            <a:off x="4846320" y="3840480"/>
            <a:ext cx="1417320" cy="1417320"/>
          </a:xfrm>
          <a:prstGeom prst="line">
            <a:avLst/>
          </a:prstGeom>
          <a:noFill/>
          <a:ln w="15875">
            <a:solidFill>
              <a:schemeClr val="accent5"/>
            </a:solidFill>
            <a:prstDash val="dash"/>
            <a:tailEnd type="triangle"/>
          </a:ln>
        </p:spPr>
      </p:sp>
      <p:sp>
        <p:nvSpPr>
          <p:cNvPr id="36" name="txt284"/>
          <p:cNvSpPr txBox="1"/>
          <p:nvPr/>
        </p:nvSpPr>
        <p:spPr>
          <a:xfrm>
            <a:off x="4617720" y="4434840"/>
            <a:ext cx="914400" cy="228600"/>
          </a:xfrm>
          <a:prstGeom prst="rect">
            <a:avLst/>
          </a:prstGeom>
          <a:noFill/>
          <a:ln/>
        </p:spPr>
        <p:txBody>
          <a:bodyPr wrap="square" lIns="0" tIns="0" rIns="0" bIns="0" rtlCol="0" anchor="t"/>
          <a:lstStyle/>
          <a:p>
            <a:pPr indent="0" marL="0">
              <a:buNone/>
            </a:pPr>
            <a:r>
              <a:rPr lang="en-US" sz="1000" dirty="0">
                <a:solidFill>
                  <a:schemeClr val="accent5"/>
                </a:solidFill>
              </a:rPr>
              <a:t>«extend»</a:t>
            </a:r>
            <a:endParaRPr lang="en-US" sz="1000" dirty="0"/>
          </a:p>
        </p:txBody>
      </p:sp>
      <p:sp>
        <p:nvSpPr>
          <p:cNvPr id="37" name="txt285"/>
          <p:cNvSpPr txBox="1"/>
          <p:nvPr/>
        </p:nvSpPr>
        <p:spPr>
          <a:xfrm>
            <a:off x="6263640" y="5669280"/>
            <a:ext cx="2697480" cy="256032"/>
          </a:xfrm>
          <a:prstGeom prst="rect">
            <a:avLst/>
          </a:prstGeom>
          <a:noFill/>
          <a:ln/>
        </p:spPr>
        <p:txBody>
          <a:bodyPr wrap="square" lIns="0" tIns="0" rIns="0" bIns="0" rtlCol="0" anchor="t"/>
          <a:lstStyle/>
          <a:p>
            <a:pPr algn="ctr" indent="0" marL="0">
              <a:buNone/>
            </a:pPr>
            <a:r>
              <a:rPr lang="en-US" sz="1000" dirty="0">
                <a:solidFill>
                  <a:schemeClr val="accent5"/>
                </a:solidFill>
              </a:rPr>
              <a:t>A1 · 422   A2 · 502/504   A3 · 401</a:t>
            </a:r>
            <a:endParaRPr lang="en-US" sz="1000" dirty="0"/>
          </a:p>
        </p:txBody>
      </p:sp>
      <p:sp>
        <p:nvSpPr>
          <p:cNvPr id="38" name="card286"/>
          <p:cNvSpPr/>
          <p:nvPr/>
        </p:nvSpPr>
        <p:spPr>
          <a:xfrm>
            <a:off x="9646920" y="1828800"/>
            <a:ext cx="2011680" cy="685800"/>
          </a:xfrm>
          <a:prstGeom prst="roundRect">
            <a:avLst>
              <a:gd name="adj" fmla="val 16000"/>
            </a:avLst>
          </a:prstGeom>
          <a:solidFill>
            <a:schemeClr val="tx2"/>
          </a:solidFill>
          <a:ln w="15875">
            <a:solidFill>
              <a:schemeClr val="accent2"/>
            </a:solidFill>
            <a:prstDash val="solid"/>
          </a:ln>
        </p:spPr>
      </p:sp>
      <p:sp>
        <p:nvSpPr>
          <p:cNvPr id="39" name="txt287"/>
          <p:cNvSpPr txBox="1"/>
          <p:nvPr/>
        </p:nvSpPr>
        <p:spPr>
          <a:xfrm>
            <a:off x="9720072" y="1828800"/>
            <a:ext cx="1865376" cy="685800"/>
          </a:xfrm>
          <a:prstGeom prst="rect">
            <a:avLst/>
          </a:prstGeom>
          <a:noFill/>
          <a:ln/>
        </p:spPr>
        <p:txBody>
          <a:bodyPr wrap="square" lIns="0" tIns="0" rIns="0" bIns="0" rtlCol="0" anchor="ctr"/>
          <a:lstStyle/>
          <a:p>
            <a:pPr algn="ctr" indent="0" marL="0">
              <a:buNone/>
            </a:pPr>
            <a:r>
              <a:rPr lang="en-US" sz="1300" b="1" dirty="0">
                <a:solidFill>
                  <a:schemeClr val="accent2"/>
                </a:solidFill>
              </a:rPr>
              <a:t>Clerk</a:t>
            </a:r>
            <a:endParaRPr lang="en-US" sz="1400" dirty="0"/>
          </a:p>
          <a:p>
            <a:pPr algn="ctr" indent="0" marL="0">
              <a:buNone/>
            </a:pPr>
            <a:r>
              <a:rPr lang="en-US" sz="1100" dirty="0">
                <a:solidFill>
                  <a:schemeClr val="bg2"/>
                </a:solidFill>
              </a:rPr>
              <a:t>identidad</a:t>
            </a:r>
            <a:endParaRPr lang="en-US" sz="1400" dirty="0"/>
          </a:p>
        </p:txBody>
      </p:sp>
      <p:sp>
        <p:nvSpPr>
          <p:cNvPr id="40" name="card288"/>
          <p:cNvSpPr/>
          <p:nvPr/>
        </p:nvSpPr>
        <p:spPr>
          <a:xfrm>
            <a:off x="9646920" y="3749040"/>
            <a:ext cx="2011680" cy="685800"/>
          </a:xfrm>
          <a:prstGeom prst="roundRect">
            <a:avLst>
              <a:gd name="adj" fmla="val 16000"/>
            </a:avLst>
          </a:prstGeom>
          <a:solidFill>
            <a:schemeClr val="tx2"/>
          </a:solidFill>
          <a:ln w="15875">
            <a:solidFill>
              <a:schemeClr val="accent3"/>
            </a:solidFill>
            <a:prstDash val="solid"/>
          </a:ln>
        </p:spPr>
      </p:sp>
      <p:sp>
        <p:nvSpPr>
          <p:cNvPr id="41" name="txt289"/>
          <p:cNvSpPr txBox="1"/>
          <p:nvPr/>
        </p:nvSpPr>
        <p:spPr>
          <a:xfrm>
            <a:off x="9720072" y="3749040"/>
            <a:ext cx="1865376" cy="685800"/>
          </a:xfrm>
          <a:prstGeom prst="rect">
            <a:avLst/>
          </a:prstGeom>
          <a:noFill/>
          <a:ln/>
        </p:spPr>
        <p:txBody>
          <a:bodyPr wrap="square" lIns="0" tIns="0" rIns="0" bIns="0" rtlCol="0" anchor="ctr"/>
          <a:lstStyle/>
          <a:p>
            <a:pPr algn="ctr" indent="0" marL="0">
              <a:buNone/>
            </a:pPr>
            <a:r>
              <a:rPr lang="en-US" sz="1300" b="1" dirty="0">
                <a:solidFill>
                  <a:schemeClr val="accent3"/>
                </a:solidFill>
              </a:rPr>
              <a:t>API de Gemini</a:t>
            </a:r>
            <a:endParaRPr lang="en-US" sz="1400" dirty="0"/>
          </a:p>
          <a:p>
            <a:pPr algn="ctr" indent="0" marL="0">
              <a:buNone/>
            </a:pPr>
            <a:r>
              <a:rPr lang="en-US" sz="1100" dirty="0">
                <a:solidFill>
                  <a:schemeClr val="bg2"/>
                </a:solidFill>
              </a:rPr>
              <a:t>proveedor de IA</a:t>
            </a:r>
            <a:endParaRPr lang="en-US" sz="1400" dirty="0"/>
          </a:p>
        </p:txBody>
      </p:sp>
      <p:sp>
        <p:nvSpPr>
          <p:cNvPr id="42" name="line290"/>
          <p:cNvSpPr/>
          <p:nvPr/>
        </p:nvSpPr>
        <p:spPr>
          <a:xfrm>
            <a:off x="8961120" y="2176272"/>
            <a:ext cx="685800" cy="0"/>
          </a:xfrm>
          <a:prstGeom prst="line">
            <a:avLst/>
          </a:prstGeom>
          <a:noFill/>
          <a:ln w="15875">
            <a:solidFill>
              <a:schemeClr val="accent2"/>
            </a:solidFill>
            <a:prstDash val="solid"/>
          </a:ln>
        </p:spPr>
      </p:sp>
      <p:sp>
        <p:nvSpPr>
          <p:cNvPr id="43" name="line291"/>
          <p:cNvSpPr/>
          <p:nvPr/>
        </p:nvSpPr>
        <p:spPr>
          <a:xfrm>
            <a:off x="8961120" y="4096512"/>
            <a:ext cx="685800" cy="0"/>
          </a:xfrm>
          <a:prstGeom prst="line">
            <a:avLst/>
          </a:prstGeom>
          <a:noFill/>
          <a:ln w="15875">
            <a:solidFill>
              <a:schemeClr val="accent3"/>
            </a:solidFill>
            <a:prstDash val="solid"/>
          </a:ln>
        </p:spPr>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Diagrama de secuencia (App 2)</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DIAGRAMAS · 2 / 3</a:t>
            </a:r>
            <a:endParaRPr lang="en-US" sz="1200" dirty="0"/>
          </a:p>
        </p:txBody>
      </p:sp>
      <p:sp>
        <p:nvSpPr>
          <p:cNvPr id="4" name="presenta292"/>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293"/>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Mario Luna</a:t>
            </a:r>
            <a:endParaRPr lang="en-US" sz="1100" dirty="0"/>
          </a:p>
        </p:txBody>
      </p:sp>
      <p:sp>
        <p:nvSpPr>
          <p:cNvPr id="6" name="card294"/>
          <p:cNvSpPr/>
          <p:nvPr/>
        </p:nvSpPr>
        <p:spPr>
          <a:xfrm>
            <a:off x="365760" y="1298448"/>
            <a:ext cx="1920240" cy="457200"/>
          </a:xfrm>
          <a:prstGeom prst="roundRect">
            <a:avLst>
              <a:gd name="adj" fmla="val 24000"/>
            </a:avLst>
          </a:prstGeom>
          <a:solidFill>
            <a:schemeClr val="tx2"/>
          </a:solidFill>
          <a:ln w="15875">
            <a:solidFill>
              <a:schemeClr val="bg1"/>
            </a:solidFill>
            <a:prstDash val="solid"/>
          </a:ln>
        </p:spPr>
      </p:sp>
      <p:sp>
        <p:nvSpPr>
          <p:cNvPr id="7" name="txt295"/>
          <p:cNvSpPr txBox="1"/>
          <p:nvPr/>
        </p:nvSpPr>
        <p:spPr>
          <a:xfrm>
            <a:off x="438912" y="1298448"/>
            <a:ext cx="1773936" cy="457200"/>
          </a:xfrm>
          <a:prstGeom prst="rect">
            <a:avLst/>
          </a:prstGeom>
          <a:noFill/>
          <a:ln/>
        </p:spPr>
        <p:txBody>
          <a:bodyPr wrap="square" lIns="0" tIns="0" rIns="0" bIns="0" rtlCol="0" anchor="ctr"/>
          <a:lstStyle/>
          <a:p>
            <a:pPr algn="ctr" indent="0" marL="0">
              <a:buNone/>
            </a:pPr>
            <a:r>
              <a:rPr lang="en-US" sz="1200" b="1" dirty="0">
                <a:solidFill>
                  <a:schemeClr val="bg1"/>
                </a:solidFill>
              </a:rPr>
              <a:t>Usuario</a:t>
            </a:r>
            <a:endParaRPr lang="en-US" sz="1400" dirty="0"/>
          </a:p>
        </p:txBody>
      </p:sp>
      <p:sp>
        <p:nvSpPr>
          <p:cNvPr id="8" name="line296"/>
          <p:cNvSpPr/>
          <p:nvPr/>
        </p:nvSpPr>
        <p:spPr>
          <a:xfrm>
            <a:off x="1325880" y="1755648"/>
            <a:ext cx="0" cy="4297680"/>
          </a:xfrm>
          <a:prstGeom prst="line">
            <a:avLst/>
          </a:prstGeom>
          <a:noFill/>
          <a:ln w="9525">
            <a:solidFill>
              <a:schemeClr val="bg2"/>
            </a:solidFill>
            <a:prstDash val="dash"/>
          </a:ln>
        </p:spPr>
      </p:sp>
      <p:sp>
        <p:nvSpPr>
          <p:cNvPr id="9" name="card297"/>
          <p:cNvSpPr/>
          <p:nvPr/>
        </p:nvSpPr>
        <p:spPr>
          <a:xfrm>
            <a:off x="2697480" y="1298448"/>
            <a:ext cx="1920240" cy="457200"/>
          </a:xfrm>
          <a:prstGeom prst="roundRect">
            <a:avLst>
              <a:gd name="adj" fmla="val 24000"/>
            </a:avLst>
          </a:prstGeom>
          <a:solidFill>
            <a:schemeClr val="tx2"/>
          </a:solidFill>
          <a:ln w="15875">
            <a:solidFill>
              <a:schemeClr val="accent1"/>
            </a:solidFill>
            <a:prstDash val="solid"/>
          </a:ln>
        </p:spPr>
      </p:sp>
      <p:sp>
        <p:nvSpPr>
          <p:cNvPr id="10" name="txt298"/>
          <p:cNvSpPr txBox="1"/>
          <p:nvPr/>
        </p:nvSpPr>
        <p:spPr>
          <a:xfrm>
            <a:off x="2770632" y="1298448"/>
            <a:ext cx="1773936" cy="457200"/>
          </a:xfrm>
          <a:prstGeom prst="rect">
            <a:avLst/>
          </a:prstGeom>
          <a:noFill/>
          <a:ln/>
        </p:spPr>
        <p:txBody>
          <a:bodyPr wrap="square" lIns="0" tIns="0" rIns="0" bIns="0" rtlCol="0" anchor="ctr"/>
          <a:lstStyle/>
          <a:p>
            <a:pPr algn="ctr" indent="0" marL="0">
              <a:buNone/>
            </a:pPr>
            <a:r>
              <a:rPr lang="en-US" sz="1200" b="1" dirty="0">
                <a:solidFill>
                  <a:schemeClr val="accent1"/>
                </a:solidFill>
              </a:rPr>
              <a:t>SPA · Vue + Clerk</a:t>
            </a:r>
            <a:endParaRPr lang="en-US" sz="1400" dirty="0"/>
          </a:p>
        </p:txBody>
      </p:sp>
      <p:sp>
        <p:nvSpPr>
          <p:cNvPr id="11" name="line299"/>
          <p:cNvSpPr/>
          <p:nvPr/>
        </p:nvSpPr>
        <p:spPr>
          <a:xfrm>
            <a:off x="3657600" y="1755648"/>
            <a:ext cx="0" cy="4297680"/>
          </a:xfrm>
          <a:prstGeom prst="line">
            <a:avLst/>
          </a:prstGeom>
          <a:noFill/>
          <a:ln w="9525">
            <a:solidFill>
              <a:schemeClr val="bg2"/>
            </a:solidFill>
            <a:prstDash val="dash"/>
          </a:ln>
        </p:spPr>
      </p:sp>
      <p:sp>
        <p:nvSpPr>
          <p:cNvPr id="12" name="card300"/>
          <p:cNvSpPr/>
          <p:nvPr/>
        </p:nvSpPr>
        <p:spPr>
          <a:xfrm>
            <a:off x="5029200" y="1298448"/>
            <a:ext cx="1920240" cy="457200"/>
          </a:xfrm>
          <a:prstGeom prst="roundRect">
            <a:avLst>
              <a:gd name="adj" fmla="val 24000"/>
            </a:avLst>
          </a:prstGeom>
          <a:solidFill>
            <a:schemeClr val="tx2"/>
          </a:solidFill>
          <a:ln w="15875">
            <a:solidFill>
              <a:schemeClr val="bg1"/>
            </a:solidFill>
            <a:prstDash val="solid"/>
          </a:ln>
        </p:spPr>
      </p:sp>
      <p:sp>
        <p:nvSpPr>
          <p:cNvPr id="13" name="txt301"/>
          <p:cNvSpPr txBox="1"/>
          <p:nvPr/>
        </p:nvSpPr>
        <p:spPr>
          <a:xfrm>
            <a:off x="5102352" y="1298448"/>
            <a:ext cx="1773936" cy="457200"/>
          </a:xfrm>
          <a:prstGeom prst="rect">
            <a:avLst/>
          </a:prstGeom>
          <a:noFill/>
          <a:ln/>
        </p:spPr>
        <p:txBody>
          <a:bodyPr wrap="square" lIns="0" tIns="0" rIns="0" bIns="0" rtlCol="0" anchor="ctr"/>
          <a:lstStyle/>
          <a:p>
            <a:pPr algn="ctr" indent="0" marL="0">
              <a:buNone/>
            </a:pPr>
            <a:r>
              <a:rPr lang="en-US" sz="1200" b="1" dirty="0">
                <a:solidFill>
                  <a:schemeClr val="bg1"/>
                </a:solidFill>
              </a:rPr>
              <a:t>Backend FastAPI</a:t>
            </a:r>
            <a:endParaRPr lang="en-US" sz="1400" dirty="0"/>
          </a:p>
        </p:txBody>
      </p:sp>
      <p:sp>
        <p:nvSpPr>
          <p:cNvPr id="14" name="line302"/>
          <p:cNvSpPr/>
          <p:nvPr/>
        </p:nvSpPr>
        <p:spPr>
          <a:xfrm>
            <a:off x="5989320" y="1755648"/>
            <a:ext cx="0" cy="4297680"/>
          </a:xfrm>
          <a:prstGeom prst="line">
            <a:avLst/>
          </a:prstGeom>
          <a:noFill/>
          <a:ln w="9525">
            <a:solidFill>
              <a:schemeClr val="bg2"/>
            </a:solidFill>
            <a:prstDash val="dash"/>
          </a:ln>
        </p:spPr>
      </p:sp>
      <p:sp>
        <p:nvSpPr>
          <p:cNvPr id="15" name="card303"/>
          <p:cNvSpPr/>
          <p:nvPr/>
        </p:nvSpPr>
        <p:spPr>
          <a:xfrm>
            <a:off x="7360920" y="1298448"/>
            <a:ext cx="1920240" cy="457200"/>
          </a:xfrm>
          <a:prstGeom prst="roundRect">
            <a:avLst>
              <a:gd name="adj" fmla="val 24000"/>
            </a:avLst>
          </a:prstGeom>
          <a:solidFill>
            <a:schemeClr val="tx2"/>
          </a:solidFill>
          <a:ln w="15875">
            <a:solidFill>
              <a:schemeClr val="accent2"/>
            </a:solidFill>
            <a:prstDash val="solid"/>
          </a:ln>
        </p:spPr>
      </p:sp>
      <p:sp>
        <p:nvSpPr>
          <p:cNvPr id="16" name="txt304"/>
          <p:cNvSpPr txBox="1"/>
          <p:nvPr/>
        </p:nvSpPr>
        <p:spPr>
          <a:xfrm>
            <a:off x="7434072" y="1298448"/>
            <a:ext cx="1773936" cy="457200"/>
          </a:xfrm>
          <a:prstGeom prst="rect">
            <a:avLst/>
          </a:prstGeom>
          <a:noFill/>
          <a:ln/>
        </p:spPr>
        <p:txBody>
          <a:bodyPr wrap="square" lIns="0" tIns="0" rIns="0" bIns="0" rtlCol="0" anchor="ctr"/>
          <a:lstStyle/>
          <a:p>
            <a:pPr algn="ctr" indent="0" marL="0">
              <a:buNone/>
            </a:pPr>
            <a:r>
              <a:rPr lang="en-US" sz="1200" b="1" dirty="0">
                <a:solidFill>
                  <a:schemeClr val="accent2"/>
                </a:solidFill>
              </a:rPr>
              <a:t>Clerk · JWKS</a:t>
            </a:r>
            <a:endParaRPr lang="en-US" sz="1400" dirty="0"/>
          </a:p>
        </p:txBody>
      </p:sp>
      <p:sp>
        <p:nvSpPr>
          <p:cNvPr id="17" name="line305"/>
          <p:cNvSpPr/>
          <p:nvPr/>
        </p:nvSpPr>
        <p:spPr>
          <a:xfrm>
            <a:off x="8321040" y="1755648"/>
            <a:ext cx="0" cy="4297680"/>
          </a:xfrm>
          <a:prstGeom prst="line">
            <a:avLst/>
          </a:prstGeom>
          <a:noFill/>
          <a:ln w="9525">
            <a:solidFill>
              <a:schemeClr val="bg2"/>
            </a:solidFill>
            <a:prstDash val="dash"/>
          </a:ln>
        </p:spPr>
      </p:sp>
      <p:sp>
        <p:nvSpPr>
          <p:cNvPr id="18" name="card306"/>
          <p:cNvSpPr/>
          <p:nvPr/>
        </p:nvSpPr>
        <p:spPr>
          <a:xfrm>
            <a:off x="9692640" y="1298448"/>
            <a:ext cx="1920240" cy="457200"/>
          </a:xfrm>
          <a:prstGeom prst="roundRect">
            <a:avLst>
              <a:gd name="adj" fmla="val 24000"/>
            </a:avLst>
          </a:prstGeom>
          <a:solidFill>
            <a:schemeClr val="tx2"/>
          </a:solidFill>
          <a:ln w="15875">
            <a:solidFill>
              <a:schemeClr val="accent3"/>
            </a:solidFill>
            <a:prstDash val="solid"/>
          </a:ln>
        </p:spPr>
      </p:sp>
      <p:sp>
        <p:nvSpPr>
          <p:cNvPr id="19" name="txt307"/>
          <p:cNvSpPr txBox="1"/>
          <p:nvPr/>
        </p:nvSpPr>
        <p:spPr>
          <a:xfrm>
            <a:off x="9765792" y="1298448"/>
            <a:ext cx="1773936" cy="457200"/>
          </a:xfrm>
          <a:prstGeom prst="rect">
            <a:avLst/>
          </a:prstGeom>
          <a:noFill/>
          <a:ln/>
        </p:spPr>
        <p:txBody>
          <a:bodyPr wrap="square" lIns="0" tIns="0" rIns="0" bIns="0" rtlCol="0" anchor="ctr"/>
          <a:lstStyle/>
          <a:p>
            <a:pPr algn="ctr" indent="0" marL="0">
              <a:buNone/>
            </a:pPr>
            <a:r>
              <a:rPr lang="en-US" sz="1200" b="1" dirty="0">
                <a:solidFill>
                  <a:schemeClr val="accent3"/>
                </a:solidFill>
              </a:rPr>
              <a:t>API de Gemini</a:t>
            </a:r>
            <a:endParaRPr lang="en-US" sz="1400" dirty="0"/>
          </a:p>
        </p:txBody>
      </p:sp>
      <p:sp>
        <p:nvSpPr>
          <p:cNvPr id="20" name="line308"/>
          <p:cNvSpPr/>
          <p:nvPr/>
        </p:nvSpPr>
        <p:spPr>
          <a:xfrm>
            <a:off x="10652760" y="1755648"/>
            <a:ext cx="0" cy="4297680"/>
          </a:xfrm>
          <a:prstGeom prst="line">
            <a:avLst/>
          </a:prstGeom>
          <a:noFill/>
          <a:ln w="9525">
            <a:solidFill>
              <a:schemeClr val="bg2"/>
            </a:solidFill>
            <a:prstDash val="dash"/>
          </a:ln>
        </p:spPr>
      </p:sp>
      <p:sp>
        <p:nvSpPr>
          <p:cNvPr id="21" name="line309"/>
          <p:cNvSpPr/>
          <p:nvPr/>
        </p:nvSpPr>
        <p:spPr>
          <a:xfrm>
            <a:off x="1325880" y="2148840"/>
            <a:ext cx="2331720" cy="0"/>
          </a:xfrm>
          <a:prstGeom prst="line">
            <a:avLst/>
          </a:prstGeom>
          <a:noFill/>
          <a:ln w="15875">
            <a:solidFill>
              <a:schemeClr val="bg1"/>
            </a:solidFill>
            <a:prstDash val="solid"/>
            <a:tailEnd type="triangle"/>
          </a:ln>
        </p:spPr>
      </p:sp>
      <p:sp>
        <p:nvSpPr>
          <p:cNvPr id="22" name="txt310"/>
          <p:cNvSpPr txBox="1"/>
          <p:nvPr/>
        </p:nvSpPr>
        <p:spPr>
          <a:xfrm>
            <a:off x="1005840" y="1901952"/>
            <a:ext cx="2971800" cy="228600"/>
          </a:xfrm>
          <a:prstGeom prst="rect">
            <a:avLst/>
          </a:prstGeom>
          <a:noFill/>
          <a:ln/>
        </p:spPr>
        <p:txBody>
          <a:bodyPr wrap="square" lIns="0" tIns="0" rIns="0" bIns="0" rtlCol="0" anchor="t"/>
          <a:lstStyle/>
          <a:p>
            <a:pPr algn="ctr" indent="0" marL="0">
              <a:buNone/>
            </a:pPr>
            <a:r>
              <a:rPr lang="en-US" sz="1000" dirty="0">
                <a:solidFill>
                  <a:schemeClr val="bg1"/>
                </a:solidFill>
              </a:rPr>
              <a:t>1 · inicia sesión y pulsa Recomendar</a:t>
            </a:r>
            <a:endParaRPr lang="en-US" sz="1000" dirty="0"/>
          </a:p>
        </p:txBody>
      </p:sp>
      <p:sp>
        <p:nvSpPr>
          <p:cNvPr id="23" name="txt311"/>
          <p:cNvSpPr txBox="1"/>
          <p:nvPr/>
        </p:nvSpPr>
        <p:spPr>
          <a:xfrm>
            <a:off x="3749040" y="2286000"/>
            <a:ext cx="1463040" cy="237744"/>
          </a:xfrm>
          <a:prstGeom prst="rect">
            <a:avLst/>
          </a:prstGeom>
          <a:noFill/>
          <a:ln/>
        </p:spPr>
        <p:txBody>
          <a:bodyPr wrap="square" lIns="0" tIns="0" rIns="0" bIns="0" rtlCol="0" anchor="t"/>
          <a:lstStyle/>
          <a:p>
            <a:pPr indent="0" marL="0">
              <a:buNone/>
            </a:pPr>
            <a:r>
              <a:rPr lang="en-US" sz="1050" dirty="0">
                <a:solidFill>
                  <a:schemeClr val="accent1"/>
                </a:solidFill>
              </a:rPr>
              <a:t>2 · getToken()</a:t>
            </a:r>
            <a:endParaRPr lang="en-US" sz="1050" dirty="0"/>
          </a:p>
        </p:txBody>
      </p:sp>
      <p:sp>
        <p:nvSpPr>
          <p:cNvPr id="24" name="line312"/>
          <p:cNvSpPr/>
          <p:nvPr/>
        </p:nvSpPr>
        <p:spPr>
          <a:xfrm>
            <a:off x="3657600" y="2788920"/>
            <a:ext cx="2331720" cy="0"/>
          </a:xfrm>
          <a:prstGeom prst="line">
            <a:avLst/>
          </a:prstGeom>
          <a:noFill/>
          <a:ln w="15875">
            <a:solidFill>
              <a:schemeClr val="accent1"/>
            </a:solidFill>
            <a:prstDash val="solid"/>
            <a:tailEnd type="triangle"/>
          </a:ln>
        </p:spPr>
      </p:sp>
      <p:sp>
        <p:nvSpPr>
          <p:cNvPr id="25" name="txt313"/>
          <p:cNvSpPr txBox="1"/>
          <p:nvPr/>
        </p:nvSpPr>
        <p:spPr>
          <a:xfrm>
            <a:off x="3337560" y="2542032"/>
            <a:ext cx="2971800" cy="228600"/>
          </a:xfrm>
          <a:prstGeom prst="rect">
            <a:avLst/>
          </a:prstGeom>
          <a:noFill/>
          <a:ln/>
        </p:spPr>
        <p:txBody>
          <a:bodyPr wrap="square" lIns="0" tIns="0" rIns="0" bIns="0" rtlCol="0" anchor="t"/>
          <a:lstStyle/>
          <a:p>
            <a:pPr algn="ctr" indent="0" marL="0">
              <a:buNone/>
            </a:pPr>
            <a:r>
              <a:rPr lang="en-US" sz="1000" dirty="0">
                <a:solidFill>
                  <a:schemeClr val="accent1"/>
                </a:solidFill>
              </a:rPr>
              <a:t>3 · POST /api/recommend + Bearer</a:t>
            </a:r>
            <a:endParaRPr lang="en-US" sz="1000" dirty="0"/>
          </a:p>
        </p:txBody>
      </p:sp>
      <p:sp>
        <p:nvSpPr>
          <p:cNvPr id="26" name="line314"/>
          <p:cNvSpPr/>
          <p:nvPr/>
        </p:nvSpPr>
        <p:spPr>
          <a:xfrm>
            <a:off x="5989320" y="3200400"/>
            <a:ext cx="2331720" cy="0"/>
          </a:xfrm>
          <a:prstGeom prst="line">
            <a:avLst/>
          </a:prstGeom>
          <a:noFill/>
          <a:ln w="15875">
            <a:solidFill>
              <a:schemeClr val="accent2"/>
            </a:solidFill>
            <a:prstDash val="solid"/>
            <a:tailEnd type="triangle"/>
          </a:ln>
        </p:spPr>
      </p:sp>
      <p:sp>
        <p:nvSpPr>
          <p:cNvPr id="27" name="txt315"/>
          <p:cNvSpPr txBox="1"/>
          <p:nvPr/>
        </p:nvSpPr>
        <p:spPr>
          <a:xfrm>
            <a:off x="5669280" y="2953512"/>
            <a:ext cx="2971800" cy="228600"/>
          </a:xfrm>
          <a:prstGeom prst="rect">
            <a:avLst/>
          </a:prstGeom>
          <a:noFill/>
          <a:ln/>
        </p:spPr>
        <p:txBody>
          <a:bodyPr wrap="square" lIns="0" tIns="0" rIns="0" bIns="0" rtlCol="0" anchor="t"/>
          <a:lstStyle/>
          <a:p>
            <a:pPr algn="ctr" indent="0" marL="0">
              <a:buNone/>
            </a:pPr>
            <a:r>
              <a:rPr lang="en-US" sz="1000" dirty="0">
                <a:solidFill>
                  <a:schemeClr val="accent2"/>
                </a:solidFill>
              </a:rPr>
              <a:t>4 · pide las claves públicas</a:t>
            </a:r>
            <a:endParaRPr lang="en-US" sz="1000" dirty="0"/>
          </a:p>
        </p:txBody>
      </p:sp>
      <p:sp>
        <p:nvSpPr>
          <p:cNvPr id="28" name="line316"/>
          <p:cNvSpPr/>
          <p:nvPr/>
        </p:nvSpPr>
        <p:spPr>
          <a:xfrm flipH="1">
            <a:off x="5989320" y="3520440"/>
            <a:ext cx="2331720" cy="0"/>
          </a:xfrm>
          <a:prstGeom prst="line">
            <a:avLst/>
          </a:prstGeom>
          <a:noFill/>
          <a:ln w="15875">
            <a:solidFill>
              <a:schemeClr val="accent2"/>
            </a:solidFill>
            <a:prstDash val="dash"/>
            <a:tailEnd type="triangle"/>
          </a:ln>
        </p:spPr>
      </p:sp>
      <p:sp>
        <p:nvSpPr>
          <p:cNvPr id="29" name="txt317"/>
          <p:cNvSpPr txBox="1"/>
          <p:nvPr/>
        </p:nvSpPr>
        <p:spPr>
          <a:xfrm>
            <a:off x="5669280" y="3273552"/>
            <a:ext cx="2971800" cy="228600"/>
          </a:xfrm>
          <a:prstGeom prst="rect">
            <a:avLst/>
          </a:prstGeom>
          <a:noFill/>
          <a:ln/>
        </p:spPr>
        <p:txBody>
          <a:bodyPr wrap="square" lIns="0" tIns="0" rIns="0" bIns="0" rtlCol="0" anchor="t"/>
          <a:lstStyle/>
          <a:p>
            <a:pPr algn="ctr" indent="0" marL="0">
              <a:buNone/>
            </a:pPr>
            <a:r>
              <a:rPr lang="en-US" sz="1000" dirty="0">
                <a:solidFill>
                  <a:schemeClr val="accent2"/>
                </a:solidFill>
              </a:rPr>
              <a:t>5 · JWKS</a:t>
            </a:r>
            <a:endParaRPr lang="en-US" sz="1000" dirty="0"/>
          </a:p>
        </p:txBody>
      </p:sp>
      <p:sp>
        <p:nvSpPr>
          <p:cNvPr id="30" name="card318"/>
          <p:cNvSpPr/>
          <p:nvPr/>
        </p:nvSpPr>
        <p:spPr>
          <a:xfrm>
            <a:off x="3291840" y="3657600"/>
            <a:ext cx="4846320" cy="658368"/>
          </a:xfrm>
          <a:prstGeom prst="roundRect">
            <a:avLst>
              <a:gd name="adj" fmla="val 8333"/>
            </a:avLst>
          </a:prstGeom>
          <a:solidFill>
            <a:schemeClr val="accent5">
              <a:alpha val="12000"/>
            </a:schemeClr>
          </a:solidFill>
          <a:ln w="9525">
            <a:solidFill>
              <a:schemeClr val="accent5">
                <a:alpha val="80000"/>
              </a:schemeClr>
            </a:solidFill>
            <a:prstDash val="solid"/>
          </a:ln>
        </p:spPr>
      </p:sp>
      <p:sp>
        <p:nvSpPr>
          <p:cNvPr id="31" name="txt319"/>
          <p:cNvSpPr txBox="1"/>
          <p:nvPr/>
        </p:nvSpPr>
        <p:spPr>
          <a:xfrm>
            <a:off x="3383280" y="3675888"/>
            <a:ext cx="3657600" cy="201168"/>
          </a:xfrm>
          <a:prstGeom prst="rect">
            <a:avLst/>
          </a:prstGeom>
          <a:noFill/>
          <a:ln/>
        </p:spPr>
        <p:txBody>
          <a:bodyPr wrap="square" lIns="0" tIns="0" rIns="0" bIns="0" rtlCol="0" anchor="t"/>
          <a:lstStyle/>
          <a:p>
            <a:pPr indent="0" marL="0">
              <a:buNone/>
            </a:pPr>
            <a:r>
              <a:rPr lang="en-US" sz="950" b="1" dirty="0">
                <a:solidFill>
                  <a:schemeClr val="accent5"/>
                </a:solidFill>
              </a:rPr>
              <a:t>alt  [token ausente, inválido o caducado]</a:t>
            </a:r>
            <a:endParaRPr lang="en-US" sz="950" dirty="0"/>
          </a:p>
        </p:txBody>
      </p:sp>
      <p:sp>
        <p:nvSpPr>
          <p:cNvPr id="32" name="line320"/>
          <p:cNvSpPr/>
          <p:nvPr/>
        </p:nvSpPr>
        <p:spPr>
          <a:xfrm flipH="1">
            <a:off x="3657600" y="4160520"/>
            <a:ext cx="2331720" cy="0"/>
          </a:xfrm>
          <a:prstGeom prst="line">
            <a:avLst/>
          </a:prstGeom>
          <a:noFill/>
          <a:ln w="15875">
            <a:solidFill>
              <a:schemeClr val="accent5"/>
            </a:solidFill>
            <a:prstDash val="dash"/>
            <a:tailEnd type="triangle"/>
          </a:ln>
        </p:spPr>
      </p:sp>
      <p:sp>
        <p:nvSpPr>
          <p:cNvPr id="33" name="txt321"/>
          <p:cNvSpPr txBox="1"/>
          <p:nvPr/>
        </p:nvSpPr>
        <p:spPr>
          <a:xfrm>
            <a:off x="3337560" y="3913632"/>
            <a:ext cx="2971800" cy="228600"/>
          </a:xfrm>
          <a:prstGeom prst="rect">
            <a:avLst/>
          </a:prstGeom>
          <a:noFill/>
          <a:ln/>
        </p:spPr>
        <p:txBody>
          <a:bodyPr wrap="square" lIns="0" tIns="0" rIns="0" bIns="0" rtlCol="0" anchor="t"/>
          <a:lstStyle/>
          <a:p>
            <a:pPr algn="ctr" indent="0" marL="0">
              <a:buNone/>
            </a:pPr>
            <a:r>
              <a:rPr lang="en-US" sz="1000" dirty="0">
                <a:solidFill>
                  <a:schemeClr val="accent5"/>
                </a:solidFill>
              </a:rPr>
              <a:t>401 · no se llama a la IA</a:t>
            </a:r>
            <a:endParaRPr lang="en-US" sz="1000" dirty="0"/>
          </a:p>
        </p:txBody>
      </p:sp>
      <p:sp>
        <p:nvSpPr>
          <p:cNvPr id="34" name="card322"/>
          <p:cNvSpPr/>
          <p:nvPr/>
        </p:nvSpPr>
        <p:spPr>
          <a:xfrm>
            <a:off x="3291840" y="4407408"/>
            <a:ext cx="8138160" cy="1627632"/>
          </a:xfrm>
          <a:prstGeom prst="roundRect">
            <a:avLst>
              <a:gd name="adj" fmla="val 3371"/>
            </a:avLst>
          </a:prstGeom>
          <a:solidFill>
            <a:schemeClr val="accent6">
              <a:alpha val="10000"/>
            </a:schemeClr>
          </a:solidFill>
          <a:ln w="9525">
            <a:solidFill>
              <a:schemeClr val="accent6">
                <a:alpha val="80000"/>
              </a:schemeClr>
            </a:solidFill>
            <a:prstDash val="solid"/>
          </a:ln>
        </p:spPr>
      </p:sp>
      <p:sp>
        <p:nvSpPr>
          <p:cNvPr id="35" name="txt323"/>
          <p:cNvSpPr txBox="1"/>
          <p:nvPr/>
        </p:nvSpPr>
        <p:spPr>
          <a:xfrm>
            <a:off x="3383280" y="4425696"/>
            <a:ext cx="1828800" cy="201168"/>
          </a:xfrm>
          <a:prstGeom prst="rect">
            <a:avLst/>
          </a:prstGeom>
          <a:noFill/>
          <a:ln/>
        </p:spPr>
        <p:txBody>
          <a:bodyPr wrap="square" lIns="0" tIns="0" rIns="0" bIns="0" rtlCol="0" anchor="t"/>
          <a:lstStyle/>
          <a:p>
            <a:pPr indent="0" marL="0">
              <a:buNone/>
            </a:pPr>
            <a:r>
              <a:rPr lang="en-US" sz="950" b="1" dirty="0">
                <a:solidFill>
                  <a:schemeClr val="accent6"/>
                </a:solidFill>
              </a:rPr>
              <a:t>[token válido]</a:t>
            </a:r>
            <a:endParaRPr lang="en-US" sz="950" dirty="0"/>
          </a:p>
        </p:txBody>
      </p:sp>
      <p:sp>
        <p:nvSpPr>
          <p:cNvPr id="36" name="txt324"/>
          <p:cNvSpPr txBox="1"/>
          <p:nvPr/>
        </p:nvSpPr>
        <p:spPr>
          <a:xfrm>
            <a:off x="6080760" y="4572000"/>
            <a:ext cx="2011680" cy="237744"/>
          </a:xfrm>
          <a:prstGeom prst="rect">
            <a:avLst/>
          </a:prstGeom>
          <a:noFill/>
          <a:ln/>
        </p:spPr>
        <p:txBody>
          <a:bodyPr wrap="square" lIns="0" tIns="0" rIns="0" bIns="0" rtlCol="0" anchor="t"/>
          <a:lstStyle/>
          <a:p>
            <a:pPr indent="0" marL="0">
              <a:buNone/>
            </a:pPr>
            <a:r>
              <a:rPr lang="en-US" sz="1050" dirty="0">
                <a:solidFill>
                  <a:schemeClr val="accent4"/>
                </a:solidFill>
              </a:rPr>
              <a:t>6 · Pydantic valida (422 si no)</a:t>
            </a:r>
            <a:endParaRPr lang="en-US" sz="1050" dirty="0"/>
          </a:p>
        </p:txBody>
      </p:sp>
      <p:sp>
        <p:nvSpPr>
          <p:cNvPr id="37" name="line325"/>
          <p:cNvSpPr/>
          <p:nvPr/>
        </p:nvSpPr>
        <p:spPr>
          <a:xfrm>
            <a:off x="5989320" y="5074920"/>
            <a:ext cx="4663440" cy="0"/>
          </a:xfrm>
          <a:prstGeom prst="line">
            <a:avLst/>
          </a:prstGeom>
          <a:noFill/>
          <a:ln w="15875">
            <a:solidFill>
              <a:schemeClr val="accent3"/>
            </a:solidFill>
            <a:prstDash val="solid"/>
            <a:tailEnd type="triangle"/>
          </a:ln>
        </p:spPr>
      </p:sp>
      <p:sp>
        <p:nvSpPr>
          <p:cNvPr id="38" name="txt326"/>
          <p:cNvSpPr txBox="1"/>
          <p:nvPr/>
        </p:nvSpPr>
        <p:spPr>
          <a:xfrm>
            <a:off x="5669280" y="4828032"/>
            <a:ext cx="5303520" cy="228600"/>
          </a:xfrm>
          <a:prstGeom prst="rect">
            <a:avLst/>
          </a:prstGeom>
          <a:noFill/>
          <a:ln/>
        </p:spPr>
        <p:txBody>
          <a:bodyPr wrap="square" lIns="0" tIns="0" rIns="0" bIns="0" rtlCol="0" anchor="t"/>
          <a:lstStyle/>
          <a:p>
            <a:pPr algn="ctr" indent="0" marL="0">
              <a:buNone/>
            </a:pPr>
            <a:r>
              <a:rPr lang="en-US" sz="1000" dirty="0">
                <a:solidFill>
                  <a:schemeClr val="accent3"/>
                </a:solidFill>
              </a:rPr>
              <a:t>7 · una petición con la clave privada</a:t>
            </a:r>
            <a:endParaRPr lang="en-US" sz="1000" dirty="0"/>
          </a:p>
        </p:txBody>
      </p:sp>
      <p:sp>
        <p:nvSpPr>
          <p:cNvPr id="39" name="line327"/>
          <p:cNvSpPr/>
          <p:nvPr/>
        </p:nvSpPr>
        <p:spPr>
          <a:xfrm flipH="1">
            <a:off x="5989320" y="5413248"/>
            <a:ext cx="4663440" cy="0"/>
          </a:xfrm>
          <a:prstGeom prst="line">
            <a:avLst/>
          </a:prstGeom>
          <a:noFill/>
          <a:ln w="15875">
            <a:solidFill>
              <a:schemeClr val="accent3"/>
            </a:solidFill>
            <a:prstDash val="dash"/>
            <a:tailEnd type="triangle"/>
          </a:ln>
        </p:spPr>
      </p:sp>
      <p:sp>
        <p:nvSpPr>
          <p:cNvPr id="40" name="txt328"/>
          <p:cNvSpPr txBox="1"/>
          <p:nvPr/>
        </p:nvSpPr>
        <p:spPr>
          <a:xfrm>
            <a:off x="5669280" y="5166360"/>
            <a:ext cx="5303520" cy="228600"/>
          </a:xfrm>
          <a:prstGeom prst="rect">
            <a:avLst/>
          </a:prstGeom>
          <a:noFill/>
          <a:ln/>
        </p:spPr>
        <p:txBody>
          <a:bodyPr wrap="square" lIns="0" tIns="0" rIns="0" bIns="0" rtlCol="0" anchor="t"/>
          <a:lstStyle/>
          <a:p>
            <a:pPr algn="ctr" indent="0" marL="0">
              <a:buNone/>
            </a:pPr>
            <a:r>
              <a:rPr lang="en-US" sz="1000" dirty="0">
                <a:solidFill>
                  <a:schemeClr val="accent3"/>
                </a:solidFill>
              </a:rPr>
              <a:t>8 · texto</a:t>
            </a:r>
            <a:endParaRPr lang="en-US" sz="1000" dirty="0"/>
          </a:p>
        </p:txBody>
      </p:sp>
      <p:sp>
        <p:nvSpPr>
          <p:cNvPr id="41" name="line329"/>
          <p:cNvSpPr/>
          <p:nvPr/>
        </p:nvSpPr>
        <p:spPr>
          <a:xfrm flipH="1">
            <a:off x="3657600" y="5760720"/>
            <a:ext cx="2331720" cy="0"/>
          </a:xfrm>
          <a:prstGeom prst="line">
            <a:avLst/>
          </a:prstGeom>
          <a:noFill/>
          <a:ln w="15875">
            <a:solidFill>
              <a:schemeClr val="accent6"/>
            </a:solidFill>
            <a:prstDash val="dash"/>
            <a:tailEnd type="triangle"/>
          </a:ln>
        </p:spPr>
      </p:sp>
      <p:sp>
        <p:nvSpPr>
          <p:cNvPr id="42" name="txt330"/>
          <p:cNvSpPr txBox="1"/>
          <p:nvPr/>
        </p:nvSpPr>
        <p:spPr>
          <a:xfrm>
            <a:off x="3337560" y="5513832"/>
            <a:ext cx="2971800" cy="228600"/>
          </a:xfrm>
          <a:prstGeom prst="rect">
            <a:avLst/>
          </a:prstGeom>
          <a:noFill/>
          <a:ln/>
        </p:spPr>
        <p:txBody>
          <a:bodyPr wrap="square" lIns="0" tIns="0" rIns="0" bIns="0" rtlCol="0" anchor="t"/>
          <a:lstStyle/>
          <a:p>
            <a:pPr algn="ctr" indent="0" marL="0">
              <a:buNone/>
            </a:pPr>
            <a:r>
              <a:rPr lang="en-US" sz="1000" dirty="0">
                <a:solidFill>
                  <a:schemeClr val="accent6"/>
                </a:solidFill>
              </a:rPr>
              <a:t>9 · 200 {resultado} · 502 · 504</a:t>
            </a:r>
            <a:endParaRPr lang="en-US" sz="1000" dirty="0"/>
          </a:p>
        </p:txBody>
      </p:sp>
      <p:sp>
        <p:nvSpPr>
          <p:cNvPr id="43" name="txt331"/>
          <p:cNvSpPr txBox="1"/>
          <p:nvPr/>
        </p:nvSpPr>
        <p:spPr>
          <a:xfrm>
            <a:off x="548640" y="5788152"/>
            <a:ext cx="2926080" cy="237744"/>
          </a:xfrm>
          <a:prstGeom prst="rect">
            <a:avLst/>
          </a:prstGeom>
          <a:noFill/>
          <a:ln/>
        </p:spPr>
        <p:txBody>
          <a:bodyPr wrap="square" lIns="0" tIns="0" rIns="0" bIns="0" rtlCol="0" anchor="t"/>
          <a:lstStyle/>
          <a:p>
            <a:pPr algn="r" indent="0" marL="0">
              <a:buNone/>
            </a:pPr>
            <a:r>
              <a:rPr lang="en-US" sz="1050" dirty="0">
                <a:solidFill>
                  <a:schemeClr val="bg1"/>
                </a:solidFill>
              </a:rPr>
              <a:t>10 · lo muestra en la misma pantalla</a:t>
            </a:r>
            <a:endParaRPr lang="en-US" sz="105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Estados del frontend</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DIAGRAMAS · 3 / 3</a:t>
            </a:r>
            <a:endParaRPr lang="en-US" sz="1200" dirty="0"/>
          </a:p>
        </p:txBody>
      </p:sp>
      <p:sp>
        <p:nvSpPr>
          <p:cNvPr id="4" name="presenta332"/>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333"/>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Jose Antonio Nieto</a:t>
            </a:r>
            <a:endParaRPr lang="en-US" sz="1100" dirty="0"/>
          </a:p>
        </p:txBody>
      </p:sp>
      <p:sp>
        <p:nvSpPr>
          <p:cNvPr id="6" name="inicio"/>
          <p:cNvSpPr/>
          <p:nvPr/>
        </p:nvSpPr>
        <p:spPr>
          <a:xfrm>
            <a:off x="548640" y="2633472"/>
            <a:ext cx="310896" cy="310896"/>
          </a:xfrm>
          <a:prstGeom prst="ellipse">
            <a:avLst/>
          </a:prstGeom>
          <a:solidFill>
            <a:schemeClr val="bg1"/>
          </a:solidFill>
          <a:ln/>
        </p:spPr>
      </p:sp>
      <p:sp>
        <p:nvSpPr>
          <p:cNvPr id="7" name="line334"/>
          <p:cNvSpPr/>
          <p:nvPr/>
        </p:nvSpPr>
        <p:spPr>
          <a:xfrm>
            <a:off x="859536" y="2788920"/>
            <a:ext cx="329184" cy="0"/>
          </a:xfrm>
          <a:prstGeom prst="line">
            <a:avLst/>
          </a:prstGeom>
          <a:noFill/>
          <a:ln w="15875">
            <a:solidFill>
              <a:schemeClr val="bg1"/>
            </a:solidFill>
            <a:prstDash val="solid"/>
            <a:tailEnd type="triangle"/>
          </a:ln>
        </p:spPr>
      </p:sp>
      <p:sp>
        <p:nvSpPr>
          <p:cNvPr id="8" name="card335"/>
          <p:cNvSpPr/>
          <p:nvPr/>
        </p:nvSpPr>
        <p:spPr>
          <a:xfrm>
            <a:off x="1188720" y="2331720"/>
            <a:ext cx="2011680" cy="914400"/>
          </a:xfrm>
          <a:prstGeom prst="roundRect">
            <a:avLst>
              <a:gd name="adj" fmla="val 12000"/>
            </a:avLst>
          </a:prstGeom>
          <a:solidFill>
            <a:schemeClr val="tx2"/>
          </a:solidFill>
          <a:ln w="15875">
            <a:solidFill>
              <a:schemeClr val="accent2"/>
            </a:solidFill>
            <a:prstDash val="solid"/>
          </a:ln>
        </p:spPr>
      </p:sp>
      <p:sp>
        <p:nvSpPr>
          <p:cNvPr id="9" name="txt336"/>
          <p:cNvSpPr txBox="1"/>
          <p:nvPr/>
        </p:nvSpPr>
        <p:spPr>
          <a:xfrm>
            <a:off x="1261872" y="2331720"/>
            <a:ext cx="1865376" cy="914400"/>
          </a:xfrm>
          <a:prstGeom prst="rect">
            <a:avLst/>
          </a:prstGeom>
          <a:noFill/>
          <a:ln/>
        </p:spPr>
        <p:txBody>
          <a:bodyPr wrap="square" lIns="0" tIns="0" rIns="0" bIns="0" rtlCol="0" anchor="ctr"/>
          <a:lstStyle/>
          <a:p>
            <a:pPr algn="ctr" indent="0" marL="0">
              <a:buNone/>
            </a:pPr>
            <a:r>
              <a:rPr lang="en-US" sz="1400" b="1" dirty="0">
                <a:solidFill>
                  <a:schemeClr val="accent2"/>
                </a:solidFill>
              </a:rPr>
              <a:t>Sin sesión</a:t>
            </a:r>
            <a:endParaRPr lang="en-US" sz="1400" dirty="0"/>
          </a:p>
          <a:p>
            <a:pPr algn="ctr" indent="0" marL="0">
              <a:buNone/>
            </a:pPr>
            <a:r>
              <a:rPr lang="en-US" sz="1100" dirty="0">
                <a:solidFill>
                  <a:schemeClr val="bg2"/>
                </a:solidFill>
              </a:rPr>
              <a:t>App 2 · botón desactivado</a:t>
            </a:r>
            <a:endParaRPr lang="en-US" sz="1400" dirty="0"/>
          </a:p>
        </p:txBody>
      </p:sp>
      <p:sp>
        <p:nvSpPr>
          <p:cNvPr id="10" name="card337"/>
          <p:cNvSpPr/>
          <p:nvPr/>
        </p:nvSpPr>
        <p:spPr>
          <a:xfrm>
            <a:off x="4023360" y="2331720"/>
            <a:ext cx="2011680" cy="914400"/>
          </a:xfrm>
          <a:prstGeom prst="roundRect">
            <a:avLst>
              <a:gd name="adj" fmla="val 12000"/>
            </a:avLst>
          </a:prstGeom>
          <a:solidFill>
            <a:schemeClr val="tx2"/>
          </a:solidFill>
          <a:ln w="15875">
            <a:solidFill>
              <a:schemeClr val="accent1"/>
            </a:solidFill>
            <a:prstDash val="solid"/>
          </a:ln>
        </p:spPr>
      </p:sp>
      <p:sp>
        <p:nvSpPr>
          <p:cNvPr id="11" name="txt338"/>
          <p:cNvSpPr txBox="1"/>
          <p:nvPr/>
        </p:nvSpPr>
        <p:spPr>
          <a:xfrm>
            <a:off x="4096512" y="2331720"/>
            <a:ext cx="1865376" cy="914400"/>
          </a:xfrm>
          <a:prstGeom prst="rect">
            <a:avLst/>
          </a:prstGeom>
          <a:noFill/>
          <a:ln/>
        </p:spPr>
        <p:txBody>
          <a:bodyPr wrap="square" lIns="0" tIns="0" rIns="0" bIns="0" rtlCol="0" anchor="ctr"/>
          <a:lstStyle/>
          <a:p>
            <a:pPr algn="ctr" indent="0" marL="0">
              <a:buNone/>
            </a:pPr>
            <a:r>
              <a:rPr lang="en-US" sz="1400" b="1" dirty="0">
                <a:solidFill>
                  <a:schemeClr val="accent1"/>
                </a:solidFill>
              </a:rPr>
              <a:t>Listo</a:t>
            </a:r>
            <a:endParaRPr lang="en-US" sz="1400" dirty="0"/>
          </a:p>
          <a:p>
            <a:pPr algn="ctr" indent="0" marL="0">
              <a:buNone/>
            </a:pPr>
            <a:r>
              <a:rPr lang="en-US" sz="1100" dirty="0">
                <a:solidFill>
                  <a:schemeClr val="bg2"/>
                </a:solidFill>
              </a:rPr>
              <a:t>formulario editable</a:t>
            </a:r>
            <a:endParaRPr lang="en-US" sz="1400" dirty="0"/>
          </a:p>
        </p:txBody>
      </p:sp>
      <p:sp>
        <p:nvSpPr>
          <p:cNvPr id="12" name="card339"/>
          <p:cNvSpPr/>
          <p:nvPr/>
        </p:nvSpPr>
        <p:spPr>
          <a:xfrm>
            <a:off x="6858000" y="2331720"/>
            <a:ext cx="2011680" cy="914400"/>
          </a:xfrm>
          <a:prstGeom prst="roundRect">
            <a:avLst>
              <a:gd name="adj" fmla="val 12000"/>
            </a:avLst>
          </a:prstGeom>
          <a:solidFill>
            <a:schemeClr val="tx2"/>
          </a:solidFill>
          <a:ln w="15875">
            <a:solidFill>
              <a:schemeClr val="accent4"/>
            </a:solidFill>
            <a:prstDash val="solid"/>
          </a:ln>
        </p:spPr>
      </p:sp>
      <p:sp>
        <p:nvSpPr>
          <p:cNvPr id="13" name="txt340"/>
          <p:cNvSpPr txBox="1"/>
          <p:nvPr/>
        </p:nvSpPr>
        <p:spPr>
          <a:xfrm>
            <a:off x="6931152" y="2331720"/>
            <a:ext cx="1865376" cy="914400"/>
          </a:xfrm>
          <a:prstGeom prst="rect">
            <a:avLst/>
          </a:prstGeom>
          <a:noFill/>
          <a:ln/>
        </p:spPr>
        <p:txBody>
          <a:bodyPr wrap="square" lIns="0" tIns="0" rIns="0" bIns="0" rtlCol="0" anchor="ctr"/>
          <a:lstStyle/>
          <a:p>
            <a:pPr algn="ctr" indent="0" marL="0">
              <a:buNone/>
            </a:pPr>
            <a:r>
              <a:rPr lang="en-US" sz="1400" b="1" dirty="0">
                <a:solidFill>
                  <a:schemeClr val="accent4"/>
                </a:solidFill>
              </a:rPr>
              <a:t>Enviando</a:t>
            </a:r>
            <a:endParaRPr lang="en-US" sz="1400" dirty="0"/>
          </a:p>
          <a:p>
            <a:pPr algn="ctr" indent="0" marL="0">
              <a:buNone/>
            </a:pPr>
            <a:r>
              <a:rPr lang="en-US" sz="1100" dirty="0">
                <a:solidFill>
                  <a:schemeClr val="bg2"/>
                </a:solidFill>
              </a:rPr>
              <a:t>botón bloqueado · espera</a:t>
            </a:r>
            <a:endParaRPr lang="en-US" sz="1400" dirty="0"/>
          </a:p>
        </p:txBody>
      </p:sp>
      <p:sp>
        <p:nvSpPr>
          <p:cNvPr id="14" name="card341"/>
          <p:cNvSpPr/>
          <p:nvPr/>
        </p:nvSpPr>
        <p:spPr>
          <a:xfrm>
            <a:off x="9601200" y="1325880"/>
            <a:ext cx="2057400" cy="914400"/>
          </a:xfrm>
          <a:prstGeom prst="roundRect">
            <a:avLst>
              <a:gd name="adj" fmla="val 12000"/>
            </a:avLst>
          </a:prstGeom>
          <a:solidFill>
            <a:schemeClr val="tx2"/>
          </a:solidFill>
          <a:ln w="15875">
            <a:solidFill>
              <a:schemeClr val="accent6"/>
            </a:solidFill>
            <a:prstDash val="solid"/>
          </a:ln>
        </p:spPr>
      </p:sp>
      <p:sp>
        <p:nvSpPr>
          <p:cNvPr id="15" name="txt342"/>
          <p:cNvSpPr txBox="1"/>
          <p:nvPr/>
        </p:nvSpPr>
        <p:spPr>
          <a:xfrm>
            <a:off x="9674352" y="1325880"/>
            <a:ext cx="1911096" cy="914400"/>
          </a:xfrm>
          <a:prstGeom prst="rect">
            <a:avLst/>
          </a:prstGeom>
          <a:noFill/>
          <a:ln/>
        </p:spPr>
        <p:txBody>
          <a:bodyPr wrap="square" lIns="0" tIns="0" rIns="0" bIns="0" rtlCol="0" anchor="ctr"/>
          <a:lstStyle/>
          <a:p>
            <a:pPr algn="ctr" indent="0" marL="0">
              <a:buNone/>
            </a:pPr>
            <a:r>
              <a:rPr lang="en-US" sz="1400" b="1" dirty="0">
                <a:solidFill>
                  <a:schemeClr val="accent6"/>
                </a:solidFill>
              </a:rPr>
              <a:t>Resultado</a:t>
            </a:r>
            <a:endParaRPr lang="en-US" sz="1400" dirty="0"/>
          </a:p>
          <a:p>
            <a:pPr algn="ctr" indent="0" marL="0">
              <a:buNone/>
            </a:pPr>
            <a:r>
              <a:rPr lang="en-US" sz="1100" dirty="0">
                <a:solidFill>
                  <a:schemeClr val="bg2"/>
                </a:solidFill>
              </a:rPr>
              <a:t>texto en la misma pantalla</a:t>
            </a:r>
            <a:endParaRPr lang="en-US" sz="1400" dirty="0"/>
          </a:p>
        </p:txBody>
      </p:sp>
      <p:sp>
        <p:nvSpPr>
          <p:cNvPr id="16" name="card343"/>
          <p:cNvSpPr/>
          <p:nvPr/>
        </p:nvSpPr>
        <p:spPr>
          <a:xfrm>
            <a:off x="9601200" y="3429000"/>
            <a:ext cx="2057400" cy="914400"/>
          </a:xfrm>
          <a:prstGeom prst="roundRect">
            <a:avLst>
              <a:gd name="adj" fmla="val 12000"/>
            </a:avLst>
          </a:prstGeom>
          <a:solidFill>
            <a:schemeClr val="tx2"/>
          </a:solidFill>
          <a:ln w="15875">
            <a:solidFill>
              <a:schemeClr val="accent5"/>
            </a:solidFill>
            <a:prstDash val="solid"/>
          </a:ln>
        </p:spPr>
      </p:sp>
      <p:sp>
        <p:nvSpPr>
          <p:cNvPr id="17" name="txt344"/>
          <p:cNvSpPr txBox="1"/>
          <p:nvPr/>
        </p:nvSpPr>
        <p:spPr>
          <a:xfrm>
            <a:off x="9674352" y="3429000"/>
            <a:ext cx="1911096" cy="914400"/>
          </a:xfrm>
          <a:prstGeom prst="rect">
            <a:avLst/>
          </a:prstGeom>
          <a:noFill/>
          <a:ln/>
        </p:spPr>
        <p:txBody>
          <a:bodyPr wrap="square" lIns="0" tIns="0" rIns="0" bIns="0" rtlCol="0" anchor="ctr"/>
          <a:lstStyle/>
          <a:p>
            <a:pPr algn="ctr" indent="0" marL="0">
              <a:buNone/>
            </a:pPr>
            <a:r>
              <a:rPr lang="en-US" sz="1400" b="1" dirty="0">
                <a:solidFill>
                  <a:schemeClr val="accent5"/>
                </a:solidFill>
              </a:rPr>
              <a:t>Error</a:t>
            </a:r>
            <a:endParaRPr lang="en-US" sz="1400" dirty="0"/>
          </a:p>
          <a:p>
            <a:pPr algn="ctr" indent="0" marL="0">
              <a:buNone/>
            </a:pPr>
            <a:r>
              <a:rPr lang="en-US" sz="1100" dirty="0">
                <a:solidFill>
                  <a:schemeClr val="bg2"/>
                </a:solidFill>
              </a:rPr>
              <a:t>mensaje comprensible</a:t>
            </a:r>
            <a:endParaRPr lang="en-US" sz="1400" dirty="0"/>
          </a:p>
        </p:txBody>
      </p:sp>
      <p:sp>
        <p:nvSpPr>
          <p:cNvPr id="18" name="line345"/>
          <p:cNvSpPr/>
          <p:nvPr/>
        </p:nvSpPr>
        <p:spPr>
          <a:xfrm>
            <a:off x="3200400" y="2788920"/>
            <a:ext cx="822960" cy="0"/>
          </a:xfrm>
          <a:prstGeom prst="line">
            <a:avLst/>
          </a:prstGeom>
          <a:noFill/>
          <a:ln w="15875">
            <a:solidFill>
              <a:schemeClr val="accent2"/>
            </a:solidFill>
            <a:prstDash val="solid"/>
            <a:tailEnd type="triangle"/>
          </a:ln>
        </p:spPr>
      </p:sp>
      <p:sp>
        <p:nvSpPr>
          <p:cNvPr id="19" name="txt346"/>
          <p:cNvSpPr txBox="1"/>
          <p:nvPr/>
        </p:nvSpPr>
        <p:spPr>
          <a:xfrm>
            <a:off x="3200400" y="2514600"/>
            <a:ext cx="822960" cy="237744"/>
          </a:xfrm>
          <a:prstGeom prst="rect">
            <a:avLst/>
          </a:prstGeom>
          <a:noFill/>
          <a:ln/>
        </p:spPr>
        <p:txBody>
          <a:bodyPr wrap="square" lIns="0" tIns="0" rIns="0" bIns="0" rtlCol="0" anchor="t"/>
          <a:lstStyle/>
          <a:p>
            <a:pPr algn="ctr" indent="0" marL="0">
              <a:buNone/>
            </a:pPr>
            <a:r>
              <a:rPr lang="en-US" sz="1000" dirty="0">
                <a:solidFill>
                  <a:schemeClr val="accent2"/>
                </a:solidFill>
              </a:rPr>
              <a:t>inicia sesión</a:t>
            </a:r>
            <a:endParaRPr lang="en-US" sz="1000" dirty="0"/>
          </a:p>
        </p:txBody>
      </p:sp>
      <p:sp>
        <p:nvSpPr>
          <p:cNvPr id="20" name="line347"/>
          <p:cNvSpPr/>
          <p:nvPr/>
        </p:nvSpPr>
        <p:spPr>
          <a:xfrm>
            <a:off x="6035040" y="2788920"/>
            <a:ext cx="822960" cy="0"/>
          </a:xfrm>
          <a:prstGeom prst="line">
            <a:avLst/>
          </a:prstGeom>
          <a:noFill/>
          <a:ln w="15875">
            <a:solidFill>
              <a:schemeClr val="accent1"/>
            </a:solidFill>
            <a:prstDash val="solid"/>
            <a:tailEnd type="triangle"/>
          </a:ln>
        </p:spPr>
      </p:sp>
      <p:sp>
        <p:nvSpPr>
          <p:cNvPr id="21" name="txt348"/>
          <p:cNvSpPr txBox="1"/>
          <p:nvPr/>
        </p:nvSpPr>
        <p:spPr>
          <a:xfrm>
            <a:off x="6035040" y="2514600"/>
            <a:ext cx="822960" cy="237744"/>
          </a:xfrm>
          <a:prstGeom prst="rect">
            <a:avLst/>
          </a:prstGeom>
          <a:noFill/>
          <a:ln/>
        </p:spPr>
        <p:txBody>
          <a:bodyPr wrap="square" lIns="0" tIns="0" rIns="0" bIns="0" rtlCol="0" anchor="t"/>
          <a:lstStyle/>
          <a:p>
            <a:pPr algn="ctr" indent="0" marL="0">
              <a:buNone/>
            </a:pPr>
            <a:r>
              <a:rPr lang="en-US" sz="1000" dirty="0">
                <a:solidFill>
                  <a:schemeClr val="accent1"/>
                </a:solidFill>
              </a:rPr>
              <a:t>Recomendar</a:t>
            </a:r>
            <a:endParaRPr lang="en-US" sz="1000" dirty="0"/>
          </a:p>
        </p:txBody>
      </p:sp>
      <p:sp>
        <p:nvSpPr>
          <p:cNvPr id="22" name="line349"/>
          <p:cNvSpPr/>
          <p:nvPr/>
        </p:nvSpPr>
        <p:spPr>
          <a:xfrm flipV="1">
            <a:off x="8869680" y="1920240"/>
            <a:ext cx="731520" cy="685800"/>
          </a:xfrm>
          <a:prstGeom prst="line">
            <a:avLst/>
          </a:prstGeom>
          <a:noFill/>
          <a:ln w="15875">
            <a:solidFill>
              <a:schemeClr val="accent6"/>
            </a:solidFill>
            <a:prstDash val="solid"/>
            <a:tailEnd type="triangle"/>
          </a:ln>
        </p:spPr>
      </p:sp>
      <p:sp>
        <p:nvSpPr>
          <p:cNvPr id="23" name="txt350"/>
          <p:cNvSpPr txBox="1"/>
          <p:nvPr/>
        </p:nvSpPr>
        <p:spPr>
          <a:xfrm>
            <a:off x="9006840" y="2011680"/>
            <a:ext cx="411480" cy="228600"/>
          </a:xfrm>
          <a:prstGeom prst="rect">
            <a:avLst/>
          </a:prstGeom>
          <a:noFill/>
          <a:ln/>
        </p:spPr>
        <p:txBody>
          <a:bodyPr wrap="square" lIns="0" tIns="0" rIns="0" bIns="0" rtlCol="0" anchor="t"/>
          <a:lstStyle/>
          <a:p>
            <a:pPr indent="0" marL="0">
              <a:buNone/>
            </a:pPr>
            <a:r>
              <a:rPr lang="en-US" sz="1000" dirty="0">
                <a:solidFill>
                  <a:schemeClr val="accent6"/>
                </a:solidFill>
              </a:rPr>
              <a:t>200</a:t>
            </a:r>
            <a:endParaRPr lang="en-US" sz="1000" dirty="0"/>
          </a:p>
        </p:txBody>
      </p:sp>
      <p:sp>
        <p:nvSpPr>
          <p:cNvPr id="24" name="line351"/>
          <p:cNvSpPr/>
          <p:nvPr/>
        </p:nvSpPr>
        <p:spPr>
          <a:xfrm>
            <a:off x="8869680" y="2971800"/>
            <a:ext cx="731520" cy="685800"/>
          </a:xfrm>
          <a:prstGeom prst="line">
            <a:avLst/>
          </a:prstGeom>
          <a:noFill/>
          <a:ln w="15875">
            <a:solidFill>
              <a:schemeClr val="accent5"/>
            </a:solidFill>
            <a:prstDash val="solid"/>
            <a:tailEnd type="triangle"/>
          </a:ln>
        </p:spPr>
      </p:sp>
      <p:sp>
        <p:nvSpPr>
          <p:cNvPr id="25" name="txt352"/>
          <p:cNvSpPr txBox="1"/>
          <p:nvPr/>
        </p:nvSpPr>
        <p:spPr>
          <a:xfrm>
            <a:off x="8503920" y="3429000"/>
            <a:ext cx="822960" cy="228600"/>
          </a:xfrm>
          <a:prstGeom prst="rect">
            <a:avLst/>
          </a:prstGeom>
          <a:noFill/>
          <a:ln/>
        </p:spPr>
        <p:txBody>
          <a:bodyPr wrap="square" lIns="0" tIns="0" rIns="0" bIns="0" rtlCol="0" anchor="t"/>
          <a:lstStyle/>
          <a:p>
            <a:pPr indent="0" marL="0">
              <a:buNone/>
            </a:pPr>
            <a:r>
              <a:rPr lang="en-US" sz="1000" dirty="0">
                <a:solidFill>
                  <a:schemeClr val="accent5"/>
                </a:solidFill>
              </a:rPr>
              <a:t>4xx · 5xx</a:t>
            </a:r>
            <a:endParaRPr lang="en-US" sz="1000" dirty="0"/>
          </a:p>
        </p:txBody>
      </p:sp>
      <p:sp>
        <p:nvSpPr>
          <p:cNvPr id="26" name="line353"/>
          <p:cNvSpPr/>
          <p:nvPr/>
        </p:nvSpPr>
        <p:spPr>
          <a:xfrm>
            <a:off x="11658600" y="1783080"/>
            <a:ext cx="182880" cy="0"/>
          </a:xfrm>
          <a:prstGeom prst="line">
            <a:avLst/>
          </a:prstGeom>
          <a:noFill/>
          <a:ln w="15875">
            <a:solidFill>
              <a:schemeClr val="bg2"/>
            </a:solidFill>
            <a:prstDash val="solid"/>
          </a:ln>
        </p:spPr>
      </p:sp>
      <p:sp>
        <p:nvSpPr>
          <p:cNvPr id="27" name="line354"/>
          <p:cNvSpPr/>
          <p:nvPr/>
        </p:nvSpPr>
        <p:spPr>
          <a:xfrm>
            <a:off x="11841480" y="1783080"/>
            <a:ext cx="0" cy="2971800"/>
          </a:xfrm>
          <a:prstGeom prst="line">
            <a:avLst/>
          </a:prstGeom>
          <a:noFill/>
          <a:ln w="15875">
            <a:solidFill>
              <a:schemeClr val="bg2"/>
            </a:solidFill>
            <a:prstDash val="solid"/>
          </a:ln>
        </p:spPr>
      </p:sp>
      <p:sp>
        <p:nvSpPr>
          <p:cNvPr id="28" name="line355"/>
          <p:cNvSpPr/>
          <p:nvPr/>
        </p:nvSpPr>
        <p:spPr>
          <a:xfrm>
            <a:off x="10625328" y="4343400"/>
            <a:ext cx="0" cy="411480"/>
          </a:xfrm>
          <a:prstGeom prst="line">
            <a:avLst/>
          </a:prstGeom>
          <a:noFill/>
          <a:ln w="15875">
            <a:solidFill>
              <a:schemeClr val="bg2"/>
            </a:solidFill>
            <a:prstDash val="solid"/>
          </a:ln>
        </p:spPr>
      </p:sp>
      <p:sp>
        <p:nvSpPr>
          <p:cNvPr id="29" name="line356"/>
          <p:cNvSpPr/>
          <p:nvPr/>
        </p:nvSpPr>
        <p:spPr>
          <a:xfrm flipH="1">
            <a:off x="5029200" y="4754880"/>
            <a:ext cx="6812280" cy="0"/>
          </a:xfrm>
          <a:prstGeom prst="line">
            <a:avLst/>
          </a:prstGeom>
          <a:noFill/>
          <a:ln w="15875">
            <a:solidFill>
              <a:schemeClr val="bg2"/>
            </a:solidFill>
            <a:prstDash val="solid"/>
          </a:ln>
        </p:spPr>
      </p:sp>
      <p:sp>
        <p:nvSpPr>
          <p:cNvPr id="30" name="line357"/>
          <p:cNvSpPr/>
          <p:nvPr/>
        </p:nvSpPr>
        <p:spPr>
          <a:xfrm flipV="1">
            <a:off x="5029200" y="3246120"/>
            <a:ext cx="0" cy="1508760"/>
          </a:xfrm>
          <a:prstGeom prst="line">
            <a:avLst/>
          </a:prstGeom>
          <a:noFill/>
          <a:ln w="15875">
            <a:solidFill>
              <a:schemeClr val="bg2"/>
            </a:solidFill>
            <a:prstDash val="solid"/>
            <a:tailEnd type="triangle"/>
          </a:ln>
        </p:spPr>
      </p:sp>
      <p:sp>
        <p:nvSpPr>
          <p:cNvPr id="31" name="txt358"/>
          <p:cNvSpPr txBox="1"/>
          <p:nvPr/>
        </p:nvSpPr>
        <p:spPr>
          <a:xfrm>
            <a:off x="5303520" y="4480560"/>
            <a:ext cx="4206240" cy="246888"/>
          </a:xfrm>
          <a:prstGeom prst="rect">
            <a:avLst/>
          </a:prstGeom>
          <a:noFill/>
          <a:ln/>
        </p:spPr>
        <p:txBody>
          <a:bodyPr wrap="square" lIns="0" tIns="0" rIns="0" bIns="0" rtlCol="0" anchor="t"/>
          <a:lstStyle/>
          <a:p>
            <a:pPr indent="0" marL="0">
              <a:buNone/>
            </a:pPr>
            <a:r>
              <a:rPr lang="en-US" sz="1050" dirty="0">
                <a:solidFill>
                  <a:schemeClr val="bg2"/>
                </a:solidFill>
              </a:rPr>
              <a:t>edita o vuelve a enviar: el resultado anterior no se acumula</a:t>
            </a:r>
            <a:endParaRPr lang="en-US" sz="1050" dirty="0"/>
          </a:p>
        </p:txBody>
      </p:sp>
      <p:sp>
        <p:nvSpPr>
          <p:cNvPr id="32" name="line359"/>
          <p:cNvSpPr/>
          <p:nvPr/>
        </p:nvSpPr>
        <p:spPr>
          <a:xfrm flipV="1">
            <a:off x="5029200" y="1920240"/>
            <a:ext cx="0" cy="411480"/>
          </a:xfrm>
          <a:prstGeom prst="line">
            <a:avLst/>
          </a:prstGeom>
          <a:noFill/>
          <a:ln w="15875">
            <a:solidFill>
              <a:schemeClr val="accent2"/>
            </a:solidFill>
            <a:prstDash val="dash"/>
          </a:ln>
        </p:spPr>
      </p:sp>
      <p:sp>
        <p:nvSpPr>
          <p:cNvPr id="33" name="line360"/>
          <p:cNvSpPr/>
          <p:nvPr/>
        </p:nvSpPr>
        <p:spPr>
          <a:xfrm flipH="1">
            <a:off x="2194560" y="1920240"/>
            <a:ext cx="2834640" cy="0"/>
          </a:xfrm>
          <a:prstGeom prst="line">
            <a:avLst/>
          </a:prstGeom>
          <a:noFill/>
          <a:ln w="15875">
            <a:solidFill>
              <a:schemeClr val="accent2"/>
            </a:solidFill>
            <a:prstDash val="dash"/>
          </a:ln>
        </p:spPr>
      </p:sp>
      <p:sp>
        <p:nvSpPr>
          <p:cNvPr id="34" name="line361"/>
          <p:cNvSpPr/>
          <p:nvPr/>
        </p:nvSpPr>
        <p:spPr>
          <a:xfrm>
            <a:off x="2194560" y="1920240"/>
            <a:ext cx="0" cy="411480"/>
          </a:xfrm>
          <a:prstGeom prst="line">
            <a:avLst/>
          </a:prstGeom>
          <a:noFill/>
          <a:ln w="15875">
            <a:solidFill>
              <a:schemeClr val="accent2"/>
            </a:solidFill>
            <a:prstDash val="dash"/>
            <a:tailEnd type="triangle"/>
          </a:ln>
        </p:spPr>
      </p:sp>
      <p:sp>
        <p:nvSpPr>
          <p:cNvPr id="35" name="txt362"/>
          <p:cNvSpPr txBox="1"/>
          <p:nvPr/>
        </p:nvSpPr>
        <p:spPr>
          <a:xfrm>
            <a:off x="2377440" y="1645920"/>
            <a:ext cx="2651760" cy="237744"/>
          </a:xfrm>
          <a:prstGeom prst="rect">
            <a:avLst/>
          </a:prstGeom>
          <a:noFill/>
          <a:ln/>
        </p:spPr>
        <p:txBody>
          <a:bodyPr wrap="square" lIns="0" tIns="0" rIns="0" bIns="0" rtlCol="0" anchor="t"/>
          <a:lstStyle/>
          <a:p>
            <a:pPr indent="0" marL="0">
              <a:buNone/>
            </a:pPr>
            <a:r>
              <a:rPr lang="en-US" sz="1050" dirty="0">
                <a:solidFill>
                  <a:schemeClr val="accent2"/>
                </a:solidFill>
              </a:rPr>
              <a:t>cierra sesión: se descarta el resultado</a:t>
            </a:r>
            <a:endParaRPr lang="en-US" sz="1050" dirty="0"/>
          </a:p>
        </p:txBody>
      </p:sp>
      <p:sp>
        <p:nvSpPr>
          <p:cNvPr id="36" name="txt363"/>
          <p:cNvSpPr txBox="1"/>
          <p:nvPr/>
        </p:nvSpPr>
        <p:spPr>
          <a:xfrm>
            <a:off x="548640" y="3703320"/>
            <a:ext cx="3291840" cy="822960"/>
          </a:xfrm>
          <a:prstGeom prst="rect">
            <a:avLst/>
          </a:prstGeom>
          <a:noFill/>
          <a:ln/>
        </p:spPr>
        <p:txBody>
          <a:bodyPr wrap="square" lIns="0" tIns="0" rIns="0" bIns="0" rtlCol="0" anchor="t"/>
          <a:lstStyle/>
          <a:p>
            <a:pPr indent="0" marL="0">
              <a:buNone/>
            </a:pPr>
            <a:r>
              <a:rPr lang="en-US" sz="1100" dirty="0">
                <a:solidFill>
                  <a:schemeClr val="bg2"/>
                </a:solidFill>
              </a:rPr>
              <a:t>En la App 1 no hay sesión: se empieza directamente en «Listo». Sin géneros ni texto, el formulario no envía y muestra un aviso.</a:t>
            </a:r>
            <a:endParaRPr lang="en-US" sz="1100" dirty="0"/>
          </a:p>
        </p:txBody>
      </p:sp>
      <p:sp>
        <p:nvSpPr>
          <p:cNvPr id="37" name="card364"/>
          <p:cNvSpPr/>
          <p:nvPr/>
        </p:nvSpPr>
        <p:spPr>
          <a:xfrm>
            <a:off x="548640" y="5166360"/>
            <a:ext cx="11109960" cy="868680"/>
          </a:xfrm>
          <a:prstGeom prst="roundRect">
            <a:avLst>
              <a:gd name="adj" fmla="val 12632"/>
            </a:avLst>
          </a:prstGeom>
          <a:solidFill>
            <a:schemeClr val="tx2"/>
          </a:solidFill>
          <a:ln w="9525">
            <a:solidFill>
              <a:schemeClr val="accent1">
                <a:alpha val="50000"/>
              </a:schemeClr>
            </a:solidFill>
            <a:prstDash val="solid"/>
          </a:ln>
        </p:spPr>
      </p:sp>
      <p:sp>
        <p:nvSpPr>
          <p:cNvPr id="38" name="txt365"/>
          <p:cNvSpPr txBox="1"/>
          <p:nvPr/>
        </p:nvSpPr>
        <p:spPr>
          <a:xfrm>
            <a:off x="822960" y="5166360"/>
            <a:ext cx="10607040" cy="868680"/>
          </a:xfrm>
          <a:prstGeom prst="rect">
            <a:avLst/>
          </a:prstGeom>
          <a:noFill/>
          <a:ln/>
        </p:spPr>
        <p:txBody>
          <a:bodyPr wrap="square" lIns="0" tIns="0" rIns="0" bIns="0" rtlCol="0" anchor="ctr"/>
          <a:lstStyle/>
          <a:p>
            <a:pPr indent="0" marL="0">
              <a:buNone/>
            </a:pPr>
            <a:r>
              <a:rPr lang="en-US" sz="1400" b="1" dirty="0">
                <a:solidFill>
                  <a:schemeClr val="accent1"/>
                </a:solidFill>
              </a:rPr>
              <a:t>¿Y el diagrama de clases? </a:t>
            </a:r>
            <a:pPr indent="0" marL="0">
              <a:buNone/>
            </a:pPr>
            <a:r>
              <a:rPr lang="en-US" sz="1400" dirty="0">
                <a:solidFill>
                  <a:schemeClr val="bg1"/>
                </a:solidFill>
              </a:rPr>
              <a:t>No lo forzamos: Musicfy no tiene modelo de datos (un campo tastes y un texto de respuesta) y el enunciado pide no dibujar diagramas sin contenido.</a:t>
            </a:r>
            <a:endParaRPr lang="en-US" sz="14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App 1 · Backend e IA</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HECHA A MANO</a:t>
            </a:r>
            <a:endParaRPr lang="en-US" sz="1200" dirty="0"/>
          </a:p>
        </p:txBody>
      </p:sp>
      <p:sp>
        <p:nvSpPr>
          <p:cNvPr id="4" name="presenta366"/>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367"/>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Mario Luna</a:t>
            </a:r>
            <a:endParaRPr lang="en-US" sz="1100" dirty="0"/>
          </a:p>
        </p:txBody>
      </p:sp>
      <p:sp>
        <p:nvSpPr>
          <p:cNvPr id="6" name="card368"/>
          <p:cNvSpPr/>
          <p:nvPr/>
        </p:nvSpPr>
        <p:spPr>
          <a:xfrm>
            <a:off x="548640" y="1371600"/>
            <a:ext cx="5852160" cy="4663440"/>
          </a:xfrm>
          <a:prstGeom prst="roundRect">
            <a:avLst>
              <a:gd name="adj" fmla="val 2353"/>
            </a:avLst>
          </a:prstGeom>
          <a:solidFill>
            <a:schemeClr val="tx2"/>
          </a:solidFill>
          <a:ln w="9525">
            <a:solidFill>
              <a:schemeClr val="bg2">
                <a:alpha val="28000"/>
              </a:schemeClr>
            </a:solidFill>
            <a:prstDash val="solid"/>
          </a:ln>
        </p:spPr>
      </p:sp>
      <p:sp>
        <p:nvSpPr>
          <p:cNvPr id="7" name="txt369"/>
          <p:cNvSpPr txBox="1"/>
          <p:nvPr/>
        </p:nvSpPr>
        <p:spPr>
          <a:xfrm>
            <a:off x="822960" y="1554480"/>
            <a:ext cx="5303520" cy="365760"/>
          </a:xfrm>
          <a:prstGeom prst="rect">
            <a:avLst/>
          </a:prstGeom>
          <a:noFill/>
          <a:ln/>
        </p:spPr>
        <p:txBody>
          <a:bodyPr wrap="square" lIns="0" tIns="0" rIns="0" bIns="0" rtlCol="0" anchor="t"/>
          <a:lstStyle/>
          <a:p>
            <a:pPr indent="0" marL="0">
              <a:buNone/>
            </a:pPr>
            <a:r>
              <a:rPr lang="en-US" sz="2000" b="1" dirty="0">
                <a:solidFill>
                  <a:schemeClr val="accent1"/>
                </a:solidFill>
              </a:rPr>
              <a:t>Cómo está hecho</a:t>
            </a:r>
            <a:endParaRPr lang="en-US" sz="2000" dirty="0"/>
          </a:p>
        </p:txBody>
      </p:sp>
      <p:sp>
        <p:nvSpPr>
          <p:cNvPr id="8" name="txt370"/>
          <p:cNvSpPr txBox="1"/>
          <p:nvPr/>
        </p:nvSpPr>
        <p:spPr>
          <a:xfrm>
            <a:off x="822960" y="2057400"/>
            <a:ext cx="5349240" cy="388620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chemeClr val="bg1"/>
                </a:solidFill>
              </a:rPr>
              <a:t>main.py: </a:t>
            </a:r>
            <a:pPr indent="0" marL="0">
              <a:spcAft>
                <a:spcPts val="800"/>
              </a:spcAft>
              <a:buNone/>
            </a:pPr>
            <a:r>
              <a:rPr lang="en-US" sz="1400" dirty="0">
                <a:solidFill>
                  <a:schemeClr val="bg2"/>
                </a:solidFill>
              </a:rPr>
              <a:t>FastAPI con /health y POST /api/recommend.</a:t>
            </a:r>
            <a:endParaRPr lang="en-US" sz="1400" dirty="0"/>
          </a:p>
          <a:p>
            <a:pPr marL="177800" indent="-177800">
              <a:spcAft>
                <a:spcPts val="800"/>
              </a:spcAft>
              <a:buSzPct val="100000"/>
              <a:buChar char="•"/>
            </a:pPr>
            <a:r>
              <a:rPr lang="en-US" sz="1400" b="1" dirty="0">
                <a:solidFill>
                  <a:schemeClr val="bg1"/>
                </a:solidFill>
              </a:rPr>
              <a:t>Pydantic v2: </a:t>
            </a:r>
            <a:pPr indent="0" marL="0">
              <a:spcAft>
                <a:spcPts val="800"/>
              </a:spcAft>
              <a:buNone/>
            </a:pPr>
            <a:r>
              <a:rPr lang="en-US" sz="1400" dirty="0">
                <a:solidFill>
                  <a:schemeClr val="bg2"/>
                </a:solidFill>
              </a:rPr>
              <a:t>tastes obligatorio, de 1 a 500 caracteres tras quitar espacios.</a:t>
            </a:r>
            <a:endParaRPr lang="en-US" sz="1400" dirty="0"/>
          </a:p>
          <a:p>
            <a:pPr marL="177800" indent="-177800">
              <a:spcAft>
                <a:spcPts val="800"/>
              </a:spcAft>
              <a:buSzPct val="100000"/>
              <a:buChar char="•"/>
            </a:pPr>
            <a:r>
              <a:rPr lang="en-US" sz="1400" b="1" dirty="0">
                <a:solidFill>
                  <a:schemeClr val="bg1"/>
                </a:solidFill>
              </a:rPr>
              <a:t>ai_client.py: </a:t>
            </a:r>
            <a:pPr indent="0" marL="0">
              <a:spcAft>
                <a:spcPts val="800"/>
              </a:spcAft>
              <a:buNone/>
            </a:pPr>
            <a:r>
              <a:rPr lang="en-US" sz="1400" dirty="0">
                <a:solidFill>
                  <a:schemeClr val="bg2"/>
                </a:solidFill>
              </a:rPr>
              <a:t>una petición a Gemini con httpx, timeout de 25 s y 600 tokens como máximo.</a:t>
            </a:r>
            <a:endParaRPr lang="en-US" sz="1400" dirty="0"/>
          </a:p>
          <a:p>
            <a:pPr marL="177800" indent="-177800">
              <a:spcAft>
                <a:spcPts val="800"/>
              </a:spcAft>
              <a:buSzPct val="100000"/>
              <a:buChar char="•"/>
            </a:pPr>
            <a:r>
              <a:rPr lang="en-US" sz="1400" b="1" dirty="0">
                <a:solidFill>
                  <a:schemeClr val="bg1"/>
                </a:solidFill>
              </a:rPr>
              <a:t>SYSTEM_PROMPT: </a:t>
            </a:r>
            <a:pPr indent="0" marL="0">
              <a:spcAft>
                <a:spcPts val="800"/>
              </a:spcAft>
              <a:buNone/>
            </a:pPr>
            <a:r>
              <a:rPr lang="en-US" sz="1400" dirty="0">
                <a:solidFill>
                  <a:schemeClr val="bg2"/>
                </a:solidFill>
              </a:rPr>
              <a:t>de 3 a 5 artistas con el porqué y una canción, en español y sin HTML.</a:t>
            </a:r>
            <a:endParaRPr lang="en-US" sz="1400" dirty="0"/>
          </a:p>
          <a:p>
            <a:pPr marL="177800" indent="-177800">
              <a:spcAft>
                <a:spcPts val="800"/>
              </a:spcAft>
              <a:buSzPct val="100000"/>
              <a:buChar char="•"/>
            </a:pPr>
            <a:r>
              <a:rPr lang="en-US" sz="1400" b="1" dirty="0">
                <a:solidFill>
                  <a:schemeClr val="bg1"/>
                </a:solidFill>
              </a:rPr>
              <a:t>Errores: </a:t>
            </a:r>
            <a:pPr indent="0" marL="0">
              <a:spcAft>
                <a:spcPts val="800"/>
              </a:spcAft>
              <a:buNone/>
            </a:pPr>
            <a:r>
              <a:rPr lang="en-US" sz="1400" dirty="0">
                <a:solidFill>
                  <a:schemeClr val="bg2"/>
                </a:solidFill>
              </a:rPr>
              <a:t>timeout → 504; fallo del proveedor → 502; respuesta vacía → 502.</a:t>
            </a:r>
            <a:endParaRPr lang="en-US" sz="1400" dirty="0"/>
          </a:p>
          <a:p>
            <a:pPr marL="177800" indent="-177800">
              <a:spcAft>
                <a:spcPts val="800"/>
              </a:spcAft>
              <a:buSzPct val="100000"/>
              <a:buChar char="•"/>
            </a:pPr>
            <a:r>
              <a:rPr lang="en-US" sz="1400" b="1" dirty="0">
                <a:solidFill>
                  <a:schemeClr val="bg1"/>
                </a:solidFill>
              </a:rPr>
              <a:t>Clave: </a:t>
            </a:r>
            <a:pPr indent="0" marL="0">
              <a:spcAft>
                <a:spcPts val="800"/>
              </a:spcAft>
              <a:buNone/>
            </a:pPr>
            <a:r>
              <a:rPr lang="en-US" sz="1400" dirty="0">
                <a:solidFill>
                  <a:schemeClr val="bg2"/>
                </a:solidFill>
              </a:rPr>
              <a:t>GEMINI_API_KEY, leída del .env privado del backend.</a:t>
            </a:r>
            <a:endParaRPr lang="en-US" sz="1400" dirty="0"/>
          </a:p>
        </p:txBody>
      </p:sp>
      <p:sp>
        <p:nvSpPr>
          <p:cNvPr id="9" name="card371"/>
          <p:cNvSpPr/>
          <p:nvPr/>
        </p:nvSpPr>
        <p:spPr>
          <a:xfrm>
            <a:off x="6629400" y="1371600"/>
            <a:ext cx="5029200" cy="4663440"/>
          </a:xfrm>
          <a:prstGeom prst="roundRect">
            <a:avLst>
              <a:gd name="adj" fmla="val 2353"/>
            </a:avLst>
          </a:prstGeom>
          <a:solidFill>
            <a:schemeClr val="tx2"/>
          </a:solidFill>
          <a:ln w="9525">
            <a:solidFill>
              <a:schemeClr val="bg2">
                <a:alpha val="28000"/>
              </a:schemeClr>
            </a:solidFill>
            <a:prstDash val="solid"/>
          </a:ln>
        </p:spPr>
      </p:sp>
      <p:sp>
        <p:nvSpPr>
          <p:cNvPr id="10" name="txt372"/>
          <p:cNvSpPr txBox="1"/>
          <p:nvPr/>
        </p:nvSpPr>
        <p:spPr>
          <a:xfrm>
            <a:off x="6903720" y="1554480"/>
            <a:ext cx="4572000" cy="365760"/>
          </a:xfrm>
          <a:prstGeom prst="rect">
            <a:avLst/>
          </a:prstGeom>
          <a:noFill/>
          <a:ln/>
        </p:spPr>
        <p:txBody>
          <a:bodyPr wrap="square" lIns="0" tIns="0" rIns="0" bIns="0" rtlCol="0" anchor="t"/>
          <a:lstStyle/>
          <a:p>
            <a:pPr indent="0" marL="0">
              <a:buNone/>
            </a:pPr>
            <a:r>
              <a:rPr lang="en-US" sz="2000" b="1" dirty="0">
                <a:solidFill>
                  <a:schemeClr val="accent1"/>
                </a:solidFill>
              </a:rPr>
              <a:t>Un proveedor, tres intentos</a:t>
            </a:r>
            <a:endParaRPr lang="en-US" sz="2000" dirty="0"/>
          </a:p>
        </p:txBody>
      </p:sp>
      <p:sp>
        <p:nvSpPr>
          <p:cNvPr id="11" name="line373"/>
          <p:cNvSpPr/>
          <p:nvPr/>
        </p:nvSpPr>
        <p:spPr>
          <a:xfrm>
            <a:off x="7086600" y="2240280"/>
            <a:ext cx="0" cy="3337560"/>
          </a:xfrm>
          <a:prstGeom prst="line">
            <a:avLst/>
          </a:prstGeom>
          <a:noFill/>
          <a:ln w="15875">
            <a:solidFill>
              <a:schemeClr val="bg2"/>
            </a:solidFill>
            <a:prstDash val="solid"/>
          </a:ln>
        </p:spPr>
      </p:sp>
      <p:sp>
        <p:nvSpPr>
          <p:cNvPr id="12" name="tl374"/>
          <p:cNvSpPr/>
          <p:nvPr/>
        </p:nvSpPr>
        <p:spPr>
          <a:xfrm>
            <a:off x="6976872" y="2176272"/>
            <a:ext cx="219456" cy="219456"/>
          </a:xfrm>
          <a:prstGeom prst="ellipse">
            <a:avLst/>
          </a:prstGeom>
          <a:solidFill>
            <a:schemeClr val="bg1"/>
          </a:solidFill>
          <a:ln w="25400">
            <a:solidFill>
              <a:schemeClr val="tx2"/>
            </a:solidFill>
            <a:prstDash val="solid"/>
          </a:ln>
        </p:spPr>
      </p:sp>
      <p:sp>
        <p:nvSpPr>
          <p:cNvPr id="13" name="txt375"/>
          <p:cNvSpPr txBox="1"/>
          <p:nvPr/>
        </p:nvSpPr>
        <p:spPr>
          <a:xfrm>
            <a:off x="7406640" y="2103120"/>
            <a:ext cx="4069080" cy="868680"/>
          </a:xfrm>
          <a:prstGeom prst="rect">
            <a:avLst/>
          </a:prstGeom>
          <a:noFill/>
          <a:ln/>
        </p:spPr>
        <p:txBody>
          <a:bodyPr wrap="square" lIns="0" tIns="0" rIns="0" bIns="0" rtlCol="0" anchor="t"/>
          <a:lstStyle/>
          <a:p>
            <a:pPr indent="0" marL="0">
              <a:buNone/>
            </a:pPr>
            <a:r>
              <a:rPr lang="en-US" sz="1400" b="1" dirty="0">
                <a:solidFill>
                  <a:schemeClr val="bg1"/>
                </a:solidFill>
              </a:rPr>
              <a:t>12/10  </a:t>
            </a:r>
            <a:pPr indent="0" marL="0">
              <a:buNone/>
            </a:pPr>
            <a:r>
              <a:rPr lang="en-US" sz="1400" b="1" dirty="0">
                <a:solidFill>
                  <a:schemeClr val="bg1"/>
                </a:solidFill>
              </a:rPr>
              <a:t>OpenRouter con meta-llama</a:t>
            </a:r>
            <a:endParaRPr lang="en-US" sz="1400" dirty="0"/>
          </a:p>
          <a:p>
            <a:pPr indent="0" marL="0">
              <a:buNone/>
            </a:pPr>
            <a:r>
              <a:rPr lang="en-US" sz="1200" dirty="0">
                <a:solidFill>
                  <a:schemeClr val="bg2"/>
                </a:solidFill>
              </a:rPr>
              <a:t>Primer cliente de IA y endpoint con validaciones.</a:t>
            </a:r>
            <a:endParaRPr lang="en-US" sz="1400" dirty="0"/>
          </a:p>
        </p:txBody>
      </p:sp>
      <p:sp>
        <p:nvSpPr>
          <p:cNvPr id="14" name="tl376"/>
          <p:cNvSpPr/>
          <p:nvPr/>
        </p:nvSpPr>
        <p:spPr>
          <a:xfrm>
            <a:off x="6976872" y="3108960"/>
            <a:ext cx="219456" cy="219456"/>
          </a:xfrm>
          <a:prstGeom prst="ellipse">
            <a:avLst/>
          </a:prstGeom>
          <a:solidFill>
            <a:schemeClr val="accent4"/>
          </a:solidFill>
          <a:ln w="25400">
            <a:solidFill>
              <a:schemeClr val="tx2"/>
            </a:solidFill>
            <a:prstDash val="solid"/>
          </a:ln>
        </p:spPr>
      </p:sp>
      <p:sp>
        <p:nvSpPr>
          <p:cNvPr id="15" name="txt377"/>
          <p:cNvSpPr txBox="1"/>
          <p:nvPr/>
        </p:nvSpPr>
        <p:spPr>
          <a:xfrm>
            <a:off x="7406640" y="3035808"/>
            <a:ext cx="4069080" cy="868680"/>
          </a:xfrm>
          <a:prstGeom prst="rect">
            <a:avLst/>
          </a:prstGeom>
          <a:noFill/>
          <a:ln/>
        </p:spPr>
        <p:txBody>
          <a:bodyPr wrap="square" lIns="0" tIns="0" rIns="0" bIns="0" rtlCol="0" anchor="t"/>
          <a:lstStyle/>
          <a:p>
            <a:pPr indent="0" marL="0">
              <a:buNone/>
            </a:pPr>
            <a:r>
              <a:rPr lang="en-US" sz="1400" b="1" dirty="0">
                <a:solidFill>
                  <a:schemeClr val="accent4"/>
                </a:solidFill>
              </a:rPr>
              <a:t>13/10  </a:t>
            </a:r>
            <a:pPr indent="0" marL="0">
              <a:buNone/>
            </a:pPr>
            <a:r>
              <a:rPr lang="en-US" sz="1400" b="1" dirty="0">
                <a:solidFill>
                  <a:schemeClr val="bg1"/>
                </a:solidFill>
              </a:rPr>
              <a:t>Error 402</a:t>
            </a:r>
            <a:endParaRPr lang="en-US" sz="1400" dirty="0"/>
          </a:p>
          <a:p>
            <a:pPr indent="0" marL="0">
              <a:buNone/>
            </a:pPr>
            <a:r>
              <a:rPr lang="en-US" sz="1200" dirty="0">
                <a:solidFill>
                  <a:schemeClr val="bg2"/>
                </a:solidFill>
              </a:rPr>
              <a:t>Reservaba saldo para la respuesta máxima: limitamos MAX_TOKENS a 600.</a:t>
            </a:r>
            <a:endParaRPr lang="en-US" sz="1400" dirty="0"/>
          </a:p>
        </p:txBody>
      </p:sp>
      <p:sp>
        <p:nvSpPr>
          <p:cNvPr id="16" name="tl378"/>
          <p:cNvSpPr/>
          <p:nvPr/>
        </p:nvSpPr>
        <p:spPr>
          <a:xfrm>
            <a:off x="6976872" y="4041648"/>
            <a:ext cx="219456" cy="219456"/>
          </a:xfrm>
          <a:prstGeom prst="ellipse">
            <a:avLst/>
          </a:prstGeom>
          <a:solidFill>
            <a:schemeClr val="accent5"/>
          </a:solidFill>
          <a:ln w="25400">
            <a:solidFill>
              <a:schemeClr val="tx2"/>
            </a:solidFill>
            <a:prstDash val="solid"/>
          </a:ln>
        </p:spPr>
      </p:sp>
      <p:sp>
        <p:nvSpPr>
          <p:cNvPr id="17" name="txt379"/>
          <p:cNvSpPr txBox="1"/>
          <p:nvPr/>
        </p:nvSpPr>
        <p:spPr>
          <a:xfrm>
            <a:off x="7406640" y="3968496"/>
            <a:ext cx="4069080" cy="868680"/>
          </a:xfrm>
          <a:prstGeom prst="rect">
            <a:avLst/>
          </a:prstGeom>
          <a:noFill/>
          <a:ln/>
        </p:spPr>
        <p:txBody>
          <a:bodyPr wrap="square" lIns="0" tIns="0" rIns="0" bIns="0" rtlCol="0" anchor="t"/>
          <a:lstStyle/>
          <a:p>
            <a:pPr indent="0" marL="0">
              <a:buNone/>
            </a:pPr>
            <a:r>
              <a:rPr lang="en-US" sz="1400" b="1" dirty="0">
                <a:solidFill>
                  <a:schemeClr val="accent5"/>
                </a:solidFill>
              </a:rPr>
              <a:t>19/10  </a:t>
            </a:r>
            <a:pPr indent="0" marL="0">
              <a:buNone/>
            </a:pPr>
            <a:r>
              <a:rPr lang="en-US" sz="1400" b="1" dirty="0">
                <a:solidFill>
                  <a:schemeClr val="bg1"/>
                </a:solidFill>
              </a:rPr>
              <a:t>Saldo agotado en Vercel</a:t>
            </a:r>
            <a:endParaRPr lang="en-US" sz="1400" dirty="0"/>
          </a:p>
          <a:p>
            <a:pPr indent="0" marL="0">
              <a:buNone/>
            </a:pPr>
            <a:r>
              <a:rPr lang="en-US" sz="1200" dirty="0">
                <a:solidFill>
                  <a:schemeClr val="bg2"/>
                </a:solidFill>
              </a:rPr>
              <a:t>La app respondía que no quedaban más peticiones.</a:t>
            </a:r>
            <a:endParaRPr lang="en-US" sz="1400" dirty="0"/>
          </a:p>
        </p:txBody>
      </p:sp>
      <p:sp>
        <p:nvSpPr>
          <p:cNvPr id="18" name="tl380"/>
          <p:cNvSpPr/>
          <p:nvPr/>
        </p:nvSpPr>
        <p:spPr>
          <a:xfrm>
            <a:off x="6976872" y="4974336"/>
            <a:ext cx="219456" cy="219456"/>
          </a:xfrm>
          <a:prstGeom prst="ellipse">
            <a:avLst/>
          </a:prstGeom>
          <a:solidFill>
            <a:schemeClr val="accent6"/>
          </a:solidFill>
          <a:ln w="25400">
            <a:solidFill>
              <a:schemeClr val="tx2"/>
            </a:solidFill>
            <a:prstDash val="solid"/>
          </a:ln>
        </p:spPr>
      </p:sp>
      <p:sp>
        <p:nvSpPr>
          <p:cNvPr id="19" name="txt381"/>
          <p:cNvSpPr txBox="1"/>
          <p:nvPr/>
        </p:nvSpPr>
        <p:spPr>
          <a:xfrm>
            <a:off x="7406640" y="4901184"/>
            <a:ext cx="4069080" cy="868680"/>
          </a:xfrm>
          <a:prstGeom prst="rect">
            <a:avLst/>
          </a:prstGeom>
          <a:noFill/>
          <a:ln/>
        </p:spPr>
        <p:txBody>
          <a:bodyPr wrap="square" lIns="0" tIns="0" rIns="0" bIns="0" rtlCol="0" anchor="t"/>
          <a:lstStyle/>
          <a:p>
            <a:pPr indent="0" marL="0">
              <a:buNone/>
            </a:pPr>
            <a:r>
              <a:rPr lang="en-US" sz="1400" b="1" dirty="0">
                <a:solidFill>
                  <a:schemeClr val="accent6"/>
                </a:solidFill>
              </a:rPr>
              <a:t>19/10  </a:t>
            </a:r>
            <a:pPr indent="0" marL="0">
              <a:buNone/>
            </a:pPr>
            <a:r>
              <a:rPr lang="en-US" sz="1400" b="1" dirty="0">
                <a:solidFill>
                  <a:schemeClr val="bg1"/>
                </a:solidFill>
              </a:rPr>
              <a:t>API de Gemini</a:t>
            </a:r>
            <a:endParaRPr lang="en-US" sz="1400" dirty="0"/>
          </a:p>
          <a:p>
            <a:pPr indent="0" marL="0">
              <a:buNone/>
            </a:pPr>
            <a:r>
              <a:rPr lang="en-US" sz="1200" dirty="0">
                <a:solidFill>
                  <a:schemeClr val="bg2"/>
                </a:solidFill>
              </a:rPr>
              <a:t>gemini-3.5-flash-lite en el plan gratuito. Seguimos con una sola API de IA.</a:t>
            </a:r>
            <a:endParaRPr lang="en-US" sz="14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App 1 · Frontend y diseño</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HECHA A MANO</a:t>
            </a:r>
            <a:endParaRPr lang="en-US" sz="1200" dirty="0"/>
          </a:p>
        </p:txBody>
      </p:sp>
      <p:sp>
        <p:nvSpPr>
          <p:cNvPr id="4" name="presenta382"/>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383"/>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Jose Antonio Nieto</a:t>
            </a:r>
            <a:endParaRPr lang="en-US" sz="1100" dirty="0"/>
          </a:p>
        </p:txBody>
      </p:sp>
      <p:sp>
        <p:nvSpPr>
          <p:cNvPr id="6" name="txt384"/>
          <p:cNvSpPr txBox="1"/>
          <p:nvPr/>
        </p:nvSpPr>
        <p:spPr>
          <a:xfrm>
            <a:off x="548640" y="1417320"/>
            <a:ext cx="5760720" cy="3840480"/>
          </a:xfrm>
          <a:prstGeom prst="rect">
            <a:avLst/>
          </a:prstGeom>
          <a:noFill/>
          <a:ln/>
        </p:spPr>
        <p:txBody>
          <a:bodyPr wrap="square" lIns="0" tIns="0" rIns="0" bIns="0" rtlCol="0" anchor="t"/>
          <a:lstStyle/>
          <a:p>
            <a:pPr marL="177800" indent="-177800">
              <a:spcAft>
                <a:spcPts val="1000"/>
              </a:spcAft>
              <a:buSzPct val="100000"/>
              <a:buChar char="•"/>
            </a:pPr>
            <a:r>
              <a:rPr lang="en-US" sz="1500" b="1" dirty="0">
                <a:solidFill>
                  <a:schemeClr val="bg1"/>
                </a:solidFill>
              </a:rPr>
              <a:t>SPA en Vue 3 con Tailwind CSS 4: </a:t>
            </a:r>
            <a:pPr indent="0" marL="0">
              <a:spcAft>
                <a:spcPts val="1000"/>
              </a:spcAft>
              <a:buNone/>
            </a:pPr>
            <a:r>
              <a:rPr lang="en-US" sz="1500" dirty="0">
                <a:solidFill>
                  <a:schemeClr val="bg2"/>
                </a:solidFill>
              </a:rPr>
              <a:t>una sola pantalla, sin router.</a:t>
            </a:r>
            <a:endParaRPr lang="en-US" sz="1400" dirty="0"/>
          </a:p>
          <a:p>
            <a:pPr marL="177800" indent="-177800">
              <a:spcAft>
                <a:spcPts val="1000"/>
              </a:spcAft>
              <a:buSzPct val="100000"/>
              <a:buChar char="•"/>
            </a:pPr>
            <a:r>
              <a:rPr lang="en-US" sz="1500" b="1" dirty="0">
                <a:solidFill>
                  <a:schemeClr val="bg1"/>
                </a:solidFill>
              </a:rPr>
              <a:t>Estética de tele antigua: </a:t>
            </a:r>
            <a:pPr indent="0" marL="0">
              <a:spcAft>
                <a:spcPts val="1000"/>
              </a:spcAft>
              <a:buNone/>
            </a:pPr>
            <a:r>
              <a:rPr lang="en-US" sz="1500" dirty="0">
                <a:solidFill>
                  <a:schemeClr val="bg2"/>
                </a:solidFill>
              </a:rPr>
              <a:t>título en WebGL, logo animado y animación de encendido.</a:t>
            </a:r>
            <a:endParaRPr lang="en-US" sz="1400" dirty="0"/>
          </a:p>
          <a:p>
            <a:pPr marL="177800" indent="-177800">
              <a:spcAft>
                <a:spcPts val="1000"/>
              </a:spcAft>
              <a:buSzPct val="100000"/>
              <a:buChar char="•"/>
            </a:pPr>
            <a:r>
              <a:rPr lang="en-US" sz="1500" b="1" dirty="0">
                <a:solidFill>
                  <a:schemeClr val="bg1"/>
                </a:solidFill>
              </a:rPr>
              <a:t>12 botones de género (máximo 5) y texto libre, </a:t>
            </a:r>
            <a:pPr indent="0" marL="0">
              <a:spcAft>
                <a:spcPts val="1000"/>
              </a:spcAft>
              <a:buNone/>
            </a:pPr>
            <a:r>
              <a:rPr lang="en-US" sz="1500" dirty="0">
                <a:solidFill>
                  <a:schemeClr val="bg2"/>
                </a:solidFill>
              </a:rPr>
              <a:t>que se unen en el campo tastes.</a:t>
            </a:r>
            <a:endParaRPr lang="en-US" sz="1400" dirty="0"/>
          </a:p>
          <a:p>
            <a:pPr marL="177800" indent="-177800">
              <a:spcAft>
                <a:spcPts val="1000"/>
              </a:spcAft>
              <a:buSzPct val="100000"/>
              <a:buChar char="•"/>
            </a:pPr>
            <a:r>
              <a:rPr lang="en-US" sz="1500" b="1" dirty="0">
                <a:solidFill>
                  <a:schemeClr val="bg1"/>
                </a:solidFill>
              </a:rPr>
              <a:t>Estados de espera, resultado y error. </a:t>
            </a:r>
            <a:pPr indent="0" marL="0">
              <a:spcAft>
                <a:spcPts val="1000"/>
              </a:spcAft>
              <a:buNone/>
            </a:pPr>
            <a:r>
              <a:rPr lang="en-US" sz="1500" dirty="0">
                <a:solidFill>
                  <a:schemeClr val="bg2"/>
                </a:solidFill>
              </a:rPr>
              <a:t>El botón se bloquea para evitar dobles envíos.</a:t>
            </a:r>
            <a:endParaRPr lang="en-US" sz="1400" dirty="0"/>
          </a:p>
          <a:p>
            <a:pPr marL="177800" indent="-177800">
              <a:spcAft>
                <a:spcPts val="1000"/>
              </a:spcAft>
              <a:buSzPct val="100000"/>
              <a:buChar char="•"/>
            </a:pPr>
            <a:r>
              <a:rPr lang="en-US" sz="1500" b="1" dirty="0">
                <a:solidFill>
                  <a:schemeClr val="bg1"/>
                </a:solidFill>
              </a:rPr>
              <a:t>Artistas resaltados en color, </a:t>
            </a:r>
            <a:pPr indent="0" marL="0">
              <a:spcAft>
                <a:spcPts val="1000"/>
              </a:spcAft>
              <a:buNone/>
            </a:pPr>
            <a:r>
              <a:rPr lang="en-US" sz="1500" dirty="0">
                <a:solidFill>
                  <a:schemeClr val="bg2"/>
                </a:solidFill>
              </a:rPr>
              <a:t>pero la respuesta se muestra siempre como texto, nunca con v-html.</a:t>
            </a:r>
            <a:endParaRPr lang="en-US" sz="1400" dirty="0"/>
          </a:p>
          <a:p>
            <a:pPr marL="177800" indent="-177800">
              <a:spcAft>
                <a:spcPts val="1000"/>
              </a:spcAft>
              <a:buSzPct val="100000"/>
              <a:buChar char="•"/>
            </a:pPr>
            <a:r>
              <a:rPr lang="en-US" sz="1500" b="1" dirty="0">
                <a:solidFill>
                  <a:schemeClr val="bg1"/>
                </a:solidFill>
              </a:rPr>
              <a:t>Vercel: </a:t>
            </a:r>
            <a:pPr indent="0" marL="0">
              <a:spcAft>
                <a:spcPts val="1000"/>
              </a:spcAft>
              <a:buNone/>
            </a:pPr>
            <a:r>
              <a:rPr lang="en-US" sz="1500" dirty="0">
                <a:solidFill>
                  <a:schemeClr val="bg2"/>
                </a:solidFill>
              </a:rPr>
              <a:t>la misma ruta relativa /api en local y en producción.</a:t>
            </a:r>
            <a:endParaRPr lang="en-US" sz="1400" dirty="0"/>
          </a:p>
        </p:txBody>
      </p:sp>
      <p:sp>
        <p:nvSpPr>
          <p:cNvPr id="7" name="card385"/>
          <p:cNvSpPr/>
          <p:nvPr/>
        </p:nvSpPr>
        <p:spPr>
          <a:xfrm>
            <a:off x="548640" y="4846320"/>
            <a:ext cx="2788920" cy="1188720"/>
          </a:xfrm>
          <a:prstGeom prst="roundRect">
            <a:avLst>
              <a:gd name="adj" fmla="val 9231"/>
            </a:avLst>
          </a:prstGeom>
          <a:solidFill>
            <a:schemeClr val="tx2"/>
          </a:solidFill>
          <a:ln w="9525">
            <a:solidFill>
              <a:schemeClr val="bg2">
                <a:alpha val="28000"/>
              </a:schemeClr>
            </a:solidFill>
            <a:prstDash val="solid"/>
          </a:ln>
        </p:spPr>
      </p:sp>
      <p:sp>
        <p:nvSpPr>
          <p:cNvPr id="8" name="txt386"/>
          <p:cNvSpPr txBox="1"/>
          <p:nvPr/>
        </p:nvSpPr>
        <p:spPr>
          <a:xfrm>
            <a:off x="777240" y="4956048"/>
            <a:ext cx="2331720" cy="653796"/>
          </a:xfrm>
          <a:prstGeom prst="rect">
            <a:avLst/>
          </a:prstGeom>
          <a:noFill/>
          <a:ln/>
        </p:spPr>
        <p:txBody>
          <a:bodyPr wrap="square" lIns="0" tIns="0" rIns="0" bIns="0" rtlCol="0" anchor="ctr"/>
          <a:lstStyle/>
          <a:p>
            <a:pPr indent="0" marL="0">
              <a:buNone/>
            </a:pPr>
            <a:r>
              <a:rPr lang="en-US" sz="3400" b="1" dirty="0">
                <a:solidFill>
                  <a:schemeClr val="accent1"/>
                </a:solidFill>
              </a:rPr>
              <a:t>≈ 7,5 h</a:t>
            </a:r>
            <a:endParaRPr lang="en-US" sz="3400" dirty="0"/>
          </a:p>
        </p:txBody>
      </p:sp>
      <p:sp>
        <p:nvSpPr>
          <p:cNvPr id="9" name="txt387"/>
          <p:cNvSpPr txBox="1"/>
          <p:nvPr/>
        </p:nvSpPr>
        <p:spPr>
          <a:xfrm>
            <a:off x="777240" y="5559552"/>
            <a:ext cx="2331720" cy="427939"/>
          </a:xfrm>
          <a:prstGeom prst="rect">
            <a:avLst/>
          </a:prstGeom>
          <a:noFill/>
          <a:ln/>
        </p:spPr>
        <p:txBody>
          <a:bodyPr wrap="square" lIns="0" tIns="0" rIns="0" bIns="0" rtlCol="0" anchor="t"/>
          <a:lstStyle/>
          <a:p>
            <a:pPr indent="0" marL="0">
              <a:buNone/>
            </a:pPr>
            <a:r>
              <a:rPr lang="en-US" sz="1300" dirty="0">
                <a:solidFill>
                  <a:schemeClr val="bg2"/>
                </a:solidFill>
              </a:rPr>
              <a:t>de frontend (estimación)</a:t>
            </a:r>
            <a:endParaRPr lang="en-US" sz="1300" dirty="0"/>
          </a:p>
        </p:txBody>
      </p:sp>
      <p:sp>
        <p:nvSpPr>
          <p:cNvPr id="10" name="card388"/>
          <p:cNvSpPr/>
          <p:nvPr/>
        </p:nvSpPr>
        <p:spPr>
          <a:xfrm>
            <a:off x="3520440" y="4846320"/>
            <a:ext cx="2788920" cy="1188720"/>
          </a:xfrm>
          <a:prstGeom prst="roundRect">
            <a:avLst>
              <a:gd name="adj" fmla="val 9231"/>
            </a:avLst>
          </a:prstGeom>
          <a:solidFill>
            <a:schemeClr val="tx2"/>
          </a:solidFill>
          <a:ln w="9525">
            <a:solidFill>
              <a:schemeClr val="bg2">
                <a:alpha val="28000"/>
              </a:schemeClr>
            </a:solidFill>
            <a:prstDash val="solid"/>
          </a:ln>
        </p:spPr>
      </p:sp>
      <p:sp>
        <p:nvSpPr>
          <p:cNvPr id="11" name="txt389"/>
          <p:cNvSpPr txBox="1"/>
          <p:nvPr/>
        </p:nvSpPr>
        <p:spPr>
          <a:xfrm>
            <a:off x="3749040" y="4956048"/>
            <a:ext cx="2331720" cy="653796"/>
          </a:xfrm>
          <a:prstGeom prst="rect">
            <a:avLst/>
          </a:prstGeom>
          <a:noFill/>
          <a:ln/>
        </p:spPr>
        <p:txBody>
          <a:bodyPr wrap="square" lIns="0" tIns="0" rIns="0" bIns="0" rtlCol="0" anchor="ctr"/>
          <a:lstStyle/>
          <a:p>
            <a:pPr indent="0" marL="0">
              <a:buNone/>
            </a:pPr>
            <a:r>
              <a:rPr lang="en-US" sz="3400" b="1" dirty="0">
                <a:solidFill>
                  <a:schemeClr val="accent1"/>
                </a:solidFill>
              </a:rPr>
              <a:t>12</a:t>
            </a:r>
            <a:endParaRPr lang="en-US" sz="3400" dirty="0"/>
          </a:p>
        </p:txBody>
      </p:sp>
      <p:sp>
        <p:nvSpPr>
          <p:cNvPr id="12" name="txt390"/>
          <p:cNvSpPr txBox="1"/>
          <p:nvPr/>
        </p:nvSpPr>
        <p:spPr>
          <a:xfrm>
            <a:off x="3749040" y="5559552"/>
            <a:ext cx="2331720" cy="427939"/>
          </a:xfrm>
          <a:prstGeom prst="rect">
            <a:avLst/>
          </a:prstGeom>
          <a:noFill/>
          <a:ln/>
        </p:spPr>
        <p:txBody>
          <a:bodyPr wrap="square" lIns="0" tIns="0" rIns="0" bIns="0" rtlCol="0" anchor="t"/>
          <a:lstStyle/>
          <a:p>
            <a:pPr indent="0" marL="0">
              <a:buNone/>
            </a:pPr>
            <a:r>
              <a:rPr lang="en-US" sz="1300" dirty="0">
                <a:solidFill>
                  <a:schemeClr val="bg2"/>
                </a:solidFill>
              </a:rPr>
              <a:t>géneros, como en la App 2</a:t>
            </a:r>
            <a:endParaRPr lang="en-US" sz="1300" dirty="0"/>
          </a:p>
        </p:txBody>
      </p:sp>
      <p:sp>
        <p:nvSpPr>
          <p:cNvPr id="13" name="card391"/>
          <p:cNvSpPr/>
          <p:nvPr/>
        </p:nvSpPr>
        <p:spPr>
          <a:xfrm>
            <a:off x="6583680" y="1371600"/>
            <a:ext cx="5074920" cy="4663440"/>
          </a:xfrm>
          <a:prstGeom prst="roundRect">
            <a:avLst>
              <a:gd name="adj" fmla="val 2353"/>
            </a:avLst>
          </a:prstGeom>
          <a:solidFill>
            <a:schemeClr val="tx1"/>
          </a:solidFill>
          <a:ln w="9525">
            <a:solidFill>
              <a:schemeClr val="bg2">
                <a:alpha val="50000"/>
              </a:schemeClr>
            </a:solidFill>
            <a:prstDash val="solid"/>
          </a:ln>
        </p:spPr>
      </p:sp>
      <p:pic>
        <p:nvPicPr>
          <p:cNvPr id="14" name="capturaApp1" descr="Captura de la App 1 en Vercel con recomendaciones">    </p:cNvPr>
          <p:cNvPicPr>
            <a:picLocks noChangeAspect="1"/>
          </p:cNvPicPr>
          <p:nvPr/>
        </p:nvPicPr>
        <p:blipFill>
          <a:blip r:embed="rId1"/>
          <a:stretch>
            <a:fillRect/>
          </a:stretch>
        </p:blipFill>
        <p:spPr>
          <a:xfrm>
            <a:off x="7004304" y="1481328"/>
            <a:ext cx="4224528" cy="4443984"/>
          </a:xfrm>
          <a:prstGeom prst="rect">
            <a:avLst/>
          </a:prstGeom>
        </p:spPr>
      </p:pic>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Evolución en Git</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HITOS H0 … H12</a:t>
            </a:r>
            <a:endParaRPr lang="en-US" sz="1200" dirty="0"/>
          </a:p>
        </p:txBody>
      </p:sp>
      <p:sp>
        <p:nvSpPr>
          <p:cNvPr id="4" name="presenta392"/>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393"/>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Jose Antonio Nieto</a:t>
            </a:r>
            <a:endParaRPr lang="en-US" sz="1100" dirty="0"/>
          </a:p>
        </p:txBody>
      </p:sp>
      <p:sp>
        <p:nvSpPr>
          <p:cNvPr id="6" name="card394"/>
          <p:cNvSpPr/>
          <p:nvPr/>
        </p:nvSpPr>
        <p:spPr>
          <a:xfrm>
            <a:off x="548640" y="1371600"/>
            <a:ext cx="3566160" cy="1188720"/>
          </a:xfrm>
          <a:prstGeom prst="roundRect">
            <a:avLst>
              <a:gd name="adj" fmla="val 9231"/>
            </a:avLst>
          </a:prstGeom>
          <a:solidFill>
            <a:schemeClr val="tx2"/>
          </a:solidFill>
          <a:ln w="9525">
            <a:solidFill>
              <a:schemeClr val="bg2">
                <a:alpha val="28000"/>
              </a:schemeClr>
            </a:solidFill>
            <a:prstDash val="solid"/>
          </a:ln>
        </p:spPr>
      </p:sp>
      <p:sp>
        <p:nvSpPr>
          <p:cNvPr id="7" name="txt395"/>
          <p:cNvSpPr txBox="1"/>
          <p:nvPr/>
        </p:nvSpPr>
        <p:spPr>
          <a:xfrm>
            <a:off x="777240" y="1481328"/>
            <a:ext cx="3108960" cy="653796"/>
          </a:xfrm>
          <a:prstGeom prst="rect">
            <a:avLst/>
          </a:prstGeom>
          <a:noFill/>
          <a:ln/>
        </p:spPr>
        <p:txBody>
          <a:bodyPr wrap="square" lIns="0" tIns="0" rIns="0" bIns="0" rtlCol="0" anchor="ctr"/>
          <a:lstStyle/>
          <a:p>
            <a:pPr indent="0" marL="0">
              <a:buNone/>
            </a:pPr>
            <a:r>
              <a:rPr lang="en-US" sz="3400" b="1" dirty="0">
                <a:solidFill>
                  <a:schemeClr val="accent1"/>
                </a:solidFill>
              </a:rPr>
              <a:t>61 commits</a:t>
            </a:r>
            <a:endParaRPr lang="en-US" sz="3400" dirty="0"/>
          </a:p>
        </p:txBody>
      </p:sp>
      <p:sp>
        <p:nvSpPr>
          <p:cNvPr id="8" name="txt396"/>
          <p:cNvSpPr txBox="1"/>
          <p:nvPr/>
        </p:nvSpPr>
        <p:spPr>
          <a:xfrm>
            <a:off x="777240" y="2084832"/>
            <a:ext cx="3108960" cy="427939"/>
          </a:xfrm>
          <a:prstGeom prst="rect">
            <a:avLst/>
          </a:prstGeom>
          <a:noFill/>
          <a:ln/>
        </p:spPr>
        <p:txBody>
          <a:bodyPr wrap="square" lIns="0" tIns="0" rIns="0" bIns="0" rtlCol="0" anchor="t"/>
          <a:lstStyle/>
          <a:p>
            <a:pPr indent="0" marL="0">
              <a:buNone/>
            </a:pPr>
            <a:r>
              <a:rPr lang="en-US" sz="1300" dirty="0">
                <a:solidFill>
                  <a:schemeClr val="bg2"/>
                </a:solidFill>
              </a:rPr>
              <a:t>de los tres integrantes, del 11/10 al 28/10</a:t>
            </a:r>
            <a:endParaRPr lang="en-US" sz="1300" dirty="0"/>
          </a:p>
        </p:txBody>
      </p:sp>
      <p:sp>
        <p:nvSpPr>
          <p:cNvPr id="9" name="card397"/>
          <p:cNvSpPr/>
          <p:nvPr/>
        </p:nvSpPr>
        <p:spPr>
          <a:xfrm>
            <a:off x="4315968" y="1371600"/>
            <a:ext cx="3566160" cy="1188720"/>
          </a:xfrm>
          <a:prstGeom prst="roundRect">
            <a:avLst>
              <a:gd name="adj" fmla="val 9231"/>
            </a:avLst>
          </a:prstGeom>
          <a:solidFill>
            <a:schemeClr val="tx2"/>
          </a:solidFill>
          <a:ln w="9525">
            <a:solidFill>
              <a:schemeClr val="bg2">
                <a:alpha val="28000"/>
              </a:schemeClr>
            </a:solidFill>
            <a:prstDash val="solid"/>
          </a:ln>
        </p:spPr>
      </p:sp>
      <p:sp>
        <p:nvSpPr>
          <p:cNvPr id="10" name="txt398"/>
          <p:cNvSpPr txBox="1"/>
          <p:nvPr/>
        </p:nvSpPr>
        <p:spPr>
          <a:xfrm>
            <a:off x="4544568" y="1481328"/>
            <a:ext cx="3108960" cy="653796"/>
          </a:xfrm>
          <a:prstGeom prst="rect">
            <a:avLst/>
          </a:prstGeom>
          <a:noFill/>
          <a:ln/>
        </p:spPr>
        <p:txBody>
          <a:bodyPr wrap="square" lIns="0" tIns="0" rIns="0" bIns="0" rtlCol="0" anchor="ctr"/>
          <a:lstStyle/>
          <a:p>
            <a:pPr indent="0" marL="0">
              <a:buNone/>
            </a:pPr>
            <a:r>
              <a:rPr lang="en-US" sz="3400" b="1" dirty="0">
                <a:solidFill>
                  <a:schemeClr val="accent2"/>
                </a:solidFill>
              </a:rPr>
              <a:t>25/10 → 27/10</a:t>
            </a:r>
            <a:endParaRPr lang="en-US" sz="3400" dirty="0"/>
          </a:p>
        </p:txBody>
      </p:sp>
      <p:sp>
        <p:nvSpPr>
          <p:cNvPr id="11" name="txt399"/>
          <p:cNvSpPr txBox="1"/>
          <p:nvPr/>
        </p:nvSpPr>
        <p:spPr>
          <a:xfrm>
            <a:off x="4544568" y="2084832"/>
            <a:ext cx="3108960" cy="427939"/>
          </a:xfrm>
          <a:prstGeom prst="rect">
            <a:avLst/>
          </a:prstGeom>
          <a:noFill/>
          <a:ln/>
        </p:spPr>
        <p:txBody>
          <a:bodyPr wrap="square" lIns="0" tIns="0" rIns="0" bIns="0" rtlCol="0" anchor="t"/>
          <a:lstStyle/>
          <a:p>
            <a:pPr indent="0" marL="0">
              <a:buNone/>
            </a:pPr>
            <a:r>
              <a:rPr lang="en-US" sz="1300" dirty="0">
                <a:solidFill>
                  <a:schemeClr val="bg2"/>
                </a:solidFill>
              </a:rPr>
              <a:t>la especificación entra en Git antes que el código</a:t>
            </a:r>
            <a:endParaRPr lang="en-US" sz="1300" dirty="0"/>
          </a:p>
        </p:txBody>
      </p:sp>
      <p:sp>
        <p:nvSpPr>
          <p:cNvPr id="12" name="card400"/>
          <p:cNvSpPr/>
          <p:nvPr/>
        </p:nvSpPr>
        <p:spPr>
          <a:xfrm>
            <a:off x="8092440" y="1371600"/>
            <a:ext cx="3566160" cy="1188720"/>
          </a:xfrm>
          <a:prstGeom prst="roundRect">
            <a:avLst>
              <a:gd name="adj" fmla="val 9231"/>
            </a:avLst>
          </a:prstGeom>
          <a:solidFill>
            <a:schemeClr val="tx2"/>
          </a:solidFill>
          <a:ln w="9525">
            <a:solidFill>
              <a:schemeClr val="bg2">
                <a:alpha val="28000"/>
              </a:schemeClr>
            </a:solidFill>
            <a:prstDash val="solid"/>
          </a:ln>
        </p:spPr>
      </p:sp>
      <p:sp>
        <p:nvSpPr>
          <p:cNvPr id="13" name="txt401"/>
          <p:cNvSpPr txBox="1"/>
          <p:nvPr/>
        </p:nvSpPr>
        <p:spPr>
          <a:xfrm>
            <a:off x="8321040" y="1481328"/>
            <a:ext cx="3108960" cy="653796"/>
          </a:xfrm>
          <a:prstGeom prst="rect">
            <a:avLst/>
          </a:prstGeom>
          <a:noFill/>
          <a:ln/>
        </p:spPr>
        <p:txBody>
          <a:bodyPr wrap="square" lIns="0" tIns="0" rIns="0" bIns="0" rtlCol="0" anchor="ctr"/>
          <a:lstStyle/>
          <a:p>
            <a:pPr indent="0" marL="0">
              <a:buNone/>
            </a:pPr>
            <a:r>
              <a:rPr lang="en-US" sz="3400" b="1" dirty="0">
                <a:solidFill>
                  <a:schemeClr val="accent4"/>
                </a:solidFill>
              </a:rPr>
              <a:t>Etiquetas</a:t>
            </a:r>
            <a:endParaRPr lang="en-US" sz="3400" dirty="0"/>
          </a:p>
        </p:txBody>
      </p:sp>
      <p:sp>
        <p:nvSpPr>
          <p:cNvPr id="14" name="txt402"/>
          <p:cNvSpPr txBox="1"/>
          <p:nvPr/>
        </p:nvSpPr>
        <p:spPr>
          <a:xfrm>
            <a:off x="8321040" y="2084832"/>
            <a:ext cx="3108960" cy="427939"/>
          </a:xfrm>
          <a:prstGeom prst="rect">
            <a:avLst/>
          </a:prstGeom>
          <a:noFill/>
          <a:ln/>
        </p:spPr>
        <p:txBody>
          <a:bodyPr wrap="square" lIns="0" tIns="0" rIns="0" bIns="0" rtlCol="0" anchor="t"/>
          <a:lstStyle/>
          <a:p>
            <a:pPr indent="0" marL="0">
              <a:buNone/>
            </a:pPr>
            <a:r>
              <a:rPr lang="en-US" sz="1300" dirty="0">
                <a:solidFill>
                  <a:schemeClr val="bg2"/>
                </a:solidFill>
              </a:rPr>
              <a:t>app1-final y entrega-ud1 (pendientes)</a:t>
            </a:r>
            <a:endParaRPr lang="en-US" sz="1300" dirty="0"/>
          </a:p>
        </p:txBody>
      </p:sp>
      <p:sp>
        <p:nvSpPr>
          <p:cNvPr id="15" name="line403"/>
          <p:cNvSpPr/>
          <p:nvPr/>
        </p:nvSpPr>
        <p:spPr>
          <a:xfrm>
            <a:off x="640080" y="3063240"/>
            <a:ext cx="10927080" cy="0"/>
          </a:xfrm>
          <a:prstGeom prst="line">
            <a:avLst/>
          </a:prstGeom>
          <a:noFill/>
          <a:ln w="15875">
            <a:solidFill>
              <a:schemeClr val="bg2"/>
            </a:solidFill>
            <a:prstDash val="solid"/>
          </a:ln>
        </p:spPr>
      </p:sp>
      <p:sp>
        <p:nvSpPr>
          <p:cNvPr id="16" name="hito404"/>
          <p:cNvSpPr/>
          <p:nvPr/>
        </p:nvSpPr>
        <p:spPr>
          <a:xfrm>
            <a:off x="1298448" y="2953512"/>
            <a:ext cx="219456" cy="219456"/>
          </a:xfrm>
          <a:prstGeom prst="ellipse">
            <a:avLst/>
          </a:prstGeom>
          <a:solidFill>
            <a:schemeClr val="bg1"/>
          </a:solidFill>
          <a:ln w="25400">
            <a:solidFill>
              <a:schemeClr val="tx1"/>
            </a:solidFill>
            <a:prstDash val="solid"/>
          </a:ln>
        </p:spPr>
      </p:sp>
      <p:sp>
        <p:nvSpPr>
          <p:cNvPr id="17" name="txt405"/>
          <p:cNvSpPr txBox="1"/>
          <p:nvPr/>
        </p:nvSpPr>
        <p:spPr>
          <a:xfrm>
            <a:off x="640080" y="2670048"/>
            <a:ext cx="1517904" cy="237744"/>
          </a:xfrm>
          <a:prstGeom prst="rect">
            <a:avLst/>
          </a:prstGeom>
          <a:noFill/>
          <a:ln/>
        </p:spPr>
        <p:txBody>
          <a:bodyPr wrap="square" lIns="0" tIns="0" rIns="0" bIns="0" rtlCol="0" anchor="t"/>
          <a:lstStyle/>
          <a:p>
            <a:pPr algn="ctr" indent="0" marL="0">
              <a:buNone/>
            </a:pPr>
            <a:r>
              <a:rPr lang="en-US" sz="1100" b="1" dirty="0">
                <a:solidFill>
                  <a:schemeClr val="bg1"/>
                </a:solidFill>
              </a:rPr>
              <a:t>11/10</a:t>
            </a:r>
            <a:endParaRPr lang="en-US" sz="1100" dirty="0"/>
          </a:p>
        </p:txBody>
      </p:sp>
      <p:sp>
        <p:nvSpPr>
          <p:cNvPr id="18" name="card406"/>
          <p:cNvSpPr/>
          <p:nvPr/>
        </p:nvSpPr>
        <p:spPr>
          <a:xfrm>
            <a:off x="640080" y="3383280"/>
            <a:ext cx="1481328" cy="2103120"/>
          </a:xfrm>
          <a:prstGeom prst="roundRect">
            <a:avLst>
              <a:gd name="adj" fmla="val 7407"/>
            </a:avLst>
          </a:prstGeom>
          <a:solidFill>
            <a:schemeClr val="tx2"/>
          </a:solidFill>
          <a:ln w="9525">
            <a:solidFill>
              <a:schemeClr val="bg2">
                <a:alpha val="28000"/>
              </a:schemeClr>
            </a:solidFill>
            <a:prstDash val="solid"/>
          </a:ln>
        </p:spPr>
      </p:sp>
      <p:sp>
        <p:nvSpPr>
          <p:cNvPr id="19" name="txt407"/>
          <p:cNvSpPr txBox="1"/>
          <p:nvPr/>
        </p:nvSpPr>
        <p:spPr>
          <a:xfrm>
            <a:off x="749808" y="3520440"/>
            <a:ext cx="1280160" cy="2423160"/>
          </a:xfrm>
          <a:prstGeom prst="rect">
            <a:avLst/>
          </a:prstGeom>
          <a:noFill/>
          <a:ln/>
        </p:spPr>
        <p:txBody>
          <a:bodyPr wrap="square" lIns="0" tIns="0" rIns="0" bIns="0" rtlCol="0" anchor="t"/>
          <a:lstStyle/>
          <a:p>
            <a:pPr indent="0" marL="0">
              <a:buNone/>
            </a:pPr>
            <a:r>
              <a:rPr lang="en-US" sz="1300" b="1" dirty="0">
                <a:solidFill>
                  <a:schemeClr val="bg1"/>
                </a:solidFill>
              </a:rPr>
              <a:t>H0 · Inicio</a:t>
            </a:r>
            <a:endParaRPr lang="en-US" sz="1400" dirty="0"/>
          </a:p>
          <a:p>
            <a:pPr indent="0" marL="0">
              <a:buNone/>
            </a:pPr>
            <a:r>
              <a:rPr lang="en-US" sz="1200" dirty="0">
                <a:solidFill>
                  <a:schemeClr val="bg2"/>
                </a:solidFill>
              </a:rPr>
              <a:t>Estructura, .gitignore, .env.example y frontend base</a:t>
            </a:r>
            <a:endParaRPr lang="en-US" sz="1400" dirty="0"/>
          </a:p>
        </p:txBody>
      </p:sp>
      <p:sp>
        <p:nvSpPr>
          <p:cNvPr id="20" name="hito408"/>
          <p:cNvSpPr/>
          <p:nvPr/>
        </p:nvSpPr>
        <p:spPr>
          <a:xfrm>
            <a:off x="2862072" y="2953512"/>
            <a:ext cx="219456" cy="219456"/>
          </a:xfrm>
          <a:prstGeom prst="ellipse">
            <a:avLst/>
          </a:prstGeom>
          <a:solidFill>
            <a:schemeClr val="bg1"/>
          </a:solidFill>
          <a:ln w="25400">
            <a:solidFill>
              <a:schemeClr val="tx1"/>
            </a:solidFill>
            <a:prstDash val="solid"/>
          </a:ln>
        </p:spPr>
      </p:sp>
      <p:sp>
        <p:nvSpPr>
          <p:cNvPr id="21" name="txt409"/>
          <p:cNvSpPr txBox="1"/>
          <p:nvPr/>
        </p:nvSpPr>
        <p:spPr>
          <a:xfrm>
            <a:off x="2203704" y="2670048"/>
            <a:ext cx="1517904" cy="237744"/>
          </a:xfrm>
          <a:prstGeom prst="rect">
            <a:avLst/>
          </a:prstGeom>
          <a:noFill/>
          <a:ln/>
        </p:spPr>
        <p:txBody>
          <a:bodyPr wrap="square" lIns="0" tIns="0" rIns="0" bIns="0" rtlCol="0" anchor="t"/>
          <a:lstStyle/>
          <a:p>
            <a:pPr algn="ctr" indent="0" marL="0">
              <a:buNone/>
            </a:pPr>
            <a:r>
              <a:rPr lang="en-US" sz="1100" b="1" dirty="0">
                <a:solidFill>
                  <a:schemeClr val="bg1"/>
                </a:solidFill>
              </a:rPr>
              <a:t>12–13/10</a:t>
            </a:r>
            <a:endParaRPr lang="en-US" sz="1100" dirty="0"/>
          </a:p>
        </p:txBody>
      </p:sp>
      <p:sp>
        <p:nvSpPr>
          <p:cNvPr id="22" name="card410"/>
          <p:cNvSpPr/>
          <p:nvPr/>
        </p:nvSpPr>
        <p:spPr>
          <a:xfrm>
            <a:off x="2203704" y="3383280"/>
            <a:ext cx="1481328" cy="2103120"/>
          </a:xfrm>
          <a:prstGeom prst="roundRect">
            <a:avLst>
              <a:gd name="adj" fmla="val 7407"/>
            </a:avLst>
          </a:prstGeom>
          <a:solidFill>
            <a:schemeClr val="tx2"/>
          </a:solidFill>
          <a:ln w="9525">
            <a:solidFill>
              <a:schemeClr val="bg2">
                <a:alpha val="28000"/>
              </a:schemeClr>
            </a:solidFill>
            <a:prstDash val="solid"/>
          </a:ln>
        </p:spPr>
      </p:sp>
      <p:sp>
        <p:nvSpPr>
          <p:cNvPr id="23" name="txt411"/>
          <p:cNvSpPr txBox="1"/>
          <p:nvPr/>
        </p:nvSpPr>
        <p:spPr>
          <a:xfrm>
            <a:off x="2313432" y="3520440"/>
            <a:ext cx="1280160" cy="2423160"/>
          </a:xfrm>
          <a:prstGeom prst="rect">
            <a:avLst/>
          </a:prstGeom>
          <a:noFill/>
          <a:ln/>
        </p:spPr>
        <p:txBody>
          <a:bodyPr wrap="square" lIns="0" tIns="0" rIns="0" bIns="0" rtlCol="0" anchor="t"/>
          <a:lstStyle/>
          <a:p>
            <a:pPr indent="0" marL="0">
              <a:buNone/>
            </a:pPr>
            <a:r>
              <a:rPr lang="en-US" sz="1300" b="1" dirty="0">
                <a:solidFill>
                  <a:schemeClr val="bg1"/>
                </a:solidFill>
              </a:rPr>
              <a:t>H1–H3 · Backend</a:t>
            </a:r>
            <a:endParaRPr lang="en-US" sz="1400" dirty="0"/>
          </a:p>
          <a:p>
            <a:pPr indent="0" marL="0">
              <a:buNone/>
            </a:pPr>
            <a:r>
              <a:rPr lang="en-US" sz="1200" dirty="0">
                <a:solidFill>
                  <a:schemeClr val="bg2"/>
                </a:solidFill>
              </a:rPr>
              <a:t>Endpoint con Pydantic, cliente de IA y 12 tests con mocks</a:t>
            </a:r>
            <a:endParaRPr lang="en-US" sz="1400" dirty="0"/>
          </a:p>
        </p:txBody>
      </p:sp>
      <p:sp>
        <p:nvSpPr>
          <p:cNvPr id="24" name="hito412"/>
          <p:cNvSpPr/>
          <p:nvPr/>
        </p:nvSpPr>
        <p:spPr>
          <a:xfrm>
            <a:off x="4425696" y="2953512"/>
            <a:ext cx="219456" cy="219456"/>
          </a:xfrm>
          <a:prstGeom prst="ellipse">
            <a:avLst/>
          </a:prstGeom>
          <a:solidFill>
            <a:schemeClr val="accent1"/>
          </a:solidFill>
          <a:ln w="25400">
            <a:solidFill>
              <a:schemeClr val="tx1"/>
            </a:solidFill>
            <a:prstDash val="solid"/>
          </a:ln>
        </p:spPr>
      </p:sp>
      <p:sp>
        <p:nvSpPr>
          <p:cNvPr id="25" name="txt413"/>
          <p:cNvSpPr txBox="1"/>
          <p:nvPr/>
        </p:nvSpPr>
        <p:spPr>
          <a:xfrm>
            <a:off x="3767328" y="2670048"/>
            <a:ext cx="1517904" cy="237744"/>
          </a:xfrm>
          <a:prstGeom prst="rect">
            <a:avLst/>
          </a:prstGeom>
          <a:noFill/>
          <a:ln/>
        </p:spPr>
        <p:txBody>
          <a:bodyPr wrap="square" lIns="0" tIns="0" rIns="0" bIns="0" rtlCol="0" anchor="t"/>
          <a:lstStyle/>
          <a:p>
            <a:pPr algn="ctr" indent="0" marL="0">
              <a:buNone/>
            </a:pPr>
            <a:r>
              <a:rPr lang="en-US" sz="1100" b="1" dirty="0">
                <a:solidFill>
                  <a:schemeClr val="accent1"/>
                </a:solidFill>
              </a:rPr>
              <a:t>13–14/10</a:t>
            </a:r>
            <a:endParaRPr lang="en-US" sz="1100" dirty="0"/>
          </a:p>
        </p:txBody>
      </p:sp>
      <p:sp>
        <p:nvSpPr>
          <p:cNvPr id="26" name="card414"/>
          <p:cNvSpPr/>
          <p:nvPr/>
        </p:nvSpPr>
        <p:spPr>
          <a:xfrm>
            <a:off x="3767328" y="3383280"/>
            <a:ext cx="1481328" cy="2103120"/>
          </a:xfrm>
          <a:prstGeom prst="roundRect">
            <a:avLst>
              <a:gd name="adj" fmla="val 7407"/>
            </a:avLst>
          </a:prstGeom>
          <a:solidFill>
            <a:schemeClr val="tx2"/>
          </a:solidFill>
          <a:ln w="9525">
            <a:solidFill>
              <a:schemeClr val="bg2">
                <a:alpha val="28000"/>
              </a:schemeClr>
            </a:solidFill>
            <a:prstDash val="solid"/>
          </a:ln>
        </p:spPr>
      </p:sp>
      <p:sp>
        <p:nvSpPr>
          <p:cNvPr id="27" name="txt415"/>
          <p:cNvSpPr txBox="1"/>
          <p:nvPr/>
        </p:nvSpPr>
        <p:spPr>
          <a:xfrm>
            <a:off x="3877056" y="3520440"/>
            <a:ext cx="1280160" cy="2423160"/>
          </a:xfrm>
          <a:prstGeom prst="rect">
            <a:avLst/>
          </a:prstGeom>
          <a:noFill/>
          <a:ln/>
        </p:spPr>
        <p:txBody>
          <a:bodyPr wrap="square" lIns="0" tIns="0" rIns="0" bIns="0" rtlCol="0" anchor="t"/>
          <a:lstStyle/>
          <a:p>
            <a:pPr indent="0" marL="0">
              <a:buNone/>
            </a:pPr>
            <a:r>
              <a:rPr lang="en-US" sz="1300" b="1" dirty="0">
                <a:solidFill>
                  <a:schemeClr val="accent1"/>
                </a:solidFill>
              </a:rPr>
              <a:t>H4–H6 · Frontend</a:t>
            </a:r>
            <a:endParaRPr lang="en-US" sz="1400" dirty="0"/>
          </a:p>
          <a:p>
            <a:pPr indent="0" marL="0">
              <a:buNone/>
            </a:pPr>
            <a:r>
              <a:rPr lang="en-US" sz="1200" dirty="0">
                <a:solidFill>
                  <a:schemeClr val="bg2"/>
                </a:solidFill>
              </a:rPr>
              <a:t>Géneros, resaltado de artistas y diseño</a:t>
            </a:r>
            <a:endParaRPr lang="en-US" sz="1400" dirty="0"/>
          </a:p>
        </p:txBody>
      </p:sp>
      <p:sp>
        <p:nvSpPr>
          <p:cNvPr id="28" name="hito416"/>
          <p:cNvSpPr/>
          <p:nvPr/>
        </p:nvSpPr>
        <p:spPr>
          <a:xfrm>
            <a:off x="5989320" y="2953512"/>
            <a:ext cx="219456" cy="219456"/>
          </a:xfrm>
          <a:prstGeom prst="ellipse">
            <a:avLst/>
          </a:prstGeom>
          <a:solidFill>
            <a:schemeClr val="accent3"/>
          </a:solidFill>
          <a:ln w="25400">
            <a:solidFill>
              <a:schemeClr val="tx1"/>
            </a:solidFill>
            <a:prstDash val="solid"/>
          </a:ln>
        </p:spPr>
      </p:sp>
      <p:sp>
        <p:nvSpPr>
          <p:cNvPr id="29" name="txt417"/>
          <p:cNvSpPr txBox="1"/>
          <p:nvPr/>
        </p:nvSpPr>
        <p:spPr>
          <a:xfrm>
            <a:off x="5330952" y="2670048"/>
            <a:ext cx="1517904" cy="237744"/>
          </a:xfrm>
          <a:prstGeom prst="rect">
            <a:avLst/>
          </a:prstGeom>
          <a:noFill/>
          <a:ln/>
        </p:spPr>
        <p:txBody>
          <a:bodyPr wrap="square" lIns="0" tIns="0" rIns="0" bIns="0" rtlCol="0" anchor="t"/>
          <a:lstStyle/>
          <a:p>
            <a:pPr algn="ctr" indent="0" marL="0">
              <a:buNone/>
            </a:pPr>
            <a:r>
              <a:rPr lang="en-US" sz="1100" b="1" dirty="0">
                <a:solidFill>
                  <a:schemeClr val="accent3"/>
                </a:solidFill>
              </a:rPr>
              <a:t>15–19/10</a:t>
            </a:r>
            <a:endParaRPr lang="en-US" sz="1100" dirty="0"/>
          </a:p>
        </p:txBody>
      </p:sp>
      <p:sp>
        <p:nvSpPr>
          <p:cNvPr id="30" name="card418"/>
          <p:cNvSpPr/>
          <p:nvPr/>
        </p:nvSpPr>
        <p:spPr>
          <a:xfrm>
            <a:off x="5330952" y="3383280"/>
            <a:ext cx="1481328" cy="2103120"/>
          </a:xfrm>
          <a:prstGeom prst="roundRect">
            <a:avLst>
              <a:gd name="adj" fmla="val 7407"/>
            </a:avLst>
          </a:prstGeom>
          <a:solidFill>
            <a:schemeClr val="tx2"/>
          </a:solidFill>
          <a:ln w="9525">
            <a:solidFill>
              <a:schemeClr val="bg2">
                <a:alpha val="28000"/>
              </a:schemeClr>
            </a:solidFill>
            <a:prstDash val="solid"/>
          </a:ln>
        </p:spPr>
      </p:sp>
      <p:sp>
        <p:nvSpPr>
          <p:cNvPr id="31" name="txt419"/>
          <p:cNvSpPr txBox="1"/>
          <p:nvPr/>
        </p:nvSpPr>
        <p:spPr>
          <a:xfrm>
            <a:off x="5440680" y="3520440"/>
            <a:ext cx="1280160" cy="2423160"/>
          </a:xfrm>
          <a:prstGeom prst="rect">
            <a:avLst/>
          </a:prstGeom>
          <a:noFill/>
          <a:ln/>
        </p:spPr>
        <p:txBody>
          <a:bodyPr wrap="square" lIns="0" tIns="0" rIns="0" bIns="0" rtlCol="0" anchor="t"/>
          <a:lstStyle/>
          <a:p>
            <a:pPr indent="0" marL="0">
              <a:buNone/>
            </a:pPr>
            <a:r>
              <a:rPr lang="en-US" sz="1300" b="1" dirty="0">
                <a:solidFill>
                  <a:schemeClr val="accent3"/>
                </a:solidFill>
              </a:rPr>
              <a:t>H7 · Vercel</a:t>
            </a:r>
            <a:endParaRPr lang="en-US" sz="1400" dirty="0"/>
          </a:p>
          <a:p>
            <a:pPr indent="0" marL="0">
              <a:buNone/>
            </a:pPr>
            <a:r>
              <a:rPr lang="en-US" sz="1200" dirty="0">
                <a:solidFill>
                  <a:schemeClr val="bg2"/>
                </a:solidFill>
              </a:rPr>
              <a:t>App 1 desplegada y cambio a Gemini</a:t>
            </a:r>
            <a:endParaRPr lang="en-US" sz="1400" dirty="0"/>
          </a:p>
        </p:txBody>
      </p:sp>
      <p:sp>
        <p:nvSpPr>
          <p:cNvPr id="32" name="hito420"/>
          <p:cNvSpPr/>
          <p:nvPr/>
        </p:nvSpPr>
        <p:spPr>
          <a:xfrm>
            <a:off x="7552944" y="2953512"/>
            <a:ext cx="219456" cy="219456"/>
          </a:xfrm>
          <a:prstGeom prst="ellipse">
            <a:avLst/>
          </a:prstGeom>
          <a:solidFill>
            <a:schemeClr val="accent2"/>
          </a:solidFill>
          <a:ln w="25400">
            <a:solidFill>
              <a:schemeClr val="tx1"/>
            </a:solidFill>
            <a:prstDash val="solid"/>
          </a:ln>
        </p:spPr>
      </p:sp>
      <p:sp>
        <p:nvSpPr>
          <p:cNvPr id="33" name="txt421"/>
          <p:cNvSpPr txBox="1"/>
          <p:nvPr/>
        </p:nvSpPr>
        <p:spPr>
          <a:xfrm>
            <a:off x="6894576" y="2670048"/>
            <a:ext cx="1517904" cy="237744"/>
          </a:xfrm>
          <a:prstGeom prst="rect">
            <a:avLst/>
          </a:prstGeom>
          <a:noFill/>
          <a:ln/>
        </p:spPr>
        <p:txBody>
          <a:bodyPr wrap="square" lIns="0" tIns="0" rIns="0" bIns="0" rtlCol="0" anchor="t"/>
          <a:lstStyle/>
          <a:p>
            <a:pPr algn="ctr" indent="0" marL="0">
              <a:buNone/>
            </a:pPr>
            <a:r>
              <a:rPr lang="en-US" sz="1100" b="1" dirty="0">
                <a:solidFill>
                  <a:schemeClr val="accent2"/>
                </a:solidFill>
              </a:rPr>
              <a:t>25/10</a:t>
            </a:r>
            <a:endParaRPr lang="en-US" sz="1100" dirty="0"/>
          </a:p>
        </p:txBody>
      </p:sp>
      <p:sp>
        <p:nvSpPr>
          <p:cNvPr id="34" name="card422"/>
          <p:cNvSpPr/>
          <p:nvPr/>
        </p:nvSpPr>
        <p:spPr>
          <a:xfrm>
            <a:off x="6894576" y="3383280"/>
            <a:ext cx="1481328" cy="2103120"/>
          </a:xfrm>
          <a:prstGeom prst="roundRect">
            <a:avLst>
              <a:gd name="adj" fmla="val 7407"/>
            </a:avLst>
          </a:prstGeom>
          <a:solidFill>
            <a:schemeClr val="tx2"/>
          </a:solidFill>
          <a:ln w="9525">
            <a:solidFill>
              <a:schemeClr val="bg2">
                <a:alpha val="28000"/>
              </a:schemeClr>
            </a:solidFill>
            <a:prstDash val="solid"/>
          </a:ln>
        </p:spPr>
      </p:sp>
      <p:sp>
        <p:nvSpPr>
          <p:cNvPr id="35" name="txt423"/>
          <p:cNvSpPr txBox="1"/>
          <p:nvPr/>
        </p:nvSpPr>
        <p:spPr>
          <a:xfrm>
            <a:off x="7004304" y="3520440"/>
            <a:ext cx="1280160" cy="2423160"/>
          </a:xfrm>
          <a:prstGeom prst="rect">
            <a:avLst/>
          </a:prstGeom>
          <a:noFill/>
          <a:ln/>
        </p:spPr>
        <p:txBody>
          <a:bodyPr wrap="square" lIns="0" tIns="0" rIns="0" bIns="0" rtlCol="0" anchor="t"/>
          <a:lstStyle/>
          <a:p>
            <a:pPr indent="0" marL="0">
              <a:buNone/>
            </a:pPr>
            <a:r>
              <a:rPr lang="en-US" sz="1300" b="1" dirty="0">
                <a:solidFill>
                  <a:schemeClr val="accent2"/>
                </a:solidFill>
              </a:rPr>
              <a:t>H8 · Spec Kit</a:t>
            </a:r>
            <a:endParaRPr lang="en-US" sz="1400" dirty="0"/>
          </a:p>
          <a:p>
            <a:pPr indent="0" marL="0">
              <a:buNone/>
            </a:pPr>
            <a:r>
              <a:rPr lang="en-US" sz="1200" dirty="0">
                <a:solidFill>
                  <a:schemeClr val="bg2"/>
                </a:solidFill>
              </a:rPr>
              <a:t>Constitución, spec, plan y tareas, antes del código</a:t>
            </a:r>
            <a:endParaRPr lang="en-US" sz="1400" dirty="0"/>
          </a:p>
        </p:txBody>
      </p:sp>
      <p:sp>
        <p:nvSpPr>
          <p:cNvPr id="36" name="hito424"/>
          <p:cNvSpPr/>
          <p:nvPr/>
        </p:nvSpPr>
        <p:spPr>
          <a:xfrm>
            <a:off x="9116568" y="2953512"/>
            <a:ext cx="219456" cy="219456"/>
          </a:xfrm>
          <a:prstGeom prst="ellipse">
            <a:avLst/>
          </a:prstGeom>
          <a:solidFill>
            <a:schemeClr val="accent2"/>
          </a:solidFill>
          <a:ln w="25400">
            <a:solidFill>
              <a:schemeClr val="tx1"/>
            </a:solidFill>
            <a:prstDash val="solid"/>
          </a:ln>
        </p:spPr>
      </p:sp>
      <p:sp>
        <p:nvSpPr>
          <p:cNvPr id="37" name="txt425"/>
          <p:cNvSpPr txBox="1"/>
          <p:nvPr/>
        </p:nvSpPr>
        <p:spPr>
          <a:xfrm>
            <a:off x="8458200" y="2670048"/>
            <a:ext cx="1517904" cy="237744"/>
          </a:xfrm>
          <a:prstGeom prst="rect">
            <a:avLst/>
          </a:prstGeom>
          <a:noFill/>
          <a:ln/>
        </p:spPr>
        <p:txBody>
          <a:bodyPr wrap="square" lIns="0" tIns="0" rIns="0" bIns="0" rtlCol="0" anchor="t"/>
          <a:lstStyle/>
          <a:p>
            <a:pPr algn="ctr" indent="0" marL="0">
              <a:buNone/>
            </a:pPr>
            <a:r>
              <a:rPr lang="en-US" sz="1100" b="1" dirty="0">
                <a:solidFill>
                  <a:schemeClr val="accent2"/>
                </a:solidFill>
              </a:rPr>
              <a:t>27–28/10</a:t>
            </a:r>
            <a:endParaRPr lang="en-US" sz="1100" dirty="0"/>
          </a:p>
        </p:txBody>
      </p:sp>
      <p:sp>
        <p:nvSpPr>
          <p:cNvPr id="38" name="card426"/>
          <p:cNvSpPr/>
          <p:nvPr/>
        </p:nvSpPr>
        <p:spPr>
          <a:xfrm>
            <a:off x="8458200" y="3383280"/>
            <a:ext cx="1481328" cy="2103120"/>
          </a:xfrm>
          <a:prstGeom prst="roundRect">
            <a:avLst>
              <a:gd name="adj" fmla="val 7407"/>
            </a:avLst>
          </a:prstGeom>
          <a:solidFill>
            <a:schemeClr val="tx2"/>
          </a:solidFill>
          <a:ln w="9525">
            <a:solidFill>
              <a:schemeClr val="bg2">
                <a:alpha val="28000"/>
              </a:schemeClr>
            </a:solidFill>
            <a:prstDash val="solid"/>
          </a:ln>
        </p:spPr>
      </p:sp>
      <p:sp>
        <p:nvSpPr>
          <p:cNvPr id="39" name="txt427"/>
          <p:cNvSpPr txBox="1"/>
          <p:nvPr/>
        </p:nvSpPr>
        <p:spPr>
          <a:xfrm>
            <a:off x="8567928" y="3520440"/>
            <a:ext cx="1280160" cy="2423160"/>
          </a:xfrm>
          <a:prstGeom prst="rect">
            <a:avLst/>
          </a:prstGeom>
          <a:noFill/>
          <a:ln/>
        </p:spPr>
        <p:txBody>
          <a:bodyPr wrap="square" lIns="0" tIns="0" rIns="0" bIns="0" rtlCol="0" anchor="t"/>
          <a:lstStyle/>
          <a:p>
            <a:pPr indent="0" marL="0">
              <a:buNone/>
            </a:pPr>
            <a:r>
              <a:rPr lang="en-US" sz="1300" b="1" dirty="0">
                <a:solidFill>
                  <a:schemeClr val="accent2"/>
                </a:solidFill>
              </a:rPr>
              <a:t>H9–H10 · App 2</a:t>
            </a:r>
            <a:endParaRPr lang="en-US" sz="1400" dirty="0"/>
          </a:p>
          <a:p>
            <a:pPr indent="0" marL="0">
              <a:buNone/>
            </a:pPr>
            <a:r>
              <a:rPr lang="en-US" sz="1200" dirty="0">
                <a:solidFill>
                  <a:schemeClr val="bg2"/>
                </a:solidFill>
              </a:rPr>
              <a:t>Implementación por fases, Clerk y Vercel</a:t>
            </a:r>
            <a:endParaRPr lang="en-US" sz="1400" dirty="0"/>
          </a:p>
        </p:txBody>
      </p:sp>
      <p:sp>
        <p:nvSpPr>
          <p:cNvPr id="40" name="hito428"/>
          <p:cNvSpPr/>
          <p:nvPr/>
        </p:nvSpPr>
        <p:spPr>
          <a:xfrm>
            <a:off x="10680192" y="2953512"/>
            <a:ext cx="219456" cy="219456"/>
          </a:xfrm>
          <a:prstGeom prst="ellipse">
            <a:avLst/>
          </a:prstGeom>
          <a:solidFill>
            <a:schemeClr val="accent4"/>
          </a:solidFill>
          <a:ln w="25400">
            <a:solidFill>
              <a:schemeClr val="tx1"/>
            </a:solidFill>
            <a:prstDash val="solid"/>
          </a:ln>
        </p:spPr>
      </p:sp>
      <p:sp>
        <p:nvSpPr>
          <p:cNvPr id="41" name="txt429"/>
          <p:cNvSpPr txBox="1"/>
          <p:nvPr/>
        </p:nvSpPr>
        <p:spPr>
          <a:xfrm>
            <a:off x="10021824" y="2670048"/>
            <a:ext cx="1517904" cy="237744"/>
          </a:xfrm>
          <a:prstGeom prst="rect">
            <a:avLst/>
          </a:prstGeom>
          <a:noFill/>
          <a:ln/>
        </p:spPr>
        <p:txBody>
          <a:bodyPr wrap="square" lIns="0" tIns="0" rIns="0" bIns="0" rtlCol="0" anchor="t"/>
          <a:lstStyle/>
          <a:p>
            <a:pPr algn="ctr" indent="0" marL="0">
              <a:buNone/>
            </a:pPr>
            <a:r>
              <a:rPr lang="en-US" sz="1100" b="1" dirty="0">
                <a:solidFill>
                  <a:schemeClr val="accent4"/>
                </a:solidFill>
              </a:rPr>
              <a:t>28/10 →</a:t>
            </a:r>
            <a:endParaRPr lang="en-US" sz="1100" dirty="0"/>
          </a:p>
        </p:txBody>
      </p:sp>
      <p:sp>
        <p:nvSpPr>
          <p:cNvPr id="42" name="card430"/>
          <p:cNvSpPr/>
          <p:nvPr/>
        </p:nvSpPr>
        <p:spPr>
          <a:xfrm>
            <a:off x="10021824" y="3383280"/>
            <a:ext cx="1481328" cy="2103120"/>
          </a:xfrm>
          <a:prstGeom prst="roundRect">
            <a:avLst>
              <a:gd name="adj" fmla="val 7407"/>
            </a:avLst>
          </a:prstGeom>
          <a:solidFill>
            <a:schemeClr val="tx2"/>
          </a:solidFill>
          <a:ln w="9525">
            <a:solidFill>
              <a:schemeClr val="accent4"/>
            </a:solidFill>
            <a:prstDash val="solid"/>
          </a:ln>
        </p:spPr>
      </p:sp>
      <p:sp>
        <p:nvSpPr>
          <p:cNvPr id="43" name="txt431"/>
          <p:cNvSpPr txBox="1"/>
          <p:nvPr/>
        </p:nvSpPr>
        <p:spPr>
          <a:xfrm>
            <a:off x="10131552" y="3520440"/>
            <a:ext cx="1280160" cy="2423160"/>
          </a:xfrm>
          <a:prstGeom prst="rect">
            <a:avLst/>
          </a:prstGeom>
          <a:noFill/>
          <a:ln/>
        </p:spPr>
        <p:txBody>
          <a:bodyPr wrap="square" lIns="0" tIns="0" rIns="0" bIns="0" rtlCol="0" anchor="t"/>
          <a:lstStyle/>
          <a:p>
            <a:pPr indent="0" marL="0">
              <a:buNone/>
            </a:pPr>
            <a:r>
              <a:rPr lang="en-US" sz="1300" b="1" dirty="0">
                <a:solidFill>
                  <a:schemeClr val="accent4"/>
                </a:solidFill>
              </a:rPr>
              <a:t>H11–H12</a:t>
            </a:r>
            <a:endParaRPr lang="en-US" sz="1400" dirty="0"/>
          </a:p>
          <a:p>
            <a:pPr indent="0" marL="0">
              <a:buNone/>
            </a:pPr>
            <a:r>
              <a:rPr lang="en-US" sz="1200" dirty="0">
                <a:solidFill>
                  <a:schemeClr val="bg2"/>
                </a:solidFill>
              </a:rPr>
              <a:t>App 2 en EC2 con HTTPS; queda el cierre</a:t>
            </a:r>
            <a:endParaRPr lang="en-US" sz="14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App 2 · Desarrollo con Spec Kit</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SPEC KIT 1.2.4 + CLAUDE CODE</a:t>
            </a:r>
            <a:endParaRPr lang="en-US" sz="1200" dirty="0"/>
          </a:p>
        </p:txBody>
      </p:sp>
      <p:sp>
        <p:nvSpPr>
          <p:cNvPr id="4" name="presenta432"/>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433"/>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Jose Antonio Nieto</a:t>
            </a:r>
            <a:endParaRPr lang="en-US" sz="1100" dirty="0"/>
          </a:p>
        </p:txBody>
      </p:sp>
      <p:sp>
        <p:nvSpPr>
          <p:cNvPr id="6" name="card434"/>
          <p:cNvSpPr/>
          <p:nvPr/>
        </p:nvSpPr>
        <p:spPr>
          <a:xfrm>
            <a:off x="548640" y="1371600"/>
            <a:ext cx="1719072" cy="2240280"/>
          </a:xfrm>
          <a:prstGeom prst="roundRect">
            <a:avLst>
              <a:gd name="adj" fmla="val 6383"/>
            </a:avLst>
          </a:prstGeom>
          <a:solidFill>
            <a:schemeClr val="tx2"/>
          </a:solidFill>
          <a:ln w="9525">
            <a:solidFill>
              <a:schemeClr val="accent2">
                <a:alpha val="70000"/>
              </a:schemeClr>
            </a:solidFill>
            <a:prstDash val="solid"/>
          </a:ln>
        </p:spPr>
      </p:sp>
      <p:sp>
        <p:nvSpPr>
          <p:cNvPr id="7" name="txt435"/>
          <p:cNvSpPr txBox="1"/>
          <p:nvPr/>
        </p:nvSpPr>
        <p:spPr>
          <a:xfrm>
            <a:off x="685800" y="1481328"/>
            <a:ext cx="1463040" cy="502920"/>
          </a:xfrm>
          <a:prstGeom prst="rect">
            <a:avLst/>
          </a:prstGeom>
          <a:noFill/>
          <a:ln/>
        </p:spPr>
        <p:txBody>
          <a:bodyPr wrap="square" lIns="0" tIns="0" rIns="0" bIns="0" rtlCol="0" anchor="t"/>
          <a:lstStyle/>
          <a:p>
            <a:pPr indent="0" marL="0">
              <a:buNone/>
            </a:pPr>
            <a:r>
              <a:rPr lang="en-US" sz="1000" dirty="0">
                <a:solidFill>
                  <a:schemeClr val="bg2"/>
                </a:solidFill>
                <a:latin typeface="Consolas" pitchFamily="34" charset="0"/>
                <a:ea typeface="Consolas" pitchFamily="34" charset="-122"/>
                <a:cs typeface="Consolas" pitchFamily="34" charset="-120"/>
              </a:rPr>
              <a:t>/speckit-</a:t>
            </a:r>
            <a:endParaRPr lang="en-US" sz="1400" dirty="0"/>
          </a:p>
          <a:p>
            <a:pPr indent="0" marL="0">
              <a:buNone/>
            </a:pPr>
            <a:r>
              <a:rPr lang="en-US" sz="1200" b="1" dirty="0">
                <a:solidFill>
                  <a:schemeClr val="accent2"/>
                </a:solidFill>
                <a:latin typeface="Consolas" pitchFamily="34" charset="0"/>
                <a:ea typeface="Consolas" pitchFamily="34" charset="-122"/>
                <a:cs typeface="Consolas" pitchFamily="34" charset="-120"/>
              </a:rPr>
              <a:t>constitution</a:t>
            </a:r>
            <a:endParaRPr lang="en-US" sz="1400" dirty="0"/>
          </a:p>
        </p:txBody>
      </p:sp>
      <p:sp>
        <p:nvSpPr>
          <p:cNvPr id="8" name="txt436"/>
          <p:cNvSpPr txBox="1"/>
          <p:nvPr/>
        </p:nvSpPr>
        <p:spPr>
          <a:xfrm>
            <a:off x="685800" y="2011680"/>
            <a:ext cx="1463040" cy="1005840"/>
          </a:xfrm>
          <a:prstGeom prst="rect">
            <a:avLst/>
          </a:prstGeom>
          <a:noFill/>
          <a:ln/>
        </p:spPr>
        <p:txBody>
          <a:bodyPr wrap="square" lIns="0" tIns="0" rIns="0" bIns="0" rtlCol="0" anchor="t"/>
          <a:lstStyle/>
          <a:p>
            <a:pPr indent="0" marL="0">
              <a:buNone/>
            </a:pPr>
            <a:r>
              <a:rPr lang="en-US" sz="1300" dirty="0">
                <a:solidFill>
                  <a:schemeClr val="bg1"/>
                </a:solidFill>
              </a:rPr>
              <a:t>6 principios no negociables</a:t>
            </a:r>
            <a:endParaRPr lang="en-US" sz="1300" dirty="0"/>
          </a:p>
        </p:txBody>
      </p:sp>
      <p:sp>
        <p:nvSpPr>
          <p:cNvPr id="9" name="txt437"/>
          <p:cNvSpPr txBox="1"/>
          <p:nvPr/>
        </p:nvSpPr>
        <p:spPr>
          <a:xfrm>
            <a:off x="685800" y="3127248"/>
            <a:ext cx="1463040" cy="320040"/>
          </a:xfrm>
          <a:prstGeom prst="rect">
            <a:avLst/>
          </a:prstGeom>
          <a:noFill/>
          <a:ln/>
        </p:spPr>
        <p:txBody>
          <a:bodyPr wrap="square" lIns="0" tIns="0" rIns="0" bIns="0" rtlCol="0" anchor="t"/>
          <a:lstStyle/>
          <a:p>
            <a:pPr indent="0" marL="0">
              <a:buNone/>
            </a:pPr>
            <a:r>
              <a:rPr lang="en-US" sz="1200" b="1" dirty="0">
                <a:solidFill>
                  <a:schemeClr val="accent2"/>
                </a:solidFill>
              </a:rPr>
              <a:t>5 min</a:t>
            </a:r>
            <a:endParaRPr lang="en-US" sz="1200" dirty="0"/>
          </a:p>
        </p:txBody>
      </p:sp>
      <p:sp>
        <p:nvSpPr>
          <p:cNvPr id="10" name="line438"/>
          <p:cNvSpPr/>
          <p:nvPr/>
        </p:nvSpPr>
        <p:spPr>
          <a:xfrm>
            <a:off x="2267712" y="2487168"/>
            <a:ext cx="146304" cy="0"/>
          </a:xfrm>
          <a:prstGeom prst="line">
            <a:avLst/>
          </a:prstGeom>
          <a:noFill/>
          <a:ln w="15875">
            <a:solidFill>
              <a:schemeClr val="bg2"/>
            </a:solidFill>
            <a:prstDash val="solid"/>
            <a:tailEnd type="triangle"/>
          </a:ln>
        </p:spPr>
      </p:sp>
      <p:sp>
        <p:nvSpPr>
          <p:cNvPr id="11" name="card439"/>
          <p:cNvSpPr/>
          <p:nvPr/>
        </p:nvSpPr>
        <p:spPr>
          <a:xfrm>
            <a:off x="2414016" y="1371600"/>
            <a:ext cx="1719072" cy="2240280"/>
          </a:xfrm>
          <a:prstGeom prst="roundRect">
            <a:avLst>
              <a:gd name="adj" fmla="val 6383"/>
            </a:avLst>
          </a:prstGeom>
          <a:solidFill>
            <a:schemeClr val="tx2"/>
          </a:solidFill>
          <a:ln w="9525">
            <a:solidFill>
              <a:schemeClr val="accent2">
                <a:alpha val="70000"/>
              </a:schemeClr>
            </a:solidFill>
            <a:prstDash val="solid"/>
          </a:ln>
        </p:spPr>
      </p:sp>
      <p:sp>
        <p:nvSpPr>
          <p:cNvPr id="12" name="txt440"/>
          <p:cNvSpPr txBox="1"/>
          <p:nvPr/>
        </p:nvSpPr>
        <p:spPr>
          <a:xfrm>
            <a:off x="2551176" y="1481328"/>
            <a:ext cx="1463040" cy="502920"/>
          </a:xfrm>
          <a:prstGeom prst="rect">
            <a:avLst/>
          </a:prstGeom>
          <a:noFill/>
          <a:ln/>
        </p:spPr>
        <p:txBody>
          <a:bodyPr wrap="square" lIns="0" tIns="0" rIns="0" bIns="0" rtlCol="0" anchor="t"/>
          <a:lstStyle/>
          <a:p>
            <a:pPr indent="0" marL="0">
              <a:buNone/>
            </a:pPr>
            <a:r>
              <a:rPr lang="en-US" sz="1000" dirty="0">
                <a:solidFill>
                  <a:schemeClr val="bg2"/>
                </a:solidFill>
                <a:latin typeface="Consolas" pitchFamily="34" charset="0"/>
                <a:ea typeface="Consolas" pitchFamily="34" charset="-122"/>
                <a:cs typeface="Consolas" pitchFamily="34" charset="-120"/>
              </a:rPr>
              <a:t>/speckit-</a:t>
            </a:r>
            <a:endParaRPr lang="en-US" sz="1400" dirty="0"/>
          </a:p>
          <a:p>
            <a:pPr indent="0" marL="0">
              <a:buNone/>
            </a:pPr>
            <a:r>
              <a:rPr lang="en-US" sz="1200" b="1" dirty="0">
                <a:solidFill>
                  <a:schemeClr val="accent2"/>
                </a:solidFill>
                <a:latin typeface="Consolas" pitchFamily="34" charset="0"/>
                <a:ea typeface="Consolas" pitchFamily="34" charset="-122"/>
                <a:cs typeface="Consolas" pitchFamily="34" charset="-120"/>
              </a:rPr>
              <a:t>specify</a:t>
            </a:r>
            <a:endParaRPr lang="en-US" sz="1400" dirty="0"/>
          </a:p>
        </p:txBody>
      </p:sp>
      <p:sp>
        <p:nvSpPr>
          <p:cNvPr id="13" name="txt441"/>
          <p:cNvSpPr txBox="1"/>
          <p:nvPr/>
        </p:nvSpPr>
        <p:spPr>
          <a:xfrm>
            <a:off x="2551176" y="2011680"/>
            <a:ext cx="1463040" cy="1005840"/>
          </a:xfrm>
          <a:prstGeom prst="rect">
            <a:avLst/>
          </a:prstGeom>
          <a:noFill/>
          <a:ln/>
        </p:spPr>
        <p:txBody>
          <a:bodyPr wrap="square" lIns="0" tIns="0" rIns="0" bIns="0" rtlCol="0" anchor="t"/>
          <a:lstStyle/>
          <a:p>
            <a:pPr indent="0" marL="0">
              <a:buNone/>
            </a:pPr>
            <a:r>
              <a:rPr lang="en-US" sz="1300" dirty="0">
                <a:solidFill>
                  <a:schemeClr val="bg1"/>
                </a:solidFill>
              </a:rPr>
              <a:t>4 historias y 29 requisitos trazados a la ERS</a:t>
            </a:r>
            <a:endParaRPr lang="en-US" sz="1300" dirty="0"/>
          </a:p>
        </p:txBody>
      </p:sp>
      <p:sp>
        <p:nvSpPr>
          <p:cNvPr id="14" name="txt442"/>
          <p:cNvSpPr txBox="1"/>
          <p:nvPr/>
        </p:nvSpPr>
        <p:spPr>
          <a:xfrm>
            <a:off x="2551176" y="3127248"/>
            <a:ext cx="1463040" cy="320040"/>
          </a:xfrm>
          <a:prstGeom prst="rect">
            <a:avLst/>
          </a:prstGeom>
          <a:noFill/>
          <a:ln/>
        </p:spPr>
        <p:txBody>
          <a:bodyPr wrap="square" lIns="0" tIns="0" rIns="0" bIns="0" rtlCol="0" anchor="t"/>
          <a:lstStyle/>
          <a:p>
            <a:pPr indent="0" marL="0">
              <a:buNone/>
            </a:pPr>
            <a:r>
              <a:rPr lang="en-US" sz="1200" b="1" dirty="0">
                <a:solidFill>
                  <a:schemeClr val="accent2"/>
                </a:solidFill>
              </a:rPr>
              <a:t>IA 1 min 22 s</a:t>
            </a:r>
            <a:endParaRPr lang="en-US" sz="1200" dirty="0"/>
          </a:p>
        </p:txBody>
      </p:sp>
      <p:sp>
        <p:nvSpPr>
          <p:cNvPr id="15" name="line443"/>
          <p:cNvSpPr/>
          <p:nvPr/>
        </p:nvSpPr>
        <p:spPr>
          <a:xfrm>
            <a:off x="4133088" y="2487168"/>
            <a:ext cx="146304" cy="0"/>
          </a:xfrm>
          <a:prstGeom prst="line">
            <a:avLst/>
          </a:prstGeom>
          <a:noFill/>
          <a:ln w="15875">
            <a:solidFill>
              <a:schemeClr val="bg2"/>
            </a:solidFill>
            <a:prstDash val="solid"/>
            <a:tailEnd type="triangle"/>
          </a:ln>
        </p:spPr>
      </p:sp>
      <p:sp>
        <p:nvSpPr>
          <p:cNvPr id="16" name="card444"/>
          <p:cNvSpPr/>
          <p:nvPr/>
        </p:nvSpPr>
        <p:spPr>
          <a:xfrm>
            <a:off x="4279392" y="1371600"/>
            <a:ext cx="1719072" cy="2240280"/>
          </a:xfrm>
          <a:prstGeom prst="roundRect">
            <a:avLst>
              <a:gd name="adj" fmla="val 6383"/>
            </a:avLst>
          </a:prstGeom>
          <a:solidFill>
            <a:schemeClr val="tx2"/>
          </a:solidFill>
          <a:ln w="9525">
            <a:solidFill>
              <a:schemeClr val="accent2">
                <a:alpha val="70000"/>
              </a:schemeClr>
            </a:solidFill>
            <a:prstDash val="solid"/>
          </a:ln>
        </p:spPr>
      </p:sp>
      <p:sp>
        <p:nvSpPr>
          <p:cNvPr id="17" name="txt445"/>
          <p:cNvSpPr txBox="1"/>
          <p:nvPr/>
        </p:nvSpPr>
        <p:spPr>
          <a:xfrm>
            <a:off x="4416552" y="1481328"/>
            <a:ext cx="1463040" cy="502920"/>
          </a:xfrm>
          <a:prstGeom prst="rect">
            <a:avLst/>
          </a:prstGeom>
          <a:noFill/>
          <a:ln/>
        </p:spPr>
        <p:txBody>
          <a:bodyPr wrap="square" lIns="0" tIns="0" rIns="0" bIns="0" rtlCol="0" anchor="t"/>
          <a:lstStyle/>
          <a:p>
            <a:pPr indent="0" marL="0">
              <a:buNone/>
            </a:pPr>
            <a:r>
              <a:rPr lang="en-US" sz="1000" dirty="0">
                <a:solidFill>
                  <a:schemeClr val="bg2"/>
                </a:solidFill>
                <a:latin typeface="Consolas" pitchFamily="34" charset="0"/>
                <a:ea typeface="Consolas" pitchFamily="34" charset="-122"/>
                <a:cs typeface="Consolas" pitchFamily="34" charset="-120"/>
              </a:rPr>
              <a:t>/speckit-</a:t>
            </a:r>
            <a:endParaRPr lang="en-US" sz="1400" dirty="0"/>
          </a:p>
          <a:p>
            <a:pPr indent="0" marL="0">
              <a:buNone/>
            </a:pPr>
            <a:r>
              <a:rPr lang="en-US" sz="1200" b="1" dirty="0">
                <a:solidFill>
                  <a:schemeClr val="accent2"/>
                </a:solidFill>
                <a:latin typeface="Consolas" pitchFamily="34" charset="0"/>
                <a:ea typeface="Consolas" pitchFamily="34" charset="-122"/>
                <a:cs typeface="Consolas" pitchFamily="34" charset="-120"/>
              </a:rPr>
              <a:t>plan</a:t>
            </a:r>
            <a:endParaRPr lang="en-US" sz="1400" dirty="0"/>
          </a:p>
        </p:txBody>
      </p:sp>
      <p:sp>
        <p:nvSpPr>
          <p:cNvPr id="18" name="txt446"/>
          <p:cNvSpPr txBox="1"/>
          <p:nvPr/>
        </p:nvSpPr>
        <p:spPr>
          <a:xfrm>
            <a:off x="4416552" y="2011680"/>
            <a:ext cx="1463040" cy="1005840"/>
          </a:xfrm>
          <a:prstGeom prst="rect">
            <a:avLst/>
          </a:prstGeom>
          <a:noFill/>
          <a:ln/>
        </p:spPr>
        <p:txBody>
          <a:bodyPr wrap="square" lIns="0" tIns="0" rIns="0" bIns="0" rtlCol="0" anchor="t"/>
          <a:lstStyle/>
          <a:p>
            <a:pPr indent="0" marL="0">
              <a:buNone/>
            </a:pPr>
            <a:r>
              <a:rPr lang="en-US" sz="1300" dirty="0">
                <a:solidFill>
                  <a:schemeClr val="bg1"/>
                </a:solidFill>
              </a:rPr>
              <a:t>Contratos, modelo de datos y quickstart</a:t>
            </a:r>
            <a:endParaRPr lang="en-US" sz="1300" dirty="0"/>
          </a:p>
        </p:txBody>
      </p:sp>
      <p:sp>
        <p:nvSpPr>
          <p:cNvPr id="19" name="txt447"/>
          <p:cNvSpPr txBox="1"/>
          <p:nvPr/>
        </p:nvSpPr>
        <p:spPr>
          <a:xfrm>
            <a:off x="4416552" y="3127248"/>
            <a:ext cx="1463040" cy="320040"/>
          </a:xfrm>
          <a:prstGeom prst="rect">
            <a:avLst/>
          </a:prstGeom>
          <a:noFill/>
          <a:ln/>
        </p:spPr>
        <p:txBody>
          <a:bodyPr wrap="square" lIns="0" tIns="0" rIns="0" bIns="0" rtlCol="0" anchor="t"/>
          <a:lstStyle/>
          <a:p>
            <a:pPr indent="0" marL="0">
              <a:buNone/>
            </a:pPr>
            <a:r>
              <a:rPr lang="en-US" sz="1200" b="1" dirty="0">
                <a:solidFill>
                  <a:schemeClr val="accent2"/>
                </a:solidFill>
              </a:rPr>
              <a:t>IA 1 min 58 s</a:t>
            </a:r>
            <a:endParaRPr lang="en-US" sz="1200" dirty="0"/>
          </a:p>
        </p:txBody>
      </p:sp>
      <p:sp>
        <p:nvSpPr>
          <p:cNvPr id="20" name="line448"/>
          <p:cNvSpPr/>
          <p:nvPr/>
        </p:nvSpPr>
        <p:spPr>
          <a:xfrm>
            <a:off x="5998464" y="2487168"/>
            <a:ext cx="146304" cy="0"/>
          </a:xfrm>
          <a:prstGeom prst="line">
            <a:avLst/>
          </a:prstGeom>
          <a:noFill/>
          <a:ln w="15875">
            <a:solidFill>
              <a:schemeClr val="bg2"/>
            </a:solidFill>
            <a:prstDash val="solid"/>
            <a:tailEnd type="triangle"/>
          </a:ln>
        </p:spPr>
      </p:sp>
      <p:sp>
        <p:nvSpPr>
          <p:cNvPr id="21" name="card449"/>
          <p:cNvSpPr/>
          <p:nvPr/>
        </p:nvSpPr>
        <p:spPr>
          <a:xfrm>
            <a:off x="6144768" y="1371600"/>
            <a:ext cx="1719072" cy="2240280"/>
          </a:xfrm>
          <a:prstGeom prst="roundRect">
            <a:avLst>
              <a:gd name="adj" fmla="val 6383"/>
            </a:avLst>
          </a:prstGeom>
          <a:solidFill>
            <a:schemeClr val="tx2"/>
          </a:solidFill>
          <a:ln w="9525">
            <a:solidFill>
              <a:schemeClr val="accent2">
                <a:alpha val="70000"/>
              </a:schemeClr>
            </a:solidFill>
            <a:prstDash val="solid"/>
          </a:ln>
        </p:spPr>
      </p:sp>
      <p:sp>
        <p:nvSpPr>
          <p:cNvPr id="22" name="txt450"/>
          <p:cNvSpPr txBox="1"/>
          <p:nvPr/>
        </p:nvSpPr>
        <p:spPr>
          <a:xfrm>
            <a:off x="6281928" y="1481328"/>
            <a:ext cx="1463040" cy="502920"/>
          </a:xfrm>
          <a:prstGeom prst="rect">
            <a:avLst/>
          </a:prstGeom>
          <a:noFill/>
          <a:ln/>
        </p:spPr>
        <p:txBody>
          <a:bodyPr wrap="square" lIns="0" tIns="0" rIns="0" bIns="0" rtlCol="0" anchor="t"/>
          <a:lstStyle/>
          <a:p>
            <a:pPr indent="0" marL="0">
              <a:buNone/>
            </a:pPr>
            <a:r>
              <a:rPr lang="en-US" sz="1000" dirty="0">
                <a:solidFill>
                  <a:schemeClr val="bg2"/>
                </a:solidFill>
                <a:latin typeface="Consolas" pitchFamily="34" charset="0"/>
                <a:ea typeface="Consolas" pitchFamily="34" charset="-122"/>
                <a:cs typeface="Consolas" pitchFamily="34" charset="-120"/>
              </a:rPr>
              <a:t>/speckit-</a:t>
            </a:r>
            <a:endParaRPr lang="en-US" sz="1400" dirty="0"/>
          </a:p>
          <a:p>
            <a:pPr indent="0" marL="0">
              <a:buNone/>
            </a:pPr>
            <a:r>
              <a:rPr lang="en-US" sz="1200" b="1" dirty="0">
                <a:solidFill>
                  <a:schemeClr val="accent2"/>
                </a:solidFill>
                <a:latin typeface="Consolas" pitchFamily="34" charset="0"/>
                <a:ea typeface="Consolas" pitchFamily="34" charset="-122"/>
                <a:cs typeface="Consolas" pitchFamily="34" charset="-120"/>
              </a:rPr>
              <a:t>tasks</a:t>
            </a:r>
            <a:endParaRPr lang="en-US" sz="1400" dirty="0"/>
          </a:p>
        </p:txBody>
      </p:sp>
      <p:sp>
        <p:nvSpPr>
          <p:cNvPr id="23" name="txt451"/>
          <p:cNvSpPr txBox="1"/>
          <p:nvPr/>
        </p:nvSpPr>
        <p:spPr>
          <a:xfrm>
            <a:off x="6281928" y="2011680"/>
            <a:ext cx="1463040" cy="1005840"/>
          </a:xfrm>
          <a:prstGeom prst="rect">
            <a:avLst/>
          </a:prstGeom>
          <a:noFill/>
          <a:ln/>
        </p:spPr>
        <p:txBody>
          <a:bodyPr wrap="square" lIns="0" tIns="0" rIns="0" bIns="0" rtlCol="0" anchor="t"/>
          <a:lstStyle/>
          <a:p>
            <a:pPr indent="0" marL="0">
              <a:buNone/>
            </a:pPr>
            <a:r>
              <a:rPr lang="en-US" sz="1300" dirty="0">
                <a:solidFill>
                  <a:schemeClr val="bg1"/>
                </a:solidFill>
              </a:rPr>
              <a:t>41 tareas en 7 fases</a:t>
            </a:r>
            <a:endParaRPr lang="en-US" sz="1300" dirty="0"/>
          </a:p>
        </p:txBody>
      </p:sp>
      <p:sp>
        <p:nvSpPr>
          <p:cNvPr id="24" name="txt452"/>
          <p:cNvSpPr txBox="1"/>
          <p:nvPr/>
        </p:nvSpPr>
        <p:spPr>
          <a:xfrm>
            <a:off x="6281928" y="3127248"/>
            <a:ext cx="1463040" cy="320040"/>
          </a:xfrm>
          <a:prstGeom prst="rect">
            <a:avLst/>
          </a:prstGeom>
          <a:noFill/>
          <a:ln/>
        </p:spPr>
        <p:txBody>
          <a:bodyPr wrap="square" lIns="0" tIns="0" rIns="0" bIns="0" rtlCol="0" anchor="t"/>
          <a:lstStyle/>
          <a:p>
            <a:pPr indent="0" marL="0">
              <a:buNone/>
            </a:pPr>
            <a:r>
              <a:rPr lang="en-US" sz="1200" b="1" dirty="0">
                <a:solidFill>
                  <a:schemeClr val="accent2"/>
                </a:solidFill>
              </a:rPr>
              <a:t>IA 2 min 29 s</a:t>
            </a:r>
            <a:endParaRPr lang="en-US" sz="1200" dirty="0"/>
          </a:p>
        </p:txBody>
      </p:sp>
      <p:sp>
        <p:nvSpPr>
          <p:cNvPr id="25" name="line453"/>
          <p:cNvSpPr/>
          <p:nvPr/>
        </p:nvSpPr>
        <p:spPr>
          <a:xfrm>
            <a:off x="7863840" y="2487168"/>
            <a:ext cx="146304" cy="0"/>
          </a:xfrm>
          <a:prstGeom prst="line">
            <a:avLst/>
          </a:prstGeom>
          <a:noFill/>
          <a:ln w="15875">
            <a:solidFill>
              <a:schemeClr val="bg2"/>
            </a:solidFill>
            <a:prstDash val="solid"/>
            <a:tailEnd type="triangle"/>
          </a:ln>
        </p:spPr>
      </p:sp>
      <p:sp>
        <p:nvSpPr>
          <p:cNvPr id="26" name="card454"/>
          <p:cNvSpPr/>
          <p:nvPr/>
        </p:nvSpPr>
        <p:spPr>
          <a:xfrm>
            <a:off x="8010144" y="1371600"/>
            <a:ext cx="1719072" cy="2240280"/>
          </a:xfrm>
          <a:prstGeom prst="roundRect">
            <a:avLst>
              <a:gd name="adj" fmla="val 6383"/>
            </a:avLst>
          </a:prstGeom>
          <a:solidFill>
            <a:schemeClr val="tx2"/>
          </a:solidFill>
          <a:ln w="9525">
            <a:solidFill>
              <a:schemeClr val="accent6">
                <a:alpha val="70000"/>
              </a:schemeClr>
            </a:solidFill>
            <a:prstDash val="solid"/>
          </a:ln>
        </p:spPr>
      </p:sp>
      <p:sp>
        <p:nvSpPr>
          <p:cNvPr id="27" name="txt455"/>
          <p:cNvSpPr txBox="1"/>
          <p:nvPr/>
        </p:nvSpPr>
        <p:spPr>
          <a:xfrm>
            <a:off x="8147304" y="1481328"/>
            <a:ext cx="1463040" cy="502920"/>
          </a:xfrm>
          <a:prstGeom prst="rect">
            <a:avLst/>
          </a:prstGeom>
          <a:noFill/>
          <a:ln/>
        </p:spPr>
        <p:txBody>
          <a:bodyPr wrap="square" lIns="0" tIns="0" rIns="0" bIns="0" rtlCol="0" anchor="t"/>
          <a:lstStyle/>
          <a:p>
            <a:pPr indent="0" marL="0">
              <a:buNone/>
            </a:pPr>
            <a:r>
              <a:rPr lang="en-US" sz="1000" dirty="0">
                <a:solidFill>
                  <a:schemeClr val="bg2"/>
                </a:solidFill>
                <a:latin typeface="Consolas" pitchFamily="34" charset="0"/>
                <a:ea typeface="Consolas" pitchFamily="34" charset="-122"/>
                <a:cs typeface="Consolas" pitchFamily="34" charset="-120"/>
              </a:rPr>
              <a:t> </a:t>
            </a:r>
            <a:endParaRPr lang="en-US" sz="1400" dirty="0"/>
          </a:p>
          <a:p>
            <a:pPr indent="0" marL="0">
              <a:buNone/>
            </a:pPr>
            <a:r>
              <a:rPr lang="en-US" sz="1200" b="1" dirty="0">
                <a:solidFill>
                  <a:schemeClr val="accent6"/>
                </a:solidFill>
                <a:latin typeface="Consolas" pitchFamily="34" charset="0"/>
                <a:ea typeface="Consolas" pitchFamily="34" charset="-122"/>
                <a:cs typeface="Consolas" pitchFamily="34" charset="-120"/>
              </a:rPr>
              <a:t>git commit</a:t>
            </a:r>
            <a:endParaRPr lang="en-US" sz="1400" dirty="0"/>
          </a:p>
        </p:txBody>
      </p:sp>
      <p:sp>
        <p:nvSpPr>
          <p:cNvPr id="28" name="txt456"/>
          <p:cNvSpPr txBox="1"/>
          <p:nvPr/>
        </p:nvSpPr>
        <p:spPr>
          <a:xfrm>
            <a:off x="8147304" y="2011680"/>
            <a:ext cx="1463040" cy="1005840"/>
          </a:xfrm>
          <a:prstGeom prst="rect">
            <a:avLst/>
          </a:prstGeom>
          <a:noFill/>
          <a:ln/>
        </p:spPr>
        <p:txBody>
          <a:bodyPr wrap="square" lIns="0" tIns="0" rIns="0" bIns="0" rtlCol="0" anchor="t"/>
          <a:lstStyle/>
          <a:p>
            <a:pPr indent="0" marL="0">
              <a:buNone/>
            </a:pPr>
            <a:r>
              <a:rPr lang="en-US" sz="1300" dirty="0">
                <a:solidFill>
                  <a:schemeClr val="bg1"/>
                </a:solidFill>
              </a:rPr>
              <a:t>Spec, plan y tareas en Git el 25/10</a:t>
            </a:r>
            <a:endParaRPr lang="en-US" sz="1300" dirty="0"/>
          </a:p>
        </p:txBody>
      </p:sp>
      <p:sp>
        <p:nvSpPr>
          <p:cNvPr id="29" name="txt457"/>
          <p:cNvSpPr txBox="1"/>
          <p:nvPr/>
        </p:nvSpPr>
        <p:spPr>
          <a:xfrm>
            <a:off x="8147304" y="3127248"/>
            <a:ext cx="1463040" cy="320040"/>
          </a:xfrm>
          <a:prstGeom prst="rect">
            <a:avLst/>
          </a:prstGeom>
          <a:noFill/>
          <a:ln/>
        </p:spPr>
        <p:txBody>
          <a:bodyPr wrap="square" lIns="0" tIns="0" rIns="0" bIns="0" rtlCol="0" anchor="t"/>
          <a:lstStyle/>
          <a:p>
            <a:pPr indent="0" marL="0">
              <a:buNone/>
            </a:pPr>
            <a:r>
              <a:rPr lang="en-US" sz="1200" b="1" dirty="0">
                <a:solidFill>
                  <a:schemeClr val="accent6"/>
                </a:solidFill>
              </a:rPr>
              <a:t>antes del código</a:t>
            </a:r>
            <a:endParaRPr lang="en-US" sz="1200" dirty="0"/>
          </a:p>
        </p:txBody>
      </p:sp>
      <p:sp>
        <p:nvSpPr>
          <p:cNvPr id="30" name="line458"/>
          <p:cNvSpPr/>
          <p:nvPr/>
        </p:nvSpPr>
        <p:spPr>
          <a:xfrm>
            <a:off x="9729216" y="2487168"/>
            <a:ext cx="146304" cy="0"/>
          </a:xfrm>
          <a:prstGeom prst="line">
            <a:avLst/>
          </a:prstGeom>
          <a:noFill/>
          <a:ln w="15875">
            <a:solidFill>
              <a:schemeClr val="bg2"/>
            </a:solidFill>
            <a:prstDash val="solid"/>
            <a:tailEnd type="triangle"/>
          </a:ln>
        </p:spPr>
      </p:sp>
      <p:sp>
        <p:nvSpPr>
          <p:cNvPr id="31" name="card459"/>
          <p:cNvSpPr/>
          <p:nvPr/>
        </p:nvSpPr>
        <p:spPr>
          <a:xfrm>
            <a:off x="9875520" y="1371600"/>
            <a:ext cx="1719072" cy="2240280"/>
          </a:xfrm>
          <a:prstGeom prst="roundRect">
            <a:avLst>
              <a:gd name="adj" fmla="val 6383"/>
            </a:avLst>
          </a:prstGeom>
          <a:solidFill>
            <a:schemeClr val="tx2"/>
          </a:solidFill>
          <a:ln w="9525">
            <a:solidFill>
              <a:schemeClr val="accent2">
                <a:alpha val="70000"/>
              </a:schemeClr>
            </a:solidFill>
            <a:prstDash val="solid"/>
          </a:ln>
        </p:spPr>
      </p:sp>
      <p:sp>
        <p:nvSpPr>
          <p:cNvPr id="32" name="txt460"/>
          <p:cNvSpPr txBox="1"/>
          <p:nvPr/>
        </p:nvSpPr>
        <p:spPr>
          <a:xfrm>
            <a:off x="10012680" y="1481328"/>
            <a:ext cx="1463040" cy="502920"/>
          </a:xfrm>
          <a:prstGeom prst="rect">
            <a:avLst/>
          </a:prstGeom>
          <a:noFill/>
          <a:ln/>
        </p:spPr>
        <p:txBody>
          <a:bodyPr wrap="square" lIns="0" tIns="0" rIns="0" bIns="0" rtlCol="0" anchor="t"/>
          <a:lstStyle/>
          <a:p>
            <a:pPr indent="0" marL="0">
              <a:buNone/>
            </a:pPr>
            <a:r>
              <a:rPr lang="en-US" sz="1000" dirty="0">
                <a:solidFill>
                  <a:schemeClr val="bg2"/>
                </a:solidFill>
                <a:latin typeface="Consolas" pitchFamily="34" charset="0"/>
                <a:ea typeface="Consolas" pitchFamily="34" charset="-122"/>
                <a:cs typeface="Consolas" pitchFamily="34" charset="-120"/>
              </a:rPr>
              <a:t>/speckit-</a:t>
            </a:r>
            <a:endParaRPr lang="en-US" sz="1400" dirty="0"/>
          </a:p>
          <a:p>
            <a:pPr indent="0" marL="0">
              <a:buNone/>
            </a:pPr>
            <a:r>
              <a:rPr lang="en-US" sz="1200" b="1" dirty="0">
                <a:solidFill>
                  <a:schemeClr val="accent2"/>
                </a:solidFill>
                <a:latin typeface="Consolas" pitchFamily="34" charset="0"/>
                <a:ea typeface="Consolas" pitchFamily="34" charset="-122"/>
                <a:cs typeface="Consolas" pitchFamily="34" charset="-120"/>
              </a:rPr>
              <a:t>implement</a:t>
            </a:r>
            <a:endParaRPr lang="en-US" sz="1400" dirty="0"/>
          </a:p>
        </p:txBody>
      </p:sp>
      <p:sp>
        <p:nvSpPr>
          <p:cNvPr id="33" name="txt461"/>
          <p:cNvSpPr txBox="1"/>
          <p:nvPr/>
        </p:nvSpPr>
        <p:spPr>
          <a:xfrm>
            <a:off x="10012680" y="2011680"/>
            <a:ext cx="1463040" cy="1005840"/>
          </a:xfrm>
          <a:prstGeom prst="rect">
            <a:avLst/>
          </a:prstGeom>
          <a:noFill/>
          <a:ln/>
        </p:spPr>
        <p:txBody>
          <a:bodyPr wrap="square" lIns="0" tIns="0" rIns="0" bIns="0" rtlCol="0" anchor="t"/>
          <a:lstStyle/>
          <a:p>
            <a:pPr indent="0" marL="0">
              <a:buNone/>
            </a:pPr>
            <a:r>
              <a:rPr lang="en-US" sz="1300" dirty="0">
                <a:solidFill>
                  <a:schemeClr val="bg1"/>
                </a:solidFill>
              </a:rPr>
              <a:t>7 fases, revisadas y probadas una a una</a:t>
            </a:r>
            <a:endParaRPr lang="en-US" sz="1300" dirty="0"/>
          </a:p>
        </p:txBody>
      </p:sp>
      <p:sp>
        <p:nvSpPr>
          <p:cNvPr id="34" name="txt462"/>
          <p:cNvSpPr txBox="1"/>
          <p:nvPr/>
        </p:nvSpPr>
        <p:spPr>
          <a:xfrm>
            <a:off x="10012680" y="3127248"/>
            <a:ext cx="1463040" cy="320040"/>
          </a:xfrm>
          <a:prstGeom prst="rect">
            <a:avLst/>
          </a:prstGeom>
          <a:noFill/>
          <a:ln/>
        </p:spPr>
        <p:txBody>
          <a:bodyPr wrap="square" lIns="0" tIns="0" rIns="0" bIns="0" rtlCol="0" anchor="t"/>
          <a:lstStyle/>
          <a:p>
            <a:pPr indent="0" marL="0">
              <a:buNone/>
            </a:pPr>
            <a:r>
              <a:rPr lang="en-US" sz="1200" b="1" dirty="0">
                <a:solidFill>
                  <a:schemeClr val="accent2"/>
                </a:solidFill>
              </a:rPr>
              <a:t>IA ≈ 11 min</a:t>
            </a:r>
            <a:endParaRPr lang="en-US" sz="1200" dirty="0"/>
          </a:p>
        </p:txBody>
      </p:sp>
      <p:sp>
        <p:nvSpPr>
          <p:cNvPr id="35" name="card463"/>
          <p:cNvSpPr/>
          <p:nvPr/>
        </p:nvSpPr>
        <p:spPr>
          <a:xfrm>
            <a:off x="548640" y="3840480"/>
            <a:ext cx="3566160" cy="1234440"/>
          </a:xfrm>
          <a:prstGeom prst="roundRect">
            <a:avLst>
              <a:gd name="adj" fmla="val 8889"/>
            </a:avLst>
          </a:prstGeom>
          <a:solidFill>
            <a:schemeClr val="tx2"/>
          </a:solidFill>
          <a:ln w="9525">
            <a:solidFill>
              <a:schemeClr val="bg2">
                <a:alpha val="28000"/>
              </a:schemeClr>
            </a:solidFill>
            <a:prstDash val="solid"/>
          </a:ln>
        </p:spPr>
      </p:sp>
      <p:sp>
        <p:nvSpPr>
          <p:cNvPr id="36" name="txt464"/>
          <p:cNvSpPr txBox="1"/>
          <p:nvPr/>
        </p:nvSpPr>
        <p:spPr>
          <a:xfrm>
            <a:off x="777240" y="3950208"/>
            <a:ext cx="3108960" cy="678942"/>
          </a:xfrm>
          <a:prstGeom prst="rect">
            <a:avLst/>
          </a:prstGeom>
          <a:noFill/>
          <a:ln/>
        </p:spPr>
        <p:txBody>
          <a:bodyPr wrap="square" lIns="0" tIns="0" rIns="0" bIns="0" rtlCol="0" anchor="ctr"/>
          <a:lstStyle/>
          <a:p>
            <a:pPr indent="0" marL="0">
              <a:buNone/>
            </a:pPr>
            <a:r>
              <a:rPr lang="en-US" sz="3400" b="1" dirty="0">
                <a:solidFill>
                  <a:schemeClr val="accent2"/>
                </a:solidFill>
              </a:rPr>
              <a:t>≈ 11 min</a:t>
            </a:r>
            <a:endParaRPr lang="en-US" sz="3400" dirty="0"/>
          </a:p>
        </p:txBody>
      </p:sp>
      <p:sp>
        <p:nvSpPr>
          <p:cNvPr id="37" name="txt465"/>
          <p:cNvSpPr txBox="1"/>
          <p:nvPr/>
        </p:nvSpPr>
        <p:spPr>
          <a:xfrm>
            <a:off x="777240" y="4581144"/>
            <a:ext cx="3108960" cy="444398"/>
          </a:xfrm>
          <a:prstGeom prst="rect">
            <a:avLst/>
          </a:prstGeom>
          <a:noFill/>
          <a:ln/>
        </p:spPr>
        <p:txBody>
          <a:bodyPr wrap="square" lIns="0" tIns="0" rIns="0" bIns="0" rtlCol="0" anchor="t"/>
          <a:lstStyle/>
          <a:p>
            <a:pPr indent="0" marL="0">
              <a:buNone/>
            </a:pPr>
            <a:r>
              <a:rPr lang="en-US" sz="1300" dirty="0">
                <a:solidFill>
                  <a:schemeClr val="bg2"/>
                </a:solidFill>
              </a:rPr>
              <a:t>escribió la IA todo el código</a:t>
            </a:r>
            <a:endParaRPr lang="en-US" sz="1300" dirty="0"/>
          </a:p>
        </p:txBody>
      </p:sp>
      <p:sp>
        <p:nvSpPr>
          <p:cNvPr id="38" name="card466"/>
          <p:cNvSpPr/>
          <p:nvPr/>
        </p:nvSpPr>
        <p:spPr>
          <a:xfrm>
            <a:off x="4315968" y="3840480"/>
            <a:ext cx="3566160" cy="1234440"/>
          </a:xfrm>
          <a:prstGeom prst="roundRect">
            <a:avLst>
              <a:gd name="adj" fmla="val 8889"/>
            </a:avLst>
          </a:prstGeom>
          <a:solidFill>
            <a:schemeClr val="tx2"/>
          </a:solidFill>
          <a:ln w="9525">
            <a:solidFill>
              <a:schemeClr val="bg2">
                <a:alpha val="28000"/>
              </a:schemeClr>
            </a:solidFill>
            <a:prstDash val="solid"/>
          </a:ln>
        </p:spPr>
      </p:sp>
      <p:sp>
        <p:nvSpPr>
          <p:cNvPr id="39" name="txt467"/>
          <p:cNvSpPr txBox="1"/>
          <p:nvPr/>
        </p:nvSpPr>
        <p:spPr>
          <a:xfrm>
            <a:off x="4544568" y="3950208"/>
            <a:ext cx="3108960" cy="678942"/>
          </a:xfrm>
          <a:prstGeom prst="rect">
            <a:avLst/>
          </a:prstGeom>
          <a:noFill/>
          <a:ln/>
        </p:spPr>
        <p:txBody>
          <a:bodyPr wrap="square" lIns="0" tIns="0" rIns="0" bIns="0" rtlCol="0" anchor="ctr"/>
          <a:lstStyle/>
          <a:p>
            <a:pPr indent="0" marL="0">
              <a:buNone/>
            </a:pPr>
            <a:r>
              <a:rPr lang="en-US" sz="3400" b="1" dirty="0">
                <a:solidFill>
                  <a:schemeClr val="accent1"/>
                </a:solidFill>
              </a:rPr>
              <a:t>≈ 40 min</a:t>
            </a:r>
            <a:endParaRPr lang="en-US" sz="3400" dirty="0"/>
          </a:p>
        </p:txBody>
      </p:sp>
      <p:sp>
        <p:nvSpPr>
          <p:cNvPr id="40" name="txt468"/>
          <p:cNvSpPr txBox="1"/>
          <p:nvPr/>
        </p:nvSpPr>
        <p:spPr>
          <a:xfrm>
            <a:off x="4544568" y="4581144"/>
            <a:ext cx="3108960" cy="444398"/>
          </a:xfrm>
          <a:prstGeom prst="rect">
            <a:avLst/>
          </a:prstGeom>
          <a:noFill/>
          <a:ln/>
        </p:spPr>
        <p:txBody>
          <a:bodyPr wrap="square" lIns="0" tIns="0" rIns="0" bIns="0" rtlCol="0" anchor="t"/>
          <a:lstStyle/>
          <a:p>
            <a:pPr indent="0" marL="0">
              <a:buNone/>
            </a:pPr>
            <a:r>
              <a:rPr lang="en-US" sz="1300" dirty="0">
                <a:solidFill>
                  <a:schemeClr val="bg2"/>
                </a:solidFill>
              </a:rPr>
              <a:t>de revisión humana, fase a fase</a:t>
            </a:r>
            <a:endParaRPr lang="en-US" sz="1300" dirty="0"/>
          </a:p>
        </p:txBody>
      </p:sp>
      <p:sp>
        <p:nvSpPr>
          <p:cNvPr id="41" name="card469"/>
          <p:cNvSpPr/>
          <p:nvPr/>
        </p:nvSpPr>
        <p:spPr>
          <a:xfrm>
            <a:off x="8092440" y="3840480"/>
            <a:ext cx="3566160" cy="1234440"/>
          </a:xfrm>
          <a:prstGeom prst="roundRect">
            <a:avLst>
              <a:gd name="adj" fmla="val 8889"/>
            </a:avLst>
          </a:prstGeom>
          <a:solidFill>
            <a:schemeClr val="tx2"/>
          </a:solidFill>
          <a:ln w="9525">
            <a:solidFill>
              <a:schemeClr val="bg2">
                <a:alpha val="28000"/>
              </a:schemeClr>
            </a:solidFill>
            <a:prstDash val="solid"/>
          </a:ln>
        </p:spPr>
      </p:sp>
      <p:sp>
        <p:nvSpPr>
          <p:cNvPr id="42" name="txt470"/>
          <p:cNvSpPr txBox="1"/>
          <p:nvPr/>
        </p:nvSpPr>
        <p:spPr>
          <a:xfrm>
            <a:off x="8321040" y="3950208"/>
            <a:ext cx="3108960" cy="678942"/>
          </a:xfrm>
          <a:prstGeom prst="rect">
            <a:avLst/>
          </a:prstGeom>
          <a:noFill/>
          <a:ln/>
        </p:spPr>
        <p:txBody>
          <a:bodyPr wrap="square" lIns="0" tIns="0" rIns="0" bIns="0" rtlCol="0" anchor="ctr"/>
          <a:lstStyle/>
          <a:p>
            <a:pPr indent="0" marL="0">
              <a:buNone/>
            </a:pPr>
            <a:r>
              <a:rPr lang="en-US" sz="3400" b="1" dirty="0">
                <a:solidFill>
                  <a:schemeClr val="accent6"/>
                </a:solidFill>
              </a:rPr>
              <a:t>59</a:t>
            </a:r>
            <a:endParaRPr lang="en-US" sz="3400" dirty="0"/>
          </a:p>
        </p:txBody>
      </p:sp>
      <p:sp>
        <p:nvSpPr>
          <p:cNvPr id="43" name="txt471"/>
          <p:cNvSpPr txBox="1"/>
          <p:nvPr/>
        </p:nvSpPr>
        <p:spPr>
          <a:xfrm>
            <a:off x="8321040" y="4581144"/>
            <a:ext cx="3108960" cy="444398"/>
          </a:xfrm>
          <a:prstGeom prst="rect">
            <a:avLst/>
          </a:prstGeom>
          <a:noFill/>
          <a:ln/>
        </p:spPr>
        <p:txBody>
          <a:bodyPr wrap="square" lIns="0" tIns="0" rIns="0" bIns="0" rtlCol="0" anchor="t"/>
          <a:lstStyle/>
          <a:p>
            <a:pPr indent="0" marL="0">
              <a:buNone/>
            </a:pPr>
            <a:r>
              <a:rPr lang="en-US" sz="1300" dirty="0">
                <a:solidFill>
                  <a:schemeClr val="bg2"/>
                </a:solidFill>
              </a:rPr>
              <a:t>pruebas automáticas generadas</a:t>
            </a:r>
            <a:endParaRPr lang="en-US" sz="1300" dirty="0"/>
          </a:p>
        </p:txBody>
      </p:sp>
      <p:sp>
        <p:nvSpPr>
          <p:cNvPr id="44" name="card472"/>
          <p:cNvSpPr/>
          <p:nvPr/>
        </p:nvSpPr>
        <p:spPr>
          <a:xfrm>
            <a:off x="548640" y="5257800"/>
            <a:ext cx="11109960" cy="777240"/>
          </a:xfrm>
          <a:prstGeom prst="roundRect">
            <a:avLst>
              <a:gd name="adj" fmla="val 14118"/>
            </a:avLst>
          </a:prstGeom>
          <a:solidFill>
            <a:schemeClr val="tx1"/>
          </a:solidFill>
          <a:ln w="9525">
            <a:solidFill>
              <a:schemeClr val="bg2">
                <a:alpha val="50000"/>
              </a:schemeClr>
            </a:solidFill>
            <a:prstDash val="solid"/>
          </a:ln>
        </p:spPr>
      </p:sp>
      <p:sp>
        <p:nvSpPr>
          <p:cNvPr id="45" name="txt473"/>
          <p:cNvSpPr txBox="1"/>
          <p:nvPr/>
        </p:nvSpPr>
        <p:spPr>
          <a:xfrm>
            <a:off x="777240" y="5257800"/>
            <a:ext cx="10698480" cy="777240"/>
          </a:xfrm>
          <a:prstGeom prst="rect">
            <a:avLst/>
          </a:prstGeom>
          <a:noFill/>
          <a:ln/>
        </p:spPr>
        <p:txBody>
          <a:bodyPr wrap="square" lIns="0" tIns="0" rIns="0" bIns="0" rtlCol="0" anchor="ctr"/>
          <a:lstStyle/>
          <a:p>
            <a:pPr indent="0" marL="0">
              <a:buNone/>
            </a:pPr>
            <a:r>
              <a:rPr lang="en-US" sz="1300" b="1" dirty="0">
                <a:solidFill>
                  <a:schemeClr val="accent2"/>
                </a:solidFill>
              </a:rPr>
              <a:t>Constitución: </a:t>
            </a:r>
            <a:pPr indent="0" marL="0">
              <a:buNone/>
            </a:pPr>
            <a:r>
              <a:rPr lang="en-US" sz="1300" dirty="0">
                <a:solidFill>
                  <a:schemeClr val="bg2"/>
                </a:solidFill>
              </a:rPr>
              <a:t>I Secretos solo en el backend · II Sin persistencia · III Contrato fijo · IV Autenticación antes que todo · V pytest sin servicios reales · VI Alcance mínimo</a:t>
            </a:r>
            <a:endParaRPr lang="en-US" sz="13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Revisión humana de la IA</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QUÉ ACEPTAMOS Y QUÉ NO</a:t>
            </a:r>
            <a:endParaRPr lang="en-US" sz="1200" dirty="0"/>
          </a:p>
        </p:txBody>
      </p:sp>
      <p:sp>
        <p:nvSpPr>
          <p:cNvPr id="4" name="presenta474"/>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475"/>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Jose Antonio Nieto</a:t>
            </a:r>
            <a:endParaRPr lang="en-US" sz="1100" dirty="0"/>
          </a:p>
        </p:txBody>
      </p:sp>
      <p:sp>
        <p:nvSpPr>
          <p:cNvPr id="6" name="card476"/>
          <p:cNvSpPr/>
          <p:nvPr/>
        </p:nvSpPr>
        <p:spPr>
          <a:xfrm>
            <a:off x="548640" y="1371600"/>
            <a:ext cx="3611880" cy="3611880"/>
          </a:xfrm>
          <a:prstGeom prst="roundRect">
            <a:avLst>
              <a:gd name="adj" fmla="val 3038"/>
            </a:avLst>
          </a:prstGeom>
          <a:solidFill>
            <a:schemeClr val="tx2"/>
          </a:solidFill>
          <a:ln w="9525">
            <a:solidFill>
              <a:schemeClr val="accent6">
                <a:alpha val="80000"/>
              </a:schemeClr>
            </a:solidFill>
            <a:prstDash val="solid"/>
          </a:ln>
        </p:spPr>
      </p:sp>
      <p:sp>
        <p:nvSpPr>
          <p:cNvPr id="7" name="badge477"/>
          <p:cNvSpPr/>
          <p:nvPr/>
        </p:nvSpPr>
        <p:spPr>
          <a:xfrm>
            <a:off x="777240" y="1572768"/>
            <a:ext cx="411480" cy="384048"/>
          </a:xfrm>
          <a:prstGeom prst="roundRect">
            <a:avLst>
              <a:gd name="adj" fmla="val 19048"/>
            </a:avLst>
          </a:prstGeom>
          <a:solidFill>
            <a:schemeClr val="accent6"/>
          </a:solidFill>
          <a:ln/>
        </p:spPr>
      </p:sp>
      <p:sp>
        <p:nvSpPr>
          <p:cNvPr id="8" name="txt478"/>
          <p:cNvSpPr txBox="1"/>
          <p:nvPr/>
        </p:nvSpPr>
        <p:spPr>
          <a:xfrm>
            <a:off x="777240" y="1572768"/>
            <a:ext cx="411480" cy="384048"/>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9" name="txt479"/>
          <p:cNvSpPr txBox="1"/>
          <p:nvPr/>
        </p:nvSpPr>
        <p:spPr>
          <a:xfrm>
            <a:off x="1325880" y="1572768"/>
            <a:ext cx="2560320" cy="384048"/>
          </a:xfrm>
          <a:prstGeom prst="rect">
            <a:avLst/>
          </a:prstGeom>
          <a:noFill/>
          <a:ln/>
        </p:spPr>
        <p:txBody>
          <a:bodyPr wrap="square" lIns="0" tIns="0" rIns="0" bIns="0" rtlCol="0" anchor="ctr"/>
          <a:lstStyle/>
          <a:p>
            <a:pPr indent="0" marL="0">
              <a:buNone/>
            </a:pPr>
            <a:r>
              <a:rPr lang="en-US" sz="2000" b="1" dirty="0">
                <a:solidFill>
                  <a:schemeClr val="accent6"/>
                </a:solidFill>
              </a:rPr>
              <a:t>Acertó</a:t>
            </a:r>
            <a:endParaRPr lang="en-US" sz="2000" dirty="0"/>
          </a:p>
        </p:txBody>
      </p:sp>
      <p:sp>
        <p:nvSpPr>
          <p:cNvPr id="10" name="txt480"/>
          <p:cNvSpPr txBox="1"/>
          <p:nvPr/>
        </p:nvSpPr>
        <p:spPr>
          <a:xfrm>
            <a:off x="822960" y="2194560"/>
            <a:ext cx="3108960" cy="269748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bg1"/>
                </a:solidFill>
              </a:rPr>
              <a:t>Cumplió la ERS y el contrato sin añadir funciones.</a:t>
            </a:r>
            <a:endParaRPr lang="en-US" sz="1400" dirty="0"/>
          </a:p>
          <a:p>
            <a:pPr marL="177800" indent="-177800">
              <a:spcAft>
                <a:spcPts val="900"/>
              </a:spcAft>
              <a:buSzPct val="100000"/>
              <a:buChar char="•"/>
            </a:pPr>
            <a:r>
              <a:rPr lang="en-US" sz="1300" dirty="0">
                <a:solidFill>
                  <a:schemeClr val="bg1"/>
                </a:solidFill>
              </a:rPr>
              <a:t>59 pruebas automáticas (la App 1 tiene 12).</a:t>
            </a:r>
            <a:endParaRPr lang="en-US" sz="1400" dirty="0"/>
          </a:p>
          <a:p>
            <a:pPr marL="177800" indent="-177800">
              <a:spcAft>
                <a:spcPts val="900"/>
              </a:spcAft>
              <a:buSzPct val="100000"/>
              <a:buChar char="•"/>
            </a:pPr>
            <a:r>
              <a:rPr lang="en-US" sz="1300" dirty="0">
                <a:solidFill>
                  <a:schemeClr val="bg1"/>
                </a:solidFill>
              </a:rPr>
              <a:t>Por su cuenta: descarta la respuesta si cierras sesión mientras espera.</a:t>
            </a:r>
            <a:endParaRPr lang="en-US" sz="1400" dirty="0"/>
          </a:p>
        </p:txBody>
      </p:sp>
      <p:sp>
        <p:nvSpPr>
          <p:cNvPr id="11" name="card481"/>
          <p:cNvSpPr/>
          <p:nvPr/>
        </p:nvSpPr>
        <p:spPr>
          <a:xfrm>
            <a:off x="4343400" y="1371600"/>
            <a:ext cx="3611880" cy="3611880"/>
          </a:xfrm>
          <a:prstGeom prst="roundRect">
            <a:avLst>
              <a:gd name="adj" fmla="val 3038"/>
            </a:avLst>
          </a:prstGeom>
          <a:solidFill>
            <a:schemeClr val="tx2"/>
          </a:solidFill>
          <a:ln w="9525">
            <a:solidFill>
              <a:schemeClr val="accent4">
                <a:alpha val="80000"/>
              </a:schemeClr>
            </a:solidFill>
            <a:prstDash val="solid"/>
          </a:ln>
        </p:spPr>
      </p:sp>
      <p:sp>
        <p:nvSpPr>
          <p:cNvPr id="12" name="badge482"/>
          <p:cNvSpPr/>
          <p:nvPr/>
        </p:nvSpPr>
        <p:spPr>
          <a:xfrm>
            <a:off x="4572000" y="1572768"/>
            <a:ext cx="411480" cy="384048"/>
          </a:xfrm>
          <a:prstGeom prst="roundRect">
            <a:avLst>
              <a:gd name="adj" fmla="val 19048"/>
            </a:avLst>
          </a:prstGeom>
          <a:solidFill>
            <a:schemeClr val="accent4"/>
          </a:solidFill>
          <a:ln/>
        </p:spPr>
      </p:sp>
      <p:sp>
        <p:nvSpPr>
          <p:cNvPr id="13" name="txt483"/>
          <p:cNvSpPr txBox="1"/>
          <p:nvPr/>
        </p:nvSpPr>
        <p:spPr>
          <a:xfrm>
            <a:off x="4572000" y="1572768"/>
            <a:ext cx="411480" cy="384048"/>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4" name="txt484"/>
          <p:cNvSpPr txBox="1"/>
          <p:nvPr/>
        </p:nvSpPr>
        <p:spPr>
          <a:xfrm>
            <a:off x="5120640" y="1572768"/>
            <a:ext cx="2560320" cy="384048"/>
          </a:xfrm>
          <a:prstGeom prst="rect">
            <a:avLst/>
          </a:prstGeom>
          <a:noFill/>
          <a:ln/>
        </p:spPr>
        <p:txBody>
          <a:bodyPr wrap="square" lIns="0" tIns="0" rIns="0" bIns="0" rtlCol="0" anchor="ctr"/>
          <a:lstStyle/>
          <a:p>
            <a:pPr indent="0" marL="0">
              <a:buNone/>
            </a:pPr>
            <a:r>
              <a:rPr lang="en-US" sz="2000" b="1" dirty="0">
                <a:solidFill>
                  <a:schemeClr val="accent4"/>
                </a:solidFill>
              </a:rPr>
              <a:t>Se desvió</a:t>
            </a:r>
            <a:endParaRPr lang="en-US" sz="2000" dirty="0"/>
          </a:p>
        </p:txBody>
      </p:sp>
      <p:sp>
        <p:nvSpPr>
          <p:cNvPr id="15" name="txt485"/>
          <p:cNvSpPr txBox="1"/>
          <p:nvPr/>
        </p:nvSpPr>
        <p:spPr>
          <a:xfrm>
            <a:off x="4617720" y="2194560"/>
            <a:ext cx="3108960" cy="269748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bg1"/>
                </a:solidFill>
              </a:rPr>
              <a:t>Plan con librerías antiguas: pedía &lt;SignedIn&gt;, que ya no existe, y usó &lt;Show&gt;.</a:t>
            </a:r>
            <a:endParaRPr lang="en-US" sz="1400" dirty="0"/>
          </a:p>
          <a:p>
            <a:pPr marL="177800" indent="-177800">
              <a:spcAft>
                <a:spcPts val="900"/>
              </a:spcAft>
              <a:buSzPct val="100000"/>
              <a:buChar char="•"/>
            </a:pPr>
            <a:r>
              <a:rPr lang="en-US" sz="1300" dirty="0">
                <a:solidFill>
                  <a:schemeClr val="bg1"/>
                </a:solidFill>
              </a:rPr>
              <a:t>Dockerfile con node:20, sin soporte: lo cambiamos a node:22.</a:t>
            </a:r>
            <a:endParaRPr lang="en-US" sz="1400" dirty="0"/>
          </a:p>
          <a:p>
            <a:pPr marL="177800" indent="-177800">
              <a:spcAft>
                <a:spcPts val="900"/>
              </a:spcAft>
              <a:buSzPct val="100000"/>
              <a:buChar char="•"/>
            </a:pPr>
            <a:r>
              <a:rPr lang="en-US" sz="1300" dirty="0">
                <a:solidFill>
                  <a:schemeClr val="bg1"/>
                </a:solidFill>
              </a:rPr>
              <a:t>Propuso gemini-2.5-flash con 800 tokens.</a:t>
            </a:r>
            <a:endParaRPr lang="en-US" sz="1400" dirty="0"/>
          </a:p>
        </p:txBody>
      </p:sp>
      <p:sp>
        <p:nvSpPr>
          <p:cNvPr id="16" name="card486"/>
          <p:cNvSpPr/>
          <p:nvPr/>
        </p:nvSpPr>
        <p:spPr>
          <a:xfrm>
            <a:off x="8138160" y="1371600"/>
            <a:ext cx="3611880" cy="3611880"/>
          </a:xfrm>
          <a:prstGeom prst="roundRect">
            <a:avLst>
              <a:gd name="adj" fmla="val 3038"/>
            </a:avLst>
          </a:prstGeom>
          <a:solidFill>
            <a:schemeClr val="tx2"/>
          </a:solidFill>
          <a:ln w="9525">
            <a:solidFill>
              <a:schemeClr val="accent5">
                <a:alpha val="80000"/>
              </a:schemeClr>
            </a:solidFill>
            <a:prstDash val="solid"/>
          </a:ln>
        </p:spPr>
      </p:sp>
      <p:sp>
        <p:nvSpPr>
          <p:cNvPr id="17" name="badge487"/>
          <p:cNvSpPr/>
          <p:nvPr/>
        </p:nvSpPr>
        <p:spPr>
          <a:xfrm>
            <a:off x="8366760" y="1572768"/>
            <a:ext cx="411480" cy="384048"/>
          </a:xfrm>
          <a:prstGeom prst="roundRect">
            <a:avLst>
              <a:gd name="adj" fmla="val 19048"/>
            </a:avLst>
          </a:prstGeom>
          <a:solidFill>
            <a:schemeClr val="accent5"/>
          </a:solidFill>
          <a:ln/>
        </p:spPr>
      </p:sp>
      <p:sp>
        <p:nvSpPr>
          <p:cNvPr id="18" name="txt488"/>
          <p:cNvSpPr txBox="1"/>
          <p:nvPr/>
        </p:nvSpPr>
        <p:spPr>
          <a:xfrm>
            <a:off x="8366760" y="1572768"/>
            <a:ext cx="411480" cy="384048"/>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9" name="txt489"/>
          <p:cNvSpPr txBox="1"/>
          <p:nvPr/>
        </p:nvSpPr>
        <p:spPr>
          <a:xfrm>
            <a:off x="8915400" y="1572768"/>
            <a:ext cx="2560320" cy="384048"/>
          </a:xfrm>
          <a:prstGeom prst="rect">
            <a:avLst/>
          </a:prstGeom>
          <a:noFill/>
          <a:ln/>
        </p:spPr>
        <p:txBody>
          <a:bodyPr wrap="square" lIns="0" tIns="0" rIns="0" bIns="0" rtlCol="0" anchor="ctr"/>
          <a:lstStyle/>
          <a:p>
            <a:pPr indent="0" marL="0">
              <a:buNone/>
            </a:pPr>
            <a:r>
              <a:rPr lang="en-US" sz="2000" b="1" dirty="0">
                <a:solidFill>
                  <a:schemeClr val="accent5"/>
                </a:solidFill>
              </a:rPr>
              <a:t>Falló</a:t>
            </a:r>
            <a:endParaRPr lang="en-US" sz="2000" dirty="0"/>
          </a:p>
        </p:txBody>
      </p:sp>
      <p:sp>
        <p:nvSpPr>
          <p:cNvPr id="20" name="txt490"/>
          <p:cNvSpPr txBox="1"/>
          <p:nvPr/>
        </p:nvSpPr>
        <p:spPr>
          <a:xfrm>
            <a:off x="8412480" y="2194560"/>
            <a:ext cx="3108960" cy="269748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bg1"/>
                </a:solidFill>
              </a:rPr>
              <a:t>No cargaba el .env en local, así que CORS lo rechazaba todo.</a:t>
            </a:r>
            <a:endParaRPr lang="en-US" sz="1400" dirty="0"/>
          </a:p>
          <a:p>
            <a:pPr marL="177800" indent="-177800">
              <a:spcAft>
                <a:spcPts val="900"/>
              </a:spcAft>
              <a:buSzPct val="100000"/>
              <a:buChar char="•"/>
            </a:pPr>
            <a:r>
              <a:rPr lang="en-US" sz="1300" dirty="0">
                <a:solidFill>
                  <a:schemeClr val="bg1"/>
                </a:solidFill>
              </a:rPr>
              <a:t>Su vercel.json redirigía todo a /api/index: 404 en Vercel.</a:t>
            </a:r>
            <a:endParaRPr lang="en-US" sz="1400" dirty="0"/>
          </a:p>
          <a:p>
            <a:pPr marL="177800" indent="-177800">
              <a:spcAft>
                <a:spcPts val="900"/>
              </a:spcAft>
              <a:buSzPct val="100000"/>
              <a:buChar char="•"/>
            </a:pPr>
            <a:r>
              <a:rPr lang="en-US" sz="1300" dirty="0">
                <a:solidFill>
                  <a:schemeClr val="bg1"/>
                </a:solidFill>
              </a:rPr>
              <a:t>Sus 59 pruebas no detectaron ninguno de los dos.</a:t>
            </a:r>
            <a:endParaRPr lang="en-US" sz="1400" dirty="0"/>
          </a:p>
        </p:txBody>
      </p:sp>
      <p:sp>
        <p:nvSpPr>
          <p:cNvPr id="21" name="card491"/>
          <p:cNvSpPr/>
          <p:nvPr/>
        </p:nvSpPr>
        <p:spPr>
          <a:xfrm>
            <a:off x="548640" y="5166360"/>
            <a:ext cx="11109960" cy="868680"/>
          </a:xfrm>
          <a:prstGeom prst="roundRect">
            <a:avLst>
              <a:gd name="adj" fmla="val 12632"/>
            </a:avLst>
          </a:prstGeom>
          <a:solidFill>
            <a:schemeClr val="tx2"/>
          </a:solidFill>
          <a:ln w="9525">
            <a:solidFill>
              <a:schemeClr val="accent1">
                <a:alpha val="60000"/>
              </a:schemeClr>
            </a:solidFill>
            <a:prstDash val="solid"/>
          </a:ln>
        </p:spPr>
      </p:sp>
      <p:sp>
        <p:nvSpPr>
          <p:cNvPr id="22" name="txt492"/>
          <p:cNvSpPr txBox="1"/>
          <p:nvPr/>
        </p:nvSpPr>
        <p:spPr>
          <a:xfrm>
            <a:off x="822960" y="5166360"/>
            <a:ext cx="10607040" cy="868680"/>
          </a:xfrm>
          <a:prstGeom prst="rect">
            <a:avLst/>
          </a:prstGeom>
          <a:noFill/>
          <a:ln/>
        </p:spPr>
        <p:txBody>
          <a:bodyPr wrap="square" lIns="0" tIns="0" rIns="0" bIns="0" rtlCol="0" anchor="ctr"/>
          <a:lstStyle/>
          <a:p>
            <a:pPr indent="0" marL="0">
              <a:buNone/>
            </a:pPr>
            <a:r>
              <a:rPr lang="en-US" sz="1400" b="1" dirty="0">
                <a:solidFill>
                  <a:schemeClr val="accent1"/>
                </a:solidFill>
              </a:rPr>
              <a:t>Lo que decidimos nosotros: </a:t>
            </a:r>
            <a:pPr indent="0" marL="0">
              <a:buNone/>
            </a:pPr>
            <a:r>
              <a:rPr lang="en-US" sz="1400" dirty="0">
                <a:solidFill>
                  <a:schemeClr val="bg1"/>
                </a:solidFill>
              </a:rPr>
              <a:t>mismo modelo y límites que la App 1 (gemini-3.5-flash-lite, 600 tokens), mismos 12 géneros, y aceptar &lt;Show&gt; y node:22 anotándolos en tasks.md.</a:t>
            </a:r>
            <a:endParaRPr lang="en-US" sz="14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Autenticación con Clerk</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RF-06 · RNF-05</a:t>
            </a:r>
            <a:endParaRPr lang="en-US" sz="1200" dirty="0"/>
          </a:p>
        </p:txBody>
      </p:sp>
      <p:sp>
        <p:nvSpPr>
          <p:cNvPr id="4" name="presenta493"/>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494"/>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Mario Luna</a:t>
            </a:r>
            <a:endParaRPr lang="en-US" sz="1100" dirty="0"/>
          </a:p>
        </p:txBody>
      </p:sp>
      <p:sp>
        <p:nvSpPr>
          <p:cNvPr id="6" name="card495"/>
          <p:cNvSpPr/>
          <p:nvPr/>
        </p:nvSpPr>
        <p:spPr>
          <a:xfrm>
            <a:off x="548640" y="1371600"/>
            <a:ext cx="2606040" cy="1508760"/>
          </a:xfrm>
          <a:prstGeom prst="roundRect">
            <a:avLst>
              <a:gd name="adj" fmla="val 7273"/>
            </a:avLst>
          </a:prstGeom>
          <a:solidFill>
            <a:schemeClr val="tx2"/>
          </a:solidFill>
          <a:ln w="9525">
            <a:solidFill>
              <a:schemeClr val="accent2">
                <a:alpha val="70000"/>
              </a:schemeClr>
            </a:solidFill>
            <a:prstDash val="solid"/>
          </a:ln>
        </p:spPr>
      </p:sp>
      <p:sp>
        <p:nvSpPr>
          <p:cNvPr id="7" name="badge496"/>
          <p:cNvSpPr/>
          <p:nvPr/>
        </p:nvSpPr>
        <p:spPr>
          <a:xfrm>
            <a:off x="731520" y="1536192"/>
            <a:ext cx="365760" cy="347472"/>
          </a:xfrm>
          <a:prstGeom prst="roundRect">
            <a:avLst>
              <a:gd name="adj" fmla="val 21053"/>
            </a:avLst>
          </a:prstGeom>
          <a:solidFill>
            <a:schemeClr val="accent2"/>
          </a:solidFill>
          <a:ln/>
        </p:spPr>
      </p:sp>
      <p:sp>
        <p:nvSpPr>
          <p:cNvPr id="8" name="txt497"/>
          <p:cNvSpPr txBox="1"/>
          <p:nvPr/>
        </p:nvSpPr>
        <p:spPr>
          <a:xfrm>
            <a:off x="731520" y="1536192"/>
            <a:ext cx="365760" cy="347472"/>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txt498"/>
          <p:cNvSpPr txBox="1"/>
          <p:nvPr/>
        </p:nvSpPr>
        <p:spPr>
          <a:xfrm>
            <a:off x="1234440" y="1508760"/>
            <a:ext cx="1828800" cy="548640"/>
          </a:xfrm>
          <a:prstGeom prst="rect">
            <a:avLst/>
          </a:prstGeom>
          <a:noFill/>
          <a:ln/>
        </p:spPr>
        <p:txBody>
          <a:bodyPr wrap="square" lIns="0" tIns="0" rIns="0" bIns="0" rtlCol="0" anchor="ctr"/>
          <a:lstStyle/>
          <a:p>
            <a:pPr indent="0" marL="0">
              <a:buNone/>
            </a:pPr>
            <a:r>
              <a:rPr lang="en-US" sz="1400" b="1" dirty="0">
                <a:solidFill>
                  <a:schemeClr val="bg1"/>
                </a:solidFill>
              </a:rPr>
              <a:t>Acceso en la misma pantalla</a:t>
            </a:r>
            <a:endParaRPr lang="en-US" sz="1400" dirty="0"/>
          </a:p>
        </p:txBody>
      </p:sp>
      <p:sp>
        <p:nvSpPr>
          <p:cNvPr id="10" name="txt499"/>
          <p:cNvSpPr txBox="1"/>
          <p:nvPr/>
        </p:nvSpPr>
        <p:spPr>
          <a:xfrm>
            <a:off x="731520" y="2103120"/>
            <a:ext cx="2286000" cy="731520"/>
          </a:xfrm>
          <a:prstGeom prst="rect">
            <a:avLst/>
          </a:prstGeom>
          <a:noFill/>
          <a:ln/>
        </p:spPr>
        <p:txBody>
          <a:bodyPr wrap="square" lIns="0" tIns="0" rIns="0" bIns="0" rtlCol="0" anchor="t"/>
          <a:lstStyle/>
          <a:p>
            <a:pPr indent="0" marL="0">
              <a:buNone/>
            </a:pPr>
            <a:r>
              <a:rPr lang="en-US" sz="1200" dirty="0">
                <a:solidFill>
                  <a:schemeClr val="bg2"/>
                </a:solidFill>
              </a:rPr>
              <a:t>Componente modal de Clerk, sin rutas de login ni perfil.</a:t>
            </a:r>
            <a:endParaRPr lang="en-US" sz="1200" dirty="0"/>
          </a:p>
        </p:txBody>
      </p:sp>
      <p:sp>
        <p:nvSpPr>
          <p:cNvPr id="11" name="line500"/>
          <p:cNvSpPr/>
          <p:nvPr/>
        </p:nvSpPr>
        <p:spPr>
          <a:xfrm>
            <a:off x="3154680" y="2121408"/>
            <a:ext cx="228600" cy="0"/>
          </a:xfrm>
          <a:prstGeom prst="line">
            <a:avLst/>
          </a:prstGeom>
          <a:noFill/>
          <a:ln w="15875">
            <a:solidFill>
              <a:schemeClr val="accent2"/>
            </a:solidFill>
            <a:prstDash val="solid"/>
            <a:tailEnd type="triangle"/>
          </a:ln>
        </p:spPr>
      </p:sp>
      <p:sp>
        <p:nvSpPr>
          <p:cNvPr id="12" name="card501"/>
          <p:cNvSpPr/>
          <p:nvPr/>
        </p:nvSpPr>
        <p:spPr>
          <a:xfrm>
            <a:off x="3383280" y="1371600"/>
            <a:ext cx="2606040" cy="1508760"/>
          </a:xfrm>
          <a:prstGeom prst="roundRect">
            <a:avLst>
              <a:gd name="adj" fmla="val 7273"/>
            </a:avLst>
          </a:prstGeom>
          <a:solidFill>
            <a:schemeClr val="tx2"/>
          </a:solidFill>
          <a:ln w="9525">
            <a:solidFill>
              <a:schemeClr val="accent2">
                <a:alpha val="70000"/>
              </a:schemeClr>
            </a:solidFill>
            <a:prstDash val="solid"/>
          </a:ln>
        </p:spPr>
      </p:sp>
      <p:sp>
        <p:nvSpPr>
          <p:cNvPr id="13" name="badge502"/>
          <p:cNvSpPr/>
          <p:nvPr/>
        </p:nvSpPr>
        <p:spPr>
          <a:xfrm>
            <a:off x="3566160" y="1536192"/>
            <a:ext cx="365760" cy="347472"/>
          </a:xfrm>
          <a:prstGeom prst="roundRect">
            <a:avLst>
              <a:gd name="adj" fmla="val 21053"/>
            </a:avLst>
          </a:prstGeom>
          <a:solidFill>
            <a:schemeClr val="accent2"/>
          </a:solidFill>
          <a:ln/>
        </p:spPr>
      </p:sp>
      <p:sp>
        <p:nvSpPr>
          <p:cNvPr id="14" name="txt503"/>
          <p:cNvSpPr txBox="1"/>
          <p:nvPr/>
        </p:nvSpPr>
        <p:spPr>
          <a:xfrm>
            <a:off x="3566160" y="1536192"/>
            <a:ext cx="365760" cy="347472"/>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5" name="txt504"/>
          <p:cNvSpPr txBox="1"/>
          <p:nvPr/>
        </p:nvSpPr>
        <p:spPr>
          <a:xfrm>
            <a:off x="4069080" y="1508760"/>
            <a:ext cx="1828800" cy="548640"/>
          </a:xfrm>
          <a:prstGeom prst="rect">
            <a:avLst/>
          </a:prstGeom>
          <a:noFill/>
          <a:ln/>
        </p:spPr>
        <p:txBody>
          <a:bodyPr wrap="square" lIns="0" tIns="0" rIns="0" bIns="0" rtlCol="0" anchor="ctr"/>
          <a:lstStyle/>
          <a:p>
            <a:pPr indent="0" marL="0">
              <a:buNone/>
            </a:pPr>
            <a:r>
              <a:rPr lang="en-US" sz="1400" b="1" dirty="0">
                <a:solidFill>
                  <a:schemeClr val="bg1"/>
                </a:solidFill>
              </a:rPr>
              <a:t>Token de sesión</a:t>
            </a:r>
            <a:endParaRPr lang="en-US" sz="1400" dirty="0"/>
          </a:p>
        </p:txBody>
      </p:sp>
      <p:sp>
        <p:nvSpPr>
          <p:cNvPr id="16" name="txt505"/>
          <p:cNvSpPr txBox="1"/>
          <p:nvPr/>
        </p:nvSpPr>
        <p:spPr>
          <a:xfrm>
            <a:off x="3566160" y="2103120"/>
            <a:ext cx="2286000" cy="731520"/>
          </a:xfrm>
          <a:prstGeom prst="rect">
            <a:avLst/>
          </a:prstGeom>
          <a:noFill/>
          <a:ln/>
        </p:spPr>
        <p:txBody>
          <a:bodyPr wrap="square" lIns="0" tIns="0" rIns="0" bIns="0" rtlCol="0" anchor="t"/>
          <a:lstStyle/>
          <a:p>
            <a:pPr indent="0" marL="0">
              <a:buNone/>
            </a:pPr>
            <a:r>
              <a:rPr lang="en-US" sz="1200" dirty="0">
                <a:solidFill>
                  <a:schemeClr val="bg2"/>
                </a:solidFill>
              </a:rPr>
              <a:t>La SPA lo pide con getToken() antes de cada envío.</a:t>
            </a:r>
            <a:endParaRPr lang="en-US" sz="1200" dirty="0"/>
          </a:p>
        </p:txBody>
      </p:sp>
      <p:sp>
        <p:nvSpPr>
          <p:cNvPr id="17" name="line506"/>
          <p:cNvSpPr/>
          <p:nvPr/>
        </p:nvSpPr>
        <p:spPr>
          <a:xfrm>
            <a:off x="5989320" y="2121408"/>
            <a:ext cx="228600" cy="0"/>
          </a:xfrm>
          <a:prstGeom prst="line">
            <a:avLst/>
          </a:prstGeom>
          <a:noFill/>
          <a:ln w="15875">
            <a:solidFill>
              <a:schemeClr val="accent2"/>
            </a:solidFill>
            <a:prstDash val="solid"/>
            <a:tailEnd type="triangle"/>
          </a:ln>
        </p:spPr>
      </p:sp>
      <p:sp>
        <p:nvSpPr>
          <p:cNvPr id="18" name="card507"/>
          <p:cNvSpPr/>
          <p:nvPr/>
        </p:nvSpPr>
        <p:spPr>
          <a:xfrm>
            <a:off x="6217920" y="1371600"/>
            <a:ext cx="2606040" cy="1508760"/>
          </a:xfrm>
          <a:prstGeom prst="roundRect">
            <a:avLst>
              <a:gd name="adj" fmla="val 7273"/>
            </a:avLst>
          </a:prstGeom>
          <a:solidFill>
            <a:schemeClr val="tx2"/>
          </a:solidFill>
          <a:ln w="9525">
            <a:solidFill>
              <a:schemeClr val="accent2">
                <a:alpha val="70000"/>
              </a:schemeClr>
            </a:solidFill>
            <a:prstDash val="solid"/>
          </a:ln>
        </p:spPr>
      </p:sp>
      <p:sp>
        <p:nvSpPr>
          <p:cNvPr id="19" name="badge508"/>
          <p:cNvSpPr/>
          <p:nvPr/>
        </p:nvSpPr>
        <p:spPr>
          <a:xfrm>
            <a:off x="6400800" y="1536192"/>
            <a:ext cx="365760" cy="347472"/>
          </a:xfrm>
          <a:prstGeom prst="roundRect">
            <a:avLst>
              <a:gd name="adj" fmla="val 21053"/>
            </a:avLst>
          </a:prstGeom>
          <a:solidFill>
            <a:schemeClr val="accent2"/>
          </a:solidFill>
          <a:ln/>
        </p:spPr>
      </p:sp>
      <p:sp>
        <p:nvSpPr>
          <p:cNvPr id="20" name="txt509"/>
          <p:cNvSpPr txBox="1"/>
          <p:nvPr/>
        </p:nvSpPr>
        <p:spPr>
          <a:xfrm>
            <a:off x="6400800" y="1536192"/>
            <a:ext cx="365760" cy="347472"/>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1" name="txt510"/>
          <p:cNvSpPr txBox="1"/>
          <p:nvPr/>
        </p:nvSpPr>
        <p:spPr>
          <a:xfrm>
            <a:off x="6903720" y="1508760"/>
            <a:ext cx="1828800" cy="548640"/>
          </a:xfrm>
          <a:prstGeom prst="rect">
            <a:avLst/>
          </a:prstGeom>
          <a:noFill/>
          <a:ln/>
        </p:spPr>
        <p:txBody>
          <a:bodyPr wrap="square" lIns="0" tIns="0" rIns="0" bIns="0" rtlCol="0" anchor="ctr"/>
          <a:lstStyle/>
          <a:p>
            <a:pPr indent="0" marL="0">
              <a:buNone/>
            </a:pPr>
            <a:r>
              <a:rPr lang="en-US" sz="1400" b="1" dirty="0">
                <a:solidFill>
                  <a:schemeClr val="bg1"/>
                </a:solidFill>
              </a:rPr>
              <a:t>Cabecera Authorization</a:t>
            </a:r>
            <a:endParaRPr lang="en-US" sz="1400" dirty="0"/>
          </a:p>
        </p:txBody>
      </p:sp>
      <p:sp>
        <p:nvSpPr>
          <p:cNvPr id="22" name="txt511"/>
          <p:cNvSpPr txBox="1"/>
          <p:nvPr/>
        </p:nvSpPr>
        <p:spPr>
          <a:xfrm>
            <a:off x="6400800" y="2103120"/>
            <a:ext cx="2286000" cy="731520"/>
          </a:xfrm>
          <a:prstGeom prst="rect">
            <a:avLst/>
          </a:prstGeom>
          <a:noFill/>
          <a:ln/>
        </p:spPr>
        <p:txBody>
          <a:bodyPr wrap="square" lIns="0" tIns="0" rIns="0" bIns="0" rtlCol="0" anchor="t"/>
          <a:lstStyle/>
          <a:p>
            <a:pPr indent="0" marL="0">
              <a:buNone/>
            </a:pPr>
            <a:r>
              <a:rPr lang="en-US" sz="1200" dirty="0">
                <a:solidFill>
                  <a:schemeClr val="bg2"/>
                </a:solidFill>
              </a:rPr>
              <a:t>Bearer &lt;token&gt; en cada POST /api/recommend.</a:t>
            </a:r>
            <a:endParaRPr lang="en-US" sz="1200" dirty="0"/>
          </a:p>
        </p:txBody>
      </p:sp>
      <p:sp>
        <p:nvSpPr>
          <p:cNvPr id="23" name="line512"/>
          <p:cNvSpPr/>
          <p:nvPr/>
        </p:nvSpPr>
        <p:spPr>
          <a:xfrm>
            <a:off x="8823960" y="2121408"/>
            <a:ext cx="228600" cy="0"/>
          </a:xfrm>
          <a:prstGeom prst="line">
            <a:avLst/>
          </a:prstGeom>
          <a:noFill/>
          <a:ln w="15875">
            <a:solidFill>
              <a:schemeClr val="accent2"/>
            </a:solidFill>
            <a:prstDash val="solid"/>
            <a:tailEnd type="triangle"/>
          </a:ln>
        </p:spPr>
      </p:sp>
      <p:sp>
        <p:nvSpPr>
          <p:cNvPr id="24" name="card513"/>
          <p:cNvSpPr/>
          <p:nvPr/>
        </p:nvSpPr>
        <p:spPr>
          <a:xfrm>
            <a:off x="9052560" y="1371600"/>
            <a:ext cx="2606040" cy="1508760"/>
          </a:xfrm>
          <a:prstGeom prst="roundRect">
            <a:avLst>
              <a:gd name="adj" fmla="val 7273"/>
            </a:avLst>
          </a:prstGeom>
          <a:solidFill>
            <a:schemeClr val="tx2"/>
          </a:solidFill>
          <a:ln w="9525">
            <a:solidFill>
              <a:schemeClr val="accent2">
                <a:alpha val="70000"/>
              </a:schemeClr>
            </a:solidFill>
            <a:prstDash val="solid"/>
          </a:ln>
        </p:spPr>
      </p:sp>
      <p:sp>
        <p:nvSpPr>
          <p:cNvPr id="25" name="badge514"/>
          <p:cNvSpPr/>
          <p:nvPr/>
        </p:nvSpPr>
        <p:spPr>
          <a:xfrm>
            <a:off x="9235440" y="1536192"/>
            <a:ext cx="365760" cy="347472"/>
          </a:xfrm>
          <a:prstGeom prst="roundRect">
            <a:avLst>
              <a:gd name="adj" fmla="val 21053"/>
            </a:avLst>
          </a:prstGeom>
          <a:solidFill>
            <a:schemeClr val="accent2"/>
          </a:solidFill>
          <a:ln/>
        </p:spPr>
      </p:sp>
      <p:sp>
        <p:nvSpPr>
          <p:cNvPr id="26" name="txt515"/>
          <p:cNvSpPr txBox="1"/>
          <p:nvPr/>
        </p:nvSpPr>
        <p:spPr>
          <a:xfrm>
            <a:off x="9235440" y="1536192"/>
            <a:ext cx="365760" cy="347472"/>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7" name="txt516"/>
          <p:cNvSpPr txBox="1"/>
          <p:nvPr/>
        </p:nvSpPr>
        <p:spPr>
          <a:xfrm>
            <a:off x="9738360" y="1508760"/>
            <a:ext cx="1828800" cy="548640"/>
          </a:xfrm>
          <a:prstGeom prst="rect">
            <a:avLst/>
          </a:prstGeom>
          <a:noFill/>
          <a:ln/>
        </p:spPr>
        <p:txBody>
          <a:bodyPr wrap="square" lIns="0" tIns="0" rIns="0" bIns="0" rtlCol="0" anchor="ctr"/>
          <a:lstStyle/>
          <a:p>
            <a:pPr indent="0" marL="0">
              <a:buNone/>
            </a:pPr>
            <a:r>
              <a:rPr lang="en-US" sz="1400" b="1" dirty="0">
                <a:solidFill>
                  <a:schemeClr val="bg1"/>
                </a:solidFill>
              </a:rPr>
              <a:t>Verificación en FastAPI</a:t>
            </a:r>
            <a:endParaRPr lang="en-US" sz="1400" dirty="0"/>
          </a:p>
        </p:txBody>
      </p:sp>
      <p:sp>
        <p:nvSpPr>
          <p:cNvPr id="28" name="txt517"/>
          <p:cNvSpPr txBox="1"/>
          <p:nvPr/>
        </p:nvSpPr>
        <p:spPr>
          <a:xfrm>
            <a:off x="9235440" y="2103120"/>
            <a:ext cx="2286000" cy="731520"/>
          </a:xfrm>
          <a:prstGeom prst="rect">
            <a:avLst/>
          </a:prstGeom>
          <a:noFill/>
          <a:ln/>
        </p:spPr>
        <p:txBody>
          <a:bodyPr wrap="square" lIns="0" tIns="0" rIns="0" bIns="0" rtlCol="0" anchor="t"/>
          <a:lstStyle/>
          <a:p>
            <a:pPr indent="0" marL="0">
              <a:buNone/>
            </a:pPr>
            <a:r>
              <a:rPr lang="en-US" sz="1200" dirty="0">
                <a:solidFill>
                  <a:schemeClr val="bg2"/>
                </a:solidFill>
              </a:rPr>
              <a:t>PyJWT con las claves públicas (JWKS) de Clerk.</a:t>
            </a:r>
            <a:endParaRPr lang="en-US" sz="1200" dirty="0"/>
          </a:p>
        </p:txBody>
      </p:sp>
      <p:sp>
        <p:nvSpPr>
          <p:cNvPr id="29" name="card518"/>
          <p:cNvSpPr/>
          <p:nvPr/>
        </p:nvSpPr>
        <p:spPr>
          <a:xfrm>
            <a:off x="548640" y="3108960"/>
            <a:ext cx="5486400" cy="2926080"/>
          </a:xfrm>
          <a:prstGeom prst="roundRect">
            <a:avLst>
              <a:gd name="adj" fmla="val 3750"/>
            </a:avLst>
          </a:prstGeom>
          <a:solidFill>
            <a:schemeClr val="tx2"/>
          </a:solidFill>
          <a:ln w="9525">
            <a:solidFill>
              <a:schemeClr val="bg2">
                <a:alpha val="28000"/>
              </a:schemeClr>
            </a:solidFill>
            <a:prstDash val="solid"/>
          </a:ln>
        </p:spPr>
      </p:sp>
      <p:sp>
        <p:nvSpPr>
          <p:cNvPr id="30" name="txt519"/>
          <p:cNvSpPr txBox="1"/>
          <p:nvPr/>
        </p:nvSpPr>
        <p:spPr>
          <a:xfrm>
            <a:off x="822960" y="3273552"/>
            <a:ext cx="4937760" cy="365760"/>
          </a:xfrm>
          <a:prstGeom prst="rect">
            <a:avLst/>
          </a:prstGeom>
          <a:noFill/>
          <a:ln/>
        </p:spPr>
        <p:txBody>
          <a:bodyPr wrap="square" lIns="0" tIns="0" rIns="0" bIns="0" rtlCol="0" anchor="t"/>
          <a:lstStyle/>
          <a:p>
            <a:pPr indent="0" marL="0">
              <a:buNone/>
            </a:pPr>
            <a:r>
              <a:rPr lang="en-US" sz="1800" b="1" dirty="0">
                <a:solidFill>
                  <a:schemeClr val="accent2"/>
                </a:solidFill>
              </a:rPr>
              <a:t>Qué comprueba el backend</a:t>
            </a:r>
            <a:endParaRPr lang="en-US" sz="1800" dirty="0"/>
          </a:p>
        </p:txBody>
      </p:sp>
      <p:sp>
        <p:nvSpPr>
          <p:cNvPr id="31" name="txt520"/>
          <p:cNvSpPr txBox="1"/>
          <p:nvPr/>
        </p:nvSpPr>
        <p:spPr>
          <a:xfrm>
            <a:off x="822960" y="3749040"/>
            <a:ext cx="4983480" cy="1463040"/>
          </a:xfrm>
          <a:prstGeom prst="rect">
            <a:avLst/>
          </a:prstGeom>
          <a:noFill/>
          <a:ln/>
        </p:spPr>
        <p:txBody>
          <a:bodyPr wrap="square" lIns="0" tIns="0" rIns="0" bIns="0" rtlCol="0" anchor="t"/>
          <a:lstStyle/>
          <a:p>
            <a:pPr marL="177800" indent="-177800">
              <a:spcAft>
                <a:spcPts val="400"/>
              </a:spcAft>
              <a:buSzPct val="100000"/>
              <a:buChar char="•"/>
            </a:pPr>
            <a:r>
              <a:rPr lang="en-US" sz="1400" b="1" dirty="0">
                <a:solidFill>
                  <a:schemeClr val="bg1"/>
                </a:solidFill>
              </a:rPr>
              <a:t>Firma </a:t>
            </a:r>
            <a:pPr indent="0" marL="0">
              <a:spcAft>
                <a:spcPts val="400"/>
              </a:spcAft>
              <a:buNone/>
            </a:pPr>
            <a:r>
              <a:rPr lang="en-US" sz="1400" dirty="0">
                <a:solidFill>
                  <a:schemeClr val="bg2"/>
                </a:solidFill>
              </a:rPr>
              <a:t>con las claves públicas del emisor.</a:t>
            </a:r>
            <a:endParaRPr lang="en-US" sz="1400" dirty="0"/>
          </a:p>
          <a:p>
            <a:pPr marL="177800" indent="-177800">
              <a:spcAft>
                <a:spcPts val="400"/>
              </a:spcAft>
              <a:buSzPct val="100000"/>
              <a:buChar char="•"/>
            </a:pPr>
            <a:r>
              <a:rPr lang="en-US" sz="1400" b="1" dirty="0">
                <a:solidFill>
                  <a:schemeClr val="bg1"/>
                </a:solidFill>
              </a:rPr>
              <a:t>Emisor: </a:t>
            </a:r>
            <a:pPr indent="0" marL="0">
              <a:spcAft>
                <a:spcPts val="400"/>
              </a:spcAft>
              <a:buNone/>
            </a:pPr>
            <a:r>
              <a:rPr lang="en-US" sz="1400" dirty="0">
                <a:solidFill>
                  <a:schemeClr val="bg2"/>
                </a:solidFill>
              </a:rPr>
              <a:t>CLERK_ISSUER.</a:t>
            </a:r>
            <a:endParaRPr lang="en-US" sz="1400" dirty="0"/>
          </a:p>
          <a:p>
            <a:pPr marL="177800" indent="-177800">
              <a:spcAft>
                <a:spcPts val="400"/>
              </a:spcAft>
              <a:buSzPct val="100000"/>
              <a:buChar char="•"/>
            </a:pPr>
            <a:r>
              <a:rPr lang="en-US" sz="1400" b="1" dirty="0">
                <a:solidFill>
                  <a:schemeClr val="bg1"/>
                </a:solidFill>
              </a:rPr>
              <a:t>Caducidad </a:t>
            </a:r>
            <a:pPr indent="0" marL="0">
              <a:spcAft>
                <a:spcPts val="400"/>
              </a:spcAft>
              <a:buNone/>
            </a:pPr>
            <a:r>
              <a:rPr lang="en-US" sz="1400" dirty="0">
                <a:solidFill>
                  <a:schemeClr val="bg2"/>
                </a:solidFill>
              </a:rPr>
              <a:t>del token.</a:t>
            </a:r>
            <a:endParaRPr lang="en-US" sz="1400" dirty="0"/>
          </a:p>
          <a:p>
            <a:pPr marL="177800" indent="-177800">
              <a:spcAft>
                <a:spcPts val="400"/>
              </a:spcAft>
              <a:buSzPct val="100000"/>
              <a:buChar char="•"/>
            </a:pPr>
            <a:r>
              <a:rPr lang="en-US" sz="1400" b="1" dirty="0">
                <a:solidFill>
                  <a:schemeClr val="bg1"/>
                </a:solidFill>
              </a:rPr>
              <a:t>Origen autorizado: </a:t>
            </a:r>
            <a:pPr indent="0" marL="0">
              <a:spcAft>
                <a:spcPts val="400"/>
              </a:spcAft>
              <a:buNone/>
            </a:pPr>
            <a:r>
              <a:rPr lang="en-US" sz="1400" dirty="0">
                <a:solidFill>
                  <a:schemeClr val="bg2"/>
                </a:solidFill>
              </a:rPr>
              <a:t>el azp debe estar en ALLOWED_ORIGINS.</a:t>
            </a:r>
            <a:endParaRPr lang="en-US" sz="1400" dirty="0"/>
          </a:p>
        </p:txBody>
      </p:sp>
      <p:sp>
        <p:nvSpPr>
          <p:cNvPr id="32" name="txt521"/>
          <p:cNvSpPr txBox="1"/>
          <p:nvPr/>
        </p:nvSpPr>
        <p:spPr>
          <a:xfrm>
            <a:off x="822960" y="5212080"/>
            <a:ext cx="4983480" cy="731520"/>
          </a:xfrm>
          <a:prstGeom prst="rect">
            <a:avLst/>
          </a:prstGeom>
          <a:noFill/>
          <a:ln/>
        </p:spPr>
        <p:txBody>
          <a:bodyPr wrap="square" lIns="0" tIns="0" rIns="0" bIns="0" rtlCol="0" anchor="t"/>
          <a:lstStyle/>
          <a:p>
            <a:pPr indent="0" marL="0">
              <a:buNone/>
            </a:pPr>
            <a:r>
              <a:rPr lang="en-US" sz="1300" b="1" dirty="0">
                <a:solidFill>
                  <a:schemeClr val="accent5"/>
                </a:solidFill>
              </a:rPr>
              <a:t>Si algo falla: </a:t>
            </a:r>
            <a:pPr indent="0" marL="0">
              <a:buNone/>
            </a:pPr>
            <a:r>
              <a:rPr lang="en-US" sz="1300" dirty="0">
                <a:solidFill>
                  <a:schemeClr val="bg1"/>
                </a:solidFill>
              </a:rPr>
              <a:t>401 NO_AUTORIZADO y no se llama a la IA. La sesión se comprueba antes que la entrada.</a:t>
            </a:r>
            <a:endParaRPr lang="en-US" sz="1300" dirty="0"/>
          </a:p>
        </p:txBody>
      </p:sp>
      <p:sp>
        <p:nvSpPr>
          <p:cNvPr id="33" name="card522"/>
          <p:cNvSpPr/>
          <p:nvPr/>
        </p:nvSpPr>
        <p:spPr>
          <a:xfrm>
            <a:off x="6263640" y="3108960"/>
            <a:ext cx="5394960" cy="2926080"/>
          </a:xfrm>
          <a:prstGeom prst="roundRect">
            <a:avLst>
              <a:gd name="adj" fmla="val 3750"/>
            </a:avLst>
          </a:prstGeom>
          <a:solidFill>
            <a:schemeClr val="tx2"/>
          </a:solidFill>
          <a:ln w="9525">
            <a:solidFill>
              <a:schemeClr val="bg2">
                <a:alpha val="28000"/>
              </a:schemeClr>
            </a:solidFill>
            <a:prstDash val="solid"/>
          </a:ln>
        </p:spPr>
      </p:sp>
      <p:sp>
        <p:nvSpPr>
          <p:cNvPr id="34" name="txt523"/>
          <p:cNvSpPr txBox="1"/>
          <p:nvPr/>
        </p:nvSpPr>
        <p:spPr>
          <a:xfrm>
            <a:off x="6537960" y="3273552"/>
            <a:ext cx="4846320" cy="365760"/>
          </a:xfrm>
          <a:prstGeom prst="rect">
            <a:avLst/>
          </a:prstGeom>
          <a:noFill/>
          <a:ln/>
        </p:spPr>
        <p:txBody>
          <a:bodyPr wrap="square" lIns="0" tIns="0" rIns="0" bIns="0" rtlCol="0" anchor="t"/>
          <a:lstStyle/>
          <a:p>
            <a:pPr indent="0" marL="0">
              <a:buNone/>
            </a:pPr>
            <a:r>
              <a:rPr lang="en-US" sz="1800" b="1" dirty="0">
                <a:solidFill>
                  <a:schemeClr val="accent1"/>
                </a:solidFill>
              </a:rPr>
              <a:t>Lo que no hacemos</a:t>
            </a:r>
            <a:endParaRPr lang="en-US" sz="1800" dirty="0"/>
          </a:p>
        </p:txBody>
      </p:sp>
      <p:sp>
        <p:nvSpPr>
          <p:cNvPr id="35" name="txt524"/>
          <p:cNvSpPr txBox="1"/>
          <p:nvPr/>
        </p:nvSpPr>
        <p:spPr>
          <a:xfrm>
            <a:off x="6537960" y="3749040"/>
            <a:ext cx="4892040" cy="21945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bg1"/>
                </a:solidFill>
              </a:rPr>
              <a:t>Nada de tablas de usuarios, roles ni perfiles.</a:t>
            </a:r>
            <a:endParaRPr lang="en-US" sz="1400" dirty="0"/>
          </a:p>
          <a:p>
            <a:pPr marL="177800" indent="-177800">
              <a:spcAft>
                <a:spcPts val="700"/>
              </a:spcAft>
              <a:buSzPct val="100000"/>
              <a:buChar char="•"/>
            </a:pPr>
            <a:r>
              <a:rPr lang="en-US" sz="1400" dirty="0">
                <a:solidFill>
                  <a:schemeClr val="bg1"/>
                </a:solidFill>
              </a:rPr>
              <a:t>No guardamos peticiones ni resultados en la sesión.</a:t>
            </a:r>
            <a:endParaRPr lang="en-US" sz="1400" dirty="0"/>
          </a:p>
          <a:p>
            <a:pPr marL="177800" indent="-177800">
              <a:spcAft>
                <a:spcPts val="700"/>
              </a:spcAft>
              <a:buSzPct val="100000"/>
              <a:buChar char="•"/>
            </a:pPr>
            <a:r>
              <a:rPr lang="en-US" sz="1400" dirty="0">
                <a:solidFill>
                  <a:schemeClr val="bg1"/>
                </a:solidFill>
              </a:rPr>
              <a:t>Sin clave secreta de Clerk: en el frontend solo va la clave publishable.</a:t>
            </a:r>
            <a:endParaRPr lang="en-US" sz="1400" dirty="0"/>
          </a:p>
          <a:p>
            <a:pPr marL="177800" indent="-177800">
              <a:spcAft>
                <a:spcPts val="700"/>
              </a:spcAft>
              <a:buSzPct val="100000"/>
              <a:buChar char="•"/>
            </a:pPr>
            <a:r>
              <a:rPr lang="en-US" sz="1400" dirty="0">
                <a:solidFill>
                  <a:schemeClr val="bg1"/>
                </a:solidFill>
              </a:rPr>
              <a:t>Ocultar el botón no protege: el backend rechaza la llamada directa sin token (PR-21).</a:t>
            </a:r>
            <a:endParaRPr lang="en-US" sz="14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Pruebas automáticas con mocks</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PYTEST</a:t>
            </a:r>
            <a:endParaRPr lang="en-US" sz="1200" dirty="0"/>
          </a:p>
        </p:txBody>
      </p:sp>
      <p:sp>
        <p:nvSpPr>
          <p:cNvPr id="4" name="presenta525"/>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526"/>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sp>
        <p:nvSpPr>
          <p:cNvPr id="6" name="card527"/>
          <p:cNvSpPr/>
          <p:nvPr/>
        </p:nvSpPr>
        <p:spPr>
          <a:xfrm>
            <a:off x="548640" y="1371600"/>
            <a:ext cx="3566160" cy="1234440"/>
          </a:xfrm>
          <a:prstGeom prst="roundRect">
            <a:avLst>
              <a:gd name="adj" fmla="val 8889"/>
            </a:avLst>
          </a:prstGeom>
          <a:solidFill>
            <a:schemeClr val="tx2"/>
          </a:solidFill>
          <a:ln w="9525">
            <a:solidFill>
              <a:schemeClr val="bg2">
                <a:alpha val="28000"/>
              </a:schemeClr>
            </a:solidFill>
            <a:prstDash val="solid"/>
          </a:ln>
        </p:spPr>
      </p:sp>
      <p:sp>
        <p:nvSpPr>
          <p:cNvPr id="7" name="txt528"/>
          <p:cNvSpPr txBox="1"/>
          <p:nvPr/>
        </p:nvSpPr>
        <p:spPr>
          <a:xfrm>
            <a:off x="777240" y="1481328"/>
            <a:ext cx="3108960" cy="678942"/>
          </a:xfrm>
          <a:prstGeom prst="rect">
            <a:avLst/>
          </a:prstGeom>
          <a:noFill/>
          <a:ln/>
        </p:spPr>
        <p:txBody>
          <a:bodyPr wrap="square" lIns="0" tIns="0" rIns="0" bIns="0" rtlCol="0" anchor="ctr"/>
          <a:lstStyle/>
          <a:p>
            <a:pPr indent="0" marL="0">
              <a:buNone/>
            </a:pPr>
            <a:r>
              <a:rPr lang="en-US" sz="3400" b="1" dirty="0">
                <a:solidFill>
                  <a:schemeClr val="accent1"/>
                </a:solidFill>
              </a:rPr>
              <a:t>12</a:t>
            </a:r>
            <a:endParaRPr lang="en-US" sz="3400" dirty="0"/>
          </a:p>
        </p:txBody>
      </p:sp>
      <p:sp>
        <p:nvSpPr>
          <p:cNvPr id="8" name="txt529"/>
          <p:cNvSpPr txBox="1"/>
          <p:nvPr/>
        </p:nvSpPr>
        <p:spPr>
          <a:xfrm>
            <a:off x="777240" y="2112264"/>
            <a:ext cx="3108960" cy="444398"/>
          </a:xfrm>
          <a:prstGeom prst="rect">
            <a:avLst/>
          </a:prstGeom>
          <a:noFill/>
          <a:ln/>
        </p:spPr>
        <p:txBody>
          <a:bodyPr wrap="square" lIns="0" tIns="0" rIns="0" bIns="0" rtlCol="0" anchor="t"/>
          <a:lstStyle/>
          <a:p>
            <a:pPr indent="0" marL="0">
              <a:buNone/>
            </a:pPr>
            <a:r>
              <a:rPr lang="en-US" sz="1300" dirty="0">
                <a:solidFill>
                  <a:schemeClr val="bg2"/>
                </a:solidFill>
              </a:rPr>
              <a:t>pruebas en la App 1 (13/10)</a:t>
            </a:r>
            <a:endParaRPr lang="en-US" sz="1300" dirty="0"/>
          </a:p>
        </p:txBody>
      </p:sp>
      <p:sp>
        <p:nvSpPr>
          <p:cNvPr id="9" name="card530"/>
          <p:cNvSpPr/>
          <p:nvPr/>
        </p:nvSpPr>
        <p:spPr>
          <a:xfrm>
            <a:off x="4315968" y="1371600"/>
            <a:ext cx="3566160" cy="1234440"/>
          </a:xfrm>
          <a:prstGeom prst="roundRect">
            <a:avLst>
              <a:gd name="adj" fmla="val 8889"/>
            </a:avLst>
          </a:prstGeom>
          <a:solidFill>
            <a:schemeClr val="tx2"/>
          </a:solidFill>
          <a:ln w="9525">
            <a:solidFill>
              <a:schemeClr val="bg2">
                <a:alpha val="28000"/>
              </a:schemeClr>
            </a:solidFill>
            <a:prstDash val="solid"/>
          </a:ln>
        </p:spPr>
      </p:sp>
      <p:sp>
        <p:nvSpPr>
          <p:cNvPr id="10" name="txt531"/>
          <p:cNvSpPr txBox="1"/>
          <p:nvPr/>
        </p:nvSpPr>
        <p:spPr>
          <a:xfrm>
            <a:off x="4544568" y="1481328"/>
            <a:ext cx="3108960" cy="678942"/>
          </a:xfrm>
          <a:prstGeom prst="rect">
            <a:avLst/>
          </a:prstGeom>
          <a:noFill/>
          <a:ln/>
        </p:spPr>
        <p:txBody>
          <a:bodyPr wrap="square" lIns="0" tIns="0" rIns="0" bIns="0" rtlCol="0" anchor="ctr"/>
          <a:lstStyle/>
          <a:p>
            <a:pPr indent="0" marL="0">
              <a:buNone/>
            </a:pPr>
            <a:r>
              <a:rPr lang="en-US" sz="3400" b="1" dirty="0">
                <a:solidFill>
                  <a:schemeClr val="accent2"/>
                </a:solidFill>
              </a:rPr>
              <a:t>59</a:t>
            </a:r>
            <a:endParaRPr lang="en-US" sz="3400" dirty="0"/>
          </a:p>
        </p:txBody>
      </p:sp>
      <p:sp>
        <p:nvSpPr>
          <p:cNvPr id="11" name="txt532"/>
          <p:cNvSpPr txBox="1"/>
          <p:nvPr/>
        </p:nvSpPr>
        <p:spPr>
          <a:xfrm>
            <a:off x="4544568" y="2112264"/>
            <a:ext cx="3108960" cy="444398"/>
          </a:xfrm>
          <a:prstGeom prst="rect">
            <a:avLst/>
          </a:prstGeom>
          <a:noFill/>
          <a:ln/>
        </p:spPr>
        <p:txBody>
          <a:bodyPr wrap="square" lIns="0" tIns="0" rIns="0" bIns="0" rtlCol="0" anchor="t"/>
          <a:lstStyle/>
          <a:p>
            <a:pPr indent="0" marL="0">
              <a:buNone/>
            </a:pPr>
            <a:r>
              <a:rPr lang="en-US" sz="1300" dirty="0">
                <a:solidFill>
                  <a:schemeClr val="bg2"/>
                </a:solidFill>
              </a:rPr>
              <a:t>pruebas en la App 2 (27/10)</a:t>
            </a:r>
            <a:endParaRPr lang="en-US" sz="1300" dirty="0"/>
          </a:p>
        </p:txBody>
      </p:sp>
      <p:sp>
        <p:nvSpPr>
          <p:cNvPr id="12" name="card533"/>
          <p:cNvSpPr/>
          <p:nvPr/>
        </p:nvSpPr>
        <p:spPr>
          <a:xfrm>
            <a:off x="8092440" y="1371600"/>
            <a:ext cx="3566160" cy="1234440"/>
          </a:xfrm>
          <a:prstGeom prst="roundRect">
            <a:avLst>
              <a:gd name="adj" fmla="val 8889"/>
            </a:avLst>
          </a:prstGeom>
          <a:solidFill>
            <a:schemeClr val="tx2"/>
          </a:solidFill>
          <a:ln w="9525">
            <a:solidFill>
              <a:schemeClr val="bg2">
                <a:alpha val="28000"/>
              </a:schemeClr>
            </a:solidFill>
            <a:prstDash val="solid"/>
          </a:ln>
        </p:spPr>
      </p:sp>
      <p:sp>
        <p:nvSpPr>
          <p:cNvPr id="13" name="txt534"/>
          <p:cNvSpPr txBox="1"/>
          <p:nvPr/>
        </p:nvSpPr>
        <p:spPr>
          <a:xfrm>
            <a:off x="8321040" y="1481328"/>
            <a:ext cx="3108960" cy="678942"/>
          </a:xfrm>
          <a:prstGeom prst="rect">
            <a:avLst/>
          </a:prstGeom>
          <a:noFill/>
          <a:ln/>
        </p:spPr>
        <p:txBody>
          <a:bodyPr wrap="square" lIns="0" tIns="0" rIns="0" bIns="0" rtlCol="0" anchor="ctr"/>
          <a:lstStyle/>
          <a:p>
            <a:pPr indent="0" marL="0">
              <a:buNone/>
            </a:pPr>
            <a:r>
              <a:rPr lang="en-US" sz="3400" b="1" dirty="0">
                <a:solidFill>
                  <a:schemeClr val="accent6"/>
                </a:solidFill>
              </a:rPr>
              <a:t>0</a:t>
            </a:r>
            <a:endParaRPr lang="en-US" sz="3400" dirty="0"/>
          </a:p>
        </p:txBody>
      </p:sp>
      <p:sp>
        <p:nvSpPr>
          <p:cNvPr id="14" name="txt535"/>
          <p:cNvSpPr txBox="1"/>
          <p:nvPr/>
        </p:nvSpPr>
        <p:spPr>
          <a:xfrm>
            <a:off x="8321040" y="2112264"/>
            <a:ext cx="3108960" cy="444398"/>
          </a:xfrm>
          <a:prstGeom prst="rect">
            <a:avLst/>
          </a:prstGeom>
          <a:noFill/>
          <a:ln/>
        </p:spPr>
        <p:txBody>
          <a:bodyPr wrap="square" lIns="0" tIns="0" rIns="0" bIns="0" rtlCol="0" anchor="t"/>
          <a:lstStyle/>
          <a:p>
            <a:pPr indent="0" marL="0">
              <a:buNone/>
            </a:pPr>
            <a:r>
              <a:rPr lang="en-US" sz="1300" dirty="0">
                <a:solidFill>
                  <a:schemeClr val="bg2"/>
                </a:solidFill>
              </a:rPr>
              <a:t>llamadas a la IA real: se simulan la IA y Clerk</a:t>
            </a:r>
            <a:endParaRPr lang="en-US" sz="1300" dirty="0"/>
          </a:p>
        </p:txBody>
      </p:sp>
      <p:sp>
        <p:nvSpPr>
          <p:cNvPr id="15" name="card536"/>
          <p:cNvSpPr/>
          <p:nvPr/>
        </p:nvSpPr>
        <p:spPr>
          <a:xfrm>
            <a:off x="548640" y="2788920"/>
            <a:ext cx="5486400" cy="3246120"/>
          </a:xfrm>
          <a:prstGeom prst="roundRect">
            <a:avLst>
              <a:gd name="adj" fmla="val 3380"/>
            </a:avLst>
          </a:prstGeom>
          <a:solidFill>
            <a:schemeClr val="tx2"/>
          </a:solidFill>
          <a:ln w="9525">
            <a:solidFill>
              <a:schemeClr val="bg2">
                <a:alpha val="28000"/>
              </a:schemeClr>
            </a:solidFill>
            <a:prstDash val="solid"/>
          </a:ln>
        </p:spPr>
      </p:sp>
      <p:sp>
        <p:nvSpPr>
          <p:cNvPr id="16" name="txt537"/>
          <p:cNvSpPr txBox="1"/>
          <p:nvPr/>
        </p:nvSpPr>
        <p:spPr>
          <a:xfrm>
            <a:off x="822960" y="2944368"/>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Qué comprueban</a:t>
            </a:r>
            <a:endParaRPr lang="en-US" sz="1800" dirty="0"/>
          </a:p>
        </p:txBody>
      </p:sp>
      <p:sp>
        <p:nvSpPr>
          <p:cNvPr id="17" name="txt538"/>
          <p:cNvSpPr txBox="1"/>
          <p:nvPr/>
        </p:nvSpPr>
        <p:spPr>
          <a:xfrm>
            <a:off x="822960" y="3401568"/>
            <a:ext cx="4983480" cy="256032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chemeClr val="bg1"/>
                </a:solidFill>
              </a:rPr>
              <a:t>Entrada válida: </a:t>
            </a:r>
            <a:pPr indent="0" marL="0">
              <a:spcAft>
                <a:spcPts val="600"/>
              </a:spcAft>
              <a:buNone/>
            </a:pPr>
            <a:r>
              <a:rPr lang="en-US" sz="1300" dirty="0">
                <a:solidFill>
                  <a:schemeClr val="bg2"/>
                </a:solidFill>
              </a:rPr>
              <a:t>200 y una sola llamada al mock.</a:t>
            </a:r>
            <a:endParaRPr lang="en-US" sz="1400" dirty="0"/>
          </a:p>
          <a:p>
            <a:pPr marL="177800" indent="-177800">
              <a:spcAft>
                <a:spcPts val="600"/>
              </a:spcAft>
              <a:buSzPct val="100000"/>
              <a:buChar char="•"/>
            </a:pPr>
            <a:r>
              <a:rPr lang="en-US" sz="1300" b="1" dirty="0">
                <a:solidFill>
                  <a:schemeClr val="bg1"/>
                </a:solidFill>
              </a:rPr>
              <a:t>Vacío, espacios o 501 caracteres: </a:t>
            </a:r>
            <a:pPr indent="0" marL="0">
              <a:spcAft>
                <a:spcPts val="600"/>
              </a:spcAft>
              <a:buNone/>
            </a:pPr>
            <a:r>
              <a:rPr lang="en-US" sz="1300" dirty="0">
                <a:solidFill>
                  <a:schemeClr val="bg2"/>
                </a:solidFill>
              </a:rPr>
              <a:t>422 sin llamar a la IA (500 pasa).</a:t>
            </a:r>
            <a:endParaRPr lang="en-US" sz="1400" dirty="0"/>
          </a:p>
          <a:p>
            <a:pPr marL="177800" indent="-177800">
              <a:spcAft>
                <a:spcPts val="600"/>
              </a:spcAft>
              <a:buSzPct val="100000"/>
              <a:buChar char="•"/>
            </a:pPr>
            <a:r>
              <a:rPr lang="en-US" sz="1300" b="1" dirty="0">
                <a:solidFill>
                  <a:schemeClr val="bg1"/>
                </a:solidFill>
              </a:rPr>
              <a:t>IA lenta, caída o rota: </a:t>
            </a:r>
            <a:pPr indent="0" marL="0">
              <a:spcAft>
                <a:spcPts val="600"/>
              </a:spcAft>
              <a:buNone/>
            </a:pPr>
            <a:r>
              <a:rPr lang="en-US" sz="1300" dirty="0">
                <a:solidFill>
                  <a:schemeClr val="bg2"/>
                </a:solidFill>
              </a:rPr>
              <a:t>504 TIMEOUT o 502.</a:t>
            </a:r>
            <a:endParaRPr lang="en-US" sz="1400" dirty="0"/>
          </a:p>
          <a:p>
            <a:pPr marL="177800" indent="-177800">
              <a:spcAft>
                <a:spcPts val="600"/>
              </a:spcAft>
              <a:buSzPct val="100000"/>
              <a:buChar char="•"/>
            </a:pPr>
            <a:r>
              <a:rPr lang="en-US" sz="1300" b="1" dirty="0">
                <a:solidFill>
                  <a:schemeClr val="bg1"/>
                </a:solidFill>
              </a:rPr>
              <a:t>App 2 · sin token, inválido o caducado: </a:t>
            </a:r>
            <a:pPr indent="0" marL="0">
              <a:spcAft>
                <a:spcPts val="600"/>
              </a:spcAft>
              <a:buNone/>
            </a:pPr>
            <a:r>
              <a:rPr lang="en-US" sz="1300" dirty="0">
                <a:solidFill>
                  <a:schemeClr val="bg2"/>
                </a:solidFill>
              </a:rPr>
              <a:t>401 sin llamar a la IA.</a:t>
            </a:r>
            <a:endParaRPr lang="en-US" sz="1400" dirty="0"/>
          </a:p>
          <a:p>
            <a:pPr marL="177800" indent="-177800">
              <a:spcAft>
                <a:spcPts val="600"/>
              </a:spcAft>
              <a:buSzPct val="100000"/>
              <a:buChar char="•"/>
            </a:pPr>
            <a:r>
              <a:rPr lang="en-US" sz="1300" b="1" dirty="0">
                <a:solidFill>
                  <a:schemeClr val="bg1"/>
                </a:solidFill>
              </a:rPr>
              <a:t>App 2 · verificador real de Clerk </a:t>
            </a:r>
            <a:pPr indent="0" marL="0">
              <a:spcAft>
                <a:spcPts val="600"/>
              </a:spcAft>
              <a:buNone/>
            </a:pPr>
            <a:r>
              <a:rPr lang="en-US" sz="1300" dirty="0">
                <a:solidFill>
                  <a:schemeClr val="bg2"/>
                </a:solidFill>
              </a:rPr>
              <a:t>con claves de prueba y cliente de Gemini simulado.</a:t>
            </a:r>
            <a:endParaRPr lang="en-US" sz="1400" dirty="0"/>
          </a:p>
        </p:txBody>
      </p:sp>
      <p:sp>
        <p:nvSpPr>
          <p:cNvPr id="18" name="card539"/>
          <p:cNvSpPr/>
          <p:nvPr/>
        </p:nvSpPr>
        <p:spPr>
          <a:xfrm>
            <a:off x="6263640" y="2788920"/>
            <a:ext cx="5394960" cy="3246120"/>
          </a:xfrm>
          <a:prstGeom prst="roundRect">
            <a:avLst>
              <a:gd name="adj" fmla="val 3380"/>
            </a:avLst>
          </a:prstGeom>
          <a:solidFill>
            <a:schemeClr val="tx2"/>
          </a:solidFill>
          <a:ln w="9525">
            <a:solidFill>
              <a:schemeClr val="bg2">
                <a:alpha val="28000"/>
              </a:schemeClr>
            </a:solidFill>
            <a:prstDash val="solid"/>
          </a:ln>
        </p:spPr>
      </p:sp>
      <p:pic>
        <p:nvPicPr>
          <p:cNvPr id="19" name="capturaPytest" descr="Ejecución de pytest con los 12 tests de la App 1 en verde">    </p:cNvPr>
          <p:cNvPicPr>
            <a:picLocks noChangeAspect="1"/>
          </p:cNvPicPr>
          <p:nvPr/>
        </p:nvPicPr>
        <p:blipFill>
          <a:blip r:embed="rId1"/>
          <a:stretch>
            <a:fillRect/>
          </a:stretch>
        </p:blipFill>
        <p:spPr>
          <a:xfrm>
            <a:off x="6446520" y="2971800"/>
            <a:ext cx="5029200" cy="920523"/>
          </a:xfrm>
          <a:prstGeom prst="rect">
            <a:avLst/>
          </a:prstGeom>
        </p:spPr>
      </p:pic>
      <p:sp>
        <p:nvSpPr>
          <p:cNvPr id="20" name="txt540"/>
          <p:cNvSpPr txBox="1"/>
          <p:nvPr/>
        </p:nvSpPr>
        <p:spPr>
          <a:xfrm>
            <a:off x="6446520" y="3941064"/>
            <a:ext cx="5029200" cy="237744"/>
          </a:xfrm>
          <a:prstGeom prst="rect">
            <a:avLst/>
          </a:prstGeom>
          <a:noFill/>
          <a:ln/>
        </p:spPr>
        <p:txBody>
          <a:bodyPr wrap="square" lIns="0" tIns="0" rIns="0" bIns="0" rtlCol="0" anchor="t"/>
          <a:lstStyle/>
          <a:p>
            <a:pPr indent="0" marL="0">
              <a:buNone/>
            </a:pPr>
            <a:r>
              <a:rPr lang="en-US" sz="1000" dirty="0">
                <a:solidFill>
                  <a:schemeClr val="bg2"/>
                </a:solidFill>
              </a:rPr>
              <a:t>pytest de la App 1: 12 passed</a:t>
            </a:r>
            <a:endParaRPr lang="en-US" sz="1000" dirty="0"/>
          </a:p>
        </p:txBody>
      </p:sp>
      <p:sp>
        <p:nvSpPr>
          <p:cNvPr id="21" name="txt541"/>
          <p:cNvSpPr txBox="1"/>
          <p:nvPr/>
        </p:nvSpPr>
        <p:spPr>
          <a:xfrm>
            <a:off x="6446520" y="4297680"/>
            <a:ext cx="5029200" cy="777240"/>
          </a:xfrm>
          <a:prstGeom prst="rect">
            <a:avLst/>
          </a:prstGeom>
          <a:noFill/>
          <a:ln/>
        </p:spPr>
        <p:txBody>
          <a:bodyPr wrap="square" lIns="0" tIns="0" rIns="0" bIns="0" rtlCol="0" anchor="t"/>
          <a:lstStyle/>
          <a:p>
            <a:pPr indent="0" marL="0">
              <a:buNone/>
            </a:pPr>
            <a:r>
              <a:rPr lang="en-US" sz="1300" b="1" dirty="0">
                <a:solidFill>
                  <a:schemeClr val="bg1"/>
                </a:solidFill>
              </a:rPr>
              <a:t>Pruebas manuales PR-13 a PR-23: </a:t>
            </a:r>
            <a:pPr indent="0" marL="0">
              <a:buNone/>
            </a:pPr>
            <a:r>
              <a:rPr lang="en-US" sz="1300" dirty="0">
                <a:solidFill>
                  <a:schemeClr val="bg2"/>
                </a:solidFill>
              </a:rPr>
              <a:t>IA real con sesión real, accesibilidad a 320 px y ninguna clave en el repo ni en su historial.</a:t>
            </a:r>
            <a:endParaRPr lang="en-US" sz="1300" dirty="0"/>
          </a:p>
        </p:txBody>
      </p:sp>
      <p:sp>
        <p:nvSpPr>
          <p:cNvPr id="22" name="txt542"/>
          <p:cNvSpPr txBox="1"/>
          <p:nvPr/>
        </p:nvSpPr>
        <p:spPr>
          <a:xfrm>
            <a:off x="6446520" y="5166360"/>
            <a:ext cx="5029200" cy="731520"/>
          </a:xfrm>
          <a:prstGeom prst="rect">
            <a:avLst/>
          </a:prstGeom>
          <a:noFill/>
          <a:ln/>
        </p:spPr>
        <p:txBody>
          <a:bodyPr wrap="square" lIns="0" tIns="0" rIns="0" bIns="0" rtlCol="0" anchor="t"/>
          <a:lstStyle/>
          <a:p>
            <a:pPr indent="0" marL="0">
              <a:buNone/>
            </a:pPr>
            <a:r>
              <a:rPr lang="en-US" sz="1300" b="1" dirty="0">
                <a:solidFill>
                  <a:schemeClr val="accent4"/>
                </a:solidFill>
              </a:rPr>
              <a:t>Lección: </a:t>
            </a:r>
            <a:pPr indent="0" marL="0">
              <a:buNone/>
            </a:pPr>
            <a:r>
              <a:rPr lang="en-US" sz="1300" dirty="0">
                <a:solidFill>
                  <a:schemeClr val="bg1"/>
                </a:solidFill>
              </a:rPr>
              <a:t>las 59 pruebas no vieron el fallo del .env. Hay que probar también la configuración real.</a:t>
            </a:r>
            <a:endParaRPr lang="en-US" sz="13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Despliegue en Vercel</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APP 1 Y APP 2</a:t>
            </a:r>
            <a:endParaRPr lang="en-US" sz="1200" dirty="0"/>
          </a:p>
        </p:txBody>
      </p:sp>
      <p:sp>
        <p:nvSpPr>
          <p:cNvPr id="4" name="presenta543"/>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544"/>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Jose Antonio Nieto</a:t>
            </a:r>
            <a:endParaRPr lang="en-US" sz="1100" dirty="0"/>
          </a:p>
        </p:txBody>
      </p:sp>
      <p:sp>
        <p:nvSpPr>
          <p:cNvPr id="6" name="card545"/>
          <p:cNvSpPr/>
          <p:nvPr/>
        </p:nvSpPr>
        <p:spPr>
          <a:xfrm>
            <a:off x="548640" y="1371600"/>
            <a:ext cx="5486400" cy="4160520"/>
          </a:xfrm>
          <a:prstGeom prst="roundRect">
            <a:avLst>
              <a:gd name="adj" fmla="val 2637"/>
            </a:avLst>
          </a:prstGeom>
          <a:solidFill>
            <a:schemeClr val="tx2"/>
          </a:solidFill>
          <a:ln w="9525">
            <a:solidFill>
              <a:schemeClr val="accent1">
                <a:alpha val="60000"/>
              </a:schemeClr>
            </a:solidFill>
            <a:prstDash val="solid"/>
          </a:ln>
        </p:spPr>
      </p:sp>
      <p:sp>
        <p:nvSpPr>
          <p:cNvPr id="7" name="txt546"/>
          <p:cNvSpPr txBox="1"/>
          <p:nvPr/>
        </p:nvSpPr>
        <p:spPr>
          <a:xfrm>
            <a:off x="822960" y="1508760"/>
            <a:ext cx="4937760" cy="594360"/>
          </a:xfrm>
          <a:prstGeom prst="rect">
            <a:avLst/>
          </a:prstGeom>
          <a:noFill/>
          <a:ln/>
        </p:spPr>
        <p:txBody>
          <a:bodyPr wrap="square" lIns="0" tIns="0" rIns="0" bIns="0" rtlCol="0" anchor="t"/>
          <a:lstStyle/>
          <a:p>
            <a:pPr indent="0" marL="0">
              <a:buNone/>
            </a:pPr>
            <a:r>
              <a:rPr lang="en-US" sz="1800" b="1" dirty="0">
                <a:solidFill>
                  <a:schemeClr val="accent1"/>
                </a:solidFill>
              </a:rPr>
              <a:t>App 1</a:t>
            </a:r>
            <a:endParaRPr lang="en-US" sz="1800" dirty="0"/>
          </a:p>
          <a:p>
            <a:pPr indent="0" marL="0">
              <a:buNone/>
            </a:pPr>
            <a:r>
              <a:rPr lang="en-US" sz="1200" dirty="0">
                <a:solidFill>
                  <a:schemeClr val="bg2"/>
                </a:solidFill>
                <a:latin typeface="Consolas" pitchFamily="34" charset="0"/>
                <a:ea typeface="Consolas" pitchFamily="34" charset="-122"/>
                <a:cs typeface="Consolas" pitchFamily="34" charset="-120"/>
              </a:rPr>
              <a:t>proyectowebia.vercel.app</a:t>
            </a:r>
            <a:endParaRPr lang="en-US" sz="1800" dirty="0"/>
          </a:p>
        </p:txBody>
      </p:sp>
      <p:sp>
        <p:nvSpPr>
          <p:cNvPr id="8" name="txt547"/>
          <p:cNvSpPr txBox="1"/>
          <p:nvPr/>
        </p:nvSpPr>
        <p:spPr>
          <a:xfrm>
            <a:off x="822960" y="2194560"/>
            <a:ext cx="4937760"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Un proyecto con dos servicios en vercel.json: frontend Vite y backend FastAPI.</a:t>
            </a:r>
            <a:endParaRPr lang="en-US" sz="1400" dirty="0"/>
          </a:p>
          <a:p>
            <a:pPr marL="177800" indent="-177800">
              <a:spcAft>
                <a:spcPts val="500"/>
              </a:spcAft>
              <a:buSzPct val="100000"/>
              <a:buChar char="•"/>
            </a:pPr>
            <a:r>
              <a:rPr lang="en-US" sz="1300" dirty="0">
                <a:solidFill>
                  <a:schemeClr val="bg1"/>
                </a:solidFill>
              </a:rPr>
              <a:t>/api/* se reescribe al backend: una sola URL y sin CORS.</a:t>
            </a:r>
            <a:endParaRPr lang="en-US" sz="1400" dirty="0"/>
          </a:p>
          <a:p>
            <a:pPr marL="177800" indent="-177800">
              <a:spcAft>
                <a:spcPts val="500"/>
              </a:spcAft>
              <a:buSzPct val="100000"/>
              <a:buChar char="•"/>
            </a:pPr>
            <a:r>
              <a:rPr lang="en-US" sz="1300" dirty="0">
                <a:solidFill>
                  <a:schemeClr val="bg1"/>
                </a:solidFill>
              </a:rPr>
              <a:t>Variables solo en Vercel: GEMINI_API_KEY, GEMINI_MODEL, MAX_TOKENS…</a:t>
            </a:r>
            <a:endParaRPr lang="en-US" sz="1400" dirty="0"/>
          </a:p>
        </p:txBody>
      </p:sp>
      <p:pic>
        <p:nvPicPr>
          <p:cNvPr id="9" name="img548" descr="Caso de error: 422 desde la URL pública">    </p:cNvPr>
          <p:cNvPicPr>
            <a:picLocks noChangeAspect="1"/>
          </p:cNvPicPr>
          <p:nvPr/>
        </p:nvPicPr>
        <p:blipFill>
          <a:blip r:embed="rId1"/>
          <a:stretch>
            <a:fillRect/>
          </a:stretch>
        </p:blipFill>
        <p:spPr>
          <a:xfrm>
            <a:off x="822960" y="3703320"/>
            <a:ext cx="4937760" cy="1515382"/>
          </a:xfrm>
          <a:prstGeom prst="rect">
            <a:avLst/>
          </a:prstGeom>
        </p:spPr>
      </p:pic>
      <p:sp>
        <p:nvSpPr>
          <p:cNvPr id="10" name="txt549"/>
          <p:cNvSpPr txBox="1"/>
          <p:nvPr/>
        </p:nvSpPr>
        <p:spPr>
          <a:xfrm>
            <a:off x="822960" y="5264422"/>
            <a:ext cx="4937760" cy="228600"/>
          </a:xfrm>
          <a:prstGeom prst="rect">
            <a:avLst/>
          </a:prstGeom>
          <a:noFill/>
          <a:ln/>
        </p:spPr>
        <p:txBody>
          <a:bodyPr wrap="square" lIns="0" tIns="0" rIns="0" bIns="0" rtlCol="0" anchor="t"/>
          <a:lstStyle/>
          <a:p>
            <a:pPr indent="0" marL="0">
              <a:buNone/>
            </a:pPr>
            <a:r>
              <a:rPr lang="en-US" sz="1000" dirty="0">
                <a:solidFill>
                  <a:schemeClr val="bg2"/>
                </a:solidFill>
              </a:rPr>
              <a:t>Caso de error: 422 desde la URL pública</a:t>
            </a:r>
            <a:endParaRPr lang="en-US" sz="1000" dirty="0"/>
          </a:p>
        </p:txBody>
      </p:sp>
      <p:sp>
        <p:nvSpPr>
          <p:cNvPr id="11" name="card550"/>
          <p:cNvSpPr/>
          <p:nvPr/>
        </p:nvSpPr>
        <p:spPr>
          <a:xfrm>
            <a:off x="6263640" y="1371600"/>
            <a:ext cx="5394960" cy="4160520"/>
          </a:xfrm>
          <a:prstGeom prst="roundRect">
            <a:avLst>
              <a:gd name="adj" fmla="val 2637"/>
            </a:avLst>
          </a:prstGeom>
          <a:solidFill>
            <a:schemeClr val="tx2"/>
          </a:solidFill>
          <a:ln w="9525">
            <a:solidFill>
              <a:schemeClr val="accent2">
                <a:alpha val="60000"/>
              </a:schemeClr>
            </a:solidFill>
            <a:prstDash val="solid"/>
          </a:ln>
        </p:spPr>
      </p:sp>
      <p:sp>
        <p:nvSpPr>
          <p:cNvPr id="12" name="txt551"/>
          <p:cNvSpPr txBox="1"/>
          <p:nvPr/>
        </p:nvSpPr>
        <p:spPr>
          <a:xfrm>
            <a:off x="6537960" y="1508760"/>
            <a:ext cx="4846320" cy="594360"/>
          </a:xfrm>
          <a:prstGeom prst="rect">
            <a:avLst/>
          </a:prstGeom>
          <a:noFill/>
          <a:ln/>
        </p:spPr>
        <p:txBody>
          <a:bodyPr wrap="square" lIns="0" tIns="0" rIns="0" bIns="0" rtlCol="0" anchor="t"/>
          <a:lstStyle/>
          <a:p>
            <a:pPr indent="0" marL="0">
              <a:buNone/>
            </a:pPr>
            <a:r>
              <a:rPr lang="en-US" sz="1800" b="1" dirty="0">
                <a:solidFill>
                  <a:schemeClr val="accent2"/>
                </a:solidFill>
              </a:rPr>
              <a:t>App 2</a:t>
            </a:r>
            <a:endParaRPr lang="en-US" sz="1800" dirty="0"/>
          </a:p>
          <a:p>
            <a:pPr indent="0" marL="0">
              <a:buNone/>
            </a:pPr>
            <a:r>
              <a:rPr lang="en-US" sz="1200" dirty="0">
                <a:solidFill>
                  <a:schemeClr val="bg2"/>
                </a:solidFill>
                <a:latin typeface="Consolas" pitchFamily="34" charset="0"/>
                <a:ea typeface="Consolas" pitchFamily="34" charset="-122"/>
                <a:cs typeface="Consolas" pitchFamily="34" charset="-120"/>
              </a:rPr>
              <a:t>musicfy-app2.vercel.app</a:t>
            </a:r>
            <a:endParaRPr lang="en-US" sz="1800" dirty="0"/>
          </a:p>
        </p:txBody>
      </p:sp>
      <p:sp>
        <p:nvSpPr>
          <p:cNvPr id="13" name="txt552"/>
          <p:cNvSpPr txBox="1"/>
          <p:nvPr/>
        </p:nvSpPr>
        <p:spPr>
          <a:xfrm>
            <a:off x="6537960" y="2194560"/>
            <a:ext cx="4846320"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Dos proyectos: musicfy-app2 (Vite) y musicfy-app2-api (FastAPI).</a:t>
            </a:r>
            <a:endParaRPr lang="en-US" sz="1400" dirty="0"/>
          </a:p>
          <a:p>
            <a:pPr marL="177800" indent="-177800">
              <a:spcAft>
                <a:spcPts val="500"/>
              </a:spcAft>
              <a:buSzPct val="100000"/>
              <a:buChar char="•"/>
            </a:pPr>
            <a:r>
              <a:rPr lang="en-US" sz="1300" dirty="0">
                <a:solidFill>
                  <a:schemeClr val="bg1"/>
                </a:solidFill>
              </a:rPr>
              <a:t>CORS con ALLOWED_ORIGINS, que también sirve para comprobar el origen del token.</a:t>
            </a:r>
            <a:endParaRPr lang="en-US" sz="1400" dirty="0"/>
          </a:p>
          <a:p>
            <a:pPr marL="177800" indent="-177800">
              <a:spcAft>
                <a:spcPts val="500"/>
              </a:spcAft>
              <a:buSzPct val="100000"/>
              <a:buChar char="•"/>
            </a:pPr>
            <a:r>
              <a:rPr lang="en-US" sz="1300" dirty="0">
                <a:solidFill>
                  <a:schemeClr val="bg1"/>
                </a:solidFill>
              </a:rPr>
              <a:t>Frontend: solo VITE_CLERK_PUBLISHABLE_KEY y VITE_API_URL.</a:t>
            </a:r>
            <a:endParaRPr lang="en-US" sz="1400" dirty="0"/>
          </a:p>
        </p:txBody>
      </p:sp>
      <p:pic>
        <p:nvPicPr>
          <p:cNvPr id="14" name="img553" descr="Caso de error: 401 sin token">    </p:cNvPr>
          <p:cNvPicPr>
            <a:picLocks noChangeAspect="1"/>
          </p:cNvPicPr>
          <p:nvPr/>
        </p:nvPicPr>
        <p:blipFill>
          <a:blip r:embed="rId2"/>
          <a:stretch>
            <a:fillRect/>
          </a:stretch>
        </p:blipFill>
        <p:spPr>
          <a:xfrm>
            <a:off x="6537960" y="3703320"/>
            <a:ext cx="3634740" cy="999553"/>
          </a:xfrm>
          <a:prstGeom prst="rect">
            <a:avLst/>
          </a:prstGeom>
        </p:spPr>
      </p:pic>
      <p:sp>
        <p:nvSpPr>
          <p:cNvPr id="15" name="txt554"/>
          <p:cNvSpPr txBox="1"/>
          <p:nvPr/>
        </p:nvSpPr>
        <p:spPr>
          <a:xfrm>
            <a:off x="6537960" y="4748593"/>
            <a:ext cx="4846320" cy="228600"/>
          </a:xfrm>
          <a:prstGeom prst="rect">
            <a:avLst/>
          </a:prstGeom>
          <a:noFill/>
          <a:ln/>
        </p:spPr>
        <p:txBody>
          <a:bodyPr wrap="square" lIns="0" tIns="0" rIns="0" bIns="0" rtlCol="0" anchor="t"/>
          <a:lstStyle/>
          <a:p>
            <a:pPr indent="0" marL="0">
              <a:buNone/>
            </a:pPr>
            <a:r>
              <a:rPr lang="en-US" sz="1000" dirty="0">
                <a:solidFill>
                  <a:schemeClr val="bg2"/>
                </a:solidFill>
              </a:rPr>
              <a:t>Caso de error: 401 sin token</a:t>
            </a:r>
            <a:endParaRPr lang="en-US" sz="1000" dirty="0"/>
          </a:p>
        </p:txBody>
      </p:sp>
      <p:sp>
        <p:nvSpPr>
          <p:cNvPr id="16" name="cambiar555"/>
          <p:cNvSpPr/>
          <p:nvPr/>
        </p:nvSpPr>
        <p:spPr>
          <a:xfrm>
            <a:off x="548640" y="5669280"/>
            <a:ext cx="11109960" cy="384048"/>
          </a:xfrm>
          <a:prstGeom prst="roundRect">
            <a:avLst>
              <a:gd name="adj" fmla="val 19048"/>
            </a:avLst>
          </a:prstGeom>
          <a:solidFill>
            <a:schemeClr val="accent4"/>
          </a:solidFill>
          <a:ln/>
        </p:spPr>
      </p:sp>
      <p:sp>
        <p:nvSpPr>
          <p:cNvPr id="17" name="txt556"/>
          <p:cNvSpPr txBox="1"/>
          <p:nvPr/>
        </p:nvSpPr>
        <p:spPr>
          <a:xfrm>
            <a:off x="685800" y="5669280"/>
            <a:ext cx="10835640" cy="384048"/>
          </a:xfrm>
          <a:prstGeom prst="rect">
            <a:avLst/>
          </a:prstGeom>
          <a:noFill/>
          <a:ln/>
        </p:spPr>
        <p:txBody>
          <a:bodyPr wrap="square" lIns="0" tIns="0" rIns="0" bIns="0" rtlCol="0" anchor="ctr"/>
          <a:lstStyle/>
          <a:p>
            <a:pPr indent="0" marL="0">
              <a:buNone/>
            </a:pPr>
            <a:r>
              <a:rPr lang="en-US" sz="1200" b="1" dirty="0">
                <a:solidFill>
                  <a:schemeClr val="tx1"/>
                </a:solidFill>
              </a:rPr>
              <a:t>⚠ CAMBIAR  </a:t>
            </a:r>
            <a:pPr indent="0" marL="0">
              <a:buNone/>
            </a:pPr>
            <a:r>
              <a:rPr lang="en-US" sz="1200" dirty="0">
                <a:solidFill>
                  <a:schemeClr val="tx1"/>
                </a:solidFill>
              </a:rPr>
              <a:t>añadir evidencia de Vercel CLI (vercel --version, vercel deploy): el enunciado la pide.</a:t>
            </a:r>
            <a:endParaRPr lang="en-US" sz="12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Docker y AWS EC2</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APP 2 EN CONTENEDORES</a:t>
            </a:r>
            <a:endParaRPr lang="en-US" sz="1200" dirty="0"/>
          </a:p>
        </p:txBody>
      </p:sp>
      <p:sp>
        <p:nvSpPr>
          <p:cNvPr id="4" name="presenta557"/>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558"/>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Mario Luna</a:t>
            </a:r>
            <a:endParaRPr lang="en-US" sz="1100" dirty="0"/>
          </a:p>
        </p:txBody>
      </p:sp>
      <p:sp>
        <p:nvSpPr>
          <p:cNvPr id="6" name="card559"/>
          <p:cNvSpPr/>
          <p:nvPr/>
        </p:nvSpPr>
        <p:spPr>
          <a:xfrm>
            <a:off x="548640" y="2377440"/>
            <a:ext cx="1691640" cy="1005840"/>
          </a:xfrm>
          <a:prstGeom prst="roundRect">
            <a:avLst>
              <a:gd name="adj" fmla="val 10909"/>
            </a:avLst>
          </a:prstGeom>
          <a:solidFill>
            <a:schemeClr val="tx2"/>
          </a:solidFill>
          <a:ln w="15875">
            <a:solidFill>
              <a:schemeClr val="bg1"/>
            </a:solidFill>
            <a:prstDash val="solid"/>
          </a:ln>
        </p:spPr>
      </p:sp>
      <p:sp>
        <p:nvSpPr>
          <p:cNvPr id="7" name="txt560"/>
          <p:cNvSpPr txBox="1"/>
          <p:nvPr/>
        </p:nvSpPr>
        <p:spPr>
          <a:xfrm>
            <a:off x="621792" y="2377440"/>
            <a:ext cx="1545336" cy="1005840"/>
          </a:xfrm>
          <a:prstGeom prst="rect">
            <a:avLst/>
          </a:prstGeom>
          <a:noFill/>
          <a:ln/>
        </p:spPr>
        <p:txBody>
          <a:bodyPr wrap="square" lIns="0" tIns="0" rIns="0" bIns="0" rtlCol="0" anchor="ctr"/>
          <a:lstStyle/>
          <a:p>
            <a:pPr algn="ctr" indent="0" marL="0">
              <a:buNone/>
            </a:pPr>
            <a:r>
              <a:rPr lang="en-US" sz="1400" b="1" dirty="0">
                <a:solidFill>
                  <a:schemeClr val="bg1"/>
                </a:solidFill>
              </a:rPr>
              <a:t>Navegador</a:t>
            </a:r>
            <a:endParaRPr lang="en-US" sz="1400" dirty="0"/>
          </a:p>
          <a:p>
            <a:pPr algn="ctr" indent="0" marL="0">
              <a:buNone/>
            </a:pPr>
            <a:r>
              <a:rPr lang="en-US" sz="1100" dirty="0">
                <a:solidFill>
                  <a:schemeClr val="bg2"/>
                </a:solidFill>
              </a:rPr>
              <a:t>otro dispositivo</a:t>
            </a:r>
            <a:endParaRPr lang="en-US" sz="1400" dirty="0"/>
          </a:p>
        </p:txBody>
      </p:sp>
      <p:sp>
        <p:nvSpPr>
          <p:cNvPr id="8" name="line561"/>
          <p:cNvSpPr/>
          <p:nvPr/>
        </p:nvSpPr>
        <p:spPr>
          <a:xfrm>
            <a:off x="2240280" y="2880360"/>
            <a:ext cx="548640" cy="0"/>
          </a:xfrm>
          <a:prstGeom prst="line">
            <a:avLst/>
          </a:prstGeom>
          <a:noFill/>
          <a:ln w="15875">
            <a:solidFill>
              <a:schemeClr val="accent3"/>
            </a:solidFill>
            <a:prstDash val="solid"/>
            <a:tailEnd type="triangle"/>
          </a:ln>
        </p:spPr>
      </p:sp>
      <p:sp>
        <p:nvSpPr>
          <p:cNvPr id="9" name="txt562"/>
          <p:cNvSpPr txBox="1"/>
          <p:nvPr/>
        </p:nvSpPr>
        <p:spPr>
          <a:xfrm>
            <a:off x="2194560" y="2587752"/>
            <a:ext cx="640080" cy="237744"/>
          </a:xfrm>
          <a:prstGeom prst="rect">
            <a:avLst/>
          </a:prstGeom>
          <a:noFill/>
          <a:ln/>
        </p:spPr>
        <p:txBody>
          <a:bodyPr wrap="square" lIns="0" tIns="0" rIns="0" bIns="0" rtlCol="0" anchor="t"/>
          <a:lstStyle/>
          <a:p>
            <a:pPr algn="ctr" indent="0" marL="0">
              <a:buNone/>
            </a:pPr>
            <a:r>
              <a:rPr lang="en-US" sz="1000" b="1" dirty="0">
                <a:solidFill>
                  <a:schemeClr val="accent3"/>
                </a:solidFill>
              </a:rPr>
              <a:t>HTTPS</a:t>
            </a:r>
            <a:endParaRPr lang="en-US" sz="1000" dirty="0"/>
          </a:p>
        </p:txBody>
      </p:sp>
      <p:sp>
        <p:nvSpPr>
          <p:cNvPr id="10" name="card563"/>
          <p:cNvSpPr/>
          <p:nvPr/>
        </p:nvSpPr>
        <p:spPr>
          <a:xfrm>
            <a:off x="2788920" y="1371600"/>
            <a:ext cx="4526280" cy="3337560"/>
          </a:xfrm>
          <a:prstGeom prst="roundRect">
            <a:avLst>
              <a:gd name="adj" fmla="val 3288"/>
            </a:avLst>
          </a:prstGeom>
          <a:solidFill>
            <a:schemeClr val="tx1"/>
          </a:solidFill>
          <a:ln w="9525">
            <a:solidFill>
              <a:schemeClr val="accent3"/>
            </a:solidFill>
            <a:prstDash val="dash"/>
          </a:ln>
        </p:spPr>
      </p:sp>
      <p:sp>
        <p:nvSpPr>
          <p:cNvPr id="11" name="txt564"/>
          <p:cNvSpPr txBox="1"/>
          <p:nvPr/>
        </p:nvSpPr>
        <p:spPr>
          <a:xfrm>
            <a:off x="2971800" y="1444752"/>
            <a:ext cx="4206240" cy="274320"/>
          </a:xfrm>
          <a:prstGeom prst="rect">
            <a:avLst/>
          </a:prstGeom>
          <a:noFill/>
          <a:ln/>
        </p:spPr>
        <p:txBody>
          <a:bodyPr wrap="square" lIns="0" tIns="0" rIns="0" bIns="0" rtlCol="0" anchor="t"/>
          <a:lstStyle/>
          <a:p>
            <a:pPr indent="0" marL="0">
              <a:buNone/>
            </a:pPr>
            <a:r>
              <a:rPr lang="en-US" sz="1200" b="1" dirty="0">
                <a:solidFill>
                  <a:schemeClr val="accent3"/>
                </a:solidFill>
              </a:rPr>
              <a:t>EC2 · 32-200-106-42.sslip.io · docker compose</a:t>
            </a:r>
            <a:endParaRPr lang="en-US" sz="1200" dirty="0"/>
          </a:p>
        </p:txBody>
      </p:sp>
      <p:sp>
        <p:nvSpPr>
          <p:cNvPr id="12" name="card565"/>
          <p:cNvSpPr/>
          <p:nvPr/>
        </p:nvSpPr>
        <p:spPr>
          <a:xfrm>
            <a:off x="3063240" y="1828800"/>
            <a:ext cx="3977640" cy="1097280"/>
          </a:xfrm>
          <a:prstGeom prst="roundRect">
            <a:avLst>
              <a:gd name="adj" fmla="val 10000"/>
            </a:avLst>
          </a:prstGeom>
          <a:solidFill>
            <a:schemeClr val="tx2"/>
          </a:solidFill>
          <a:ln w="15875">
            <a:solidFill>
              <a:schemeClr val="accent1"/>
            </a:solidFill>
            <a:prstDash val="solid"/>
          </a:ln>
        </p:spPr>
      </p:sp>
      <p:sp>
        <p:nvSpPr>
          <p:cNvPr id="13" name="txt566"/>
          <p:cNvSpPr txBox="1"/>
          <p:nvPr/>
        </p:nvSpPr>
        <p:spPr>
          <a:xfrm>
            <a:off x="3136392" y="1828800"/>
            <a:ext cx="3831336" cy="1097280"/>
          </a:xfrm>
          <a:prstGeom prst="rect">
            <a:avLst/>
          </a:prstGeom>
          <a:noFill/>
          <a:ln/>
        </p:spPr>
        <p:txBody>
          <a:bodyPr wrap="square" lIns="0" tIns="0" rIns="0" bIns="0" rtlCol="0" anchor="ctr"/>
          <a:lstStyle/>
          <a:p>
            <a:pPr algn="ctr" indent="0" marL="0">
              <a:buNone/>
            </a:pPr>
            <a:r>
              <a:rPr lang="en-US" sz="1400" b="1" dirty="0">
                <a:solidFill>
                  <a:schemeClr val="accent1"/>
                </a:solidFill>
              </a:rPr>
              <a:t>web · Caddy</a:t>
            </a:r>
            <a:endParaRPr lang="en-US" sz="1400" dirty="0"/>
          </a:p>
          <a:p>
            <a:pPr algn="ctr" indent="0" marL="0">
              <a:buNone/>
            </a:pPr>
            <a:r>
              <a:rPr lang="en-US" sz="1100" dirty="0">
                <a:solidFill>
                  <a:schemeClr val="bg2"/>
                </a:solidFill>
              </a:rPr>
              <a:t>sirve el frontend compilado, saca el certificado HTTPS y reenvía /api</a:t>
            </a:r>
            <a:endParaRPr lang="en-US" sz="1400" dirty="0"/>
          </a:p>
        </p:txBody>
      </p:sp>
      <p:sp>
        <p:nvSpPr>
          <p:cNvPr id="14" name="line567"/>
          <p:cNvSpPr/>
          <p:nvPr/>
        </p:nvSpPr>
        <p:spPr>
          <a:xfrm>
            <a:off x="5047488" y="2926080"/>
            <a:ext cx="0" cy="594360"/>
          </a:xfrm>
          <a:prstGeom prst="line">
            <a:avLst/>
          </a:prstGeom>
          <a:noFill/>
          <a:ln w="15875">
            <a:solidFill>
              <a:schemeClr val="bg2"/>
            </a:solidFill>
            <a:prstDash val="solid"/>
            <a:tailEnd type="triangle"/>
          </a:ln>
        </p:spPr>
      </p:sp>
      <p:sp>
        <p:nvSpPr>
          <p:cNvPr id="15" name="txt568"/>
          <p:cNvSpPr txBox="1"/>
          <p:nvPr/>
        </p:nvSpPr>
        <p:spPr>
          <a:xfrm>
            <a:off x="5166360" y="3090672"/>
            <a:ext cx="2103120" cy="237744"/>
          </a:xfrm>
          <a:prstGeom prst="rect">
            <a:avLst/>
          </a:prstGeom>
          <a:noFill/>
          <a:ln/>
        </p:spPr>
        <p:txBody>
          <a:bodyPr wrap="square" lIns="0" tIns="0" rIns="0" bIns="0" rtlCol="0" anchor="t"/>
          <a:lstStyle/>
          <a:p>
            <a:pPr indent="0" marL="0">
              <a:buNone/>
            </a:pPr>
            <a:r>
              <a:rPr lang="en-US" sz="1000" dirty="0">
                <a:solidFill>
                  <a:schemeClr val="bg2"/>
                </a:solidFill>
              </a:rPr>
              <a:t>/api → api:8000 (red interna)</a:t>
            </a:r>
            <a:endParaRPr lang="en-US" sz="1000" dirty="0"/>
          </a:p>
        </p:txBody>
      </p:sp>
      <p:sp>
        <p:nvSpPr>
          <p:cNvPr id="16" name="card569"/>
          <p:cNvSpPr/>
          <p:nvPr/>
        </p:nvSpPr>
        <p:spPr>
          <a:xfrm>
            <a:off x="3063240" y="3520440"/>
            <a:ext cx="3977640" cy="960120"/>
          </a:xfrm>
          <a:prstGeom prst="roundRect">
            <a:avLst>
              <a:gd name="adj" fmla="val 11429"/>
            </a:avLst>
          </a:prstGeom>
          <a:solidFill>
            <a:schemeClr val="tx2"/>
          </a:solidFill>
          <a:ln w="15875">
            <a:solidFill>
              <a:schemeClr val="bg1"/>
            </a:solidFill>
            <a:prstDash val="solid"/>
          </a:ln>
        </p:spPr>
      </p:sp>
      <p:sp>
        <p:nvSpPr>
          <p:cNvPr id="17" name="txt570"/>
          <p:cNvSpPr txBox="1"/>
          <p:nvPr/>
        </p:nvSpPr>
        <p:spPr>
          <a:xfrm>
            <a:off x="3136392" y="3520440"/>
            <a:ext cx="3831336" cy="960120"/>
          </a:xfrm>
          <a:prstGeom prst="rect">
            <a:avLst/>
          </a:prstGeom>
          <a:noFill/>
          <a:ln/>
        </p:spPr>
        <p:txBody>
          <a:bodyPr wrap="square" lIns="0" tIns="0" rIns="0" bIns="0" rtlCol="0" anchor="ctr"/>
          <a:lstStyle/>
          <a:p>
            <a:pPr algn="ctr" indent="0" marL="0">
              <a:buNone/>
            </a:pPr>
            <a:r>
              <a:rPr lang="en-US" sz="1400" b="1" dirty="0">
                <a:solidFill>
                  <a:schemeClr val="bg1"/>
                </a:solidFill>
              </a:rPr>
              <a:t>api · FastAPI + Uvicorn</a:t>
            </a:r>
            <a:endParaRPr lang="en-US" sz="1400" dirty="0"/>
          </a:p>
          <a:p>
            <a:pPr algn="ctr" indent="0" marL="0">
              <a:buNone/>
            </a:pPr>
            <a:r>
              <a:rPr lang="en-US" sz="1100" dirty="0">
                <a:solidFill>
                  <a:schemeClr val="bg2"/>
                </a:solidFill>
              </a:rPr>
              <a:t>puerto 8000 solo dentro de Docker</a:t>
            </a:r>
            <a:endParaRPr lang="en-US" sz="1400" dirty="0"/>
          </a:p>
        </p:txBody>
      </p:sp>
      <p:sp>
        <p:nvSpPr>
          <p:cNvPr id="18" name="card571"/>
          <p:cNvSpPr/>
          <p:nvPr/>
        </p:nvSpPr>
        <p:spPr>
          <a:xfrm>
            <a:off x="548640" y="4892040"/>
            <a:ext cx="3291840" cy="640080"/>
          </a:xfrm>
          <a:prstGeom prst="roundRect">
            <a:avLst>
              <a:gd name="adj" fmla="val 17143"/>
            </a:avLst>
          </a:prstGeom>
          <a:solidFill>
            <a:schemeClr val="tx2"/>
          </a:solidFill>
          <a:ln w="9525">
            <a:solidFill>
              <a:schemeClr val="bg2">
                <a:alpha val="28000"/>
              </a:schemeClr>
            </a:solidFill>
            <a:prstDash val="solid"/>
          </a:ln>
        </p:spPr>
      </p:sp>
      <p:sp>
        <p:nvSpPr>
          <p:cNvPr id="19" name="txt572"/>
          <p:cNvSpPr txBox="1"/>
          <p:nvPr/>
        </p:nvSpPr>
        <p:spPr>
          <a:xfrm>
            <a:off x="731520" y="4892040"/>
            <a:ext cx="3017520" cy="640080"/>
          </a:xfrm>
          <a:prstGeom prst="rect">
            <a:avLst/>
          </a:prstGeom>
          <a:noFill/>
          <a:ln/>
        </p:spPr>
        <p:txBody>
          <a:bodyPr wrap="square" lIns="0" tIns="0" rIns="0" bIns="0" rtlCol="0" anchor="ctr"/>
          <a:lstStyle/>
          <a:p>
            <a:pPr indent="0" marL="0">
              <a:buNone/>
            </a:pPr>
            <a:r>
              <a:rPr lang="en-US" sz="1200" b="1" dirty="0">
                <a:solidFill>
                  <a:schemeClr val="accent3"/>
                </a:solidFill>
              </a:rPr>
              <a:t>Puertos: </a:t>
            </a:r>
            <a:pPr indent="0" marL="0">
              <a:buNone/>
            </a:pPr>
            <a:r>
              <a:rPr lang="en-US" sz="1200" dirty="0">
                <a:solidFill>
                  <a:schemeClr val="bg2"/>
                </a:solidFill>
              </a:rPr>
              <a:t>22 solo desde nuestra IP · 80 y 443</a:t>
            </a:r>
            <a:endParaRPr lang="en-US" sz="1200" dirty="0"/>
          </a:p>
        </p:txBody>
      </p:sp>
      <p:sp>
        <p:nvSpPr>
          <p:cNvPr id="20" name="card573"/>
          <p:cNvSpPr/>
          <p:nvPr/>
        </p:nvSpPr>
        <p:spPr>
          <a:xfrm>
            <a:off x="4023360" y="4892040"/>
            <a:ext cx="3291840" cy="640080"/>
          </a:xfrm>
          <a:prstGeom prst="roundRect">
            <a:avLst>
              <a:gd name="adj" fmla="val 17143"/>
            </a:avLst>
          </a:prstGeom>
          <a:solidFill>
            <a:schemeClr val="tx2"/>
          </a:solidFill>
          <a:ln w="9525">
            <a:solidFill>
              <a:schemeClr val="bg2">
                <a:alpha val="28000"/>
              </a:schemeClr>
            </a:solidFill>
            <a:prstDash val="solid"/>
          </a:ln>
        </p:spPr>
      </p:sp>
      <p:sp>
        <p:nvSpPr>
          <p:cNvPr id="21" name="txt574"/>
          <p:cNvSpPr txBox="1"/>
          <p:nvPr/>
        </p:nvSpPr>
        <p:spPr>
          <a:xfrm>
            <a:off x="4206240" y="4892040"/>
            <a:ext cx="3017520" cy="640080"/>
          </a:xfrm>
          <a:prstGeom prst="rect">
            <a:avLst/>
          </a:prstGeom>
          <a:noFill/>
          <a:ln/>
        </p:spPr>
        <p:txBody>
          <a:bodyPr wrap="square" lIns="0" tIns="0" rIns="0" bIns="0" rtlCol="0" anchor="ctr"/>
          <a:lstStyle/>
          <a:p>
            <a:pPr indent="0" marL="0">
              <a:buNone/>
            </a:pPr>
            <a:r>
              <a:rPr lang="en-US" sz="1200" b="1" dirty="0">
                <a:solidFill>
                  <a:schemeClr val="accent3"/>
                </a:solidFill>
              </a:rPr>
              <a:t>Reinicio: </a:t>
            </a:r>
            <a:pPr indent="0" marL="0">
              <a:buNone/>
            </a:pPr>
            <a:r>
              <a:rPr lang="en-US" sz="1200" dirty="0">
                <a:solidFill>
                  <a:schemeClr val="bg2"/>
                </a:solidFill>
              </a:rPr>
              <a:t>restart: unless-stopped en los dos contenedores</a:t>
            </a:r>
            <a:endParaRPr lang="en-US" sz="1200" dirty="0"/>
          </a:p>
        </p:txBody>
      </p:sp>
      <p:sp>
        <p:nvSpPr>
          <p:cNvPr id="22" name="card575"/>
          <p:cNvSpPr/>
          <p:nvPr/>
        </p:nvSpPr>
        <p:spPr>
          <a:xfrm>
            <a:off x="7589520" y="1371600"/>
            <a:ext cx="4069080" cy="1783080"/>
          </a:xfrm>
          <a:prstGeom prst="roundRect">
            <a:avLst>
              <a:gd name="adj" fmla="val 4103"/>
            </a:avLst>
          </a:prstGeom>
          <a:solidFill>
            <a:schemeClr val="tx1"/>
          </a:solidFill>
          <a:ln w="9525">
            <a:solidFill>
              <a:schemeClr val="bg2">
                <a:alpha val="45000"/>
              </a:schemeClr>
            </a:solidFill>
            <a:prstDash val="solid"/>
          </a:ln>
        </p:spPr>
      </p:sp>
      <p:sp>
        <p:nvSpPr>
          <p:cNvPr id="23" name="txt576"/>
          <p:cNvSpPr txBox="1"/>
          <p:nvPr/>
        </p:nvSpPr>
        <p:spPr>
          <a:xfrm>
            <a:off x="7772400" y="1508760"/>
            <a:ext cx="3703320" cy="1508760"/>
          </a:xfrm>
          <a:prstGeom prst="rect">
            <a:avLst/>
          </a:prstGeom>
          <a:noFill/>
          <a:ln/>
        </p:spPr>
        <p:txBody>
          <a:bodyPr wrap="square" lIns="0" tIns="0" rIns="0" bIns="0" rtlCol="0" anchor="t"/>
          <a:lstStyle/>
          <a:p>
            <a:pPr indent="0" marL="0">
              <a:buNone/>
            </a:pPr>
            <a:r>
              <a:rPr lang="en-US" sz="1300" dirty="0">
                <a:solidFill>
                  <a:schemeClr val="bg1"/>
                </a:solidFill>
                <a:latin typeface="Consolas" pitchFamily="34" charset="0"/>
                <a:ea typeface="Consolas" pitchFamily="34" charset="-122"/>
                <a:cs typeface="Consolas" pitchFamily="34" charset="-120"/>
              </a:rPr>
              <a:t>docker compose build</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docker compose up -d</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docker compose ps</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docker compose logs</a:t>
            </a:r>
            <a:endParaRPr lang="en-US" sz="1300" dirty="0"/>
          </a:p>
          <a:p>
            <a:pPr indent="0" marL="0">
              <a:buNone/>
            </a:pPr>
            <a:r>
              <a:rPr lang="en-US" sz="1300" dirty="0">
                <a:solidFill>
                  <a:schemeClr val="bg1"/>
                </a:solidFill>
                <a:latin typeface="Consolas" pitchFamily="34" charset="0"/>
                <a:ea typeface="Consolas" pitchFamily="34" charset="-122"/>
                <a:cs typeface="Consolas" pitchFamily="34" charset="-120"/>
              </a:rPr>
              <a:t>docker compose down</a:t>
            </a:r>
            <a:endParaRPr lang="en-US" sz="1300" dirty="0"/>
          </a:p>
        </p:txBody>
      </p:sp>
      <p:sp>
        <p:nvSpPr>
          <p:cNvPr id="24" name="card577"/>
          <p:cNvSpPr/>
          <p:nvPr/>
        </p:nvSpPr>
        <p:spPr>
          <a:xfrm>
            <a:off x="7589520" y="3337560"/>
            <a:ext cx="4069080" cy="2194560"/>
          </a:xfrm>
          <a:prstGeom prst="roundRect">
            <a:avLst>
              <a:gd name="adj" fmla="val 5000"/>
            </a:avLst>
          </a:prstGeom>
          <a:solidFill>
            <a:schemeClr val="tx2"/>
          </a:solidFill>
          <a:ln w="9525">
            <a:solidFill>
              <a:schemeClr val="bg2">
                <a:alpha val="28000"/>
              </a:schemeClr>
            </a:solidFill>
            <a:prstDash val="solid"/>
          </a:ln>
        </p:spPr>
      </p:sp>
      <p:sp>
        <p:nvSpPr>
          <p:cNvPr id="25" name="txt578"/>
          <p:cNvSpPr txBox="1"/>
          <p:nvPr/>
        </p:nvSpPr>
        <p:spPr>
          <a:xfrm>
            <a:off x="7818120" y="347472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Secretos</a:t>
            </a:r>
            <a:endParaRPr lang="en-US" sz="1600" dirty="0"/>
          </a:p>
        </p:txBody>
      </p:sp>
      <p:sp>
        <p:nvSpPr>
          <p:cNvPr id="26" name="txt579"/>
          <p:cNvSpPr txBox="1"/>
          <p:nvPr/>
        </p:nvSpPr>
        <p:spPr>
          <a:xfrm>
            <a:off x="7818120" y="3886200"/>
            <a:ext cx="3657600" cy="16002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backend/.env en el servidor, fuera del repositorio.</a:t>
            </a:r>
            <a:endParaRPr lang="en-US" sz="1400" dirty="0"/>
          </a:p>
          <a:p>
            <a:pPr marL="177800" indent="-177800">
              <a:spcAft>
                <a:spcPts val="500"/>
              </a:spcAft>
              <a:buSzPct val="100000"/>
              <a:buChar char="•"/>
            </a:pPr>
            <a:r>
              <a:rPr lang="en-US" sz="1200" dirty="0">
                <a:solidFill>
                  <a:schemeClr val="bg1"/>
                </a:solidFill>
              </a:rPr>
              <a:t>.dockerignore excluye .env en las dos imágenes.</a:t>
            </a:r>
            <a:endParaRPr lang="en-US" sz="1400" dirty="0"/>
          </a:p>
          <a:p>
            <a:pPr marL="177800" indent="-177800">
              <a:spcAft>
                <a:spcPts val="500"/>
              </a:spcAft>
              <a:buSzPct val="100000"/>
              <a:buChar char="•"/>
            </a:pPr>
            <a:r>
              <a:rPr lang="en-US" sz="1200" dirty="0">
                <a:solidFill>
                  <a:schemeClr val="bg1"/>
                </a:solidFill>
              </a:rPr>
              <a:t>En la imagen del frontend solo entra la clave publishable de Clerk.</a:t>
            </a:r>
            <a:endParaRPr lang="en-US" sz="1400" dirty="0"/>
          </a:p>
        </p:txBody>
      </p:sp>
      <p:sp>
        <p:nvSpPr>
          <p:cNvPr id="27" name="cambiar580"/>
          <p:cNvSpPr/>
          <p:nvPr/>
        </p:nvSpPr>
        <p:spPr>
          <a:xfrm>
            <a:off x="548640" y="5669280"/>
            <a:ext cx="11109960" cy="384048"/>
          </a:xfrm>
          <a:prstGeom prst="roundRect">
            <a:avLst>
              <a:gd name="adj" fmla="val 19048"/>
            </a:avLst>
          </a:prstGeom>
          <a:solidFill>
            <a:schemeClr val="accent4"/>
          </a:solidFill>
          <a:ln/>
        </p:spPr>
      </p:sp>
      <p:sp>
        <p:nvSpPr>
          <p:cNvPr id="28" name="txt581"/>
          <p:cNvSpPr txBox="1"/>
          <p:nvPr/>
        </p:nvSpPr>
        <p:spPr>
          <a:xfrm>
            <a:off x="685800" y="5669280"/>
            <a:ext cx="10835640" cy="384048"/>
          </a:xfrm>
          <a:prstGeom prst="rect">
            <a:avLst/>
          </a:prstGeom>
          <a:noFill/>
          <a:ln/>
        </p:spPr>
        <p:txBody>
          <a:bodyPr wrap="square" lIns="0" tIns="0" rIns="0" bIns="0" rtlCol="0" anchor="ctr"/>
          <a:lstStyle/>
          <a:p>
            <a:pPr indent="0" marL="0">
              <a:buNone/>
            </a:pPr>
            <a:r>
              <a:rPr lang="en-US" sz="1200" b="1" dirty="0">
                <a:solidFill>
                  <a:schemeClr val="tx1"/>
                </a:solidFill>
              </a:rPr>
              <a:t>⚠ CAMBIAR  </a:t>
            </a:r>
            <a:pPr indent="0" marL="0">
              <a:buNone/>
            </a:pPr>
            <a:r>
              <a:rPr lang="en-US" sz="1200" dirty="0">
                <a:solidFill>
                  <a:schemeClr val="tx1"/>
                </a:solidFill>
              </a:rPr>
              <a:t>(Mario) región, tipo de instancia y captura de la demo con sesión iniciada. Comprobado el 28/10: HTTPS, /health 200 y 401 sin token.</a:t>
            </a:r>
            <a:endParaRPr lang="en-US" sz="12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Verificación en producción</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CHECKLIST</a:t>
            </a:r>
            <a:endParaRPr lang="en-US" sz="1200" dirty="0"/>
          </a:p>
        </p:txBody>
      </p:sp>
      <p:sp>
        <p:nvSpPr>
          <p:cNvPr id="4" name="presenta582"/>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583"/>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Mario Luna</a:t>
            </a:r>
            <a:endParaRPr lang="en-US" sz="1100" dirty="0"/>
          </a:p>
        </p:txBody>
      </p:sp>
      <p:sp>
        <p:nvSpPr>
          <p:cNvPr id="6" name="card584"/>
          <p:cNvSpPr/>
          <p:nvPr/>
        </p:nvSpPr>
        <p:spPr>
          <a:xfrm>
            <a:off x="548640" y="1371600"/>
            <a:ext cx="3611880" cy="2194560"/>
          </a:xfrm>
          <a:prstGeom prst="roundRect">
            <a:avLst>
              <a:gd name="adj" fmla="val 5000"/>
            </a:avLst>
          </a:prstGeom>
          <a:solidFill>
            <a:schemeClr val="tx2"/>
          </a:solidFill>
          <a:ln w="9525">
            <a:solidFill>
              <a:schemeClr val="accent6">
                <a:alpha val="40000"/>
              </a:schemeClr>
            </a:solidFill>
            <a:prstDash val="solid"/>
          </a:ln>
        </p:spPr>
      </p:sp>
      <p:sp>
        <p:nvSpPr>
          <p:cNvPr id="7" name="badge585"/>
          <p:cNvSpPr/>
          <p:nvPr/>
        </p:nvSpPr>
        <p:spPr>
          <a:xfrm>
            <a:off x="777240" y="1600200"/>
            <a:ext cx="438912" cy="411480"/>
          </a:xfrm>
          <a:prstGeom prst="roundRect">
            <a:avLst>
              <a:gd name="adj" fmla="val 17778"/>
            </a:avLst>
          </a:prstGeom>
          <a:solidFill>
            <a:schemeClr val="accent6"/>
          </a:solidFill>
          <a:ln/>
        </p:spPr>
      </p:sp>
      <p:sp>
        <p:nvSpPr>
          <p:cNvPr id="8" name="txt586"/>
          <p:cNvSpPr txBox="1"/>
          <p:nvPr/>
        </p:nvSpPr>
        <p:spPr>
          <a:xfrm>
            <a:off x="777240" y="1600200"/>
            <a:ext cx="438912" cy="4114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9" name="txt587"/>
          <p:cNvSpPr txBox="1"/>
          <p:nvPr/>
        </p:nvSpPr>
        <p:spPr>
          <a:xfrm>
            <a:off x="822960" y="2194560"/>
            <a:ext cx="3108960" cy="548640"/>
          </a:xfrm>
          <a:prstGeom prst="rect">
            <a:avLst/>
          </a:prstGeom>
          <a:noFill/>
          <a:ln/>
        </p:spPr>
        <p:txBody>
          <a:bodyPr wrap="square" lIns="0" tIns="0" rIns="0" bIns="0" rtlCol="0" anchor="t"/>
          <a:lstStyle/>
          <a:p>
            <a:pPr indent="0" marL="0">
              <a:buNone/>
            </a:pPr>
            <a:r>
              <a:rPr lang="en-US" sz="1600" b="1" dirty="0">
                <a:solidFill>
                  <a:schemeClr val="bg1"/>
                </a:solidFill>
              </a:rPr>
              <a:t>App 1 en Vercel</a:t>
            </a:r>
            <a:endParaRPr lang="en-US" sz="1600" dirty="0"/>
          </a:p>
        </p:txBody>
      </p:sp>
      <p:sp>
        <p:nvSpPr>
          <p:cNvPr id="10" name="txt588"/>
          <p:cNvSpPr txBox="1"/>
          <p:nvPr/>
        </p:nvSpPr>
        <p:spPr>
          <a:xfrm>
            <a:off x="822960" y="2743200"/>
            <a:ext cx="3108960" cy="777240"/>
          </a:xfrm>
          <a:prstGeom prst="rect">
            <a:avLst/>
          </a:prstGeom>
          <a:noFill/>
          <a:ln/>
        </p:spPr>
        <p:txBody>
          <a:bodyPr wrap="square" lIns="0" tIns="0" rIns="0" bIns="0" rtlCol="0" anchor="t"/>
          <a:lstStyle/>
          <a:p>
            <a:pPr indent="0" marL="0">
              <a:buNone/>
            </a:pPr>
            <a:r>
              <a:rPr lang="en-US" sz="1200" dirty="0">
                <a:solidFill>
                  <a:schemeClr val="bg2"/>
                </a:solidFill>
              </a:rPr>
              <a:t>Caso válido 200 y error 422 desde la URL pública (19/10).</a:t>
            </a:r>
            <a:endParaRPr lang="en-US" sz="1200" dirty="0"/>
          </a:p>
        </p:txBody>
      </p:sp>
      <p:sp>
        <p:nvSpPr>
          <p:cNvPr id="11" name="card589"/>
          <p:cNvSpPr/>
          <p:nvPr/>
        </p:nvSpPr>
        <p:spPr>
          <a:xfrm>
            <a:off x="4343400" y="1371600"/>
            <a:ext cx="3611880" cy="2194560"/>
          </a:xfrm>
          <a:prstGeom prst="roundRect">
            <a:avLst>
              <a:gd name="adj" fmla="val 5000"/>
            </a:avLst>
          </a:prstGeom>
          <a:solidFill>
            <a:schemeClr val="tx2"/>
          </a:solidFill>
          <a:ln w="9525">
            <a:solidFill>
              <a:schemeClr val="accent6">
                <a:alpha val="40000"/>
              </a:schemeClr>
            </a:solidFill>
            <a:prstDash val="solid"/>
          </a:ln>
        </p:spPr>
      </p:sp>
      <p:sp>
        <p:nvSpPr>
          <p:cNvPr id="12" name="badge590"/>
          <p:cNvSpPr/>
          <p:nvPr/>
        </p:nvSpPr>
        <p:spPr>
          <a:xfrm>
            <a:off x="4572000" y="1600200"/>
            <a:ext cx="438912" cy="411480"/>
          </a:xfrm>
          <a:prstGeom prst="roundRect">
            <a:avLst>
              <a:gd name="adj" fmla="val 17778"/>
            </a:avLst>
          </a:prstGeom>
          <a:solidFill>
            <a:schemeClr val="accent6"/>
          </a:solidFill>
          <a:ln/>
        </p:spPr>
      </p:sp>
      <p:sp>
        <p:nvSpPr>
          <p:cNvPr id="13" name="txt591"/>
          <p:cNvSpPr txBox="1"/>
          <p:nvPr/>
        </p:nvSpPr>
        <p:spPr>
          <a:xfrm>
            <a:off x="4572000" y="1600200"/>
            <a:ext cx="438912" cy="4114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14" name="txt592"/>
          <p:cNvSpPr txBox="1"/>
          <p:nvPr/>
        </p:nvSpPr>
        <p:spPr>
          <a:xfrm>
            <a:off x="4617720" y="2194560"/>
            <a:ext cx="3108960" cy="548640"/>
          </a:xfrm>
          <a:prstGeom prst="rect">
            <a:avLst/>
          </a:prstGeom>
          <a:noFill/>
          <a:ln/>
        </p:spPr>
        <p:txBody>
          <a:bodyPr wrap="square" lIns="0" tIns="0" rIns="0" bIns="0" rtlCol="0" anchor="t"/>
          <a:lstStyle/>
          <a:p>
            <a:pPr indent="0" marL="0">
              <a:buNone/>
            </a:pPr>
            <a:r>
              <a:rPr lang="en-US" sz="1600" b="1" dirty="0">
                <a:solidFill>
                  <a:schemeClr val="bg1"/>
                </a:solidFill>
              </a:rPr>
              <a:t>App 2 en Vercel</a:t>
            </a:r>
            <a:endParaRPr lang="en-US" sz="1600" dirty="0"/>
          </a:p>
        </p:txBody>
      </p:sp>
      <p:sp>
        <p:nvSpPr>
          <p:cNvPr id="15" name="txt593"/>
          <p:cNvSpPr txBox="1"/>
          <p:nvPr/>
        </p:nvSpPr>
        <p:spPr>
          <a:xfrm>
            <a:off x="4617720" y="2743200"/>
            <a:ext cx="3108960" cy="777240"/>
          </a:xfrm>
          <a:prstGeom prst="rect">
            <a:avLst/>
          </a:prstGeom>
          <a:noFill/>
          <a:ln/>
        </p:spPr>
        <p:txBody>
          <a:bodyPr wrap="square" lIns="0" tIns="0" rIns="0" bIns="0" rtlCol="0" anchor="t"/>
          <a:lstStyle/>
          <a:p>
            <a:pPr indent="0" marL="0">
              <a:buNone/>
            </a:pPr>
            <a:r>
              <a:rPr lang="en-US" sz="1200" dirty="0">
                <a:solidFill>
                  <a:schemeClr val="bg2"/>
                </a:solidFill>
              </a:rPr>
              <a:t>Con sesión: recomendaciones. Sin token: 401 NO_AUTORIZADO (28/10).</a:t>
            </a:r>
            <a:endParaRPr lang="en-US" sz="1200" dirty="0"/>
          </a:p>
        </p:txBody>
      </p:sp>
      <p:sp>
        <p:nvSpPr>
          <p:cNvPr id="16" name="card594"/>
          <p:cNvSpPr/>
          <p:nvPr/>
        </p:nvSpPr>
        <p:spPr>
          <a:xfrm>
            <a:off x="8138160" y="1371600"/>
            <a:ext cx="3611880" cy="2194560"/>
          </a:xfrm>
          <a:prstGeom prst="roundRect">
            <a:avLst>
              <a:gd name="adj" fmla="val 5000"/>
            </a:avLst>
          </a:prstGeom>
          <a:solidFill>
            <a:schemeClr val="tx2"/>
          </a:solidFill>
          <a:ln w="9525">
            <a:solidFill>
              <a:schemeClr val="accent6">
                <a:alpha val="40000"/>
              </a:schemeClr>
            </a:solidFill>
            <a:prstDash val="solid"/>
          </a:ln>
        </p:spPr>
      </p:sp>
      <p:sp>
        <p:nvSpPr>
          <p:cNvPr id="17" name="badge595"/>
          <p:cNvSpPr/>
          <p:nvPr/>
        </p:nvSpPr>
        <p:spPr>
          <a:xfrm>
            <a:off x="8366760" y="1600200"/>
            <a:ext cx="438912" cy="411480"/>
          </a:xfrm>
          <a:prstGeom prst="roundRect">
            <a:avLst>
              <a:gd name="adj" fmla="val 17778"/>
            </a:avLst>
          </a:prstGeom>
          <a:solidFill>
            <a:schemeClr val="accent6"/>
          </a:solidFill>
          <a:ln/>
        </p:spPr>
      </p:sp>
      <p:sp>
        <p:nvSpPr>
          <p:cNvPr id="18" name="txt596"/>
          <p:cNvSpPr txBox="1"/>
          <p:nvPr/>
        </p:nvSpPr>
        <p:spPr>
          <a:xfrm>
            <a:off x="8366760" y="1600200"/>
            <a:ext cx="438912" cy="4114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19" name="txt597"/>
          <p:cNvSpPr txBox="1"/>
          <p:nvPr/>
        </p:nvSpPr>
        <p:spPr>
          <a:xfrm>
            <a:off x="8412480" y="2194560"/>
            <a:ext cx="3108960" cy="548640"/>
          </a:xfrm>
          <a:prstGeom prst="rect">
            <a:avLst/>
          </a:prstGeom>
          <a:noFill/>
          <a:ln/>
        </p:spPr>
        <p:txBody>
          <a:bodyPr wrap="square" lIns="0" tIns="0" rIns="0" bIns="0" rtlCol="0" anchor="t"/>
          <a:lstStyle/>
          <a:p>
            <a:pPr indent="0" marL="0">
              <a:buNone/>
            </a:pPr>
            <a:r>
              <a:rPr lang="en-US" sz="1600" b="1" dirty="0">
                <a:solidFill>
                  <a:schemeClr val="bg1"/>
                </a:solidFill>
              </a:rPr>
              <a:t>Sin claves expuestas</a:t>
            </a:r>
            <a:endParaRPr lang="en-US" sz="1600" dirty="0"/>
          </a:p>
        </p:txBody>
      </p:sp>
      <p:sp>
        <p:nvSpPr>
          <p:cNvPr id="20" name="txt598"/>
          <p:cNvSpPr txBox="1"/>
          <p:nvPr/>
        </p:nvSpPr>
        <p:spPr>
          <a:xfrm>
            <a:off x="8412480" y="2743200"/>
            <a:ext cx="3108960" cy="777240"/>
          </a:xfrm>
          <a:prstGeom prst="rect">
            <a:avLst/>
          </a:prstGeom>
          <a:noFill/>
          <a:ln/>
        </p:spPr>
        <p:txBody>
          <a:bodyPr wrap="square" lIns="0" tIns="0" rIns="0" bIns="0" rtlCol="0" anchor="t"/>
          <a:lstStyle/>
          <a:p>
            <a:pPr indent="0" marL="0">
              <a:buNone/>
            </a:pPr>
            <a:r>
              <a:rPr lang="en-US" sz="1200" dirty="0">
                <a:solidFill>
                  <a:schemeClr val="bg2"/>
                </a:solidFill>
              </a:rPr>
              <a:t>Solo .env.example en Git; la clave no está en el frontend compilado ni en el historial.</a:t>
            </a:r>
            <a:endParaRPr lang="en-US" sz="1200" dirty="0"/>
          </a:p>
        </p:txBody>
      </p:sp>
      <p:sp>
        <p:nvSpPr>
          <p:cNvPr id="21" name="card599"/>
          <p:cNvSpPr/>
          <p:nvPr/>
        </p:nvSpPr>
        <p:spPr>
          <a:xfrm>
            <a:off x="548640" y="3749040"/>
            <a:ext cx="3611880" cy="2194560"/>
          </a:xfrm>
          <a:prstGeom prst="roundRect">
            <a:avLst>
              <a:gd name="adj" fmla="val 5000"/>
            </a:avLst>
          </a:prstGeom>
          <a:solidFill>
            <a:schemeClr val="tx2"/>
          </a:solidFill>
          <a:ln w="9525">
            <a:solidFill>
              <a:schemeClr val="accent4"/>
            </a:solidFill>
            <a:prstDash val="solid"/>
          </a:ln>
        </p:spPr>
      </p:sp>
      <p:sp>
        <p:nvSpPr>
          <p:cNvPr id="22" name="badge600"/>
          <p:cNvSpPr/>
          <p:nvPr/>
        </p:nvSpPr>
        <p:spPr>
          <a:xfrm>
            <a:off x="777240" y="3977640"/>
            <a:ext cx="438912" cy="411480"/>
          </a:xfrm>
          <a:prstGeom prst="roundRect">
            <a:avLst>
              <a:gd name="adj" fmla="val 17778"/>
            </a:avLst>
          </a:prstGeom>
          <a:solidFill>
            <a:schemeClr val="accent4"/>
          </a:solidFill>
          <a:ln/>
        </p:spPr>
      </p:sp>
      <p:sp>
        <p:nvSpPr>
          <p:cNvPr id="23" name="txt601"/>
          <p:cNvSpPr txBox="1"/>
          <p:nvPr/>
        </p:nvSpPr>
        <p:spPr>
          <a:xfrm>
            <a:off x="777240" y="3977640"/>
            <a:ext cx="438912" cy="4114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24" name="txt602"/>
          <p:cNvSpPr txBox="1"/>
          <p:nvPr/>
        </p:nvSpPr>
        <p:spPr>
          <a:xfrm>
            <a:off x="2926080" y="4023360"/>
            <a:ext cx="1005840" cy="320040"/>
          </a:xfrm>
          <a:prstGeom prst="rect">
            <a:avLst/>
          </a:prstGeom>
          <a:noFill/>
          <a:ln/>
        </p:spPr>
        <p:txBody>
          <a:bodyPr wrap="square" lIns="0" tIns="0" rIns="0" bIns="0" rtlCol="0" anchor="ctr"/>
          <a:lstStyle/>
          <a:p>
            <a:pPr algn="r" indent="0" marL="0">
              <a:buNone/>
            </a:pPr>
            <a:r>
              <a:rPr lang="en-US" sz="1100" b="1" dirty="0">
                <a:solidFill>
                  <a:schemeClr val="accent4"/>
                </a:solidFill>
              </a:rPr>
              <a:t>CAMBIAR</a:t>
            </a:r>
            <a:endParaRPr lang="en-US" sz="1100" dirty="0"/>
          </a:p>
        </p:txBody>
      </p:sp>
      <p:sp>
        <p:nvSpPr>
          <p:cNvPr id="25" name="txt603"/>
          <p:cNvSpPr txBox="1"/>
          <p:nvPr/>
        </p:nvSpPr>
        <p:spPr>
          <a:xfrm>
            <a:off x="822960" y="4572000"/>
            <a:ext cx="3108960" cy="548640"/>
          </a:xfrm>
          <a:prstGeom prst="rect">
            <a:avLst/>
          </a:prstGeom>
          <a:noFill/>
          <a:ln/>
        </p:spPr>
        <p:txBody>
          <a:bodyPr wrap="square" lIns="0" tIns="0" rIns="0" bIns="0" rtlCol="0" anchor="t"/>
          <a:lstStyle/>
          <a:p>
            <a:pPr indent="0" marL="0">
              <a:buNone/>
            </a:pPr>
            <a:r>
              <a:rPr lang="en-US" sz="1600" b="1" dirty="0">
                <a:solidFill>
                  <a:schemeClr val="bg1"/>
                </a:solidFill>
              </a:rPr>
              <a:t>Claves en las imágenes Docker</a:t>
            </a:r>
            <a:endParaRPr lang="en-US" sz="1600" dirty="0"/>
          </a:p>
        </p:txBody>
      </p:sp>
      <p:sp>
        <p:nvSpPr>
          <p:cNvPr id="26" name="txt604"/>
          <p:cNvSpPr txBox="1"/>
          <p:nvPr/>
        </p:nvSpPr>
        <p:spPr>
          <a:xfrm>
            <a:off x="822960" y="5120640"/>
            <a:ext cx="3108960" cy="777240"/>
          </a:xfrm>
          <a:prstGeom prst="rect">
            <a:avLst/>
          </a:prstGeom>
          <a:noFill/>
          <a:ln/>
        </p:spPr>
        <p:txBody>
          <a:bodyPr wrap="square" lIns="0" tIns="0" rIns="0" bIns="0" rtlCol="0" anchor="t"/>
          <a:lstStyle/>
          <a:p>
            <a:pPr indent="0" marL="0">
              <a:buNone/>
            </a:pPr>
            <a:r>
              <a:rPr lang="en-US" sz="1200" dirty="0">
                <a:solidFill>
                  <a:schemeClr val="bg2"/>
                </a:solidFill>
              </a:rPr>
              <a:t>PR-14: revisar que las imágenes no contienen la clave de Gemini.</a:t>
            </a:r>
            <a:endParaRPr lang="en-US" sz="1200" dirty="0"/>
          </a:p>
        </p:txBody>
      </p:sp>
      <p:sp>
        <p:nvSpPr>
          <p:cNvPr id="27" name="card605"/>
          <p:cNvSpPr/>
          <p:nvPr/>
        </p:nvSpPr>
        <p:spPr>
          <a:xfrm>
            <a:off x="4343400" y="3749040"/>
            <a:ext cx="3611880" cy="2194560"/>
          </a:xfrm>
          <a:prstGeom prst="roundRect">
            <a:avLst>
              <a:gd name="adj" fmla="val 5000"/>
            </a:avLst>
          </a:prstGeom>
          <a:solidFill>
            <a:schemeClr val="tx2"/>
          </a:solidFill>
          <a:ln w="9525">
            <a:solidFill>
              <a:schemeClr val="accent4"/>
            </a:solidFill>
            <a:prstDash val="solid"/>
          </a:ln>
        </p:spPr>
      </p:sp>
      <p:sp>
        <p:nvSpPr>
          <p:cNvPr id="28" name="badge606"/>
          <p:cNvSpPr/>
          <p:nvPr/>
        </p:nvSpPr>
        <p:spPr>
          <a:xfrm>
            <a:off x="4572000" y="3977640"/>
            <a:ext cx="438912" cy="411480"/>
          </a:xfrm>
          <a:prstGeom prst="roundRect">
            <a:avLst>
              <a:gd name="adj" fmla="val 17778"/>
            </a:avLst>
          </a:prstGeom>
          <a:solidFill>
            <a:schemeClr val="accent4"/>
          </a:solidFill>
          <a:ln/>
        </p:spPr>
      </p:sp>
      <p:sp>
        <p:nvSpPr>
          <p:cNvPr id="29" name="txt607"/>
          <p:cNvSpPr txBox="1"/>
          <p:nvPr/>
        </p:nvSpPr>
        <p:spPr>
          <a:xfrm>
            <a:off x="4572000" y="3977640"/>
            <a:ext cx="438912" cy="4114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30" name="txt608"/>
          <p:cNvSpPr txBox="1"/>
          <p:nvPr/>
        </p:nvSpPr>
        <p:spPr>
          <a:xfrm>
            <a:off x="6720840" y="4023360"/>
            <a:ext cx="1005840" cy="320040"/>
          </a:xfrm>
          <a:prstGeom prst="rect">
            <a:avLst/>
          </a:prstGeom>
          <a:noFill/>
          <a:ln/>
        </p:spPr>
        <p:txBody>
          <a:bodyPr wrap="square" lIns="0" tIns="0" rIns="0" bIns="0" rtlCol="0" anchor="ctr"/>
          <a:lstStyle/>
          <a:p>
            <a:pPr algn="r" indent="0" marL="0">
              <a:buNone/>
            </a:pPr>
            <a:r>
              <a:rPr lang="en-US" sz="1100" b="1" dirty="0">
                <a:solidFill>
                  <a:schemeClr val="accent4"/>
                </a:solidFill>
              </a:rPr>
              <a:t>CAMBIAR</a:t>
            </a:r>
            <a:endParaRPr lang="en-US" sz="1100" dirty="0"/>
          </a:p>
        </p:txBody>
      </p:sp>
      <p:sp>
        <p:nvSpPr>
          <p:cNvPr id="31" name="txt609"/>
          <p:cNvSpPr txBox="1"/>
          <p:nvPr/>
        </p:nvSpPr>
        <p:spPr>
          <a:xfrm>
            <a:off x="4617720" y="4572000"/>
            <a:ext cx="3108960" cy="548640"/>
          </a:xfrm>
          <a:prstGeom prst="rect">
            <a:avLst/>
          </a:prstGeom>
          <a:noFill/>
          <a:ln/>
        </p:spPr>
        <p:txBody>
          <a:bodyPr wrap="square" lIns="0" tIns="0" rIns="0" bIns="0" rtlCol="0" anchor="t"/>
          <a:lstStyle/>
          <a:p>
            <a:pPr indent="0" marL="0">
              <a:buNone/>
            </a:pPr>
            <a:r>
              <a:rPr lang="en-US" sz="1600" b="1" dirty="0">
                <a:solidFill>
                  <a:schemeClr val="bg1"/>
                </a:solidFill>
              </a:rPr>
              <a:t>EC2 desde otro dispositivo</a:t>
            </a:r>
            <a:endParaRPr lang="en-US" sz="1600" dirty="0"/>
          </a:p>
        </p:txBody>
      </p:sp>
      <p:sp>
        <p:nvSpPr>
          <p:cNvPr id="32" name="txt610"/>
          <p:cNvSpPr txBox="1"/>
          <p:nvPr/>
        </p:nvSpPr>
        <p:spPr>
          <a:xfrm>
            <a:off x="4617720" y="5120640"/>
            <a:ext cx="3108960" cy="777240"/>
          </a:xfrm>
          <a:prstGeom prst="rect">
            <a:avLst/>
          </a:prstGeom>
          <a:noFill/>
          <a:ln/>
        </p:spPr>
        <p:txBody>
          <a:bodyPr wrap="square" lIns="0" tIns="0" rIns="0" bIns="0" rtlCol="0" anchor="t"/>
          <a:lstStyle/>
          <a:p>
            <a:pPr indent="0" marL="0">
              <a:buNone/>
            </a:pPr>
            <a:r>
              <a:rPr lang="en-US" sz="1200" dirty="0">
                <a:solidFill>
                  <a:schemeClr val="bg2"/>
                </a:solidFill>
              </a:rPr>
              <a:t>HTTPS, /health 200 y 401 sin token: comprobado (28/10). Falta: caso válido con sesión y reinicio (PR-23).</a:t>
            </a:r>
            <a:endParaRPr lang="en-US" sz="1200" dirty="0"/>
          </a:p>
        </p:txBody>
      </p:sp>
      <p:sp>
        <p:nvSpPr>
          <p:cNvPr id="33" name="card611"/>
          <p:cNvSpPr/>
          <p:nvPr/>
        </p:nvSpPr>
        <p:spPr>
          <a:xfrm>
            <a:off x="8138160" y="3749040"/>
            <a:ext cx="3611880" cy="2194560"/>
          </a:xfrm>
          <a:prstGeom prst="roundRect">
            <a:avLst>
              <a:gd name="adj" fmla="val 5000"/>
            </a:avLst>
          </a:prstGeom>
          <a:solidFill>
            <a:schemeClr val="tx2"/>
          </a:solidFill>
          <a:ln w="9525">
            <a:solidFill>
              <a:schemeClr val="accent4"/>
            </a:solidFill>
            <a:prstDash val="solid"/>
          </a:ln>
        </p:spPr>
      </p:sp>
      <p:sp>
        <p:nvSpPr>
          <p:cNvPr id="34" name="badge612"/>
          <p:cNvSpPr/>
          <p:nvPr/>
        </p:nvSpPr>
        <p:spPr>
          <a:xfrm>
            <a:off x="8366760" y="3977640"/>
            <a:ext cx="438912" cy="411480"/>
          </a:xfrm>
          <a:prstGeom prst="roundRect">
            <a:avLst>
              <a:gd name="adj" fmla="val 17778"/>
            </a:avLst>
          </a:prstGeom>
          <a:solidFill>
            <a:schemeClr val="accent4"/>
          </a:solidFill>
          <a:ln/>
        </p:spPr>
      </p:sp>
      <p:sp>
        <p:nvSpPr>
          <p:cNvPr id="35" name="txt613"/>
          <p:cNvSpPr txBox="1"/>
          <p:nvPr/>
        </p:nvSpPr>
        <p:spPr>
          <a:xfrm>
            <a:off x="8366760" y="3977640"/>
            <a:ext cx="438912" cy="41148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36" name="txt614"/>
          <p:cNvSpPr txBox="1"/>
          <p:nvPr/>
        </p:nvSpPr>
        <p:spPr>
          <a:xfrm>
            <a:off x="10515600" y="4023360"/>
            <a:ext cx="1005840" cy="320040"/>
          </a:xfrm>
          <a:prstGeom prst="rect">
            <a:avLst/>
          </a:prstGeom>
          <a:noFill/>
          <a:ln/>
        </p:spPr>
        <p:txBody>
          <a:bodyPr wrap="square" lIns="0" tIns="0" rIns="0" bIns="0" rtlCol="0" anchor="ctr"/>
          <a:lstStyle/>
          <a:p>
            <a:pPr algn="r" indent="0" marL="0">
              <a:buNone/>
            </a:pPr>
            <a:r>
              <a:rPr lang="en-US" sz="1100" b="1" dirty="0">
                <a:solidFill>
                  <a:schemeClr val="accent4"/>
                </a:solidFill>
              </a:rPr>
              <a:t>CAMBIAR</a:t>
            </a:r>
            <a:endParaRPr lang="en-US" sz="1100" dirty="0"/>
          </a:p>
        </p:txBody>
      </p:sp>
      <p:sp>
        <p:nvSpPr>
          <p:cNvPr id="37" name="txt615"/>
          <p:cNvSpPr txBox="1"/>
          <p:nvPr/>
        </p:nvSpPr>
        <p:spPr>
          <a:xfrm>
            <a:off x="8412480" y="4572000"/>
            <a:ext cx="3108960" cy="548640"/>
          </a:xfrm>
          <a:prstGeom prst="rect">
            <a:avLst/>
          </a:prstGeom>
          <a:noFill/>
          <a:ln/>
        </p:spPr>
        <p:txBody>
          <a:bodyPr wrap="square" lIns="0" tIns="0" rIns="0" bIns="0" rtlCol="0" anchor="t"/>
          <a:lstStyle/>
          <a:p>
            <a:pPr indent="0" marL="0">
              <a:buNone/>
            </a:pPr>
            <a:r>
              <a:rPr lang="en-US" sz="1600" b="1" dirty="0">
                <a:solidFill>
                  <a:schemeClr val="bg1"/>
                </a:solidFill>
              </a:rPr>
              <a:t>Sin datos tras reiniciar y AWS retirado</a:t>
            </a:r>
            <a:endParaRPr lang="en-US" sz="1600" dirty="0"/>
          </a:p>
        </p:txBody>
      </p:sp>
      <p:sp>
        <p:nvSpPr>
          <p:cNvPr id="38" name="txt616"/>
          <p:cNvSpPr txBox="1"/>
          <p:nvPr/>
        </p:nvSpPr>
        <p:spPr>
          <a:xfrm>
            <a:off x="8412480" y="5120640"/>
            <a:ext cx="3108960" cy="777240"/>
          </a:xfrm>
          <a:prstGeom prst="rect">
            <a:avLst/>
          </a:prstGeom>
          <a:noFill/>
          <a:ln/>
        </p:spPr>
        <p:txBody>
          <a:bodyPr wrap="square" lIns="0" tIns="0" rIns="0" bIns="0" rtlCol="0" anchor="t"/>
          <a:lstStyle/>
          <a:p>
            <a:pPr indent="0" marL="0">
              <a:buNone/>
            </a:pPr>
            <a:r>
              <a:rPr lang="en-US" sz="1200" dirty="0">
                <a:solidFill>
                  <a:schemeClr val="bg2"/>
                </a:solidFill>
              </a:rPr>
              <a:t>PR-15: docker compose down / up. Borrar los recursos al acabar.</a:t>
            </a:r>
            <a:endParaRPr lang="en-US" sz="12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Comparativa App 1 y App 2</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MISMOS ESCENARIOS</a:t>
            </a:r>
            <a:endParaRPr lang="en-US" sz="1200" dirty="0"/>
          </a:p>
        </p:txBody>
      </p:sp>
      <p:sp>
        <p:nvSpPr>
          <p:cNvPr id="4" name="presenta617"/>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618"/>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sp>
        <p:nvSpPr>
          <p:cNvPr id="6" name="card619"/>
          <p:cNvSpPr/>
          <p:nvPr/>
        </p:nvSpPr>
        <p:spPr>
          <a:xfrm>
            <a:off x="548640" y="1371600"/>
            <a:ext cx="3566160" cy="1143000"/>
          </a:xfrm>
          <a:prstGeom prst="roundRect">
            <a:avLst>
              <a:gd name="adj" fmla="val 9600"/>
            </a:avLst>
          </a:prstGeom>
          <a:solidFill>
            <a:schemeClr val="tx2"/>
          </a:solidFill>
          <a:ln w="9525">
            <a:solidFill>
              <a:schemeClr val="bg2">
                <a:alpha val="28000"/>
              </a:schemeClr>
            </a:solidFill>
            <a:prstDash val="solid"/>
          </a:ln>
        </p:spPr>
      </p:sp>
      <p:sp>
        <p:nvSpPr>
          <p:cNvPr id="7" name="txt620"/>
          <p:cNvSpPr txBox="1"/>
          <p:nvPr/>
        </p:nvSpPr>
        <p:spPr>
          <a:xfrm>
            <a:off x="777240" y="1481328"/>
            <a:ext cx="3108960" cy="628650"/>
          </a:xfrm>
          <a:prstGeom prst="rect">
            <a:avLst/>
          </a:prstGeom>
          <a:noFill/>
          <a:ln/>
        </p:spPr>
        <p:txBody>
          <a:bodyPr wrap="square" lIns="0" tIns="0" rIns="0" bIns="0" rtlCol="0" anchor="ctr"/>
          <a:lstStyle/>
          <a:p>
            <a:pPr indent="0" marL="0">
              <a:buNone/>
            </a:pPr>
            <a:r>
              <a:rPr lang="en-US" sz="3400" b="1" dirty="0">
                <a:solidFill>
                  <a:schemeClr val="accent1"/>
                </a:solidFill>
              </a:rPr>
              <a:t>12 → 59</a:t>
            </a:r>
            <a:endParaRPr lang="en-US" sz="3400" dirty="0"/>
          </a:p>
        </p:txBody>
      </p:sp>
      <p:sp>
        <p:nvSpPr>
          <p:cNvPr id="8" name="txt621"/>
          <p:cNvSpPr txBox="1"/>
          <p:nvPr/>
        </p:nvSpPr>
        <p:spPr>
          <a:xfrm>
            <a:off x="777240" y="2057400"/>
            <a:ext cx="3108960" cy="411480"/>
          </a:xfrm>
          <a:prstGeom prst="rect">
            <a:avLst/>
          </a:prstGeom>
          <a:noFill/>
          <a:ln/>
        </p:spPr>
        <p:txBody>
          <a:bodyPr wrap="square" lIns="0" tIns="0" rIns="0" bIns="0" rtlCol="0" anchor="t"/>
          <a:lstStyle/>
          <a:p>
            <a:pPr indent="0" marL="0">
              <a:buNone/>
            </a:pPr>
            <a:r>
              <a:rPr lang="en-US" sz="1300" dirty="0">
                <a:solidFill>
                  <a:schemeClr val="bg2"/>
                </a:solidFill>
              </a:rPr>
              <a:t>pruebas automáticas</a:t>
            </a:r>
            <a:endParaRPr lang="en-US" sz="1300" dirty="0"/>
          </a:p>
        </p:txBody>
      </p:sp>
      <p:sp>
        <p:nvSpPr>
          <p:cNvPr id="9" name="card622"/>
          <p:cNvSpPr/>
          <p:nvPr/>
        </p:nvSpPr>
        <p:spPr>
          <a:xfrm>
            <a:off x="4315968" y="1371600"/>
            <a:ext cx="3566160" cy="1143000"/>
          </a:xfrm>
          <a:prstGeom prst="roundRect">
            <a:avLst>
              <a:gd name="adj" fmla="val 9600"/>
            </a:avLst>
          </a:prstGeom>
          <a:solidFill>
            <a:schemeClr val="tx2"/>
          </a:solidFill>
          <a:ln w="9525">
            <a:solidFill>
              <a:schemeClr val="bg2">
                <a:alpha val="28000"/>
              </a:schemeClr>
            </a:solidFill>
            <a:prstDash val="solid"/>
          </a:ln>
        </p:spPr>
      </p:sp>
      <p:sp>
        <p:nvSpPr>
          <p:cNvPr id="10" name="txt623"/>
          <p:cNvSpPr txBox="1"/>
          <p:nvPr/>
        </p:nvSpPr>
        <p:spPr>
          <a:xfrm>
            <a:off x="4544568" y="1481328"/>
            <a:ext cx="3108960" cy="628650"/>
          </a:xfrm>
          <a:prstGeom prst="rect">
            <a:avLst/>
          </a:prstGeom>
          <a:noFill/>
          <a:ln/>
        </p:spPr>
        <p:txBody>
          <a:bodyPr wrap="square" lIns="0" tIns="0" rIns="0" bIns="0" rtlCol="0" anchor="ctr"/>
          <a:lstStyle/>
          <a:p>
            <a:pPr indent="0" marL="0">
              <a:buNone/>
            </a:pPr>
            <a:r>
              <a:rPr lang="en-US" sz="3400" b="1" dirty="0">
                <a:solidFill>
                  <a:schemeClr val="accent2"/>
                </a:solidFill>
              </a:rPr>
              <a:t>11 + 40 min</a:t>
            </a:r>
            <a:endParaRPr lang="en-US" sz="3400" dirty="0"/>
          </a:p>
        </p:txBody>
      </p:sp>
      <p:sp>
        <p:nvSpPr>
          <p:cNvPr id="11" name="txt624"/>
          <p:cNvSpPr txBox="1"/>
          <p:nvPr/>
        </p:nvSpPr>
        <p:spPr>
          <a:xfrm>
            <a:off x="4544568" y="2057400"/>
            <a:ext cx="3108960" cy="411480"/>
          </a:xfrm>
          <a:prstGeom prst="rect">
            <a:avLst/>
          </a:prstGeom>
          <a:noFill/>
          <a:ln/>
        </p:spPr>
        <p:txBody>
          <a:bodyPr wrap="square" lIns="0" tIns="0" rIns="0" bIns="0" rtlCol="0" anchor="t"/>
          <a:lstStyle/>
          <a:p>
            <a:pPr indent="0" marL="0">
              <a:buNone/>
            </a:pPr>
            <a:r>
              <a:rPr lang="en-US" sz="1300" dirty="0">
                <a:solidFill>
                  <a:schemeClr val="bg2"/>
                </a:solidFill>
              </a:rPr>
              <a:t>IA escribiendo · equipo revisando</a:t>
            </a:r>
            <a:endParaRPr lang="en-US" sz="1300" dirty="0"/>
          </a:p>
        </p:txBody>
      </p:sp>
      <p:sp>
        <p:nvSpPr>
          <p:cNvPr id="12" name="card625"/>
          <p:cNvSpPr/>
          <p:nvPr/>
        </p:nvSpPr>
        <p:spPr>
          <a:xfrm>
            <a:off x="8092440" y="1371600"/>
            <a:ext cx="3566160" cy="1143000"/>
          </a:xfrm>
          <a:prstGeom prst="roundRect">
            <a:avLst>
              <a:gd name="adj" fmla="val 9600"/>
            </a:avLst>
          </a:prstGeom>
          <a:solidFill>
            <a:schemeClr val="tx2"/>
          </a:solidFill>
          <a:ln w="9525">
            <a:solidFill>
              <a:schemeClr val="bg2">
                <a:alpha val="28000"/>
              </a:schemeClr>
            </a:solidFill>
            <a:prstDash val="solid"/>
          </a:ln>
        </p:spPr>
      </p:sp>
      <p:sp>
        <p:nvSpPr>
          <p:cNvPr id="13" name="txt626"/>
          <p:cNvSpPr txBox="1"/>
          <p:nvPr/>
        </p:nvSpPr>
        <p:spPr>
          <a:xfrm>
            <a:off x="8321040" y="1481328"/>
            <a:ext cx="3108960" cy="628650"/>
          </a:xfrm>
          <a:prstGeom prst="rect">
            <a:avLst/>
          </a:prstGeom>
          <a:noFill/>
          <a:ln/>
        </p:spPr>
        <p:txBody>
          <a:bodyPr wrap="square" lIns="0" tIns="0" rIns="0" bIns="0" rtlCol="0" anchor="ctr"/>
          <a:lstStyle/>
          <a:p>
            <a:pPr indent="0" marL="0">
              <a:buNone/>
            </a:pPr>
            <a:r>
              <a:rPr lang="en-US" sz="3400" b="1" dirty="0">
                <a:solidFill>
                  <a:schemeClr val="accent5"/>
                </a:solidFill>
              </a:rPr>
              <a:t>2 fallos</a:t>
            </a:r>
            <a:endParaRPr lang="en-US" sz="3400" dirty="0"/>
          </a:p>
        </p:txBody>
      </p:sp>
      <p:sp>
        <p:nvSpPr>
          <p:cNvPr id="14" name="txt627"/>
          <p:cNvSpPr txBox="1"/>
          <p:nvPr/>
        </p:nvSpPr>
        <p:spPr>
          <a:xfrm>
            <a:off x="8321040" y="2057400"/>
            <a:ext cx="3108960" cy="411480"/>
          </a:xfrm>
          <a:prstGeom prst="rect">
            <a:avLst/>
          </a:prstGeom>
          <a:noFill/>
          <a:ln/>
        </p:spPr>
        <p:txBody>
          <a:bodyPr wrap="square" lIns="0" tIns="0" rIns="0" bIns="0" rtlCol="0" anchor="t"/>
          <a:lstStyle/>
          <a:p>
            <a:pPr indent="0" marL="0">
              <a:buNone/>
            </a:pPr>
            <a:r>
              <a:rPr lang="en-US" sz="1300" dirty="0">
                <a:solidFill>
                  <a:schemeClr val="bg2"/>
                </a:solidFill>
              </a:rPr>
              <a:t>de la IA que solo salieron al ejecutar</a:t>
            </a:r>
            <a:endParaRPr lang="en-US" sz="1300" dirty="0"/>
          </a:p>
        </p:txBody>
      </p:sp>
      <p:graphicFrame>
        <p:nvGraphicFramePr>
          <p:cNvPr id="23" name="tablaComparativa"/>
          <p:cNvGraphicFramePr>
            <a:graphicFrameLocks noGrp="1"/>
          </p:cNvGraphicFramePr>
          <p:nvPr>
            <p:extLst>
              <p:ext uri="{D42A27DB-BD31-4B8C-83A1-F6EECF244321}">
                <p14:modId xmlns:p14="http://schemas.microsoft.com/office/powerpoint/2010/main" val="1579011935"/>
              </p:ext>
            </p:extLst>
          </p:nvPr>
        </p:nvGraphicFramePr>
        <p:xfrm>
          <a:off x="548640" y="2697480"/>
          <a:ext cx="11109960" cy="914400"/>
        </p:xfrm>
        <a:graphic>
          <a:graphicData uri="http://schemas.openxmlformats.org/drawingml/2006/table">
            <a:tbl>
              <a:tblPr/>
              <a:tblGrid>
                <a:gridCol w="1965960"/>
                <a:gridCol w="4572000"/>
                <a:gridCol w="4572000"/>
              </a:tblGrid>
              <a:tr h="457200">
                <a:tc>
                  <a:txBody>
                    <a:bodyPr/>
                    <a:lstStyle/>
                    <a:p>
                      <a:pPr indent="0" marL="0">
                        <a:buNone/>
                      </a:pPr>
                      <a:r>
                        <a:rPr lang="en-US" sz="1200" b="1" dirty="0">
                          <a:solidFill>
                            <a:srgbClr val="0B0B12"/>
                          </a:solidFill>
                        </a:rPr>
                        <a:t>Dimensión</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E86CCA"/>
                    </a:solidFill>
                  </a:tcPr>
                </a:tc>
                <a:tc>
                  <a:txBody>
                    <a:bodyPr/>
                    <a:lstStyle/>
                    <a:p>
                      <a:pPr indent="0" marL="0">
                        <a:buNone/>
                      </a:pPr>
                      <a:r>
                        <a:rPr lang="en-US" sz="1200" b="1" dirty="0">
                          <a:solidFill>
                            <a:srgbClr val="0B0B12"/>
                          </a:solidFill>
                        </a:rPr>
                        <a:t>App 1 · a mano</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E86CCA"/>
                    </a:solidFill>
                  </a:tcPr>
                </a:tc>
                <a:tc>
                  <a:txBody>
                    <a:bodyPr/>
                    <a:lstStyle/>
                    <a:p>
                      <a:pPr indent="0" marL="0">
                        <a:buNone/>
                      </a:pPr>
                      <a:r>
                        <a:rPr lang="en-US" sz="1200" b="1" dirty="0">
                          <a:solidFill>
                            <a:srgbClr val="0B0B12"/>
                          </a:solidFill>
                        </a:rPr>
                        <a:t>App 2 · Spec Kit + IA</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9B8CFF"/>
                    </a:solidFill>
                  </a:tcPr>
                </a:tc>
              </a:tr>
              <a:tr h="457200">
                <a:tc>
                  <a:txBody>
                    <a:bodyPr/>
                    <a:lstStyle/>
                    <a:p>
                      <a:pPr indent="0" marL="0">
                        <a:buNone/>
                      </a:pPr>
                      <a:r>
                        <a:rPr lang="en-US" sz="1200" b="1" dirty="0">
                          <a:solidFill>
                            <a:srgbClr val="E86CCA"/>
                          </a:solidFill>
                        </a:rPr>
                        <a:t>Tiempo</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Horas por fase: frontend ≈ 7,5 h, pruebas ≈ 5 h (estimaciones).</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Especificación en 31 min y código en ≈ 11 min; el coste está en revisar y probar.</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57200">
                <a:tc>
                  <a:txBody>
                    <a:bodyPr/>
                    <a:lstStyle/>
                    <a:p>
                      <a:pPr indent="0" marL="0">
                        <a:buNone/>
                      </a:pPr>
                      <a:r>
                        <a:rPr lang="en-US" sz="1200" b="1" dirty="0">
                          <a:solidFill>
                            <a:srgbClr val="E86CCA"/>
                          </a:solidFill>
                        </a:rPr>
                        <a:t>Calidad</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Contrato estable, 12 pruebas y trazabilidad completa en la ERS.</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Mismo contrato + 401, 59 pruebas y requisitos trazados a la ERS.</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57200">
                <a:tc>
                  <a:txBody>
                    <a:bodyPr/>
                    <a:lstStyle/>
                    <a:p>
                      <a:pPr indent="0" marL="0">
                        <a:buNone/>
                      </a:pPr>
                      <a:r>
                        <a:rPr lang="en-US" sz="1200" b="1" dirty="0">
                          <a:solidFill>
                            <a:srgbClr val="E86CCA"/>
                          </a:solidFill>
                        </a:rPr>
                        <a:t>Errores</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Nuestros: 402 de OpenRouter, saldo agotado, carpetas reorganizadas.</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De la IA: plan desfasado, .env sin cargar y vercel.json con 404.</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57200">
                <a:tc>
                  <a:txBody>
                    <a:bodyPr/>
                    <a:lstStyle/>
                    <a:p>
                      <a:pPr indent="0" marL="0">
                        <a:buNone/>
                      </a:pPr>
                      <a:r>
                        <a:rPr lang="en-US" sz="1200" b="1" dirty="0">
                          <a:solidFill>
                            <a:srgbClr val="E86CCA"/>
                          </a:solidFill>
                        </a:rPr>
                        <a:t>Mantenibilidad</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Cambiar de proveedor fue fácil: los tests simulan ask_model.</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Modelo y límites por variables de entorno, sin tocar código.</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r h="457200">
                <a:tc>
                  <a:txBody>
                    <a:bodyPr/>
                    <a:lstStyle/>
                    <a:p>
                      <a:pPr indent="0" marL="0">
                        <a:buNone/>
                      </a:pPr>
                      <a:r>
                        <a:rPr lang="en-US" sz="1200" b="1" dirty="0">
                          <a:solidFill>
                            <a:srgbClr val="E86CCA"/>
                          </a:solidFill>
                        </a:rPr>
                        <a:t>Utilidad de la IA</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Consultas puntuales: pytest, mocks y diagnóstico del 402.</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c>
                  <a:txBody>
                    <a:bodyPr/>
                    <a:lstStyle/>
                    <a:p>
                      <a:pPr indent="0" marL="0">
                        <a:buNone/>
                      </a:pPr>
                      <a:r>
                        <a:rPr lang="en-US" sz="1200" dirty="0">
                          <a:solidFill>
                            <a:srgbClr val="FFFFFF"/>
                          </a:solidFill>
                        </a:rPr>
                        <a:t>Lo escribió todo; el equipo decidió modelo, géneros y desviaciones.</a:t>
                      </a:r>
                      <a:endParaRPr lang="en-US" sz="1200" dirty="0"/>
                    </a:p>
                  </a:txBody>
                  <a:tcPr marL="109728" marR="91440" marT="18288" marB="18288" anchor="ctr">
                    <a:lnL w="19050" cap="flat" cmpd="sng" algn="ctr">
                      <a:solidFill>
                        <a:srgbClr val="0B0B12"/>
                      </a:solidFill>
                      <a:prstDash val="solid"/>
                      <a:round/>
                      <a:headEnd type="none" w="med" len="med"/>
                      <a:tailEnd type="none" w="med" len="med"/>
                    </a:lnL>
                    <a:lnR w="19050" cap="flat" cmpd="sng" algn="ctr">
                      <a:solidFill>
                        <a:srgbClr val="0B0B12"/>
                      </a:solidFill>
                      <a:prstDash val="solid"/>
                      <a:round/>
                      <a:headEnd type="none" w="med" len="med"/>
                      <a:tailEnd type="none" w="med" len="med"/>
                    </a:lnR>
                    <a:lnT w="19050" cap="flat" cmpd="sng" algn="ctr">
                      <a:solidFill>
                        <a:srgbClr val="0B0B12"/>
                      </a:solidFill>
                      <a:prstDash val="solid"/>
                      <a:round/>
                      <a:headEnd type="none" w="med" len="med"/>
                      <a:tailEnd type="none" w="med" len="med"/>
                    </a:lnT>
                    <a:lnB w="19050" cap="flat" cmpd="sng" algn="ctr">
                      <a:solidFill>
                        <a:srgbClr val="0B0B12"/>
                      </a:solidFill>
                      <a:prstDash val="solid"/>
                      <a:round/>
                      <a:headEnd type="none" w="med" len="med"/>
                      <a:tailEnd type="none" w="med" len="med"/>
                    </a:lnB>
                    <a:solidFill>
                      <a:srgbClr val="171725"/>
                    </a:solidFill>
                  </a:tcPr>
                </a:tc>
              </a:tr>
            </a:tbl>
          </a:graphicData>
        </a:graphic>
      </p:graphicFrame>
      <p:sp>
        <p:nvSpPr>
          <p:cNvPr id="16" name="cambiar628"/>
          <p:cNvSpPr/>
          <p:nvPr/>
        </p:nvSpPr>
        <p:spPr>
          <a:xfrm>
            <a:off x="548640" y="5669280"/>
            <a:ext cx="11109960" cy="384048"/>
          </a:xfrm>
          <a:prstGeom prst="roundRect">
            <a:avLst>
              <a:gd name="adj" fmla="val 19048"/>
            </a:avLst>
          </a:prstGeom>
          <a:solidFill>
            <a:schemeClr val="accent4"/>
          </a:solidFill>
          <a:ln/>
        </p:spPr>
      </p:sp>
      <p:sp>
        <p:nvSpPr>
          <p:cNvPr id="17" name="txt629"/>
          <p:cNvSpPr txBox="1"/>
          <p:nvPr/>
        </p:nvSpPr>
        <p:spPr>
          <a:xfrm>
            <a:off x="685800" y="5669280"/>
            <a:ext cx="10835640" cy="384048"/>
          </a:xfrm>
          <a:prstGeom prst="rect">
            <a:avLst/>
          </a:prstGeom>
          <a:noFill/>
          <a:ln/>
        </p:spPr>
        <p:txBody>
          <a:bodyPr wrap="square" lIns="0" tIns="0" rIns="0" bIns="0" rtlCol="0" anchor="ctr"/>
          <a:lstStyle/>
          <a:p>
            <a:pPr indent="0" marL="0">
              <a:buNone/>
            </a:pPr>
            <a:r>
              <a:rPr lang="en-US" sz="1200" b="1" dirty="0">
                <a:solidFill>
                  <a:schemeClr val="tx1"/>
                </a:solidFill>
              </a:rPr>
              <a:t>⚠ CAMBIAR  </a:t>
            </a:r>
            <a:pPr indent="0" marL="0">
              <a:buNone/>
            </a:pPr>
            <a:r>
              <a:rPr lang="en-US" sz="1200" dirty="0">
                <a:solidFill>
                  <a:schemeClr val="tx1"/>
                </a:solidFill>
              </a:rPr>
              <a:t>completar con los totales de tiempo y las conclusiones de comparativa.md (aún en «Pendiente»).</a:t>
            </a:r>
            <a:endParaRPr lang="en-US" sz="12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Demo en directo</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5 PUNTOS DEL ENUNCIADO</a:t>
            </a:r>
            <a:endParaRPr lang="en-US" sz="1200" dirty="0"/>
          </a:p>
        </p:txBody>
      </p:sp>
      <p:sp>
        <p:nvSpPr>
          <p:cNvPr id="4" name="presenta630"/>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631"/>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todo el equipo</a:t>
            </a:r>
            <a:endParaRPr lang="en-US" sz="1100" dirty="0"/>
          </a:p>
        </p:txBody>
      </p:sp>
      <p:sp>
        <p:nvSpPr>
          <p:cNvPr id="6" name="card632"/>
          <p:cNvSpPr/>
          <p:nvPr/>
        </p:nvSpPr>
        <p:spPr>
          <a:xfrm>
            <a:off x="548640" y="1371600"/>
            <a:ext cx="7589520" cy="768096"/>
          </a:xfrm>
          <a:prstGeom prst="roundRect">
            <a:avLst>
              <a:gd name="adj" fmla="val 14286"/>
            </a:avLst>
          </a:prstGeom>
          <a:solidFill>
            <a:schemeClr val="tx2"/>
          </a:solidFill>
          <a:ln w="9525">
            <a:solidFill>
              <a:schemeClr val="bg2">
                <a:alpha val="28000"/>
              </a:schemeClr>
            </a:solidFill>
            <a:prstDash val="solid"/>
          </a:ln>
        </p:spPr>
      </p:sp>
      <p:sp>
        <p:nvSpPr>
          <p:cNvPr id="7" name="badge633"/>
          <p:cNvSpPr/>
          <p:nvPr/>
        </p:nvSpPr>
        <p:spPr>
          <a:xfrm>
            <a:off x="731520" y="1554480"/>
            <a:ext cx="411480" cy="402336"/>
          </a:xfrm>
          <a:prstGeom prst="roundRect">
            <a:avLst>
              <a:gd name="adj" fmla="val 18182"/>
            </a:avLst>
          </a:prstGeom>
          <a:solidFill>
            <a:schemeClr val="accent1"/>
          </a:solidFill>
          <a:ln/>
        </p:spPr>
      </p:sp>
      <p:sp>
        <p:nvSpPr>
          <p:cNvPr id="8" name="txt634"/>
          <p:cNvSpPr txBox="1"/>
          <p:nvPr/>
        </p:nvSpPr>
        <p:spPr>
          <a:xfrm>
            <a:off x="731520" y="1554480"/>
            <a:ext cx="411480" cy="402336"/>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9" name="txt635"/>
          <p:cNvSpPr txBox="1"/>
          <p:nvPr/>
        </p:nvSpPr>
        <p:spPr>
          <a:xfrm>
            <a:off x="1325880" y="1371600"/>
            <a:ext cx="5394960" cy="768096"/>
          </a:xfrm>
          <a:prstGeom prst="rect">
            <a:avLst/>
          </a:prstGeom>
          <a:noFill/>
          <a:ln/>
        </p:spPr>
        <p:txBody>
          <a:bodyPr wrap="square" lIns="0" tIns="0" rIns="0" bIns="0" rtlCol="0" anchor="ctr"/>
          <a:lstStyle/>
          <a:p>
            <a:pPr indent="0" marL="0">
              <a:buNone/>
            </a:pPr>
            <a:r>
              <a:rPr lang="en-US" sz="1400" dirty="0">
                <a:solidFill>
                  <a:schemeClr val="bg1"/>
                </a:solidFill>
              </a:rPr>
              <a:t>Entrada válida en la App 1 (Vercel): géneros y texto → recomendaciones en la misma pantalla.</a:t>
            </a:r>
            <a:endParaRPr lang="en-US" sz="1400" dirty="0"/>
          </a:p>
        </p:txBody>
      </p:sp>
      <p:sp>
        <p:nvSpPr>
          <p:cNvPr id="10" name="pill636"/>
          <p:cNvSpPr/>
          <p:nvPr/>
        </p:nvSpPr>
        <p:spPr>
          <a:xfrm>
            <a:off x="6858000" y="1581912"/>
            <a:ext cx="1097280" cy="347472"/>
          </a:xfrm>
          <a:prstGeom prst="roundRect">
            <a:avLst>
              <a:gd name="adj" fmla="val 50000"/>
            </a:avLst>
          </a:prstGeom>
          <a:solidFill>
            <a:schemeClr val="tx2"/>
          </a:solidFill>
          <a:ln w="12700">
            <a:solidFill>
              <a:schemeClr val="accent1"/>
            </a:solidFill>
            <a:prstDash val="solid"/>
          </a:ln>
        </p:spPr>
      </p:sp>
      <p:sp>
        <p:nvSpPr>
          <p:cNvPr id="11" name="txt637"/>
          <p:cNvSpPr txBox="1"/>
          <p:nvPr/>
        </p:nvSpPr>
        <p:spPr>
          <a:xfrm>
            <a:off x="6858000" y="1581912"/>
            <a:ext cx="1097280" cy="347472"/>
          </a:xfrm>
          <a:prstGeom prst="rect">
            <a:avLst/>
          </a:prstGeom>
          <a:noFill/>
          <a:ln/>
        </p:spPr>
        <p:txBody>
          <a:bodyPr wrap="square" lIns="0" tIns="0" rIns="0" bIns="0" rtlCol="0" anchor="ctr"/>
          <a:lstStyle/>
          <a:p>
            <a:pPr algn="ctr" indent="0" marL="0">
              <a:buNone/>
            </a:pPr>
            <a:r>
              <a:rPr lang="en-US" sz="1200" b="1" dirty="0">
                <a:solidFill>
                  <a:schemeClr val="accent1"/>
                </a:solidFill>
              </a:rPr>
              <a:t>Jose</a:t>
            </a:r>
            <a:endParaRPr lang="en-US" sz="1200" dirty="0"/>
          </a:p>
        </p:txBody>
      </p:sp>
      <p:sp>
        <p:nvSpPr>
          <p:cNvPr id="12" name="card638"/>
          <p:cNvSpPr/>
          <p:nvPr/>
        </p:nvSpPr>
        <p:spPr>
          <a:xfrm>
            <a:off x="548640" y="2267712"/>
            <a:ext cx="7589520" cy="768096"/>
          </a:xfrm>
          <a:prstGeom prst="roundRect">
            <a:avLst>
              <a:gd name="adj" fmla="val 14286"/>
            </a:avLst>
          </a:prstGeom>
          <a:solidFill>
            <a:schemeClr val="tx2"/>
          </a:solidFill>
          <a:ln w="9525">
            <a:solidFill>
              <a:schemeClr val="bg2">
                <a:alpha val="28000"/>
              </a:schemeClr>
            </a:solidFill>
            <a:prstDash val="solid"/>
          </a:ln>
        </p:spPr>
      </p:sp>
      <p:sp>
        <p:nvSpPr>
          <p:cNvPr id="13" name="badge639"/>
          <p:cNvSpPr/>
          <p:nvPr/>
        </p:nvSpPr>
        <p:spPr>
          <a:xfrm>
            <a:off x="731520" y="2450592"/>
            <a:ext cx="411480" cy="402336"/>
          </a:xfrm>
          <a:prstGeom prst="roundRect">
            <a:avLst>
              <a:gd name="adj" fmla="val 18182"/>
            </a:avLst>
          </a:prstGeom>
          <a:solidFill>
            <a:schemeClr val="accent1"/>
          </a:solidFill>
          <a:ln/>
        </p:spPr>
      </p:sp>
      <p:sp>
        <p:nvSpPr>
          <p:cNvPr id="14" name="txt640"/>
          <p:cNvSpPr txBox="1"/>
          <p:nvPr/>
        </p:nvSpPr>
        <p:spPr>
          <a:xfrm>
            <a:off x="731520" y="2450592"/>
            <a:ext cx="411480" cy="402336"/>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5" name="txt641"/>
          <p:cNvSpPr txBox="1"/>
          <p:nvPr/>
        </p:nvSpPr>
        <p:spPr>
          <a:xfrm>
            <a:off x="1325880" y="2267712"/>
            <a:ext cx="5394960" cy="768096"/>
          </a:xfrm>
          <a:prstGeom prst="rect">
            <a:avLst/>
          </a:prstGeom>
          <a:noFill/>
          <a:ln/>
        </p:spPr>
        <p:txBody>
          <a:bodyPr wrap="square" lIns="0" tIns="0" rIns="0" bIns="0" rtlCol="0" anchor="ctr"/>
          <a:lstStyle/>
          <a:p>
            <a:pPr indent="0" marL="0">
              <a:buNone/>
            </a:pPr>
            <a:r>
              <a:rPr lang="en-US" sz="1400" dirty="0">
                <a:solidFill>
                  <a:schemeClr val="bg1"/>
                </a:solidFill>
              </a:rPr>
              <a:t>Error controlado: formulario vacío (aviso) y 422 desde la consola del navegador.</a:t>
            </a:r>
            <a:endParaRPr lang="en-US" sz="1400" dirty="0"/>
          </a:p>
        </p:txBody>
      </p:sp>
      <p:sp>
        <p:nvSpPr>
          <p:cNvPr id="16" name="pill642"/>
          <p:cNvSpPr/>
          <p:nvPr/>
        </p:nvSpPr>
        <p:spPr>
          <a:xfrm>
            <a:off x="6858000" y="2478024"/>
            <a:ext cx="1097280" cy="347472"/>
          </a:xfrm>
          <a:prstGeom prst="roundRect">
            <a:avLst>
              <a:gd name="adj" fmla="val 50000"/>
            </a:avLst>
          </a:prstGeom>
          <a:solidFill>
            <a:schemeClr val="tx2"/>
          </a:solidFill>
          <a:ln w="12700">
            <a:solidFill>
              <a:schemeClr val="accent1"/>
            </a:solidFill>
            <a:prstDash val="solid"/>
          </a:ln>
        </p:spPr>
      </p:sp>
      <p:sp>
        <p:nvSpPr>
          <p:cNvPr id="17" name="txt643"/>
          <p:cNvSpPr txBox="1"/>
          <p:nvPr/>
        </p:nvSpPr>
        <p:spPr>
          <a:xfrm>
            <a:off x="6858000" y="2478024"/>
            <a:ext cx="1097280" cy="347472"/>
          </a:xfrm>
          <a:prstGeom prst="rect">
            <a:avLst/>
          </a:prstGeom>
          <a:noFill/>
          <a:ln/>
        </p:spPr>
        <p:txBody>
          <a:bodyPr wrap="square" lIns="0" tIns="0" rIns="0" bIns="0" rtlCol="0" anchor="ctr"/>
          <a:lstStyle/>
          <a:p>
            <a:pPr algn="ctr" indent="0" marL="0">
              <a:buNone/>
            </a:pPr>
            <a:r>
              <a:rPr lang="en-US" sz="1200" b="1" dirty="0">
                <a:solidFill>
                  <a:schemeClr val="accent1"/>
                </a:solidFill>
              </a:rPr>
              <a:t>Jose</a:t>
            </a:r>
            <a:endParaRPr lang="en-US" sz="1200" dirty="0"/>
          </a:p>
        </p:txBody>
      </p:sp>
      <p:sp>
        <p:nvSpPr>
          <p:cNvPr id="18" name="card644"/>
          <p:cNvSpPr/>
          <p:nvPr/>
        </p:nvSpPr>
        <p:spPr>
          <a:xfrm>
            <a:off x="548640" y="3163824"/>
            <a:ext cx="7589520" cy="768096"/>
          </a:xfrm>
          <a:prstGeom prst="roundRect">
            <a:avLst>
              <a:gd name="adj" fmla="val 14286"/>
            </a:avLst>
          </a:prstGeom>
          <a:solidFill>
            <a:schemeClr val="tx2"/>
          </a:solidFill>
          <a:ln w="9525">
            <a:solidFill>
              <a:schemeClr val="bg2">
                <a:alpha val="28000"/>
              </a:schemeClr>
            </a:solidFill>
            <a:prstDash val="solid"/>
          </a:ln>
        </p:spPr>
      </p:sp>
      <p:sp>
        <p:nvSpPr>
          <p:cNvPr id="19" name="badge645"/>
          <p:cNvSpPr/>
          <p:nvPr/>
        </p:nvSpPr>
        <p:spPr>
          <a:xfrm>
            <a:off x="731520" y="3346704"/>
            <a:ext cx="411480" cy="402336"/>
          </a:xfrm>
          <a:prstGeom prst="roundRect">
            <a:avLst>
              <a:gd name="adj" fmla="val 18182"/>
            </a:avLst>
          </a:prstGeom>
          <a:solidFill>
            <a:schemeClr val="accent1"/>
          </a:solidFill>
          <a:ln/>
        </p:spPr>
      </p:sp>
      <p:sp>
        <p:nvSpPr>
          <p:cNvPr id="20" name="txt646"/>
          <p:cNvSpPr txBox="1"/>
          <p:nvPr/>
        </p:nvSpPr>
        <p:spPr>
          <a:xfrm>
            <a:off x="731520" y="3346704"/>
            <a:ext cx="411480" cy="402336"/>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1" name="txt647"/>
          <p:cNvSpPr txBox="1"/>
          <p:nvPr/>
        </p:nvSpPr>
        <p:spPr>
          <a:xfrm>
            <a:off x="1325880" y="3163824"/>
            <a:ext cx="5394960" cy="768096"/>
          </a:xfrm>
          <a:prstGeom prst="rect">
            <a:avLst/>
          </a:prstGeom>
          <a:noFill/>
          <a:ln/>
        </p:spPr>
        <p:txBody>
          <a:bodyPr wrap="square" lIns="0" tIns="0" rIns="0" bIns="0" rtlCol="0" anchor="ctr"/>
          <a:lstStyle/>
          <a:p>
            <a:pPr indent="0" marL="0">
              <a:buNone/>
            </a:pPr>
            <a:r>
              <a:rPr lang="en-US" sz="1400" dirty="0">
                <a:solidFill>
                  <a:schemeClr val="bg1"/>
                </a:solidFill>
              </a:rPr>
              <a:t>App 2: inicio de sesión con Clerk y llamada sin token → 401.</a:t>
            </a:r>
            <a:endParaRPr lang="en-US" sz="1400" dirty="0"/>
          </a:p>
        </p:txBody>
      </p:sp>
      <p:sp>
        <p:nvSpPr>
          <p:cNvPr id="22" name="pill648"/>
          <p:cNvSpPr/>
          <p:nvPr/>
        </p:nvSpPr>
        <p:spPr>
          <a:xfrm>
            <a:off x="6858000" y="3374136"/>
            <a:ext cx="1097280" cy="347472"/>
          </a:xfrm>
          <a:prstGeom prst="roundRect">
            <a:avLst>
              <a:gd name="adj" fmla="val 50000"/>
            </a:avLst>
          </a:prstGeom>
          <a:solidFill>
            <a:schemeClr val="tx2"/>
          </a:solidFill>
          <a:ln w="12700">
            <a:solidFill>
              <a:schemeClr val="accent1"/>
            </a:solidFill>
            <a:prstDash val="solid"/>
          </a:ln>
        </p:spPr>
      </p:sp>
      <p:sp>
        <p:nvSpPr>
          <p:cNvPr id="23" name="txt649"/>
          <p:cNvSpPr txBox="1"/>
          <p:nvPr/>
        </p:nvSpPr>
        <p:spPr>
          <a:xfrm>
            <a:off x="6858000" y="3374136"/>
            <a:ext cx="1097280" cy="347472"/>
          </a:xfrm>
          <a:prstGeom prst="rect">
            <a:avLst/>
          </a:prstGeom>
          <a:noFill/>
          <a:ln/>
        </p:spPr>
        <p:txBody>
          <a:bodyPr wrap="square" lIns="0" tIns="0" rIns="0" bIns="0" rtlCol="0" anchor="ctr"/>
          <a:lstStyle/>
          <a:p>
            <a:pPr algn="ctr" indent="0" marL="0">
              <a:buNone/>
            </a:pPr>
            <a:r>
              <a:rPr lang="en-US" sz="1200" b="1" dirty="0">
                <a:solidFill>
                  <a:schemeClr val="accent1"/>
                </a:solidFill>
              </a:rPr>
              <a:t>Mario</a:t>
            </a:r>
            <a:endParaRPr lang="en-US" sz="1200" dirty="0"/>
          </a:p>
        </p:txBody>
      </p:sp>
      <p:sp>
        <p:nvSpPr>
          <p:cNvPr id="24" name="card650"/>
          <p:cNvSpPr/>
          <p:nvPr/>
        </p:nvSpPr>
        <p:spPr>
          <a:xfrm>
            <a:off x="548640" y="4059936"/>
            <a:ext cx="7589520" cy="768096"/>
          </a:xfrm>
          <a:prstGeom prst="roundRect">
            <a:avLst>
              <a:gd name="adj" fmla="val 14286"/>
            </a:avLst>
          </a:prstGeom>
          <a:solidFill>
            <a:schemeClr val="tx2"/>
          </a:solidFill>
          <a:ln w="9525">
            <a:solidFill>
              <a:schemeClr val="bg2">
                <a:alpha val="28000"/>
              </a:schemeClr>
            </a:solidFill>
            <a:prstDash val="solid"/>
          </a:ln>
        </p:spPr>
      </p:sp>
      <p:sp>
        <p:nvSpPr>
          <p:cNvPr id="25" name="badge651"/>
          <p:cNvSpPr/>
          <p:nvPr/>
        </p:nvSpPr>
        <p:spPr>
          <a:xfrm>
            <a:off x="731520" y="4242816"/>
            <a:ext cx="411480" cy="402336"/>
          </a:xfrm>
          <a:prstGeom prst="roundRect">
            <a:avLst>
              <a:gd name="adj" fmla="val 18182"/>
            </a:avLst>
          </a:prstGeom>
          <a:solidFill>
            <a:schemeClr val="accent1"/>
          </a:solidFill>
          <a:ln/>
        </p:spPr>
      </p:sp>
      <p:sp>
        <p:nvSpPr>
          <p:cNvPr id="26" name="txt652"/>
          <p:cNvSpPr txBox="1"/>
          <p:nvPr/>
        </p:nvSpPr>
        <p:spPr>
          <a:xfrm>
            <a:off x="731520" y="4242816"/>
            <a:ext cx="411480" cy="402336"/>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7" name="txt653"/>
          <p:cNvSpPr txBox="1"/>
          <p:nvPr/>
        </p:nvSpPr>
        <p:spPr>
          <a:xfrm>
            <a:off x="1325880" y="4059936"/>
            <a:ext cx="5394960" cy="768096"/>
          </a:xfrm>
          <a:prstGeom prst="rect">
            <a:avLst/>
          </a:prstGeom>
          <a:noFill/>
          <a:ln/>
        </p:spPr>
        <p:txBody>
          <a:bodyPr wrap="square" lIns="0" tIns="0" rIns="0" bIns="0" rtlCol="0" anchor="ctr"/>
          <a:lstStyle/>
          <a:p>
            <a:pPr indent="0" marL="0">
              <a:buNone/>
            </a:pPr>
            <a:r>
              <a:rPr lang="en-US" sz="1400" dirty="0">
                <a:solidFill>
                  <a:schemeClr val="bg1"/>
                </a:solidFill>
              </a:rPr>
              <a:t>App 2 en EC2 con HTTPS: 32-200-106-42.sslip.io.</a:t>
            </a:r>
            <a:endParaRPr lang="en-US" sz="1400" dirty="0"/>
          </a:p>
        </p:txBody>
      </p:sp>
      <p:sp>
        <p:nvSpPr>
          <p:cNvPr id="28" name="pill654"/>
          <p:cNvSpPr/>
          <p:nvPr/>
        </p:nvSpPr>
        <p:spPr>
          <a:xfrm>
            <a:off x="6858000" y="4270248"/>
            <a:ext cx="1097280" cy="347472"/>
          </a:xfrm>
          <a:prstGeom prst="roundRect">
            <a:avLst>
              <a:gd name="adj" fmla="val 50000"/>
            </a:avLst>
          </a:prstGeom>
          <a:solidFill>
            <a:schemeClr val="tx2"/>
          </a:solidFill>
          <a:ln w="12700">
            <a:solidFill>
              <a:schemeClr val="accent1"/>
            </a:solidFill>
            <a:prstDash val="solid"/>
          </a:ln>
        </p:spPr>
      </p:sp>
      <p:sp>
        <p:nvSpPr>
          <p:cNvPr id="29" name="txt655"/>
          <p:cNvSpPr txBox="1"/>
          <p:nvPr/>
        </p:nvSpPr>
        <p:spPr>
          <a:xfrm>
            <a:off x="6858000" y="4270248"/>
            <a:ext cx="1097280" cy="347472"/>
          </a:xfrm>
          <a:prstGeom prst="rect">
            <a:avLst/>
          </a:prstGeom>
          <a:noFill/>
          <a:ln/>
        </p:spPr>
        <p:txBody>
          <a:bodyPr wrap="square" lIns="0" tIns="0" rIns="0" bIns="0" rtlCol="0" anchor="ctr"/>
          <a:lstStyle/>
          <a:p>
            <a:pPr algn="ctr" indent="0" marL="0">
              <a:buNone/>
            </a:pPr>
            <a:r>
              <a:rPr lang="en-US" sz="1200" b="1" dirty="0">
                <a:solidFill>
                  <a:schemeClr val="accent1"/>
                </a:solidFill>
              </a:rPr>
              <a:t>Mario</a:t>
            </a:r>
            <a:endParaRPr lang="en-US" sz="1200" dirty="0"/>
          </a:p>
        </p:txBody>
      </p:sp>
      <p:sp>
        <p:nvSpPr>
          <p:cNvPr id="30" name="card656"/>
          <p:cNvSpPr/>
          <p:nvPr/>
        </p:nvSpPr>
        <p:spPr>
          <a:xfrm>
            <a:off x="548640" y="4956048"/>
            <a:ext cx="7589520" cy="768096"/>
          </a:xfrm>
          <a:prstGeom prst="roundRect">
            <a:avLst>
              <a:gd name="adj" fmla="val 14286"/>
            </a:avLst>
          </a:prstGeom>
          <a:solidFill>
            <a:schemeClr val="tx2"/>
          </a:solidFill>
          <a:ln w="9525">
            <a:solidFill>
              <a:schemeClr val="bg2">
                <a:alpha val="28000"/>
              </a:schemeClr>
            </a:solidFill>
            <a:prstDash val="solid"/>
          </a:ln>
        </p:spPr>
      </p:sp>
      <p:sp>
        <p:nvSpPr>
          <p:cNvPr id="31" name="badge657"/>
          <p:cNvSpPr/>
          <p:nvPr/>
        </p:nvSpPr>
        <p:spPr>
          <a:xfrm>
            <a:off x="731520" y="5138928"/>
            <a:ext cx="411480" cy="402336"/>
          </a:xfrm>
          <a:prstGeom prst="roundRect">
            <a:avLst>
              <a:gd name="adj" fmla="val 18182"/>
            </a:avLst>
          </a:prstGeom>
          <a:solidFill>
            <a:schemeClr val="accent1"/>
          </a:solidFill>
          <a:ln/>
        </p:spPr>
      </p:sp>
      <p:sp>
        <p:nvSpPr>
          <p:cNvPr id="32" name="txt658"/>
          <p:cNvSpPr txBox="1"/>
          <p:nvPr/>
        </p:nvSpPr>
        <p:spPr>
          <a:xfrm>
            <a:off x="731520" y="5138928"/>
            <a:ext cx="411480" cy="402336"/>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3" name="txt659"/>
          <p:cNvSpPr txBox="1"/>
          <p:nvPr/>
        </p:nvSpPr>
        <p:spPr>
          <a:xfrm>
            <a:off x="1325880" y="4956048"/>
            <a:ext cx="5394960" cy="768096"/>
          </a:xfrm>
          <a:prstGeom prst="rect">
            <a:avLst/>
          </a:prstGeom>
          <a:noFill/>
          <a:ln/>
        </p:spPr>
        <p:txBody>
          <a:bodyPr wrap="square" lIns="0" tIns="0" rIns="0" bIns="0" rtlCol="0" anchor="ctr"/>
          <a:lstStyle/>
          <a:p>
            <a:pPr indent="0" marL="0">
              <a:buNone/>
            </a:pPr>
            <a:r>
              <a:rPr lang="en-US" sz="1400" dirty="0">
                <a:solidFill>
                  <a:schemeClr val="bg1"/>
                </a:solidFill>
              </a:rPr>
              <a:t>Un test con mock (pytest -k timeout) y el commit de la especificación anterior al código.</a:t>
            </a:r>
            <a:endParaRPr lang="en-US" sz="1400" dirty="0"/>
          </a:p>
        </p:txBody>
      </p:sp>
      <p:sp>
        <p:nvSpPr>
          <p:cNvPr id="34" name="pill660"/>
          <p:cNvSpPr/>
          <p:nvPr/>
        </p:nvSpPr>
        <p:spPr>
          <a:xfrm>
            <a:off x="6858000" y="5166360"/>
            <a:ext cx="1097280" cy="347472"/>
          </a:xfrm>
          <a:prstGeom prst="roundRect">
            <a:avLst>
              <a:gd name="adj" fmla="val 50000"/>
            </a:avLst>
          </a:prstGeom>
          <a:solidFill>
            <a:schemeClr val="tx2"/>
          </a:solidFill>
          <a:ln w="12700">
            <a:solidFill>
              <a:schemeClr val="accent1"/>
            </a:solidFill>
            <a:prstDash val="solid"/>
          </a:ln>
        </p:spPr>
      </p:sp>
      <p:sp>
        <p:nvSpPr>
          <p:cNvPr id="35" name="txt661"/>
          <p:cNvSpPr txBox="1"/>
          <p:nvPr/>
        </p:nvSpPr>
        <p:spPr>
          <a:xfrm>
            <a:off x="6858000" y="5166360"/>
            <a:ext cx="1097280" cy="347472"/>
          </a:xfrm>
          <a:prstGeom prst="rect">
            <a:avLst/>
          </a:prstGeom>
          <a:noFill/>
          <a:ln/>
        </p:spPr>
        <p:txBody>
          <a:bodyPr wrap="square" lIns="0" tIns="0" rIns="0" bIns="0" rtlCol="0" anchor="ctr"/>
          <a:lstStyle/>
          <a:p>
            <a:pPr algn="ctr" indent="0" marL="0">
              <a:buNone/>
            </a:pPr>
            <a:r>
              <a:rPr lang="en-US" sz="1200" b="1" dirty="0">
                <a:solidFill>
                  <a:schemeClr val="accent1"/>
                </a:solidFill>
              </a:rPr>
              <a:t>David</a:t>
            </a:r>
            <a:endParaRPr lang="en-US" sz="1200" dirty="0"/>
          </a:p>
        </p:txBody>
      </p:sp>
      <p:sp>
        <p:nvSpPr>
          <p:cNvPr id="36" name="card662"/>
          <p:cNvSpPr/>
          <p:nvPr/>
        </p:nvSpPr>
        <p:spPr>
          <a:xfrm>
            <a:off x="8366760" y="1371600"/>
            <a:ext cx="3291840" cy="4334256"/>
          </a:xfrm>
          <a:prstGeom prst="roundRect">
            <a:avLst>
              <a:gd name="adj" fmla="val 3333"/>
            </a:avLst>
          </a:prstGeom>
          <a:solidFill>
            <a:schemeClr val="tx2"/>
          </a:solidFill>
          <a:ln w="9525">
            <a:solidFill>
              <a:schemeClr val="bg2">
                <a:alpha val="28000"/>
              </a:schemeClr>
            </a:solidFill>
            <a:prstDash val="solid"/>
          </a:ln>
        </p:spPr>
      </p:sp>
      <p:sp>
        <p:nvSpPr>
          <p:cNvPr id="37" name="txt663"/>
          <p:cNvSpPr txBox="1"/>
          <p:nvPr/>
        </p:nvSpPr>
        <p:spPr>
          <a:xfrm>
            <a:off x="8595360" y="1554480"/>
            <a:ext cx="2834640" cy="365760"/>
          </a:xfrm>
          <a:prstGeom prst="rect">
            <a:avLst/>
          </a:prstGeom>
          <a:noFill/>
          <a:ln/>
        </p:spPr>
        <p:txBody>
          <a:bodyPr wrap="square" lIns="0" tIns="0" rIns="0" bIns="0" rtlCol="0" anchor="t"/>
          <a:lstStyle/>
          <a:p>
            <a:pPr indent="0" marL="0">
              <a:buNone/>
            </a:pPr>
            <a:r>
              <a:rPr lang="en-US" sz="2000" b="1" dirty="0">
                <a:solidFill>
                  <a:schemeClr val="accent1"/>
                </a:solidFill>
              </a:rPr>
              <a:t>Plan B</a:t>
            </a:r>
            <a:endParaRPr lang="en-US" sz="2000" dirty="0"/>
          </a:p>
        </p:txBody>
      </p:sp>
      <p:sp>
        <p:nvSpPr>
          <p:cNvPr id="38" name="txt664"/>
          <p:cNvSpPr txBox="1"/>
          <p:nvPr/>
        </p:nvSpPr>
        <p:spPr>
          <a:xfrm>
            <a:off x="8595360" y="2057400"/>
            <a:ext cx="2880360" cy="27432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bg1"/>
                </a:solidFill>
              </a:rPr>
              <a:t>Si falla Gemini, Clerk o la red: capturas de docs/evidencias, presentadas como capturas.</a:t>
            </a:r>
            <a:endParaRPr lang="en-US" sz="1400" dirty="0"/>
          </a:p>
          <a:p>
            <a:pPr marL="177800" indent="-177800">
              <a:spcAft>
                <a:spcPts val="900"/>
              </a:spcAft>
              <a:buSzPct val="100000"/>
              <a:buChar char="•"/>
            </a:pPr>
            <a:r>
              <a:rPr lang="en-US" sz="1300" dirty="0">
                <a:solidFill>
                  <a:schemeClr val="bg1"/>
                </a:solidFill>
              </a:rPr>
              <a:t>Nunca un mock como si fuera la IA real.</a:t>
            </a:r>
            <a:endParaRPr lang="en-US" sz="1400" dirty="0"/>
          </a:p>
          <a:p>
            <a:pPr marL="177800" indent="-177800">
              <a:spcAft>
                <a:spcPts val="900"/>
              </a:spcAft>
              <a:buSzPct val="100000"/>
              <a:buChar char="•"/>
            </a:pPr>
            <a:r>
              <a:rPr lang="en-US" sz="1300" dirty="0">
                <a:solidFill>
                  <a:schemeClr val="bg1"/>
                </a:solidFill>
              </a:rPr>
              <a:t>Datos ficticios en todas las entradas.</a:t>
            </a:r>
            <a:endParaRPr lang="en-US" sz="1400" dirty="0"/>
          </a:p>
        </p:txBody>
      </p:sp>
      <p:sp>
        <p:nvSpPr>
          <p:cNvPr id="39" name="txt665"/>
          <p:cNvSpPr txBox="1"/>
          <p:nvPr/>
        </p:nvSpPr>
        <p:spPr>
          <a:xfrm>
            <a:off x="548640" y="5897880"/>
            <a:ext cx="7589520" cy="274320"/>
          </a:xfrm>
          <a:prstGeom prst="rect">
            <a:avLst/>
          </a:prstGeom>
          <a:noFill/>
          <a:ln/>
        </p:spPr>
        <p:txBody>
          <a:bodyPr wrap="square" lIns="0" tIns="0" rIns="0" bIns="0" rtlCol="0" anchor="t"/>
          <a:lstStyle/>
          <a:p>
            <a:pPr indent="0" marL="0">
              <a:buNone/>
            </a:pPr>
            <a:r>
              <a:rPr lang="en-US" sz="1100" dirty="0">
                <a:solidFill>
                  <a:schemeClr val="bg2"/>
                </a:solidFill>
                <a:latin typeface="Consolas" pitchFamily="34" charset="0"/>
                <a:ea typeface="Consolas" pitchFamily="34" charset="-122"/>
                <a:cs typeface="Consolas" pitchFamily="34" charset="-120"/>
              </a:rPr>
              <a:t>Hito Git: 16aa54a (spec, 25/10) → 8924e16 (código, 27/10)</a:t>
            </a:r>
            <a:endParaRPr lang="en-US" sz="11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503920" cy="777240"/>
          </a:xfrm>
          <a:prstGeom prst="rect">
            <a:avLst/>
          </a:prstGeom>
          <a:noFill/>
          <a:ln/>
        </p:spPr>
        <p:txBody>
          <a:bodyPr wrap="square" lIns="0" tIns="0" rIns="0" bIns="0" rtlCol="0" anchor="ctr"/>
          <a:lstStyle/>
          <a:p>
            <a:pPr algn="l" indent="0" marL="0">
              <a:buNone/>
            </a:pPr>
            <a:r>
              <a:rPr lang="en-US" sz="3400" b="1" dirty="0">
                <a:solidFill>
                  <a:schemeClr val="bg1"/>
                </a:solidFill>
              </a:rPr>
              <a:t>Conclusiones</a:t>
            </a:r>
            <a:endParaRPr lang="en-US" sz="3400" dirty="0"/>
          </a:p>
        </p:txBody>
      </p:sp>
      <p:sp>
        <p:nvSpPr>
          <p:cNvPr id="3" name="Text 0"/>
          <p:cNvSpPr/>
          <p:nvPr>
            <p:ph idx="101" type="body" hasCustomPrompt="1"/>
          </p:nvPr>
        </p:nvSpPr>
        <p:spPr>
          <a:xfrm>
            <a:off x="9052560" y="502920"/>
            <a:ext cx="2606040" cy="411480"/>
          </a:xfrm>
          <a:prstGeom prst="rect">
            <a:avLst/>
          </a:prstGeom>
          <a:noFill/>
          <a:ln/>
        </p:spPr>
        <p:txBody>
          <a:bodyPr wrap="square" lIns="0" tIns="0" rIns="0" bIns="0" rtlCol="0" anchor="ctr"/>
          <a:lstStyle/>
          <a:p>
            <a:pPr algn="r" indent="0" marL="0">
              <a:buNone/>
            </a:pPr>
            <a:r>
              <a:rPr lang="en-US" sz="1200" b="1" spc="150" kern="0" dirty="0">
                <a:solidFill>
                  <a:schemeClr val="accent1"/>
                </a:solidFill>
              </a:rPr>
              <a:t>CIERRE</a:t>
            </a:r>
            <a:endParaRPr lang="en-US" sz="1200" dirty="0"/>
          </a:p>
        </p:txBody>
      </p:sp>
      <p:sp>
        <p:nvSpPr>
          <p:cNvPr id="4" name="presenta666"/>
          <p:cNvSpPr/>
          <p:nvPr/>
        </p:nvSpPr>
        <p:spPr>
          <a:xfrm>
            <a:off x="8001000" y="6327648"/>
            <a:ext cx="3063240" cy="320040"/>
          </a:xfrm>
          <a:prstGeom prst="roundRect">
            <a:avLst>
              <a:gd name="adj" fmla="val 48571"/>
            </a:avLst>
          </a:prstGeom>
          <a:solidFill>
            <a:schemeClr val="tx2"/>
          </a:solidFill>
          <a:ln w="9525">
            <a:solidFill>
              <a:schemeClr val="accent1"/>
            </a:solidFill>
            <a:prstDash val="solid"/>
          </a:ln>
        </p:spPr>
      </p:sp>
      <p:sp>
        <p:nvSpPr>
          <p:cNvPr id="5" name="txt667"/>
          <p:cNvSpPr txBox="1"/>
          <p:nvPr/>
        </p:nvSpPr>
        <p:spPr>
          <a:xfrm>
            <a:off x="8001000" y="6327648"/>
            <a:ext cx="3063240" cy="320040"/>
          </a:xfrm>
          <a:prstGeom prst="rect">
            <a:avLst/>
          </a:prstGeom>
          <a:noFill/>
          <a:ln/>
        </p:spPr>
        <p:txBody>
          <a:bodyPr wrap="square" lIns="0" tIns="0" rIns="0" bIns="0" rtlCol="0" anchor="ctr"/>
          <a:lstStyle/>
          <a:p>
            <a:pPr algn="ctr" indent="0" marL="0">
              <a:buNone/>
            </a:pPr>
            <a:r>
              <a:rPr lang="en-US" sz="1100" dirty="0">
                <a:solidFill>
                  <a:schemeClr val="bg2"/>
                </a:solidFill>
              </a:rPr>
              <a:t>Presenta · </a:t>
            </a:r>
            <a:pPr algn="ctr" indent="0" marL="0">
              <a:buNone/>
            </a:pPr>
            <a:r>
              <a:rPr lang="en-US" sz="1100" b="1" dirty="0">
                <a:solidFill>
                  <a:schemeClr val="accent1"/>
                </a:solidFill>
              </a:rPr>
              <a:t>David Molina</a:t>
            </a:r>
            <a:endParaRPr lang="en-US" sz="1100" dirty="0"/>
          </a:p>
        </p:txBody>
      </p:sp>
      <p:sp>
        <p:nvSpPr>
          <p:cNvPr id="6" name="card668"/>
          <p:cNvSpPr/>
          <p:nvPr/>
        </p:nvSpPr>
        <p:spPr>
          <a:xfrm>
            <a:off x="548640" y="1371600"/>
            <a:ext cx="5486400" cy="1737360"/>
          </a:xfrm>
          <a:prstGeom prst="roundRect">
            <a:avLst>
              <a:gd name="adj" fmla="val 6316"/>
            </a:avLst>
          </a:prstGeom>
          <a:solidFill>
            <a:schemeClr val="tx2"/>
          </a:solidFill>
          <a:ln w="9525">
            <a:solidFill>
              <a:schemeClr val="bg2">
                <a:alpha val="28000"/>
              </a:schemeClr>
            </a:solidFill>
            <a:prstDash val="solid"/>
          </a:ln>
        </p:spPr>
      </p:sp>
      <p:sp>
        <p:nvSpPr>
          <p:cNvPr id="7" name="badge669"/>
          <p:cNvSpPr/>
          <p:nvPr/>
        </p:nvSpPr>
        <p:spPr>
          <a:xfrm>
            <a:off x="822960" y="1645920"/>
            <a:ext cx="457200" cy="384048"/>
          </a:xfrm>
          <a:prstGeom prst="roundRect">
            <a:avLst>
              <a:gd name="adj" fmla="val 19048"/>
            </a:avLst>
          </a:prstGeom>
          <a:solidFill>
            <a:schemeClr val="accent1"/>
          </a:solidFill>
          <a:ln/>
        </p:spPr>
      </p:sp>
      <p:sp>
        <p:nvSpPr>
          <p:cNvPr id="8" name="txt670"/>
          <p:cNvSpPr txBox="1"/>
          <p:nvPr/>
        </p:nvSpPr>
        <p:spPr>
          <a:xfrm>
            <a:off x="822960" y="164592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9" name="txt671"/>
          <p:cNvSpPr txBox="1"/>
          <p:nvPr/>
        </p:nvSpPr>
        <p:spPr>
          <a:xfrm>
            <a:off x="1463040" y="1645920"/>
            <a:ext cx="4389120" cy="384048"/>
          </a:xfrm>
          <a:prstGeom prst="rect">
            <a:avLst/>
          </a:prstGeom>
          <a:noFill/>
          <a:ln/>
        </p:spPr>
        <p:txBody>
          <a:bodyPr wrap="square" lIns="0" tIns="0" rIns="0" bIns="0" rtlCol="0" anchor="ctr"/>
          <a:lstStyle/>
          <a:p>
            <a:pPr indent="0" marL="0">
              <a:buNone/>
            </a:pPr>
            <a:r>
              <a:rPr lang="en-US" sz="1800" b="1" dirty="0">
                <a:solidFill>
                  <a:schemeClr val="bg1"/>
                </a:solidFill>
              </a:rPr>
              <a:t>Mismo resultado, procesos distintos</a:t>
            </a:r>
            <a:endParaRPr lang="en-US" sz="1800" dirty="0"/>
          </a:p>
        </p:txBody>
      </p:sp>
      <p:sp>
        <p:nvSpPr>
          <p:cNvPr id="10" name="txt672"/>
          <p:cNvSpPr txBox="1"/>
          <p:nvPr/>
        </p:nvSpPr>
        <p:spPr>
          <a:xfrm>
            <a:off x="1463040" y="2148840"/>
            <a:ext cx="4343400" cy="868680"/>
          </a:xfrm>
          <a:prstGeom prst="rect">
            <a:avLst/>
          </a:prstGeom>
          <a:noFill/>
          <a:ln/>
        </p:spPr>
        <p:txBody>
          <a:bodyPr wrap="square" lIns="0" tIns="0" rIns="0" bIns="0" rtlCol="0" anchor="t"/>
          <a:lstStyle/>
          <a:p>
            <a:pPr indent="0" marL="0">
              <a:buNone/>
            </a:pPr>
            <a:r>
              <a:rPr lang="en-US" sz="1400" dirty="0">
                <a:solidFill>
                  <a:schemeClr val="bg2"/>
                </a:solidFill>
              </a:rPr>
              <a:t>Las dos apps cumplen los mismos escenarios de aceptación; lo que cambia es cómo llegamos a ellos.</a:t>
            </a:r>
            <a:endParaRPr lang="en-US" sz="1400" dirty="0"/>
          </a:p>
        </p:txBody>
      </p:sp>
      <p:sp>
        <p:nvSpPr>
          <p:cNvPr id="11" name="card673"/>
          <p:cNvSpPr/>
          <p:nvPr/>
        </p:nvSpPr>
        <p:spPr>
          <a:xfrm>
            <a:off x="6172200" y="1371600"/>
            <a:ext cx="5486400" cy="1737360"/>
          </a:xfrm>
          <a:prstGeom prst="roundRect">
            <a:avLst>
              <a:gd name="adj" fmla="val 6316"/>
            </a:avLst>
          </a:prstGeom>
          <a:solidFill>
            <a:schemeClr val="tx2"/>
          </a:solidFill>
          <a:ln w="9525">
            <a:solidFill>
              <a:schemeClr val="bg2">
                <a:alpha val="28000"/>
              </a:schemeClr>
            </a:solidFill>
            <a:prstDash val="solid"/>
          </a:ln>
        </p:spPr>
      </p:sp>
      <p:sp>
        <p:nvSpPr>
          <p:cNvPr id="12" name="badge674"/>
          <p:cNvSpPr/>
          <p:nvPr/>
        </p:nvSpPr>
        <p:spPr>
          <a:xfrm>
            <a:off x="6446520" y="1645920"/>
            <a:ext cx="457200" cy="384048"/>
          </a:xfrm>
          <a:prstGeom prst="roundRect">
            <a:avLst>
              <a:gd name="adj" fmla="val 19048"/>
            </a:avLst>
          </a:prstGeom>
          <a:solidFill>
            <a:schemeClr val="accent1"/>
          </a:solidFill>
          <a:ln/>
        </p:spPr>
      </p:sp>
      <p:sp>
        <p:nvSpPr>
          <p:cNvPr id="13" name="txt675"/>
          <p:cNvSpPr txBox="1"/>
          <p:nvPr/>
        </p:nvSpPr>
        <p:spPr>
          <a:xfrm>
            <a:off x="6446520" y="164592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txt676"/>
          <p:cNvSpPr txBox="1"/>
          <p:nvPr/>
        </p:nvSpPr>
        <p:spPr>
          <a:xfrm>
            <a:off x="7086600" y="1645920"/>
            <a:ext cx="4389120" cy="384048"/>
          </a:xfrm>
          <a:prstGeom prst="rect">
            <a:avLst/>
          </a:prstGeom>
          <a:noFill/>
          <a:ln/>
        </p:spPr>
        <p:txBody>
          <a:bodyPr wrap="square" lIns="0" tIns="0" rIns="0" bIns="0" rtlCol="0" anchor="ctr"/>
          <a:lstStyle/>
          <a:p>
            <a:pPr indent="0" marL="0">
              <a:buNone/>
            </a:pPr>
            <a:r>
              <a:rPr lang="en-US" sz="1800" b="1" dirty="0">
                <a:solidFill>
                  <a:schemeClr val="bg1"/>
                </a:solidFill>
              </a:rPr>
              <a:t>La IA acelera, pero no se revisa sola</a:t>
            </a:r>
            <a:endParaRPr lang="en-US" sz="1800" dirty="0"/>
          </a:p>
        </p:txBody>
      </p:sp>
      <p:sp>
        <p:nvSpPr>
          <p:cNvPr id="15" name="txt677"/>
          <p:cNvSpPr txBox="1"/>
          <p:nvPr/>
        </p:nvSpPr>
        <p:spPr>
          <a:xfrm>
            <a:off x="7086600" y="2148840"/>
            <a:ext cx="4343400" cy="868680"/>
          </a:xfrm>
          <a:prstGeom prst="rect">
            <a:avLst/>
          </a:prstGeom>
          <a:noFill/>
          <a:ln/>
        </p:spPr>
        <p:txBody>
          <a:bodyPr wrap="square" lIns="0" tIns="0" rIns="0" bIns="0" rtlCol="0" anchor="t"/>
          <a:lstStyle/>
          <a:p>
            <a:pPr indent="0" marL="0">
              <a:buNone/>
            </a:pPr>
            <a:r>
              <a:rPr lang="en-US" sz="1400" dirty="0">
                <a:solidFill>
                  <a:schemeClr val="bg2"/>
                </a:solidFill>
              </a:rPr>
              <a:t>Escribió el código en minutos, pero sus fallos solo aparecieron al ejecutar y desplegar.</a:t>
            </a:r>
            <a:endParaRPr lang="en-US" sz="1400" dirty="0"/>
          </a:p>
        </p:txBody>
      </p:sp>
      <p:sp>
        <p:nvSpPr>
          <p:cNvPr id="16" name="card678"/>
          <p:cNvSpPr/>
          <p:nvPr/>
        </p:nvSpPr>
        <p:spPr>
          <a:xfrm>
            <a:off x="548640" y="3246120"/>
            <a:ext cx="5486400" cy="1737360"/>
          </a:xfrm>
          <a:prstGeom prst="roundRect">
            <a:avLst>
              <a:gd name="adj" fmla="val 6316"/>
            </a:avLst>
          </a:prstGeom>
          <a:solidFill>
            <a:schemeClr val="tx2"/>
          </a:solidFill>
          <a:ln w="9525">
            <a:solidFill>
              <a:schemeClr val="bg2">
                <a:alpha val="28000"/>
              </a:schemeClr>
            </a:solidFill>
            <a:prstDash val="solid"/>
          </a:ln>
        </p:spPr>
      </p:sp>
      <p:sp>
        <p:nvSpPr>
          <p:cNvPr id="17" name="badge679"/>
          <p:cNvSpPr/>
          <p:nvPr/>
        </p:nvSpPr>
        <p:spPr>
          <a:xfrm>
            <a:off x="822960" y="3520440"/>
            <a:ext cx="457200" cy="384048"/>
          </a:xfrm>
          <a:prstGeom prst="roundRect">
            <a:avLst>
              <a:gd name="adj" fmla="val 19048"/>
            </a:avLst>
          </a:prstGeom>
          <a:solidFill>
            <a:schemeClr val="accent1"/>
          </a:solidFill>
          <a:ln/>
        </p:spPr>
      </p:sp>
      <p:sp>
        <p:nvSpPr>
          <p:cNvPr id="18" name="txt680"/>
          <p:cNvSpPr txBox="1"/>
          <p:nvPr/>
        </p:nvSpPr>
        <p:spPr>
          <a:xfrm>
            <a:off x="822960" y="352044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9" name="txt681"/>
          <p:cNvSpPr txBox="1"/>
          <p:nvPr/>
        </p:nvSpPr>
        <p:spPr>
          <a:xfrm>
            <a:off x="1463040" y="3520440"/>
            <a:ext cx="4389120" cy="384048"/>
          </a:xfrm>
          <a:prstGeom prst="rect">
            <a:avLst/>
          </a:prstGeom>
          <a:noFill/>
          <a:ln/>
        </p:spPr>
        <p:txBody>
          <a:bodyPr wrap="square" lIns="0" tIns="0" rIns="0" bIns="0" rtlCol="0" anchor="ctr"/>
          <a:lstStyle/>
          <a:p>
            <a:pPr indent="0" marL="0">
              <a:buNone/>
            </a:pPr>
            <a:r>
              <a:rPr lang="en-US" sz="1800" b="1" dirty="0">
                <a:solidFill>
                  <a:schemeClr val="bg1"/>
                </a:solidFill>
              </a:rPr>
              <a:t>Especificar primero obliga a decidir</a:t>
            </a:r>
            <a:endParaRPr lang="en-US" sz="1800" dirty="0"/>
          </a:p>
        </p:txBody>
      </p:sp>
      <p:sp>
        <p:nvSpPr>
          <p:cNvPr id="20" name="txt682"/>
          <p:cNvSpPr txBox="1"/>
          <p:nvPr/>
        </p:nvSpPr>
        <p:spPr>
          <a:xfrm>
            <a:off x="1463040" y="4023360"/>
            <a:ext cx="4343400" cy="868680"/>
          </a:xfrm>
          <a:prstGeom prst="rect">
            <a:avLst/>
          </a:prstGeom>
          <a:noFill/>
          <a:ln/>
        </p:spPr>
        <p:txBody>
          <a:bodyPr wrap="square" lIns="0" tIns="0" rIns="0" bIns="0" rtlCol="0" anchor="t"/>
          <a:lstStyle/>
          <a:p>
            <a:pPr indent="0" marL="0">
              <a:buNone/>
            </a:pPr>
            <a:r>
              <a:rPr lang="en-US" sz="1400" dirty="0">
                <a:solidFill>
                  <a:schemeClr val="bg2"/>
                </a:solidFill>
              </a:rPr>
              <a:t>Contrato, 401 y límites quedaron fijados antes de escribir una línea de código.</a:t>
            </a:r>
            <a:endParaRPr lang="en-US" sz="1400" dirty="0"/>
          </a:p>
        </p:txBody>
      </p:sp>
      <p:sp>
        <p:nvSpPr>
          <p:cNvPr id="21" name="card683"/>
          <p:cNvSpPr/>
          <p:nvPr/>
        </p:nvSpPr>
        <p:spPr>
          <a:xfrm>
            <a:off x="6172200" y="3246120"/>
            <a:ext cx="5486400" cy="1737360"/>
          </a:xfrm>
          <a:prstGeom prst="roundRect">
            <a:avLst>
              <a:gd name="adj" fmla="val 6316"/>
            </a:avLst>
          </a:prstGeom>
          <a:solidFill>
            <a:schemeClr val="tx2"/>
          </a:solidFill>
          <a:ln w="9525">
            <a:solidFill>
              <a:schemeClr val="bg2">
                <a:alpha val="28000"/>
              </a:schemeClr>
            </a:solidFill>
            <a:prstDash val="solid"/>
          </a:ln>
        </p:spPr>
      </p:sp>
      <p:sp>
        <p:nvSpPr>
          <p:cNvPr id="22" name="badge684"/>
          <p:cNvSpPr/>
          <p:nvPr/>
        </p:nvSpPr>
        <p:spPr>
          <a:xfrm>
            <a:off x="6446520" y="3520440"/>
            <a:ext cx="457200" cy="384048"/>
          </a:xfrm>
          <a:prstGeom prst="roundRect">
            <a:avLst>
              <a:gd name="adj" fmla="val 19048"/>
            </a:avLst>
          </a:prstGeom>
          <a:solidFill>
            <a:schemeClr val="accent1"/>
          </a:solidFill>
          <a:ln/>
        </p:spPr>
      </p:sp>
      <p:sp>
        <p:nvSpPr>
          <p:cNvPr id="23" name="txt685"/>
          <p:cNvSpPr txBox="1"/>
          <p:nvPr/>
        </p:nvSpPr>
        <p:spPr>
          <a:xfrm>
            <a:off x="6446520" y="3520440"/>
            <a:ext cx="457200"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4" name="txt686"/>
          <p:cNvSpPr txBox="1"/>
          <p:nvPr/>
        </p:nvSpPr>
        <p:spPr>
          <a:xfrm>
            <a:off x="7086600" y="3520440"/>
            <a:ext cx="4389120" cy="384048"/>
          </a:xfrm>
          <a:prstGeom prst="rect">
            <a:avLst/>
          </a:prstGeom>
          <a:noFill/>
          <a:ln/>
        </p:spPr>
        <p:txBody>
          <a:bodyPr wrap="square" lIns="0" tIns="0" rIns="0" bIns="0" rtlCol="0" anchor="ctr"/>
          <a:lstStyle/>
          <a:p>
            <a:pPr indent="0" marL="0">
              <a:buNone/>
            </a:pPr>
            <a:r>
              <a:rPr lang="en-US" sz="1800" b="1" dirty="0">
                <a:solidFill>
                  <a:schemeClr val="bg1"/>
                </a:solidFill>
              </a:rPr>
              <a:t>Seguridad por diseño</a:t>
            </a:r>
            <a:endParaRPr lang="en-US" sz="1800" dirty="0"/>
          </a:p>
        </p:txBody>
      </p:sp>
      <p:sp>
        <p:nvSpPr>
          <p:cNvPr id="25" name="txt687"/>
          <p:cNvSpPr txBox="1"/>
          <p:nvPr/>
        </p:nvSpPr>
        <p:spPr>
          <a:xfrm>
            <a:off x="7086600" y="4023360"/>
            <a:ext cx="4343400" cy="868680"/>
          </a:xfrm>
          <a:prstGeom prst="rect">
            <a:avLst/>
          </a:prstGeom>
          <a:noFill/>
          <a:ln/>
        </p:spPr>
        <p:txBody>
          <a:bodyPr wrap="square" lIns="0" tIns="0" rIns="0" bIns="0" rtlCol="0" anchor="t"/>
          <a:lstStyle/>
          <a:p>
            <a:pPr indent="0" marL="0">
              <a:buNone/>
            </a:pPr>
            <a:r>
              <a:rPr lang="en-US" sz="1400" dirty="0">
                <a:solidFill>
                  <a:schemeClr val="bg2"/>
                </a:solidFill>
              </a:rPr>
              <a:t>La clave solo en el backend, el token antes que la IA y ningún dato guardado.</a:t>
            </a:r>
            <a:endParaRPr lang="en-US" sz="1400" dirty="0"/>
          </a:p>
        </p:txBody>
      </p:sp>
      <p:sp>
        <p:nvSpPr>
          <p:cNvPr id="26" name="cambiar688"/>
          <p:cNvSpPr/>
          <p:nvPr/>
        </p:nvSpPr>
        <p:spPr>
          <a:xfrm>
            <a:off x="548640" y="5166360"/>
            <a:ext cx="11109960" cy="365760"/>
          </a:xfrm>
          <a:prstGeom prst="roundRect">
            <a:avLst>
              <a:gd name="adj" fmla="val 20000"/>
            </a:avLst>
          </a:prstGeom>
          <a:solidFill>
            <a:schemeClr val="accent4"/>
          </a:solidFill>
          <a:ln/>
        </p:spPr>
      </p:sp>
      <p:sp>
        <p:nvSpPr>
          <p:cNvPr id="27" name="txt689"/>
          <p:cNvSpPr txBox="1"/>
          <p:nvPr/>
        </p:nvSpPr>
        <p:spPr>
          <a:xfrm>
            <a:off x="685800" y="5166360"/>
            <a:ext cx="10835640" cy="365760"/>
          </a:xfrm>
          <a:prstGeom prst="rect">
            <a:avLst/>
          </a:prstGeom>
          <a:noFill/>
          <a:ln/>
        </p:spPr>
        <p:txBody>
          <a:bodyPr wrap="square" lIns="0" tIns="0" rIns="0" bIns="0" rtlCol="0" anchor="ctr"/>
          <a:lstStyle/>
          <a:p>
            <a:pPr indent="0" marL="0">
              <a:buNone/>
            </a:pPr>
            <a:r>
              <a:rPr lang="en-US" sz="1200" b="1" dirty="0">
                <a:solidFill>
                  <a:schemeClr val="tx1"/>
                </a:solidFill>
              </a:rPr>
              <a:t>⚠ CAMBIAR  </a:t>
            </a:r>
            <a:pPr indent="0" marL="0">
              <a:buNone/>
            </a:pPr>
            <a:r>
              <a:rPr lang="en-US" sz="1200" dirty="0">
                <a:solidFill>
                  <a:schemeClr val="tx1"/>
                </a:solidFill>
              </a:rPr>
              <a:t>ajustar con las conclusiones finales de comparativa.md cuando estén cerradas.</a:t>
            </a:r>
            <a:endParaRPr lang="en-US" sz="1200" dirty="0"/>
          </a:p>
        </p:txBody>
      </p:sp>
      <p:sp>
        <p:nvSpPr>
          <p:cNvPr id="28" name="card690"/>
          <p:cNvSpPr/>
          <p:nvPr/>
        </p:nvSpPr>
        <p:spPr>
          <a:xfrm>
            <a:off x="548640" y="5623560"/>
            <a:ext cx="11109960" cy="548640"/>
          </a:xfrm>
          <a:prstGeom prst="roundRect">
            <a:avLst>
              <a:gd name="adj" fmla="val 20000"/>
            </a:avLst>
          </a:prstGeom>
          <a:solidFill>
            <a:schemeClr val="tx2"/>
          </a:solidFill>
          <a:ln w="9525">
            <a:solidFill>
              <a:schemeClr val="accent1"/>
            </a:solidFill>
            <a:prstDash val="solid"/>
          </a:ln>
        </p:spPr>
      </p:sp>
      <p:pic>
        <p:nvPicPr>
          <p:cNvPr id="29" name="logoCierre" descr="Logo de Musicfy">    </p:cNvPr>
          <p:cNvPicPr>
            <a:picLocks noChangeAspect="1"/>
          </p:cNvPicPr>
          <p:nvPr/>
        </p:nvPicPr>
        <p:blipFill>
          <a:blip r:embed="rId1"/>
          <a:stretch>
            <a:fillRect/>
          </a:stretch>
        </p:blipFill>
        <p:spPr>
          <a:xfrm>
            <a:off x="777240" y="5669280"/>
            <a:ext cx="1207008" cy="457200"/>
          </a:xfrm>
          <a:prstGeom prst="rect">
            <a:avLst/>
          </a:prstGeom>
        </p:spPr>
      </p:pic>
      <p:sp>
        <p:nvSpPr>
          <p:cNvPr id="30" name="txt691"/>
          <p:cNvSpPr txBox="1"/>
          <p:nvPr/>
        </p:nvSpPr>
        <p:spPr>
          <a:xfrm>
            <a:off x="2194560" y="5623560"/>
            <a:ext cx="9235440" cy="548640"/>
          </a:xfrm>
          <a:prstGeom prst="rect">
            <a:avLst/>
          </a:prstGeom>
          <a:noFill/>
          <a:ln/>
        </p:spPr>
        <p:txBody>
          <a:bodyPr wrap="square" lIns="0" tIns="0" rIns="0" bIns="0" rtlCol="0" anchor="ctr"/>
          <a:lstStyle/>
          <a:p>
            <a:pPr algn="ctr" indent="0" marL="0">
              <a:buNone/>
            </a:pPr>
            <a:r>
              <a:rPr lang="en-US" sz="1800" dirty="0">
                <a:solidFill>
                  <a:schemeClr val="bg2"/>
                </a:solidFill>
              </a:rPr>
              <a:t>tus gustos, tus artistas, una sola pantalla  ·  </a:t>
            </a:r>
            <a:pPr algn="ctr" indent="0" marL="0">
              <a:buNone/>
            </a:pPr>
            <a:r>
              <a:rPr lang="en-US" sz="1800" b="1" dirty="0">
                <a:solidFill>
                  <a:schemeClr val="accent1"/>
                </a:solidFill>
              </a:rPr>
              <a:t>¡Gracias! ¿Preguntas?</a:t>
            </a:r>
            <a:endParaRPr lang="en-US" sz="1800" dirty="0"/>
          </a:p>
        </p:txBody>
      </p:sp>
      <p:sp>
        <p:nvSpPr>
          <p:cNvPr id="25" name="Slide Number Placeholder 0"/>
          <p:cNvSpPr>
            <a:spLocks noGrp="1"/>
          </p:cNvSpPr>
          <p:nvPr>
            <p:ph type="sldNum" sz="quarter" idx="4294967295"/>
          </p:nvPr>
        </p:nvSpPr>
        <p:spPr>
          <a:xfrm>
            <a:off x="11201400" y="6336792"/>
            <a:ext cx="457200" cy="30175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Musicfy">
  <a:themeElements>
    <a:clrScheme name="Musicfy">
      <a:dk1>
        <a:srgbClr val="0B0B12"/>
      </a:dk1>
      <a:lt1>
        <a:srgbClr val="FFFFFF"/>
      </a:lt1>
      <a:dk2>
        <a:srgbClr val="171725"/>
      </a:dk2>
      <a:lt2>
        <a:srgbClr val="A9A9BF"/>
      </a:lt2>
      <a:accent1>
        <a:srgbClr val="E86CCA"/>
      </a:accent1>
      <a:accent2>
        <a:srgbClr val="9B8CFF"/>
      </a:accent2>
      <a:accent3>
        <a:srgbClr val="4FD1E8"/>
      </a:accent3>
      <a:accent4>
        <a:srgbClr val="F5B84B"/>
      </a:accent4>
      <a:accent5>
        <a:srgbClr val="F2667A"/>
      </a:accent5>
      <a:accent6>
        <a:srgbClr val="4ADE80"/>
      </a:accent6>
      <a:hlink>
        <a:srgbClr val="E86CCA"/>
      </a:hlink>
      <a:folHlink>
        <a:srgbClr val="9B8CFF"/>
      </a:folHlink>
    </a:clrScheme>
    <a:fontScheme name="Musicf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Musicfy · Presentación UD1</dc:title>
  <dc:subject>PptxGenJS Presentation</dc:subject>
  <dc:creator>Mario Luna Lopez, Jose Antonio Nieto Perez, David Molina Castillo</dc:creator>
  <cp:lastModifiedBy>Mario Luna Lopez, Jose Antonio Nieto Perez, David Molina Castillo</cp:lastModifiedBy>
  <cp:revision>1</cp:revision>
  <dcterms:created xsi:type="dcterms:W3CDTF">2026-10-28T17:00:36Z</dcterms:created>
  <dcterms:modified xsi:type="dcterms:W3CDTF">2026-10-28T17:00:36Z</dcterms:modified>
</cp:coreProperties>
</file>