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_rels/slideMaster1.xml.rels" ContentType="application/vnd.openxmlformats-package.relationships+xml"/>
  <Override PartName="/ppt/notesMasters/notesMaster1.xml" ContentType="application/vnd.openxmlformats-officedocument.presentationml.notesMaster+xml"/>
  <Override PartName="/ppt/notesMasters/_rels/notesMaster1.xml.rels" ContentType="application/vnd.openxmlformats-package.relationships+xml"/>
  <Override PartName="/ppt/theme/theme1.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_rels/notesSlide1.xml.rels" ContentType="application/vnd.openxmlformats-package.relationships+xml"/>
  <Override PartName="/ppt/notesSlides/_rels/notesSlide2.xml.rels" ContentType="application/vnd.openxmlformats-package.relationships+xml"/>
  <Override PartName="/ppt/notesSlides/_rels/notesSlide3.xml.rels" ContentType="application/vnd.openxmlformats-package.relationships+xml"/>
  <Override PartName="/ppt/notesSlides/_rels/notesSlide4.xml.rels" ContentType="application/vnd.openxmlformats-package.relationships+xml"/>
  <Override PartName="/ppt/notesSlides/_rels/notesSlide5.xml.rels" ContentType="application/vnd.openxmlformats-package.relationships+xml"/>
  <Override PartName="/ppt/notesSlides/_rels/notesSlide6.xml.rels" ContentType="application/vnd.openxmlformats-package.relationships+xml"/>
  <Override PartName="/ppt/notesSlides/_rels/notesSlide7.xml.rels" ContentType="application/vnd.openxmlformats-package.relationships+xml"/>
  <Override PartName="/ppt/notesSlides/_rels/notesSlide8.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11.xml.rels" ContentType="application/vnd.openxmlformats-package.relationships+xml"/>
  <Override PartName="/ppt/notesSlides/_rels/notesSlide12.xml.rels" ContentType="application/vnd.openxmlformats-package.relationships+xml"/>
  <Override PartName="/ppt/notesSlides/_rels/notesSlide13.xml.rels" ContentType="application/vnd.openxmlformats-package.relationships+xml"/>
  <Override PartName="/ppt/notesSlides/_rels/notesSlide14.xml.rels" ContentType="application/vnd.openxmlformats-package.relationships+xml"/>
  <Override PartName="/ppt/notesSlides/_rels/notesSlide15.xml.rels" ContentType="application/vnd.openxmlformats-package.relationships+xml"/>
  <Override PartName="/ppt/notesSlides/_rels/notesSlide16.xml.rels" ContentType="application/vnd.openxmlformats-package.relationships+xml"/>
  <Override PartName="/ppt/notesSlides/_rels/notesSlide17.xml.rels" ContentType="application/vnd.openxmlformats-package.relationships+xml"/>
  <Override PartName="/ppt/notesSlides/_rels/notesSlide18.xml.rels" ContentType="application/vnd.openxmlformats-package.relationships+xml"/>
  <Override PartName="/ppt/notesSlides/_rels/notesSlide19.xml.rels" ContentType="application/vnd.openxmlformats-package.relationships+xml"/>
  <Override PartName="/ppt/notesSlides/_rels/notesSlide20.xml.rels" ContentType="application/vnd.openxmlformats-package.relationships+xml"/>
  <Override PartName="/ppt/notesSlides/_rels/notesSlide21.xml.rels" ContentType="application/vnd.openxmlformats-package.relationships+xml"/>
  <Override PartName="/ppt/notesSlides/_rels/notesSlide22.xml.rels" ContentType="application/vnd.openxmlformats-package.relationships+xml"/>
  <Override PartName="/ppt/notesSlides/_rels/notesSlide23.xml.rels" ContentType="application/vnd.openxmlformats-package.relationships+xml"/>
  <Override PartName="/ppt/notesSlides/_rels/notesSlide24.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_rels/slide1.xml.rels" ContentType="application/vnd.openxmlformats-package.relationships+xml"/>
  <Override PartName="/ppt/slides/_rels/slide22.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presProps.xml" ContentType="application/vnd.openxmlformats-officedocument.presentationml.presProps+xml"/>
  <Override PartName="/ppt/_rels/presentation.xml.rels" ContentType="application/vnd.openxmlformats-package.relationshi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 name="PlaceHolder 1"/>
          <p:cNvSpPr>
            <a:spLocks noGrp="1"/>
          </p:cNvSpPr>
          <p:nvPr>
            <p:ph type="sldImg"/>
          </p:nvPr>
        </p:nvSpPr>
        <p:spPr>
          <a:xfrm>
            <a:off x="0" y="812520"/>
            <a:ext cx="0" cy="0"/>
          </a:xfrm>
          <a:prstGeom prst="rect">
            <a:avLst/>
          </a:prstGeom>
          <a:noFill/>
          <a:ln w="0">
            <a:noFill/>
          </a:ln>
        </p:spPr>
        <p:txBody>
          <a:bodyPr lIns="0" rIns="0" tIns="0" bIns="0" anchor="ctr">
            <a:noAutofit/>
          </a:bodyPr>
          <a:p>
            <a:r>
              <a:rPr b="0" lang="es-ES" sz="1800" strike="noStrike" u="none">
                <a:solidFill>
                  <a:schemeClr val="dk1"/>
                </a:solidFill>
                <a:effectLst/>
                <a:uFillTx/>
                <a:latin typeface="Calibri"/>
              </a:rPr>
              <a:t>Pulse para desplazar la diapositiva</a:t>
            </a:r>
            <a:endParaRPr b="0" lang="es-ES" sz="1800" strike="noStrike" u="none">
              <a:solidFill>
                <a:schemeClr val="dk1"/>
              </a:solidFill>
              <a:effectLst/>
              <a:uFillTx/>
              <a:latin typeface="Calibri"/>
            </a:endParaRPr>
          </a:p>
        </p:txBody>
      </p:sp>
      <p:sp>
        <p:nvSpPr>
          <p:cNvPr id="8"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indent="0">
              <a:buNone/>
            </a:pPr>
            <a:r>
              <a:rPr b="0" lang="es-ES" sz="2000" strike="noStrike" u="none">
                <a:solidFill>
                  <a:srgbClr val="000000"/>
                </a:solidFill>
                <a:effectLst/>
                <a:uFillTx/>
                <a:latin typeface="Arial"/>
              </a:rPr>
              <a:t>Pulse para editar el formato de las notas</a:t>
            </a:r>
            <a:endParaRPr b="0" lang="es-ES" sz="2000" strike="noStrike" u="none">
              <a:solidFill>
                <a:srgbClr val="000000"/>
              </a:solidFill>
              <a:effectLst/>
              <a:uFillTx/>
              <a:latin typeface="Arial"/>
            </a:endParaRPr>
          </a:p>
        </p:txBody>
      </p:sp>
      <p:sp>
        <p:nvSpPr>
          <p:cNvPr id="9"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s-ES" sz="1400" strike="noStrike" u="none">
                <a:solidFill>
                  <a:srgbClr val="000000"/>
                </a:solidFill>
                <a:effectLst/>
                <a:uFillTx/>
                <a:latin typeface="Times New Roman"/>
              </a:rPr>
              <a:t>&lt;cabecera&gt;</a:t>
            </a:r>
            <a:endParaRPr b="0" lang="es-ES" sz="1400" strike="noStrike" u="none">
              <a:solidFill>
                <a:srgbClr val="000000"/>
              </a:solidFill>
              <a:effectLst/>
              <a:uFillTx/>
              <a:latin typeface="Times New Roman"/>
            </a:endParaRPr>
          </a:p>
        </p:txBody>
      </p:sp>
      <p:sp>
        <p:nvSpPr>
          <p:cNvPr id="10" name="PlaceHolder 4"/>
          <p:cNvSpPr>
            <a:spLocks noGrp="1"/>
          </p:cNvSpPr>
          <p:nvPr>
            <p:ph type="dt" idx="2"/>
          </p:nvPr>
        </p:nvSpPr>
        <p:spPr>
          <a:xfrm>
            <a:off x="4278960" y="0"/>
            <a:ext cx="3280680" cy="534240"/>
          </a:xfrm>
          <a:prstGeom prst="rect">
            <a:avLst/>
          </a:prstGeom>
          <a:noFill/>
          <a:ln w="0">
            <a:noFill/>
          </a:ln>
        </p:spPr>
        <p:txBody>
          <a:bodyPr lIns="0" rIns="0" tIns="0" bIns="0" anchor="t">
            <a:noAutofit/>
          </a:bodyPr>
          <a:lstStyle>
            <a:lvl1pPr indent="0" algn="r">
              <a:buNone/>
              <a:defRPr b="0" lang="es-ES" sz="1400" strike="noStrike" u="none">
                <a:solidFill>
                  <a:srgbClr val="000000"/>
                </a:solidFill>
                <a:effectLst/>
                <a:uFillTx/>
                <a:latin typeface="Times New Roman"/>
              </a:defRPr>
            </a:lvl1pPr>
          </a:lstStyle>
          <a:p>
            <a:pPr indent="0" algn="r">
              <a:buNone/>
            </a:pPr>
            <a:r>
              <a:rPr b="0" lang="es-ES" sz="1400" strike="noStrike" u="none">
                <a:solidFill>
                  <a:srgbClr val="000000"/>
                </a:solidFill>
                <a:effectLst/>
                <a:uFillTx/>
                <a:latin typeface="Times New Roman"/>
              </a:rPr>
              <a:t>&lt;fecha/hora&gt;</a:t>
            </a:r>
            <a:endParaRPr b="0" lang="es-ES" sz="1400" strike="noStrike" u="none">
              <a:solidFill>
                <a:srgbClr val="000000"/>
              </a:solidFill>
              <a:effectLst/>
              <a:uFillTx/>
              <a:latin typeface="Times New Roman"/>
            </a:endParaRPr>
          </a:p>
        </p:txBody>
      </p:sp>
      <p:sp>
        <p:nvSpPr>
          <p:cNvPr id="11" name="PlaceHolder 5"/>
          <p:cNvSpPr>
            <a:spLocks noGrp="1"/>
          </p:cNvSpPr>
          <p:nvPr>
            <p:ph type="ftr" idx="3"/>
          </p:nvPr>
        </p:nvSpPr>
        <p:spPr>
          <a:xfrm>
            <a:off x="0" y="10157400"/>
            <a:ext cx="3280680" cy="534240"/>
          </a:xfrm>
          <a:prstGeom prst="rect">
            <a:avLst/>
          </a:prstGeom>
          <a:noFill/>
          <a:ln w="0">
            <a:noFill/>
          </a:ln>
        </p:spPr>
        <p:txBody>
          <a:bodyPr lIns="0" rIns="0" tIns="0" bIns="0" anchor="b">
            <a:noAutofit/>
          </a:bodyPr>
          <a:lstStyle>
            <a:lvl1pPr indent="0">
              <a:buNone/>
              <a:defRPr b="0" lang="es-ES" sz="1400" strike="noStrike" u="none">
                <a:solidFill>
                  <a:srgbClr val="000000"/>
                </a:solidFill>
                <a:effectLst/>
                <a:uFillTx/>
                <a:latin typeface="Times New Roman"/>
              </a:defRPr>
            </a:lvl1pPr>
          </a:lstStyle>
          <a:p>
            <a:pPr indent="0">
              <a:buNone/>
            </a:pPr>
            <a:r>
              <a:rPr b="0" lang="es-ES" sz="1400" strike="noStrike" u="none">
                <a:solidFill>
                  <a:srgbClr val="000000"/>
                </a:solidFill>
                <a:effectLst/>
                <a:uFillTx/>
                <a:latin typeface="Times New Roman"/>
              </a:rPr>
              <a:t>&lt;pie de página&gt;</a:t>
            </a:r>
            <a:endParaRPr b="0" lang="es-ES" sz="1400" strike="noStrike" u="none">
              <a:solidFill>
                <a:srgbClr val="000000"/>
              </a:solidFill>
              <a:effectLst/>
              <a:uFillTx/>
              <a:latin typeface="Times New Roman"/>
            </a:endParaRPr>
          </a:p>
        </p:txBody>
      </p:sp>
      <p:sp>
        <p:nvSpPr>
          <p:cNvPr id="12" name="PlaceHolder 6"/>
          <p:cNvSpPr>
            <a:spLocks noGrp="1"/>
          </p:cNvSpPr>
          <p:nvPr>
            <p:ph type="sldNum" idx="4"/>
          </p:nvPr>
        </p:nvSpPr>
        <p:spPr>
          <a:xfrm>
            <a:off x="4278960" y="10157400"/>
            <a:ext cx="3280680" cy="534240"/>
          </a:xfrm>
          <a:prstGeom prst="rect">
            <a:avLst/>
          </a:prstGeom>
          <a:noFill/>
          <a:ln w="0">
            <a:noFill/>
          </a:ln>
        </p:spPr>
        <p:txBody>
          <a:bodyPr lIns="0" rIns="0" tIns="0" bIns="0" anchor="b">
            <a:noAutofit/>
          </a:bodyPr>
          <a:lstStyle>
            <a:lvl1pPr indent="0" algn="r">
              <a:buNone/>
              <a:defRPr b="0" lang="es-ES" sz="1400" strike="noStrike" u="none">
                <a:solidFill>
                  <a:srgbClr val="000000"/>
                </a:solidFill>
                <a:effectLst/>
                <a:uFillTx/>
                <a:latin typeface="Times New Roman"/>
              </a:defRPr>
            </a:lvl1pPr>
          </a:lstStyle>
          <a:p>
            <a:pPr indent="0" algn="r">
              <a:buNone/>
            </a:pPr>
            <a:fld id="{F4E85587-6D22-44D1-B7E7-DFC33E5925A0}" type="slidenum">
              <a:rPr b="0" lang="es-ES" sz="1400" strike="noStrike" u="none">
                <a:solidFill>
                  <a:srgbClr val="000000"/>
                </a:solidFill>
                <a:effectLst/>
                <a:uFillTx/>
                <a:latin typeface="Times New Roman"/>
              </a:rPr>
              <a:t>&lt;número&gt;</a:t>
            </a:fld>
            <a:endParaRPr b="0" lang="es-ES" sz="1400" strike="noStrike" u="non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2" name="PlaceHolder 1"/>
          <p:cNvSpPr>
            <a:spLocks noGrp="1"/>
          </p:cNvSpPr>
          <p:nvPr>
            <p:ph type="sldImg"/>
          </p:nvPr>
        </p:nvSpPr>
        <p:spPr>
          <a:xfrm>
            <a:off x="685800" y="1143000"/>
            <a:ext cx="5486040" cy="3085920"/>
          </a:xfrm>
          <a:prstGeom prst="rect">
            <a:avLst/>
          </a:prstGeom>
          <a:ln w="0">
            <a:noFill/>
          </a:ln>
        </p:spPr>
      </p:sp>
      <p:sp>
        <p:nvSpPr>
          <p:cNvPr id="78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Presentamos todos juntos. Una frase cada uno: quién soy y qué parte llevé. Musicfy recomienda artistas a partir de cómo describes tu música. Hicimos dos apps que resuelven lo mismo: la App 1 a mano y la App 2 con Spec Kit, IA y Clerk.</a:t>
            </a:r>
            <a:endParaRPr b="0" lang="es-ES" sz="2000" strike="noStrike" u="none">
              <a:solidFill>
                <a:srgbClr val="000000"/>
              </a:solidFill>
              <a:effectLst/>
              <a:uFillTx/>
              <a:latin typeface="Arial"/>
            </a:endParaRPr>
          </a:p>
        </p:txBody>
      </p:sp>
      <p:sp>
        <p:nvSpPr>
          <p:cNvPr id="784" name="PlaceHolder 3"/>
          <p:cNvSpPr>
            <a:spLocks noGrp="1"/>
          </p:cNvSpPr>
          <p:nvPr>
            <p:ph type="sldNum" idx="2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FC9C8636-5C82-4A58-8145-D4C2F2BDA152}"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5" name="PlaceHolder 1"/>
          <p:cNvSpPr>
            <a:spLocks noGrp="1"/>
          </p:cNvSpPr>
          <p:nvPr>
            <p:ph type="sldImg"/>
          </p:nvPr>
        </p:nvSpPr>
        <p:spPr>
          <a:xfrm>
            <a:off x="685800" y="1143000"/>
            <a:ext cx="5486040" cy="3085920"/>
          </a:xfrm>
          <a:prstGeom prst="rect">
            <a:avLst/>
          </a:prstGeom>
          <a:ln w="0">
            <a:noFill/>
          </a:ln>
        </p:spPr>
      </p:sp>
      <p:sp>
        <p:nvSpPr>
          <p:cNvPr id="78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Seguimos el orden que pide el enunciado: necesidad, arquitectura y contrato, ERS, App 1, Spec Kit y App 2, pruebas, despliegues, comparativa y conclusiones. Cada bloque lo presenta quien lo hizo.</a:t>
            </a:r>
            <a:endParaRPr b="0" lang="es-ES" sz="2000" strike="noStrike" u="none">
              <a:solidFill>
                <a:srgbClr val="000000"/>
              </a:solidFill>
              <a:effectLst/>
              <a:uFillTx/>
              <a:latin typeface="Arial"/>
            </a:endParaRPr>
          </a:p>
        </p:txBody>
      </p:sp>
      <p:sp>
        <p:nvSpPr>
          <p:cNvPr id="787" name="PlaceHolder 3"/>
          <p:cNvSpPr>
            <a:spLocks noGrp="1"/>
          </p:cNvSpPr>
          <p:nvPr>
            <p:ph type="sldNum" idx="2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B7DB2AB-4435-49B2-95E3-AB45CD904690}"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8" name="PlaceHolder 1"/>
          <p:cNvSpPr>
            <a:spLocks noGrp="1"/>
          </p:cNvSpPr>
          <p:nvPr>
            <p:ph type="sldImg"/>
          </p:nvPr>
        </p:nvSpPr>
        <p:spPr>
          <a:xfrm>
            <a:off x="685800" y="1143000"/>
            <a:ext cx="5486040" cy="3085920"/>
          </a:xfrm>
          <a:prstGeom prst="rect">
            <a:avLst/>
          </a:prstGeom>
          <a:ln w="0">
            <a:noFill/>
          </a:ln>
        </p:spPr>
      </p:sp>
      <p:sp>
        <p:nvSpPr>
          <p:cNvPr id="78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La necesidad es pequeña y real: descubrir artistas parecidos a los que te gustan y saber por qué. El enunciado obliga a una pantalla, un formulario, una función y una API de IA, y prohíbe bases de datos, historial o login propio. En la App 2 la identidad la pone Clerk, dentro de la misma pantalla.</a:t>
            </a:r>
            <a:endParaRPr b="0" lang="es-ES" sz="2000" strike="noStrike" u="none">
              <a:solidFill>
                <a:srgbClr val="000000"/>
              </a:solidFill>
              <a:effectLst/>
              <a:uFillTx/>
              <a:latin typeface="Arial"/>
            </a:endParaRPr>
          </a:p>
        </p:txBody>
      </p:sp>
      <p:sp>
        <p:nvSpPr>
          <p:cNvPr id="790" name="PlaceHolder 3"/>
          <p:cNvSpPr>
            <a:spLocks noGrp="1"/>
          </p:cNvSpPr>
          <p:nvPr>
            <p:ph type="sldNum" idx="3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A80D8CC-35A9-48F7-8F99-70824A979138}"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1" name="PlaceHolder 1"/>
          <p:cNvSpPr>
            <a:spLocks noGrp="1"/>
          </p:cNvSpPr>
          <p:nvPr>
            <p:ph type="sldImg"/>
          </p:nvPr>
        </p:nvSpPr>
        <p:spPr>
          <a:xfrm>
            <a:off x="685800" y="1143000"/>
            <a:ext cx="5486040" cy="3085920"/>
          </a:xfrm>
          <a:prstGeom prst="rect">
            <a:avLst/>
          </a:prstGeom>
          <a:ln w="0">
            <a:noFill/>
          </a:ln>
        </p:spPr>
      </p:sp>
      <p:sp>
        <p:nvSpPr>
          <p:cNvPr id="79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Es el flujo obligatorio del enunciado. El frontend nunca habla con la IA: todo pasa por FastAPI, que es el único que tiene la clave. En la App 2 se añade Clerk: el frontend obtiene un token y el backend lo comprueba con las claves públicas de Clerk antes de llamar a Gemini.</a:t>
            </a:r>
            <a:endParaRPr b="0" lang="es-ES" sz="2000" strike="noStrike" u="none">
              <a:solidFill>
                <a:srgbClr val="000000"/>
              </a:solidFill>
              <a:effectLst/>
              <a:uFillTx/>
              <a:latin typeface="Arial"/>
            </a:endParaRPr>
          </a:p>
        </p:txBody>
      </p:sp>
      <p:sp>
        <p:nvSpPr>
          <p:cNvPr id="793" name="PlaceHolder 3"/>
          <p:cNvSpPr>
            <a:spLocks noGrp="1"/>
          </p:cNvSpPr>
          <p:nvPr>
            <p:ph type="sldNum" idx="3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EA5332C-0C98-4DB5-8C56-F313E7014DAA}"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4" name="PlaceHolder 1"/>
          <p:cNvSpPr>
            <a:spLocks noGrp="1"/>
          </p:cNvSpPr>
          <p:nvPr>
            <p:ph type="sldImg"/>
          </p:nvPr>
        </p:nvSpPr>
        <p:spPr>
          <a:xfrm>
            <a:off x="685800" y="1143000"/>
            <a:ext cx="5486040" cy="3085920"/>
          </a:xfrm>
          <a:prstGeom prst="rect">
            <a:avLst/>
          </a:prstGeom>
          <a:ln w="0">
            <a:noFill/>
          </a:ln>
        </p:spPr>
      </p:sp>
      <p:sp>
        <p:nvSpPr>
          <p:cNvPr id="79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El contrato es el mismo en las dos apps: un campo tastes de hasta 500 caracteres. La respuesta es resultado o un error con código y mensaje. La App 2 solo añade la cabecera Authorization y el 401. El ejemplo de respuesta es real, sacado de la prueba en Vercel.</a:t>
            </a:r>
            <a:endParaRPr b="0" lang="es-ES" sz="2000" strike="noStrike" u="none">
              <a:solidFill>
                <a:srgbClr val="000000"/>
              </a:solidFill>
              <a:effectLst/>
              <a:uFillTx/>
              <a:latin typeface="Arial"/>
            </a:endParaRPr>
          </a:p>
        </p:txBody>
      </p:sp>
      <p:sp>
        <p:nvSpPr>
          <p:cNvPr id="796" name="PlaceHolder 3"/>
          <p:cNvSpPr>
            <a:spLocks noGrp="1"/>
          </p:cNvSpPr>
          <p:nvPr>
            <p:ph type="sldNum" idx="3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8241A39-E51B-418B-A75F-294F3BB89656}"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7" name="PlaceHolder 1"/>
          <p:cNvSpPr>
            <a:spLocks noGrp="1"/>
          </p:cNvSpPr>
          <p:nvPr>
            <p:ph type="sldImg"/>
          </p:nvPr>
        </p:nvSpPr>
        <p:spPr>
          <a:xfrm>
            <a:off x="685800" y="1143000"/>
            <a:ext cx="5486040" cy="3085920"/>
          </a:xfrm>
          <a:prstGeom prst="rect">
            <a:avLst/>
          </a:prstGeom>
          <a:ln w="0">
            <a:noFill/>
          </a:ln>
        </p:spPr>
      </p:sp>
      <p:sp>
        <p:nvSpPr>
          <p:cNvPr id="79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Las tecnologías obligatorias son Python con FastAPI, Vue o React con Tailwind, pytest y una API de IA. Elegimos Vue con Tailwind y la API de Gemini. La App 2 vive en su propia carpeta, creada vacía con Spec Kit, sin copiar código de la App 1. Toda la documentación está en docs.</a:t>
            </a:r>
            <a:endParaRPr b="0" lang="es-ES" sz="2000" strike="noStrike" u="none">
              <a:solidFill>
                <a:srgbClr val="000000"/>
              </a:solidFill>
              <a:effectLst/>
              <a:uFillTx/>
              <a:latin typeface="Arial"/>
            </a:endParaRPr>
          </a:p>
        </p:txBody>
      </p:sp>
      <p:sp>
        <p:nvSpPr>
          <p:cNvPr id="799" name="PlaceHolder 3"/>
          <p:cNvSpPr>
            <a:spLocks noGrp="1"/>
          </p:cNvSpPr>
          <p:nvPr>
            <p:ph type="sldNum" idx="3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C7584CB-B303-4484-874B-24EC99D856F9}"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0" name="PlaceHolder 1"/>
          <p:cNvSpPr>
            <a:spLocks noGrp="1"/>
          </p:cNvSpPr>
          <p:nvPr>
            <p:ph type="sldImg"/>
          </p:nvPr>
        </p:nvSpPr>
        <p:spPr>
          <a:xfrm>
            <a:off x="685800" y="1143000"/>
            <a:ext cx="5486040" cy="3085920"/>
          </a:xfrm>
          <a:prstGeom prst="rect">
            <a:avLst/>
          </a:prstGeom>
          <a:ln w="0">
            <a:noFill/>
          </a:ln>
        </p:spPr>
      </p:sp>
      <p:sp>
        <p:nvSpPr>
          <p:cNvPr id="80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Cinco requisitos funcionales comunes y uno más en la App 2 para la autenticación, como sugiere el enunciado. Cada uno tiene su ficha en la ERS con criterios Dado, cuando, entonces, y está enlazado con una prueba de la PR-01 a la PR-23.</a:t>
            </a:r>
            <a:endParaRPr b="0" lang="es-ES" sz="2000" strike="noStrike" u="none">
              <a:solidFill>
                <a:srgbClr val="000000"/>
              </a:solidFill>
              <a:effectLst/>
              <a:uFillTx/>
              <a:latin typeface="Arial"/>
            </a:endParaRPr>
          </a:p>
        </p:txBody>
      </p:sp>
      <p:sp>
        <p:nvSpPr>
          <p:cNvPr id="802" name="PlaceHolder 3"/>
          <p:cNvSpPr>
            <a:spLocks noGrp="1"/>
          </p:cNvSpPr>
          <p:nvPr>
            <p:ph type="sldNum" idx="3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88D41E8-04A1-49CB-985A-9D97BF81FA38}"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3" name="PlaceHolder 1"/>
          <p:cNvSpPr>
            <a:spLocks noGrp="1"/>
          </p:cNvSpPr>
          <p:nvPr>
            <p:ph type="sldImg"/>
          </p:nvPr>
        </p:nvSpPr>
        <p:spPr>
          <a:xfrm>
            <a:off x="685800" y="1143000"/>
            <a:ext cx="5486040" cy="3085920"/>
          </a:xfrm>
          <a:prstGeom prst="rect">
            <a:avLst/>
          </a:prstGeom>
          <a:ln w="0">
            <a:noFill/>
          </a:ln>
        </p:spPr>
      </p:sp>
      <p:sp>
        <p:nvSpPr>
          <p:cNvPr id="80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Los no funcionales son medibles: dónde vive la clave, cuánto se espera a la IA, que no se guarde nada y la accesibilidad a 320 píxeles. A la derecha está el camino de una petición: si falla un control, no llega a la IA. Ocultar el botón no basta: el backend vuelve a comprobarlo todo.</a:t>
            </a:r>
            <a:endParaRPr b="0" lang="es-ES" sz="2000" strike="noStrike" u="none">
              <a:solidFill>
                <a:srgbClr val="000000"/>
              </a:solidFill>
              <a:effectLst/>
              <a:uFillTx/>
              <a:latin typeface="Arial"/>
            </a:endParaRPr>
          </a:p>
        </p:txBody>
      </p:sp>
      <p:sp>
        <p:nvSpPr>
          <p:cNvPr id="805" name="PlaceHolder 3"/>
          <p:cNvSpPr>
            <a:spLocks noGrp="1"/>
          </p:cNvSpPr>
          <p:nvPr>
            <p:ph type="sldNum" idx="3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B7567F1-DB10-4C5A-80EE-C490B3B60E00}"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6" name="PlaceHolder 1"/>
          <p:cNvSpPr>
            <a:spLocks noGrp="1"/>
          </p:cNvSpPr>
          <p:nvPr>
            <p:ph type="sldImg"/>
          </p:nvPr>
        </p:nvSpPr>
        <p:spPr>
          <a:xfrm>
            <a:off x="685800" y="1143000"/>
            <a:ext cx="5486040" cy="3085920"/>
          </a:xfrm>
          <a:prstGeom prst="rect">
            <a:avLst/>
          </a:prstGeom>
          <a:ln w="0">
            <a:noFill/>
          </a:ln>
        </p:spPr>
      </p:sp>
      <p:sp>
        <p:nvSpPr>
          <p:cNvPr id="80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Hay un caso principal: pedir recomendaciones. Incluye validar la entrada y consultar la IA, y en la App 2 también verificar el token. Las tres alternativas de la ERS acaban en un aviso de error: entrada no válida 422, fallo de la IA 502 o 504, y sin sesión 401. Clerk y Gemini son sistemas externos distintos.</a:t>
            </a:r>
            <a:endParaRPr b="0" lang="es-ES" sz="2000" strike="noStrike" u="none">
              <a:solidFill>
                <a:srgbClr val="000000"/>
              </a:solidFill>
              <a:effectLst/>
              <a:uFillTx/>
              <a:latin typeface="Arial"/>
            </a:endParaRPr>
          </a:p>
        </p:txBody>
      </p:sp>
      <p:sp>
        <p:nvSpPr>
          <p:cNvPr id="808" name="PlaceHolder 3"/>
          <p:cNvSpPr>
            <a:spLocks noGrp="1"/>
          </p:cNvSpPr>
          <p:nvPr>
            <p:ph type="sldNum" idx="3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D27AE0AB-A686-4CF7-A870-1C28928AFD63}"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9" name="PlaceHolder 1"/>
          <p:cNvSpPr>
            <a:spLocks noGrp="1"/>
          </p:cNvSpPr>
          <p:nvPr>
            <p:ph type="sldImg"/>
          </p:nvPr>
        </p:nvSpPr>
        <p:spPr>
          <a:xfrm>
            <a:off x="685800" y="1143000"/>
            <a:ext cx="5486040" cy="3085920"/>
          </a:xfrm>
          <a:prstGeom prst="rect">
            <a:avLst/>
          </a:prstGeom>
          <a:ln w="0">
            <a:noFill/>
          </a:ln>
        </p:spPr>
      </p:sp>
      <p:sp>
        <p:nvSpPr>
          <p:cNvPr id="81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Lo importante es el orden: el token se comprueba antes de hacer nada. Si no es válido, se responde 401 y Gemini ni se entera. Solo con un token válido se valida la entrada y se hace una única llamada a la IA. Clerk y Gemini son dos servicios distintos que no se mezclan.</a:t>
            </a:r>
            <a:endParaRPr b="0" lang="es-ES" sz="2000" strike="noStrike" u="none">
              <a:solidFill>
                <a:srgbClr val="000000"/>
              </a:solidFill>
              <a:effectLst/>
              <a:uFillTx/>
              <a:latin typeface="Arial"/>
            </a:endParaRPr>
          </a:p>
        </p:txBody>
      </p:sp>
      <p:sp>
        <p:nvSpPr>
          <p:cNvPr id="811" name="PlaceHolder 3"/>
          <p:cNvSpPr>
            <a:spLocks noGrp="1"/>
          </p:cNvSpPr>
          <p:nvPr>
            <p:ph type="sldNum" idx="3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587340F-BE1E-4914-86F0-6B260F857E5D}"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2" name="PlaceHolder 1"/>
          <p:cNvSpPr>
            <a:spLocks noGrp="1"/>
          </p:cNvSpPr>
          <p:nvPr>
            <p:ph type="sldImg"/>
          </p:nvPr>
        </p:nvSpPr>
        <p:spPr>
          <a:xfrm>
            <a:off x="685800" y="1143000"/>
            <a:ext cx="5486040" cy="3085920"/>
          </a:xfrm>
          <a:prstGeom prst="rect">
            <a:avLst/>
          </a:prstGeom>
          <a:ln w="0">
            <a:noFill/>
          </a:ln>
        </p:spPr>
      </p:sp>
      <p:sp>
        <p:nvSpPr>
          <p:cNvPr id="81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Así se comporta la pantalla. Sin sesión el botón está desactivado. Al pulsar Recomendar se bloquea para evitar dobles envíos. Tanto el resultado como el error vuelven al formulario, sin acumular resultados. Si cierras sesión mientras esperas, la respuesta se descarta: lo añadió la IA y lo aceptamos porque cumple la ERS.</a:t>
            </a:r>
            <a:endParaRPr b="0" lang="es-ES" sz="2000" strike="noStrike" u="none">
              <a:solidFill>
                <a:srgbClr val="000000"/>
              </a:solidFill>
              <a:effectLst/>
              <a:uFillTx/>
              <a:latin typeface="Arial"/>
            </a:endParaRPr>
          </a:p>
        </p:txBody>
      </p:sp>
      <p:sp>
        <p:nvSpPr>
          <p:cNvPr id="814" name="PlaceHolder 3"/>
          <p:cNvSpPr>
            <a:spLocks noGrp="1"/>
          </p:cNvSpPr>
          <p:nvPr>
            <p:ph type="sldNum" idx="3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2D011F5A-8549-4147-84CD-93EA6CB0BC3B}"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5" name="PlaceHolder 1"/>
          <p:cNvSpPr>
            <a:spLocks noGrp="1"/>
          </p:cNvSpPr>
          <p:nvPr>
            <p:ph type="sldImg"/>
          </p:nvPr>
        </p:nvSpPr>
        <p:spPr>
          <a:xfrm>
            <a:off x="685800" y="1143000"/>
            <a:ext cx="5486040" cy="3085920"/>
          </a:xfrm>
          <a:prstGeom prst="rect">
            <a:avLst/>
          </a:prstGeom>
          <a:ln w="0">
            <a:noFill/>
          </a:ln>
        </p:spPr>
      </p:sp>
      <p:sp>
        <p:nvSpPr>
          <p:cNvPr id="81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El backend es pequeño a propósito: un endpoint, validación con Pydantic y una función que llama a la IA, separada para poder simularla en las pruebas. Empezamos con OpenRouter, nos dio un 402 por la reserva de saldo, lo arreglamos limitando los tokens y, cuando se agotó el saldo en Vercel, cambiamos a Gemini. Siempre una sola API de IA.</a:t>
            </a:r>
            <a:endParaRPr b="0" lang="es-ES" sz="2000" strike="noStrike" u="none">
              <a:solidFill>
                <a:srgbClr val="000000"/>
              </a:solidFill>
              <a:effectLst/>
              <a:uFillTx/>
              <a:latin typeface="Arial"/>
            </a:endParaRPr>
          </a:p>
        </p:txBody>
      </p:sp>
      <p:sp>
        <p:nvSpPr>
          <p:cNvPr id="817" name="PlaceHolder 3"/>
          <p:cNvSpPr>
            <a:spLocks noGrp="1"/>
          </p:cNvSpPr>
          <p:nvPr>
            <p:ph type="sldNum" idx="3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05C0090-D17B-4E91-B5B9-9A0A4805EDE2}"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8" name="PlaceHolder 1"/>
          <p:cNvSpPr>
            <a:spLocks noGrp="1"/>
          </p:cNvSpPr>
          <p:nvPr>
            <p:ph type="sldImg"/>
          </p:nvPr>
        </p:nvSpPr>
        <p:spPr>
          <a:xfrm>
            <a:off x="685800" y="1143000"/>
            <a:ext cx="5486040" cy="3085920"/>
          </a:xfrm>
          <a:prstGeom prst="rect">
            <a:avLst/>
          </a:prstGeom>
          <a:ln w="0">
            <a:noFill/>
          </a:ln>
        </p:spPr>
      </p:sp>
      <p:sp>
        <p:nvSpPr>
          <p:cNvPr id="81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Llevé el frontend de la App 1. Una sola pantalla con aspecto de tele antigua. Los géneros y el texto libre se juntan en un único campo para no cambiar el contrato del backend. La respuesta de la IA es contenido no confiable, así que nunca la pintamos como HTML. La captura es de la app desplegada en Vercel.</a:t>
            </a:r>
            <a:endParaRPr b="0" lang="es-ES" sz="2000" strike="noStrike" u="none">
              <a:solidFill>
                <a:srgbClr val="000000"/>
              </a:solidFill>
              <a:effectLst/>
              <a:uFillTx/>
              <a:latin typeface="Arial"/>
            </a:endParaRPr>
          </a:p>
        </p:txBody>
      </p:sp>
      <p:sp>
        <p:nvSpPr>
          <p:cNvPr id="820" name="PlaceHolder 3"/>
          <p:cNvSpPr>
            <a:spLocks noGrp="1"/>
          </p:cNvSpPr>
          <p:nvPr>
            <p:ph type="sldNum" idx="4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164A2C60-B01E-42EC-BABE-85C9D4BABB78}"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1" name="PlaceHolder 1"/>
          <p:cNvSpPr>
            <a:spLocks noGrp="1"/>
          </p:cNvSpPr>
          <p:nvPr>
            <p:ph type="sldImg"/>
          </p:nvPr>
        </p:nvSpPr>
        <p:spPr>
          <a:xfrm>
            <a:off x="685800" y="1143000"/>
            <a:ext cx="5486040" cy="3085920"/>
          </a:xfrm>
          <a:prstGeom prst="rect">
            <a:avLst/>
          </a:prstGeom>
          <a:ln w="0">
            <a:noFill/>
          </a:ln>
        </p:spPr>
      </p:sp>
      <p:sp>
        <p:nvSpPr>
          <p:cNvPr id="82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El historial muestra el proceso real: primero la estructura, luego backend y pruebas, frontend, Vercel, y después la App 2. El dato clave para Spec Kit: la especificación, el plan y las tareas entran el 25/10 y el primer código de la App 2 el 27/10. Quedan Docker, EC2 y las etiquetas de entrega.</a:t>
            </a:r>
            <a:endParaRPr b="0" lang="es-ES" sz="2000" strike="noStrike" u="none">
              <a:solidFill>
                <a:srgbClr val="000000"/>
              </a:solidFill>
              <a:effectLst/>
              <a:uFillTx/>
              <a:latin typeface="Arial"/>
            </a:endParaRPr>
          </a:p>
        </p:txBody>
      </p:sp>
      <p:sp>
        <p:nvSpPr>
          <p:cNvPr id="823" name="PlaceHolder 3"/>
          <p:cNvSpPr>
            <a:spLocks noGrp="1"/>
          </p:cNvSpPr>
          <p:nvPr>
            <p:ph type="sldNum" idx="4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6A83F21-2A04-43EB-A6D9-EAEC85D3E6DA}"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4" name="PlaceHolder 1"/>
          <p:cNvSpPr>
            <a:spLocks noGrp="1"/>
          </p:cNvSpPr>
          <p:nvPr>
            <p:ph type="sldImg"/>
          </p:nvPr>
        </p:nvSpPr>
        <p:spPr>
          <a:xfrm>
            <a:off x="685800" y="1143000"/>
            <a:ext cx="5486040" cy="3085920"/>
          </a:xfrm>
          <a:prstGeom prst="rect">
            <a:avLst/>
          </a:prstGeom>
          <a:ln w="0">
            <a:noFill/>
          </a:ln>
        </p:spPr>
      </p:sp>
      <p:sp>
        <p:nvSpPr>
          <p:cNvPr id="82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En la App 2 no empezamos programando, sino documentando. La constitución fija las reglas que la IA no puede saltarse. La especificación sale de nuestra ERS. Plan, tareas y commit, y solo entonces se implementa por fases. La IA escribió el código en unos 11 minutos; lo caro fue revisarlo y probarlo.</a:t>
            </a:r>
            <a:endParaRPr b="0" lang="es-ES" sz="2000" strike="noStrike" u="none">
              <a:solidFill>
                <a:srgbClr val="000000"/>
              </a:solidFill>
              <a:effectLst/>
              <a:uFillTx/>
              <a:latin typeface="Arial"/>
            </a:endParaRPr>
          </a:p>
        </p:txBody>
      </p:sp>
      <p:sp>
        <p:nvSpPr>
          <p:cNvPr id="826" name="PlaceHolder 3"/>
          <p:cNvSpPr>
            <a:spLocks noGrp="1"/>
          </p:cNvSpPr>
          <p:nvPr>
            <p:ph type="sldNum" idx="4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ECCE7F7-0F17-4702-BB62-B3E2148FFCA7}"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7" name="PlaceHolder 1"/>
          <p:cNvSpPr>
            <a:spLocks noGrp="1"/>
          </p:cNvSpPr>
          <p:nvPr>
            <p:ph type="sldImg"/>
          </p:nvPr>
        </p:nvSpPr>
        <p:spPr>
          <a:xfrm>
            <a:off x="685800" y="1143000"/>
            <a:ext cx="5486040" cy="3085920"/>
          </a:xfrm>
          <a:prstGeom prst="rect">
            <a:avLst/>
          </a:prstGeom>
          <a:ln w="0">
            <a:noFill/>
          </a:ln>
        </p:spPr>
      </p:sp>
      <p:sp>
        <p:nvSpPr>
          <p:cNvPr id="82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Esta es la respuesta a qué propuso mal la IA. Acertó en el alcance y en las pruebas. Se desvió porque su plan usaba versiones antiguas de las librerías. Y falló en dos cosas que solo salieron al ejecutarla de verdad: el .env y el vercel.json. Sus 59 pruebas no lo detectaron porque no prueban la configuración real.</a:t>
            </a:r>
            <a:endParaRPr b="0" lang="es-ES" sz="2000" strike="noStrike" u="none">
              <a:solidFill>
                <a:srgbClr val="000000"/>
              </a:solidFill>
              <a:effectLst/>
              <a:uFillTx/>
              <a:latin typeface="Arial"/>
            </a:endParaRPr>
          </a:p>
        </p:txBody>
      </p:sp>
      <p:sp>
        <p:nvSpPr>
          <p:cNvPr id="829" name="PlaceHolder 3"/>
          <p:cNvSpPr>
            <a:spLocks noGrp="1"/>
          </p:cNvSpPr>
          <p:nvPr>
            <p:ph type="sldNum" idx="4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8DF30B4-2AFF-45DE-BBB0-EF165E6B60E7}"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0" name="PlaceHolder 1"/>
          <p:cNvSpPr>
            <a:spLocks noGrp="1"/>
          </p:cNvSpPr>
          <p:nvPr>
            <p:ph type="sldImg"/>
          </p:nvPr>
        </p:nvSpPr>
        <p:spPr>
          <a:xfrm>
            <a:off x="685800" y="1143000"/>
            <a:ext cx="5486040" cy="3085920"/>
          </a:xfrm>
          <a:prstGeom prst="rect">
            <a:avLst/>
          </a:prstGeom>
          <a:ln w="0">
            <a:noFill/>
          </a:ln>
        </p:spPr>
      </p:sp>
      <p:sp>
        <p:nvSpPr>
          <p:cNvPr id="83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Creé la aplicación de Clerk con acceso por correo y Google. El token viaja en la cabecera Authorization y el backend lo verifica con las claves públicas de Clerk, sin decodificarlo a ciegas: firma, emisor, caducidad y origen. Si vence el token, el backend responde 401 y no llama a la IA.</a:t>
            </a:r>
            <a:endParaRPr b="0" lang="es-ES" sz="2000" strike="noStrike" u="none">
              <a:solidFill>
                <a:srgbClr val="000000"/>
              </a:solidFill>
              <a:effectLst/>
              <a:uFillTx/>
              <a:latin typeface="Arial"/>
            </a:endParaRPr>
          </a:p>
        </p:txBody>
      </p:sp>
      <p:sp>
        <p:nvSpPr>
          <p:cNvPr id="832" name="PlaceHolder 3"/>
          <p:cNvSpPr>
            <a:spLocks noGrp="1"/>
          </p:cNvSpPr>
          <p:nvPr>
            <p:ph type="sldNum" idx="4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F2D3FFB-04DA-4720-B0F9-1346458BD2FA}"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3" name="PlaceHolder 1"/>
          <p:cNvSpPr>
            <a:spLocks noGrp="1"/>
          </p:cNvSpPr>
          <p:nvPr>
            <p:ph type="sldImg"/>
          </p:nvPr>
        </p:nvSpPr>
        <p:spPr>
          <a:xfrm>
            <a:off x="685800" y="1143000"/>
            <a:ext cx="5486040" cy="3085920"/>
          </a:xfrm>
          <a:prstGeom prst="rect">
            <a:avLst/>
          </a:prstGeom>
          <a:ln w="0">
            <a:noFill/>
          </a:ln>
        </p:spPr>
      </p:sp>
      <p:sp>
        <p:nvSpPr>
          <p:cNvPr id="83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Las pruebas nunca llaman a Gemini: simulamos la función que habla con la IA, así no gastamos créditos y podemos provocar fallos. El mock comprueba que se llama una sola vez con la entrada válida y ninguna con la inválida. En la App 2 también se simula el verificador de Clerk. La IA hizo 59 pruebas, pero no detectaron el fallo del .env.</a:t>
            </a:r>
            <a:endParaRPr b="0" lang="es-ES" sz="2000" strike="noStrike" u="none">
              <a:solidFill>
                <a:srgbClr val="000000"/>
              </a:solidFill>
              <a:effectLst/>
              <a:uFillTx/>
              <a:latin typeface="Arial"/>
            </a:endParaRPr>
          </a:p>
        </p:txBody>
      </p:sp>
      <p:sp>
        <p:nvSpPr>
          <p:cNvPr id="835" name="PlaceHolder 3"/>
          <p:cNvSpPr>
            <a:spLocks noGrp="1"/>
          </p:cNvSpPr>
          <p:nvPr>
            <p:ph type="sldNum" idx="4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E800DCBF-34AA-439C-9D6F-D8A99B9F865A}"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6" name="PlaceHolder 1"/>
          <p:cNvSpPr>
            <a:spLocks noGrp="1"/>
          </p:cNvSpPr>
          <p:nvPr>
            <p:ph type="sldImg"/>
          </p:nvPr>
        </p:nvSpPr>
        <p:spPr>
          <a:xfrm>
            <a:off x="685800" y="1143000"/>
            <a:ext cx="5486040" cy="3085920"/>
          </a:xfrm>
          <a:prstGeom prst="rect">
            <a:avLst/>
          </a:prstGeom>
          <a:ln w="0">
            <a:noFill/>
          </a:ln>
        </p:spPr>
      </p:sp>
      <p:sp>
        <p:nvSpPr>
          <p:cNvPr id="83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La App 1 es un único proyecto con dos servicios: el frontend llama a /api con ruta relativa y no hace falta CORS. La App 2 sigue el plan de Spec Kit con dos proyectos, así que necesita CORS con la cabecera Authorization. En las dos probamos desde la URL pública un caso válido y uno de error.</a:t>
            </a:r>
            <a:endParaRPr b="0" lang="es-ES" sz="2000" strike="noStrike" u="none">
              <a:solidFill>
                <a:srgbClr val="000000"/>
              </a:solidFill>
              <a:effectLst/>
              <a:uFillTx/>
              <a:latin typeface="Arial"/>
            </a:endParaRPr>
          </a:p>
        </p:txBody>
      </p:sp>
      <p:sp>
        <p:nvSpPr>
          <p:cNvPr id="838" name="PlaceHolder 3"/>
          <p:cNvSpPr>
            <a:spLocks noGrp="1"/>
          </p:cNvSpPr>
          <p:nvPr>
            <p:ph type="sldNum" idx="4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6E83F3A-7ECB-450C-AA3A-0D8E98D85CFC}"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9" name="PlaceHolder 1"/>
          <p:cNvSpPr>
            <a:spLocks noGrp="1"/>
          </p:cNvSpPr>
          <p:nvPr>
            <p:ph type="sldImg"/>
          </p:nvPr>
        </p:nvSpPr>
        <p:spPr>
          <a:xfrm>
            <a:off x="685800" y="1143000"/>
            <a:ext cx="5486040" cy="3085920"/>
          </a:xfrm>
          <a:prstGeom prst="rect">
            <a:avLst/>
          </a:prstGeom>
          <a:ln w="0">
            <a:noFill/>
          </a:ln>
        </p:spPr>
      </p:sp>
      <p:sp>
        <p:nvSpPr>
          <p:cNvPr id="84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Así quedaría el despliegue final, con los archivos que ya generó la IA: dos contenedores, Caddy delante con HTTPS automático y FastAPI detrás, sin exponer su puerto. Solo se abren 80 y 443, y SSH desde nuestra IP. PENDIENTE: completar con la URL real, la región, la instancia y la captura cuando Mario termine el despliegue.</a:t>
            </a:r>
            <a:endParaRPr b="0" lang="es-ES" sz="2000" strike="noStrike" u="none">
              <a:solidFill>
                <a:srgbClr val="000000"/>
              </a:solidFill>
              <a:effectLst/>
              <a:uFillTx/>
              <a:latin typeface="Arial"/>
            </a:endParaRPr>
          </a:p>
        </p:txBody>
      </p:sp>
      <p:sp>
        <p:nvSpPr>
          <p:cNvPr id="841" name="PlaceHolder 3"/>
          <p:cNvSpPr>
            <a:spLocks noGrp="1"/>
          </p:cNvSpPr>
          <p:nvPr>
            <p:ph type="sldNum" idx="4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37B1246E-F4E4-457A-A327-3D37C3329ED9}"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2" name="PlaceHolder 1"/>
          <p:cNvSpPr>
            <a:spLocks noGrp="1"/>
          </p:cNvSpPr>
          <p:nvPr>
            <p:ph type="sldImg"/>
          </p:nvPr>
        </p:nvSpPr>
        <p:spPr>
          <a:xfrm>
            <a:off x="685800" y="1143000"/>
            <a:ext cx="5486040" cy="3085920"/>
          </a:xfrm>
          <a:prstGeom prst="rect">
            <a:avLst/>
          </a:prstGeom>
          <a:ln w="0">
            <a:noFill/>
          </a:ln>
        </p:spPr>
      </p:sp>
      <p:sp>
        <p:nvSpPr>
          <p:cNvPr id="84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Lo verde está comprobado y documentado en despliegues.md y pruebas.md. Lo amarillo depende del despliegue en EC2 y hay que actualizarlo antes de la exposición. Recordad borrar los recursos de AWS al terminar, incluidos discos e IP reservadas.</a:t>
            </a:r>
            <a:endParaRPr b="0" lang="es-ES" sz="2000" strike="noStrike" u="none">
              <a:solidFill>
                <a:srgbClr val="000000"/>
              </a:solidFill>
              <a:effectLst/>
              <a:uFillTx/>
              <a:latin typeface="Arial"/>
            </a:endParaRPr>
          </a:p>
        </p:txBody>
      </p:sp>
      <p:sp>
        <p:nvSpPr>
          <p:cNvPr id="844" name="PlaceHolder 3"/>
          <p:cNvSpPr>
            <a:spLocks noGrp="1"/>
          </p:cNvSpPr>
          <p:nvPr>
            <p:ph type="sldNum" idx="4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BB7FB568-2DF8-48C3-947C-5564D1669B24}"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5" name="PlaceHolder 1"/>
          <p:cNvSpPr>
            <a:spLocks noGrp="1"/>
          </p:cNvSpPr>
          <p:nvPr>
            <p:ph type="sldImg"/>
          </p:nvPr>
        </p:nvSpPr>
        <p:spPr>
          <a:xfrm>
            <a:off x="685800" y="1143000"/>
            <a:ext cx="5486040" cy="3085920"/>
          </a:xfrm>
          <a:prstGeom prst="rect">
            <a:avLst/>
          </a:prstGeom>
          <a:ln w="0">
            <a:noFill/>
          </a:ln>
        </p:spPr>
      </p:sp>
      <p:sp>
        <p:nvSpPr>
          <p:cNvPr id="84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Comparamos con los mismos escenarios de aceptación y separando Clerk e infraestructura, como pide el enunciado. No damos por hecho que la App 2 sea mejor: la IA es mucho más rápida escribiendo, pero el tiempo se va en revisar, y sus fallos fueron de configuración real. Los tiempos de la App 1 son estimaciones.</a:t>
            </a:r>
            <a:endParaRPr b="0" lang="es-ES" sz="2000" strike="noStrike" u="none">
              <a:solidFill>
                <a:srgbClr val="000000"/>
              </a:solidFill>
              <a:effectLst/>
              <a:uFillTx/>
              <a:latin typeface="Arial"/>
            </a:endParaRPr>
          </a:p>
        </p:txBody>
      </p:sp>
      <p:sp>
        <p:nvSpPr>
          <p:cNvPr id="847" name="PlaceHolder 3"/>
          <p:cNvSpPr>
            <a:spLocks noGrp="1"/>
          </p:cNvSpPr>
          <p:nvPr>
            <p:ph type="sldNum" idx="4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2D8AC102-7AC9-48D8-A6ED-39D746E6C3FB}"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8" name="PlaceHolder 1"/>
          <p:cNvSpPr>
            <a:spLocks noGrp="1"/>
          </p:cNvSpPr>
          <p:nvPr>
            <p:ph type="sldImg"/>
          </p:nvPr>
        </p:nvSpPr>
        <p:spPr>
          <a:xfrm>
            <a:off x="685800" y="1143000"/>
            <a:ext cx="5486040" cy="3085920"/>
          </a:xfrm>
          <a:prstGeom prst="rect">
            <a:avLst/>
          </a:prstGeom>
          <a:ln w="0">
            <a:noFill/>
          </a:ln>
        </p:spPr>
      </p:sp>
      <p:sp>
        <p:nvSpPr>
          <p:cNvPr id="84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Son los cinco puntos mínimos de la demo del enunciado. Tened abiertas las URLs antes de empezar: App 1 en Vercel, App 2 en Vercel y EC2, una terminal con pytest y GitHub con el historial. Si algo externo falla, enseñamos las capturas diciendo que son capturas.</a:t>
            </a:r>
            <a:endParaRPr b="0" lang="es-ES" sz="2000" strike="noStrike" u="none">
              <a:solidFill>
                <a:srgbClr val="000000"/>
              </a:solidFill>
              <a:effectLst/>
              <a:uFillTx/>
              <a:latin typeface="Arial"/>
            </a:endParaRPr>
          </a:p>
        </p:txBody>
      </p:sp>
      <p:sp>
        <p:nvSpPr>
          <p:cNvPr id="850" name="PlaceHolder 3"/>
          <p:cNvSpPr>
            <a:spLocks noGrp="1"/>
          </p:cNvSpPr>
          <p:nvPr>
            <p:ph type="sldNum" idx="5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3C42417-59E5-4BA8-BF09-CC0E3E84A6BD}"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1" name="PlaceHolder 1"/>
          <p:cNvSpPr>
            <a:spLocks noGrp="1"/>
          </p:cNvSpPr>
          <p:nvPr>
            <p:ph type="sldImg"/>
          </p:nvPr>
        </p:nvSpPr>
        <p:spPr>
          <a:xfrm>
            <a:off x="685800" y="1143000"/>
            <a:ext cx="5486040" cy="3085920"/>
          </a:xfrm>
          <a:prstGeom prst="rect">
            <a:avLst/>
          </a:prstGeom>
          <a:ln w="0">
            <a:noFill/>
          </a:ln>
        </p:spPr>
      </p:sp>
      <p:sp>
        <p:nvSpPr>
          <p:cNvPr id="85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Cerramos con lo que hemos aprendido, siempre con datos de las dos apps. En las preguntas, cada uno explica su parte: dónde vive la clave, qué comprueba el mock, qué pasa si vence el token, qué propuso mal la IA y qué cambia entre Vercel y EC2.</a:t>
            </a:r>
            <a:endParaRPr b="0" lang="es-ES" sz="2000" strike="noStrike" u="none">
              <a:solidFill>
                <a:srgbClr val="000000"/>
              </a:solidFill>
              <a:effectLst/>
              <a:uFillTx/>
              <a:latin typeface="Arial"/>
            </a:endParaRPr>
          </a:p>
        </p:txBody>
      </p:sp>
      <p:sp>
        <p:nvSpPr>
          <p:cNvPr id="853" name="PlaceHolder 3"/>
          <p:cNvSpPr>
            <a:spLocks noGrp="1"/>
          </p:cNvSpPr>
          <p:nvPr>
            <p:ph type="sldNum" idx="5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44B9704-B4B0-4870-AA84-04AF5A0CEC8B}" type="slidenum">
              <a:rPr b="0" lang="en-US" sz="1200" strike="noStrike" u="none">
                <a:solidFill>
                  <a:schemeClr val="dk1"/>
                </a:solidFill>
                <a:effectLst/>
                <a:uFillTx/>
                <a:latin typeface="+mn-lt"/>
                <a:ea typeface="+mn-ea"/>
              </a:rPr>
              <a:t>&lt;número&gt;</a:t>
            </a:fld>
            <a:endParaRPr b="0" lang="es-ES" sz="1200" strike="noStrike" u="non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bg>
      <p:bgPr>
        <a:solidFill>
          <a:srgbClr val="ffffff"/>
        </a:solidFill>
      </p:bgPr>
    </p:bg>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ORTADA">
    <p:bg>
      <p:bgPr>
        <a:solidFill>
          <a:schemeClr val="dk1"/>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85800" y="3749040"/>
            <a:ext cx="7131960" cy="548280"/>
          </a:xfrm>
          <a:prstGeom prst="rect">
            <a:avLst/>
          </a:prstGeom>
          <a:noFill/>
          <a:ln w="0">
            <a:noFill/>
          </a:ln>
        </p:spPr>
        <p:txBody>
          <a:bodyPr lIns="90000" rIns="90000" tIns="45000" bIns="45000" anchor="t">
            <a:noAutofit/>
          </a:bodyPr>
          <a:p>
            <a:pPr indent="0">
              <a:buNone/>
            </a:pPr>
            <a:r>
              <a:rPr b="0" lang="es-ES" sz="2600" strike="noStrike" u="none">
                <a:solidFill>
                  <a:schemeClr val="dk1"/>
                </a:solidFill>
                <a:effectLst/>
                <a:uFillTx/>
                <a:latin typeface="Calibri"/>
              </a:rPr>
              <a:t>Pulse para editar el formato del texto de título</a:t>
            </a:r>
            <a:endParaRPr b="0" lang="es-ES" sz="2600" strike="noStrike" u="none">
              <a:solidFill>
                <a:schemeClr val="dk1"/>
              </a:solidFill>
              <a:effectLst/>
              <a:uFillTx/>
              <a:latin typeface="Calibri"/>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s-ES" sz="3200" strike="noStrike" u="none">
                <a:solidFill>
                  <a:schemeClr val="dk1"/>
                </a:solidFill>
                <a:effectLst/>
                <a:uFillTx/>
                <a:latin typeface="Calibri"/>
              </a:rPr>
              <a:t>Pulse para editar el formato de texto del esquema</a:t>
            </a:r>
            <a:endParaRPr b="0" lang="es-ES" sz="3200" strike="noStrike" u="none">
              <a:solidFill>
                <a:schemeClr val="dk1"/>
              </a:solidFill>
              <a:effectLst/>
              <a:uFillTx/>
              <a:latin typeface="Calibri"/>
            </a:endParaRPr>
          </a:p>
          <a:p>
            <a:pPr lvl="1" marL="864000" indent="-324000">
              <a:spcBef>
                <a:spcPts val="1134"/>
              </a:spcBef>
              <a:buClr>
                <a:srgbClr val="ffffff"/>
              </a:buClr>
              <a:buSzPct val="75000"/>
              <a:buFont typeface="Symbol" charset="2"/>
              <a:buChar char=""/>
            </a:pPr>
            <a:r>
              <a:rPr b="0" lang="es-ES" sz="2400" strike="noStrike" u="none">
                <a:solidFill>
                  <a:schemeClr val="dk1"/>
                </a:solidFill>
                <a:effectLst/>
                <a:uFillTx/>
                <a:latin typeface="Calibri"/>
              </a:rPr>
              <a:t>Segundo nivel del esquema</a:t>
            </a:r>
            <a:endParaRPr b="0" lang="es-ES" sz="2400" strike="noStrike" u="none">
              <a:solidFill>
                <a:schemeClr val="dk1"/>
              </a:solidFill>
              <a:effectLst/>
              <a:uFillTx/>
              <a:latin typeface="Calibri"/>
            </a:endParaRPr>
          </a:p>
          <a:p>
            <a:pPr lvl="2" marL="1296000" indent="-288000">
              <a:spcBef>
                <a:spcPts val="850"/>
              </a:spcBef>
              <a:buClr>
                <a:srgbClr val="ffffff"/>
              </a:buClr>
              <a:buSzPct val="45000"/>
              <a:buFont typeface="Wingdings" charset="2"/>
              <a:buChar char=""/>
            </a:pPr>
            <a:r>
              <a:rPr b="0" lang="es-ES" sz="2000" strike="noStrike" u="none">
                <a:solidFill>
                  <a:schemeClr val="dk1"/>
                </a:solidFill>
                <a:effectLst/>
                <a:uFillTx/>
                <a:latin typeface="Calibri"/>
              </a:rPr>
              <a:t>Tercer nivel del esquema</a:t>
            </a:r>
            <a:endParaRPr b="0" lang="es-ES" sz="2000" strike="noStrike" u="none">
              <a:solidFill>
                <a:schemeClr val="dk1"/>
              </a:solidFill>
              <a:effectLst/>
              <a:uFillTx/>
              <a:latin typeface="Calibri"/>
            </a:endParaRPr>
          </a:p>
          <a:p>
            <a:pPr lvl="3" marL="1728000" indent="-216000">
              <a:spcBef>
                <a:spcPts val="567"/>
              </a:spcBef>
              <a:buClr>
                <a:srgbClr val="ffffff"/>
              </a:buClr>
              <a:buSzPct val="75000"/>
              <a:buFont typeface="Symbol" charset="2"/>
              <a:buChar char=""/>
            </a:pPr>
            <a:r>
              <a:rPr b="0" lang="es-ES" sz="2000" strike="noStrike" u="none">
                <a:solidFill>
                  <a:schemeClr val="dk1"/>
                </a:solidFill>
                <a:effectLst/>
                <a:uFillTx/>
                <a:latin typeface="Calibri"/>
              </a:rPr>
              <a:t>Cuarto nivel del esquema</a:t>
            </a:r>
            <a:endParaRPr b="0" lang="es-ES" sz="2000" strike="noStrike" u="none">
              <a:solidFill>
                <a:schemeClr val="dk1"/>
              </a:solidFill>
              <a:effectLst/>
              <a:uFillTx/>
              <a:latin typeface="Calibri"/>
            </a:endParaRPr>
          </a:p>
          <a:p>
            <a:pPr lvl="4" marL="2160000" indent="-216000">
              <a:spcBef>
                <a:spcPts val="283"/>
              </a:spcBef>
              <a:buClr>
                <a:srgbClr val="ffffff"/>
              </a:buClr>
              <a:buSzPct val="45000"/>
              <a:buFont typeface="Wingdings" charset="2"/>
              <a:buChar char=""/>
            </a:pPr>
            <a:r>
              <a:rPr b="0" lang="es-ES" sz="2000" strike="noStrike" u="none">
                <a:solidFill>
                  <a:schemeClr val="dk1"/>
                </a:solidFill>
                <a:effectLst/>
                <a:uFillTx/>
                <a:latin typeface="Calibri"/>
              </a:rPr>
              <a:t>Quinto nivel del esquema</a:t>
            </a:r>
            <a:endParaRPr b="0" lang="es-ES" sz="2000" strike="noStrike" u="none">
              <a:solidFill>
                <a:schemeClr val="dk1"/>
              </a:solidFill>
              <a:effectLst/>
              <a:uFillTx/>
              <a:latin typeface="Calibri"/>
            </a:endParaRPr>
          </a:p>
          <a:p>
            <a:pPr lvl="5" marL="2592000" indent="-216000">
              <a:spcBef>
                <a:spcPts val="283"/>
              </a:spcBef>
              <a:buClr>
                <a:srgbClr val="ffffff"/>
              </a:buClr>
              <a:buSzPct val="45000"/>
              <a:buFont typeface="Wingdings" charset="2"/>
              <a:buChar char=""/>
            </a:pPr>
            <a:r>
              <a:rPr b="0" lang="es-ES" sz="2000" strike="noStrike" u="none">
                <a:solidFill>
                  <a:schemeClr val="dk1"/>
                </a:solidFill>
                <a:effectLst/>
                <a:uFillTx/>
                <a:latin typeface="Calibri"/>
              </a:rPr>
              <a:t>Sexto nivel del esquema</a:t>
            </a:r>
            <a:endParaRPr b="0" lang="es-ES" sz="2000" strike="noStrike" u="none">
              <a:solidFill>
                <a:schemeClr val="dk1"/>
              </a:solidFill>
              <a:effectLst/>
              <a:uFillTx/>
              <a:latin typeface="Calibri"/>
            </a:endParaRPr>
          </a:p>
          <a:p>
            <a:pPr lvl="6" marL="3024000" indent="-216000">
              <a:spcBef>
                <a:spcPts val="283"/>
              </a:spcBef>
              <a:buClr>
                <a:srgbClr val="ffffff"/>
              </a:buClr>
              <a:buSzPct val="45000"/>
              <a:buFont typeface="Wingdings" charset="2"/>
              <a:buChar char=""/>
            </a:pPr>
            <a:r>
              <a:rPr b="0" lang="es-ES" sz="2000" strike="noStrike" u="none">
                <a:solidFill>
                  <a:schemeClr val="dk1"/>
                </a:solidFill>
                <a:effectLst/>
                <a:uFillTx/>
                <a:latin typeface="Calibri"/>
              </a:rPr>
              <a:t>Séptimo nivel del esquema</a:t>
            </a:r>
            <a:endParaRPr b="0" lang="es-ES" sz="2000" strike="noStrike" u="none">
              <a:solidFill>
                <a:schemeClr val="dk1"/>
              </a:solidFill>
              <a:effectLst/>
              <a:uFillTx/>
              <a:latin typeface="Calibri"/>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IDO">
    <p:bg>
      <p:bgPr>
        <a:solidFill>
          <a:schemeClr val="dk1"/>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548640" y="320040"/>
            <a:ext cx="8503560" cy="776880"/>
          </a:xfrm>
          <a:prstGeom prst="rect">
            <a:avLst/>
          </a:prstGeom>
          <a:noFill/>
          <a:ln w="0">
            <a:noFill/>
          </a:ln>
        </p:spPr>
        <p:txBody>
          <a:bodyPr lIns="90000" rIns="90000" tIns="45000" bIns="45000" anchor="t">
            <a:noAutofit/>
          </a:bodyPr>
          <a:p>
            <a:pPr indent="0">
              <a:buNone/>
            </a:pPr>
            <a:r>
              <a:rPr b="0" lang="es-ES" sz="3400" strike="noStrike" u="none">
                <a:solidFill>
                  <a:schemeClr val="dk1"/>
                </a:solidFill>
                <a:effectLst/>
                <a:uFillTx/>
                <a:latin typeface="Calibri"/>
              </a:rPr>
              <a:t>Pulse para editar el formato del texto de título</a:t>
            </a:r>
            <a:endParaRPr b="0" lang="es-ES" sz="3400" strike="noStrike" u="none">
              <a:solidFill>
                <a:schemeClr val="dk1"/>
              </a:solidFill>
              <a:effectLst/>
              <a:uFillTx/>
              <a:latin typeface="Calibri"/>
            </a:endParaRPr>
          </a:p>
        </p:txBody>
      </p:sp>
      <p:sp>
        <p:nvSpPr>
          <p:cNvPr id="3" name="PlaceHolder 2"/>
          <p:cNvSpPr>
            <a:spLocks noGrp="1"/>
          </p:cNvSpPr>
          <p:nvPr>
            <p:ph type="body"/>
          </p:nvPr>
        </p:nvSpPr>
        <p:spPr>
          <a:xfrm>
            <a:off x="9052560" y="502920"/>
            <a:ext cx="2605680" cy="411120"/>
          </a:xfrm>
          <a:prstGeom prst="rect">
            <a:avLst/>
          </a:prstGeom>
          <a:noFill/>
          <a:ln w="0">
            <a:noFill/>
          </a:ln>
        </p:spPr>
        <p:txBody>
          <a:bodyPr lIns="90000" rIns="90000" tIns="45000" bIns="45000" anchor="t">
            <a:noAutofit/>
          </a:bodyPr>
          <a:p>
            <a:pPr marL="432000" indent="-324000">
              <a:spcBef>
                <a:spcPts val="1417"/>
              </a:spcBef>
              <a:buClr>
                <a:srgbClr val="ffffff"/>
              </a:buClr>
              <a:buSzPct val="45000"/>
              <a:buFont typeface="Wingdings" charset="2"/>
              <a:buChar char=""/>
            </a:pPr>
            <a:r>
              <a:rPr b="0" lang="es-ES" sz="1200" strike="noStrike" u="none">
                <a:solidFill>
                  <a:schemeClr val="dk1"/>
                </a:solidFill>
                <a:effectLst/>
                <a:uFillTx/>
                <a:latin typeface="Calibri"/>
              </a:rPr>
              <a:t>Pulse para editar el formato de texto del esquema</a:t>
            </a:r>
            <a:endParaRPr b="0" lang="es-ES" sz="1200" strike="noStrike" u="none">
              <a:solidFill>
                <a:schemeClr val="dk1"/>
              </a:solidFill>
              <a:effectLst/>
              <a:uFillTx/>
              <a:latin typeface="Calibri"/>
            </a:endParaRPr>
          </a:p>
          <a:p>
            <a:pPr lvl="1" marL="864000" indent="-324000">
              <a:spcBef>
                <a:spcPts val="1134"/>
              </a:spcBef>
              <a:buClr>
                <a:srgbClr val="ffffff"/>
              </a:buClr>
              <a:buSzPct val="75000"/>
              <a:buFont typeface="Symbol" charset="2"/>
              <a:buChar char=""/>
            </a:pPr>
            <a:r>
              <a:rPr b="0" lang="es-ES" sz="1200" strike="noStrike" u="none">
                <a:solidFill>
                  <a:schemeClr val="dk1"/>
                </a:solidFill>
                <a:effectLst/>
                <a:uFillTx/>
                <a:latin typeface="Calibri"/>
              </a:rPr>
              <a:t>Segundo nivel del esquema</a:t>
            </a:r>
            <a:endParaRPr b="0" lang="es-ES" sz="1200" strike="noStrike" u="none">
              <a:solidFill>
                <a:schemeClr val="dk1"/>
              </a:solidFill>
              <a:effectLst/>
              <a:uFillTx/>
              <a:latin typeface="Calibri"/>
            </a:endParaRPr>
          </a:p>
          <a:p>
            <a:pPr lvl="2" marL="1296000" indent="-288000">
              <a:spcBef>
                <a:spcPts val="850"/>
              </a:spcBef>
              <a:buClr>
                <a:srgbClr val="ffffff"/>
              </a:buClr>
              <a:buSzPct val="45000"/>
              <a:buFont typeface="Wingdings" charset="2"/>
              <a:buChar char=""/>
            </a:pPr>
            <a:r>
              <a:rPr b="0" lang="es-ES" sz="1200" strike="noStrike" u="none">
                <a:solidFill>
                  <a:schemeClr val="dk1"/>
                </a:solidFill>
                <a:effectLst/>
                <a:uFillTx/>
                <a:latin typeface="Calibri"/>
              </a:rPr>
              <a:t>Tercer nivel del esquema</a:t>
            </a:r>
            <a:endParaRPr b="0" lang="es-ES" sz="1200" strike="noStrike" u="none">
              <a:solidFill>
                <a:schemeClr val="dk1"/>
              </a:solidFill>
              <a:effectLst/>
              <a:uFillTx/>
              <a:latin typeface="Calibri"/>
            </a:endParaRPr>
          </a:p>
          <a:p>
            <a:pPr lvl="3" marL="1728000" indent="-216000">
              <a:spcBef>
                <a:spcPts val="567"/>
              </a:spcBef>
              <a:buClr>
                <a:srgbClr val="ffffff"/>
              </a:buClr>
              <a:buSzPct val="75000"/>
              <a:buFont typeface="Symbol" charset="2"/>
              <a:buChar char=""/>
            </a:pPr>
            <a:r>
              <a:rPr b="0" lang="es-ES" sz="1200" strike="noStrike" u="none">
                <a:solidFill>
                  <a:schemeClr val="dk1"/>
                </a:solidFill>
                <a:effectLst/>
                <a:uFillTx/>
                <a:latin typeface="Calibri"/>
              </a:rPr>
              <a:t>Cuarto nivel del esquema</a:t>
            </a:r>
            <a:endParaRPr b="0" lang="es-ES" sz="1200" strike="noStrike" u="none">
              <a:solidFill>
                <a:schemeClr val="dk1"/>
              </a:solidFill>
              <a:effectLst/>
              <a:uFillTx/>
              <a:latin typeface="Calibri"/>
            </a:endParaRPr>
          </a:p>
          <a:p>
            <a:pPr lvl="4" marL="2160000" indent="-216000">
              <a:spcBef>
                <a:spcPts val="283"/>
              </a:spcBef>
              <a:buClr>
                <a:srgbClr val="ffffff"/>
              </a:buClr>
              <a:buSzPct val="45000"/>
              <a:buFont typeface="Wingdings" charset="2"/>
              <a:buChar char=""/>
            </a:pPr>
            <a:r>
              <a:rPr b="0" lang="es-ES" sz="1200" strike="noStrike" u="none">
                <a:solidFill>
                  <a:schemeClr val="dk1"/>
                </a:solidFill>
                <a:effectLst/>
                <a:uFillTx/>
                <a:latin typeface="Calibri"/>
              </a:rPr>
              <a:t>Quinto nivel del esquema</a:t>
            </a:r>
            <a:endParaRPr b="0" lang="es-ES" sz="1200" strike="noStrike" u="none">
              <a:solidFill>
                <a:schemeClr val="dk1"/>
              </a:solidFill>
              <a:effectLst/>
              <a:uFillTx/>
              <a:latin typeface="Calibri"/>
            </a:endParaRPr>
          </a:p>
          <a:p>
            <a:pPr lvl="5" marL="2592000" indent="-216000">
              <a:spcBef>
                <a:spcPts val="283"/>
              </a:spcBef>
              <a:buClr>
                <a:srgbClr val="ffffff"/>
              </a:buClr>
              <a:buSzPct val="45000"/>
              <a:buFont typeface="Wingdings" charset="2"/>
              <a:buChar char=""/>
            </a:pPr>
            <a:r>
              <a:rPr b="0" lang="es-ES" sz="1200" strike="noStrike" u="none">
                <a:solidFill>
                  <a:schemeClr val="dk1"/>
                </a:solidFill>
                <a:effectLst/>
                <a:uFillTx/>
                <a:latin typeface="Calibri"/>
              </a:rPr>
              <a:t>Sexto nivel del esquema</a:t>
            </a:r>
            <a:endParaRPr b="0" lang="es-ES" sz="1200" strike="noStrike" u="none">
              <a:solidFill>
                <a:schemeClr val="dk1"/>
              </a:solidFill>
              <a:effectLst/>
              <a:uFillTx/>
              <a:latin typeface="Calibri"/>
            </a:endParaRPr>
          </a:p>
          <a:p>
            <a:pPr lvl="6" marL="3024000" indent="-216000">
              <a:spcBef>
                <a:spcPts val="283"/>
              </a:spcBef>
              <a:buClr>
                <a:srgbClr val="ffffff"/>
              </a:buClr>
              <a:buSzPct val="45000"/>
              <a:buFont typeface="Wingdings" charset="2"/>
              <a:buChar char=""/>
            </a:pPr>
            <a:r>
              <a:rPr b="0" lang="es-ES" sz="1200" strike="noStrike" u="none">
                <a:solidFill>
                  <a:schemeClr val="dk1"/>
                </a:solidFill>
                <a:effectLst/>
                <a:uFillTx/>
                <a:latin typeface="Calibri"/>
              </a:rPr>
              <a:t>Séptimo nivel del esquema</a:t>
            </a:r>
            <a:endParaRPr b="0" lang="es-ES" sz="1200" strike="noStrike" u="none">
              <a:solidFill>
                <a:schemeClr val="dk1"/>
              </a:solidFill>
              <a:effectLst/>
              <a:uFillTx/>
              <a:latin typeface="Calibri"/>
            </a:endParaRPr>
          </a:p>
        </p:txBody>
      </p:sp>
      <p:pic>
        <p:nvPicPr>
          <p:cNvPr id="4" name="Image 0" descr="/home/claude/deck/assets/logo.png"/>
          <p:cNvPicPr/>
          <p:nvPr/>
        </p:nvPicPr>
        <p:blipFill>
          <a:blip r:embed="rId2"/>
          <a:stretch/>
        </p:blipFill>
        <p:spPr>
          <a:xfrm>
            <a:off x="548640" y="6336720"/>
            <a:ext cx="795240" cy="301320"/>
          </a:xfrm>
          <a:prstGeom prst="rect">
            <a:avLst/>
          </a:prstGeom>
          <a:noFill/>
          <a:ln w="0">
            <a:noFill/>
          </a:ln>
        </p:spPr>
      </p:pic>
      <p:sp>
        <p:nvSpPr>
          <p:cNvPr id="5" name="Text 0"/>
          <p:cNvSpPr/>
          <p:nvPr/>
        </p:nvSpPr>
        <p:spPr>
          <a:xfrm>
            <a:off x="1463040" y="6336720"/>
            <a:ext cx="5028840" cy="301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000" strike="noStrike" u="none">
                <a:solidFill>
                  <a:schemeClr val="lt2"/>
                </a:solidFill>
                <a:effectLst/>
                <a:uFillTx/>
                <a:latin typeface="Calibri"/>
              </a:rPr>
              <a:t>Musicfy · UD1 · Mini aplicación web con una API de IA</a:t>
            </a:r>
            <a:endParaRPr b="0" lang="es-ES" sz="1000" strike="noStrike" u="none">
              <a:solidFill>
                <a:srgbClr val="ffffff"/>
              </a:solidFill>
              <a:effectLst/>
              <a:uFillTx/>
              <a:latin typeface="Arial"/>
            </a:endParaRPr>
          </a:p>
        </p:txBody>
      </p:sp>
      <p:sp>
        <p:nvSpPr>
          <p:cNvPr id="6" name="PlaceHolder 3"/>
          <p:cNvSpPr>
            <a:spLocks noGrp="1"/>
          </p:cNvSpPr>
          <p:nvPr>
            <p:ph type="sldNum" idx="1"/>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4403797D-8E59-46D5-8363-CB31173EDD1A}"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3.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3.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slideLayout" Target="../slideLayouts/slideLayout3.xml"/><Relationship Id="rId4"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Relationship Id="rId3" Type="http://schemas.openxmlformats.org/officeDocument/2006/relationships/notesSlide" Target="../notesSlides/notesSlide2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 name="txt1"/>
          <p:cNvSpPr/>
          <p:nvPr/>
        </p:nvSpPr>
        <p:spPr>
          <a:xfrm>
            <a:off x="685800" y="548640"/>
            <a:ext cx="73148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pc="201" strike="noStrike" u="none">
                <a:solidFill>
                  <a:schemeClr val="accent1"/>
                </a:solidFill>
                <a:effectLst/>
                <a:uFillTx/>
                <a:latin typeface="Calibri"/>
              </a:rPr>
              <a:t>PRÁCTICA UD1 · MINI APLICACIÓN WEB CON UNA API DE IA</a:t>
            </a:r>
            <a:endParaRPr b="0" lang="es-ES" sz="1300" strike="noStrike" u="none">
              <a:solidFill>
                <a:srgbClr val="ffffff"/>
              </a:solidFill>
              <a:effectLst/>
              <a:uFillTx/>
              <a:latin typeface="Arial"/>
            </a:endParaRPr>
          </a:p>
        </p:txBody>
      </p:sp>
      <p:pic>
        <p:nvPicPr>
          <p:cNvPr id="14" name="logo" descr="Logo de Musicfy"/>
          <p:cNvPicPr/>
          <p:nvPr/>
        </p:nvPicPr>
        <p:blipFill>
          <a:blip r:embed="rId1"/>
          <a:stretch/>
        </p:blipFill>
        <p:spPr>
          <a:xfrm>
            <a:off x="457200" y="1234440"/>
            <a:ext cx="6309000" cy="2395440"/>
          </a:xfrm>
          <a:prstGeom prst="rect">
            <a:avLst/>
          </a:prstGeom>
          <a:noFill/>
          <a:ln w="0">
            <a:noFill/>
          </a:ln>
        </p:spPr>
      </p:pic>
      <p:sp>
        <p:nvSpPr>
          <p:cNvPr id="15" name="PlaceHolder 1"/>
          <p:cNvSpPr>
            <a:spLocks noGrp="1"/>
          </p:cNvSpPr>
          <p:nvPr>
            <p:ph type="title"/>
          </p:nvPr>
        </p:nvSpPr>
        <p:spPr>
          <a:xfrm>
            <a:off x="685800" y="3749040"/>
            <a:ext cx="7131960" cy="548280"/>
          </a:xfrm>
          <a:prstGeom prst="rect">
            <a:avLst/>
          </a:prstGeom>
          <a:noFill/>
          <a:ln w="0">
            <a:noFill/>
          </a:ln>
        </p:spPr>
        <p:txBody>
          <a:bodyPr lIns="0" rIns="0" tIns="0" bIns="0" anchor="ctr">
            <a:noAutofit/>
          </a:bodyPr>
          <a:p>
            <a:pPr indent="0" defTabSz="914400">
              <a:lnSpc>
                <a:spcPct val="100000"/>
              </a:lnSpc>
              <a:buNone/>
              <a:tabLst>
                <a:tab algn="l" pos="0"/>
              </a:tabLst>
            </a:pPr>
            <a:r>
              <a:rPr b="0" lang="en-US" sz="2600" strike="noStrike" u="none">
                <a:solidFill>
                  <a:schemeClr val="lt1"/>
                </a:solidFill>
                <a:effectLst/>
                <a:uFillTx/>
                <a:latin typeface="Calibri"/>
              </a:rPr>
              <a:t>Recomendador musical con inteligencia artificial</a:t>
            </a:r>
            <a:endParaRPr b="0" lang="es-ES" sz="2600" strike="noStrike" u="none">
              <a:solidFill>
                <a:schemeClr val="dk1"/>
              </a:solidFill>
              <a:effectLst/>
              <a:uFillTx/>
              <a:latin typeface="Calibri"/>
            </a:endParaRPr>
          </a:p>
        </p:txBody>
      </p:sp>
      <p:sp>
        <p:nvSpPr>
          <p:cNvPr id="16" name="txt2"/>
          <p:cNvSpPr/>
          <p:nvPr/>
        </p:nvSpPr>
        <p:spPr>
          <a:xfrm>
            <a:off x="685800" y="4434840"/>
            <a:ext cx="6674760" cy="7311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600" strike="noStrike" u="none">
                <a:solidFill>
                  <a:schemeClr val="lt2"/>
                </a:solidFill>
                <a:effectLst/>
                <a:uFillTx/>
                <a:latin typeface="Calibri"/>
              </a:rPr>
              <a:t>Dos aplicaciones equivalentes: la App 1, hecha a mano, y la App 2, desarrollada con GitHub Spec Kit e IA y protegida con Clerk.</a:t>
            </a:r>
            <a:endParaRPr b="0" lang="es-ES" sz="1600" strike="noStrike" u="none">
              <a:solidFill>
                <a:srgbClr val="ffffff"/>
              </a:solidFill>
              <a:effectLst/>
              <a:uFillTx/>
              <a:latin typeface="Arial"/>
            </a:endParaRPr>
          </a:p>
        </p:txBody>
      </p:sp>
      <p:sp>
        <p:nvSpPr>
          <p:cNvPr id="17" name="pill3"/>
          <p:cNvSpPr/>
          <p:nvPr/>
        </p:nvSpPr>
        <p:spPr>
          <a:xfrm>
            <a:off x="8001000" y="1325880"/>
            <a:ext cx="1782720" cy="438480"/>
          </a:xfrm>
          <a:prstGeom prst="roundRect">
            <a:avLst>
              <a:gd name="adj" fmla="val 50000"/>
            </a:avLst>
          </a:prstGeom>
          <a:solidFill>
            <a:schemeClr val="accent1"/>
          </a:solidFill>
          <a:ln w="12700">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8" name="txt4"/>
          <p:cNvSpPr/>
          <p:nvPr/>
        </p:nvSpPr>
        <p:spPr>
          <a:xfrm>
            <a:off x="8001000" y="1325880"/>
            <a:ext cx="178272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dk1"/>
                </a:solidFill>
                <a:effectLst/>
                <a:uFillTx/>
                <a:latin typeface="Calibri"/>
              </a:rPr>
              <a:t>Vue 3</a:t>
            </a:r>
            <a:endParaRPr b="0" lang="es-ES" sz="1300" strike="noStrike" u="none">
              <a:solidFill>
                <a:srgbClr val="ffffff"/>
              </a:solidFill>
              <a:effectLst/>
              <a:uFillTx/>
              <a:latin typeface="Arial"/>
            </a:endParaRPr>
          </a:p>
        </p:txBody>
      </p:sp>
      <p:sp>
        <p:nvSpPr>
          <p:cNvPr id="19" name="pill5"/>
          <p:cNvSpPr/>
          <p:nvPr/>
        </p:nvSpPr>
        <p:spPr>
          <a:xfrm>
            <a:off x="9875520" y="1325880"/>
            <a:ext cx="1782720" cy="438480"/>
          </a:xfrm>
          <a:prstGeom prst="roundRect">
            <a:avLst>
              <a:gd name="adj" fmla="val 50000"/>
            </a:avLst>
          </a:prstGeom>
          <a:solidFill>
            <a:schemeClr val="tx2"/>
          </a:solidFill>
          <a:ln w="12700">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0" name="txt6"/>
          <p:cNvSpPr/>
          <p:nvPr/>
        </p:nvSpPr>
        <p:spPr>
          <a:xfrm>
            <a:off x="9875520" y="1325880"/>
            <a:ext cx="178272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accent1"/>
                </a:solidFill>
                <a:effectLst/>
                <a:uFillTx/>
                <a:latin typeface="Calibri"/>
              </a:rPr>
              <a:t>Tailwind CSS</a:t>
            </a:r>
            <a:endParaRPr b="0" lang="es-ES" sz="1300" strike="noStrike" u="none">
              <a:solidFill>
                <a:srgbClr val="ffffff"/>
              </a:solidFill>
              <a:effectLst/>
              <a:uFillTx/>
              <a:latin typeface="Arial"/>
            </a:endParaRPr>
          </a:p>
        </p:txBody>
      </p:sp>
      <p:sp>
        <p:nvSpPr>
          <p:cNvPr id="21" name="pill7"/>
          <p:cNvSpPr/>
          <p:nvPr/>
        </p:nvSpPr>
        <p:spPr>
          <a:xfrm>
            <a:off x="8001000" y="1892880"/>
            <a:ext cx="1782720" cy="438480"/>
          </a:xfrm>
          <a:prstGeom prst="roundRect">
            <a:avLst>
              <a:gd name="adj" fmla="val 50000"/>
            </a:avLst>
          </a:prstGeom>
          <a:solidFill>
            <a:schemeClr val="tx2"/>
          </a:solidFill>
          <a:ln w="12700">
            <a:solidFill>
              <a:srgbClr val="ffff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2" name="txt8"/>
          <p:cNvSpPr/>
          <p:nvPr/>
        </p:nvSpPr>
        <p:spPr>
          <a:xfrm>
            <a:off x="8001000" y="1892880"/>
            <a:ext cx="178272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lt1"/>
                </a:solidFill>
                <a:effectLst/>
                <a:uFillTx/>
                <a:latin typeface="Calibri"/>
              </a:rPr>
              <a:t>FastAPI</a:t>
            </a:r>
            <a:endParaRPr b="0" lang="es-ES" sz="1300" strike="noStrike" u="none">
              <a:solidFill>
                <a:srgbClr val="ffffff"/>
              </a:solidFill>
              <a:effectLst/>
              <a:uFillTx/>
              <a:latin typeface="Arial"/>
            </a:endParaRPr>
          </a:p>
        </p:txBody>
      </p:sp>
      <p:sp>
        <p:nvSpPr>
          <p:cNvPr id="23" name="pill9"/>
          <p:cNvSpPr/>
          <p:nvPr/>
        </p:nvSpPr>
        <p:spPr>
          <a:xfrm>
            <a:off x="9875520" y="1892880"/>
            <a:ext cx="1782720" cy="438480"/>
          </a:xfrm>
          <a:prstGeom prst="roundRect">
            <a:avLst>
              <a:gd name="adj" fmla="val 50000"/>
            </a:avLst>
          </a:prstGeom>
          <a:solidFill>
            <a:schemeClr val="tx2"/>
          </a:solidFill>
          <a:ln w="12700">
            <a:solidFill>
              <a:srgbClr val="ffff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4" name="txt10"/>
          <p:cNvSpPr/>
          <p:nvPr/>
        </p:nvSpPr>
        <p:spPr>
          <a:xfrm>
            <a:off x="9875520" y="1892880"/>
            <a:ext cx="178272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lt1"/>
                </a:solidFill>
                <a:effectLst/>
                <a:uFillTx/>
                <a:latin typeface="Calibri"/>
              </a:rPr>
              <a:t>Pydantic v2</a:t>
            </a:r>
            <a:endParaRPr b="0" lang="es-ES" sz="1300" strike="noStrike" u="none">
              <a:solidFill>
                <a:srgbClr val="ffffff"/>
              </a:solidFill>
              <a:effectLst/>
              <a:uFillTx/>
              <a:latin typeface="Arial"/>
            </a:endParaRPr>
          </a:p>
        </p:txBody>
      </p:sp>
      <p:sp>
        <p:nvSpPr>
          <p:cNvPr id="25" name="pill11"/>
          <p:cNvSpPr/>
          <p:nvPr/>
        </p:nvSpPr>
        <p:spPr>
          <a:xfrm>
            <a:off x="8001000" y="2459880"/>
            <a:ext cx="1782720" cy="438480"/>
          </a:xfrm>
          <a:prstGeom prst="roundRect">
            <a:avLst>
              <a:gd name="adj" fmla="val 50000"/>
            </a:avLst>
          </a:prstGeom>
          <a:solidFill>
            <a:schemeClr val="tx2"/>
          </a:solidFill>
          <a:ln w="12700">
            <a:solidFill>
              <a:srgbClr val="9b8c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6" name="txt12"/>
          <p:cNvSpPr/>
          <p:nvPr/>
        </p:nvSpPr>
        <p:spPr>
          <a:xfrm>
            <a:off x="8001000" y="2459880"/>
            <a:ext cx="178272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accent2"/>
                </a:solidFill>
                <a:effectLst/>
                <a:uFillTx/>
                <a:latin typeface="Calibri"/>
              </a:rPr>
              <a:t>API de Gemini</a:t>
            </a:r>
            <a:endParaRPr b="0" lang="es-ES" sz="1300" strike="noStrike" u="none">
              <a:solidFill>
                <a:srgbClr val="ffffff"/>
              </a:solidFill>
              <a:effectLst/>
              <a:uFillTx/>
              <a:latin typeface="Arial"/>
            </a:endParaRPr>
          </a:p>
        </p:txBody>
      </p:sp>
      <p:sp>
        <p:nvSpPr>
          <p:cNvPr id="27" name="pill13"/>
          <p:cNvSpPr/>
          <p:nvPr/>
        </p:nvSpPr>
        <p:spPr>
          <a:xfrm>
            <a:off x="9875520" y="2459880"/>
            <a:ext cx="1782720" cy="438480"/>
          </a:xfrm>
          <a:prstGeom prst="roundRect">
            <a:avLst>
              <a:gd name="adj" fmla="val 50000"/>
            </a:avLst>
          </a:prstGeom>
          <a:solidFill>
            <a:schemeClr val="tx2"/>
          </a:solidFill>
          <a:ln w="12700">
            <a:solidFill>
              <a:srgbClr val="ffff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8" name="txt14"/>
          <p:cNvSpPr/>
          <p:nvPr/>
        </p:nvSpPr>
        <p:spPr>
          <a:xfrm>
            <a:off x="9875520" y="2459880"/>
            <a:ext cx="178272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lt1"/>
                </a:solidFill>
                <a:effectLst/>
                <a:uFillTx/>
                <a:latin typeface="Calibri"/>
              </a:rPr>
              <a:t>pytest + mocks</a:t>
            </a:r>
            <a:endParaRPr b="0" lang="es-ES" sz="1300" strike="noStrike" u="none">
              <a:solidFill>
                <a:srgbClr val="ffffff"/>
              </a:solidFill>
              <a:effectLst/>
              <a:uFillTx/>
              <a:latin typeface="Arial"/>
            </a:endParaRPr>
          </a:p>
        </p:txBody>
      </p:sp>
      <p:sp>
        <p:nvSpPr>
          <p:cNvPr id="29" name="pill15"/>
          <p:cNvSpPr/>
          <p:nvPr/>
        </p:nvSpPr>
        <p:spPr>
          <a:xfrm>
            <a:off x="8001000" y="3026520"/>
            <a:ext cx="1782720" cy="438480"/>
          </a:xfrm>
          <a:prstGeom prst="roundRect">
            <a:avLst>
              <a:gd name="adj" fmla="val 50000"/>
            </a:avLst>
          </a:prstGeom>
          <a:solidFill>
            <a:schemeClr val="tx2"/>
          </a:solidFill>
          <a:ln w="12700">
            <a:solidFill>
              <a:srgbClr val="9b8c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0" name="txt16"/>
          <p:cNvSpPr/>
          <p:nvPr/>
        </p:nvSpPr>
        <p:spPr>
          <a:xfrm>
            <a:off x="8001000" y="3026520"/>
            <a:ext cx="178272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accent2"/>
                </a:solidFill>
                <a:effectLst/>
                <a:uFillTx/>
                <a:latin typeface="Calibri"/>
              </a:rPr>
              <a:t>Clerk</a:t>
            </a:r>
            <a:endParaRPr b="0" lang="es-ES" sz="1300" strike="noStrike" u="none">
              <a:solidFill>
                <a:srgbClr val="ffffff"/>
              </a:solidFill>
              <a:effectLst/>
              <a:uFillTx/>
              <a:latin typeface="Arial"/>
            </a:endParaRPr>
          </a:p>
        </p:txBody>
      </p:sp>
      <p:sp>
        <p:nvSpPr>
          <p:cNvPr id="31" name="pill17"/>
          <p:cNvSpPr/>
          <p:nvPr/>
        </p:nvSpPr>
        <p:spPr>
          <a:xfrm>
            <a:off x="9875520" y="3026520"/>
            <a:ext cx="1782720" cy="438480"/>
          </a:xfrm>
          <a:prstGeom prst="roundRect">
            <a:avLst>
              <a:gd name="adj" fmla="val 50000"/>
            </a:avLst>
          </a:prstGeom>
          <a:solidFill>
            <a:schemeClr val="tx2"/>
          </a:solidFill>
          <a:ln w="12700">
            <a:solidFill>
              <a:srgbClr val="9b8c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2" name="txt18"/>
          <p:cNvSpPr/>
          <p:nvPr/>
        </p:nvSpPr>
        <p:spPr>
          <a:xfrm>
            <a:off x="9875520" y="3026520"/>
            <a:ext cx="178272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accent2"/>
                </a:solidFill>
                <a:effectLst/>
                <a:uFillTx/>
                <a:latin typeface="Calibri"/>
              </a:rPr>
              <a:t>GitHub Spec Kit</a:t>
            </a:r>
            <a:endParaRPr b="0" lang="es-ES" sz="1300" strike="noStrike" u="none">
              <a:solidFill>
                <a:srgbClr val="ffffff"/>
              </a:solidFill>
              <a:effectLst/>
              <a:uFillTx/>
              <a:latin typeface="Arial"/>
            </a:endParaRPr>
          </a:p>
        </p:txBody>
      </p:sp>
      <p:sp>
        <p:nvSpPr>
          <p:cNvPr id="33" name="pill19"/>
          <p:cNvSpPr/>
          <p:nvPr/>
        </p:nvSpPr>
        <p:spPr>
          <a:xfrm>
            <a:off x="8001000" y="3593520"/>
            <a:ext cx="1782720" cy="438480"/>
          </a:xfrm>
          <a:prstGeom prst="roundRect">
            <a:avLst>
              <a:gd name="adj" fmla="val 50000"/>
            </a:avLst>
          </a:prstGeom>
          <a:solidFill>
            <a:schemeClr val="tx2"/>
          </a:solidFill>
          <a:ln w="12700">
            <a:solidFill>
              <a:srgbClr val="4fd1e8"/>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4" name="txt20"/>
          <p:cNvSpPr/>
          <p:nvPr/>
        </p:nvSpPr>
        <p:spPr>
          <a:xfrm>
            <a:off x="8001000" y="3593520"/>
            <a:ext cx="178272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accent3"/>
                </a:solidFill>
                <a:effectLst/>
                <a:uFillTx/>
                <a:latin typeface="Calibri"/>
              </a:rPr>
              <a:t>Vercel</a:t>
            </a:r>
            <a:endParaRPr b="0" lang="es-ES" sz="1300" strike="noStrike" u="none">
              <a:solidFill>
                <a:srgbClr val="ffffff"/>
              </a:solidFill>
              <a:effectLst/>
              <a:uFillTx/>
              <a:latin typeface="Arial"/>
            </a:endParaRPr>
          </a:p>
        </p:txBody>
      </p:sp>
      <p:sp>
        <p:nvSpPr>
          <p:cNvPr id="35" name="pill21"/>
          <p:cNvSpPr/>
          <p:nvPr/>
        </p:nvSpPr>
        <p:spPr>
          <a:xfrm>
            <a:off x="9875520" y="3593520"/>
            <a:ext cx="1782720" cy="438480"/>
          </a:xfrm>
          <a:prstGeom prst="roundRect">
            <a:avLst>
              <a:gd name="adj" fmla="val 50000"/>
            </a:avLst>
          </a:prstGeom>
          <a:solidFill>
            <a:schemeClr val="tx2"/>
          </a:solidFill>
          <a:ln w="12700">
            <a:solidFill>
              <a:srgbClr val="4fd1e8"/>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6" name="txt22"/>
          <p:cNvSpPr/>
          <p:nvPr/>
        </p:nvSpPr>
        <p:spPr>
          <a:xfrm>
            <a:off x="9875520" y="3593520"/>
            <a:ext cx="1782720" cy="438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accent3"/>
                </a:solidFill>
                <a:effectLst/>
                <a:uFillTx/>
                <a:latin typeface="Calibri"/>
              </a:rPr>
              <a:t>Docker + AWS EC2</a:t>
            </a:r>
            <a:endParaRPr b="0" lang="es-ES" sz="1300" strike="noStrike" u="none">
              <a:solidFill>
                <a:srgbClr val="ffffff"/>
              </a:solidFill>
              <a:effectLst/>
              <a:uFillTx/>
              <a:latin typeface="Arial"/>
            </a:endParaRPr>
          </a:p>
        </p:txBody>
      </p:sp>
      <p:sp>
        <p:nvSpPr>
          <p:cNvPr id="37" name="card23"/>
          <p:cNvSpPr/>
          <p:nvPr/>
        </p:nvSpPr>
        <p:spPr>
          <a:xfrm>
            <a:off x="685800" y="5349240"/>
            <a:ext cx="3520080" cy="776880"/>
          </a:xfrm>
          <a:prstGeom prst="roundRect">
            <a:avLst>
              <a:gd name="adj" fmla="val 14118"/>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8" name="txt24"/>
          <p:cNvSpPr/>
          <p:nvPr/>
        </p:nvSpPr>
        <p:spPr>
          <a:xfrm>
            <a:off x="868680" y="5349240"/>
            <a:ext cx="320004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chemeClr val="lt1"/>
                </a:solidFill>
                <a:effectLst/>
                <a:uFillTx/>
                <a:latin typeface="Calibri"/>
              </a:rPr>
              <a:t>David Molina Castillo</a:t>
            </a:r>
            <a:endParaRPr b="0" lang="es-ES" sz="15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rPr>
              <a:t>ERS, pruebas y comparativa</a:t>
            </a:r>
            <a:endParaRPr b="0" lang="es-ES" sz="1200" strike="noStrike" u="none">
              <a:solidFill>
                <a:srgbClr val="ffffff"/>
              </a:solidFill>
              <a:effectLst/>
              <a:uFillTx/>
              <a:latin typeface="Arial"/>
            </a:endParaRPr>
          </a:p>
        </p:txBody>
      </p:sp>
      <p:sp>
        <p:nvSpPr>
          <p:cNvPr id="39" name="card25"/>
          <p:cNvSpPr/>
          <p:nvPr/>
        </p:nvSpPr>
        <p:spPr>
          <a:xfrm>
            <a:off x="4343400" y="5349240"/>
            <a:ext cx="3520080" cy="776880"/>
          </a:xfrm>
          <a:prstGeom prst="roundRect">
            <a:avLst>
              <a:gd name="adj" fmla="val 14118"/>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0" name="txt26"/>
          <p:cNvSpPr/>
          <p:nvPr/>
        </p:nvSpPr>
        <p:spPr>
          <a:xfrm>
            <a:off x="4526280" y="5349240"/>
            <a:ext cx="320004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chemeClr val="lt1"/>
                </a:solidFill>
                <a:effectLst/>
                <a:uFillTx/>
                <a:latin typeface="Calibri"/>
              </a:rPr>
              <a:t>Mario Luna Lopez</a:t>
            </a:r>
            <a:endParaRPr b="0" lang="es-ES" sz="15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rPr>
              <a:t>Backend, Clerk, Docker y EC2</a:t>
            </a:r>
            <a:endParaRPr b="0" lang="es-ES" sz="1200" strike="noStrike" u="none">
              <a:solidFill>
                <a:srgbClr val="ffffff"/>
              </a:solidFill>
              <a:effectLst/>
              <a:uFillTx/>
              <a:latin typeface="Arial"/>
            </a:endParaRPr>
          </a:p>
        </p:txBody>
      </p:sp>
      <p:sp>
        <p:nvSpPr>
          <p:cNvPr id="41" name="card27"/>
          <p:cNvSpPr/>
          <p:nvPr/>
        </p:nvSpPr>
        <p:spPr>
          <a:xfrm>
            <a:off x="8001000" y="5349240"/>
            <a:ext cx="3520080" cy="776880"/>
          </a:xfrm>
          <a:prstGeom prst="roundRect">
            <a:avLst>
              <a:gd name="adj" fmla="val 14118"/>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2" name="txt28"/>
          <p:cNvSpPr/>
          <p:nvPr/>
        </p:nvSpPr>
        <p:spPr>
          <a:xfrm>
            <a:off x="8183880" y="5349240"/>
            <a:ext cx="320004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none">
                <a:solidFill>
                  <a:schemeClr val="lt1"/>
                </a:solidFill>
                <a:effectLst/>
                <a:uFillTx/>
                <a:latin typeface="Calibri"/>
              </a:rPr>
              <a:t>Jose Antonio Nieto Perez</a:t>
            </a:r>
            <a:endParaRPr b="0" lang="es-ES" sz="15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rPr>
              <a:t>Frontend, Vercel y Spec Kit</a:t>
            </a:r>
            <a:endParaRPr b="0" lang="es-ES" sz="1200" strike="noStrike" u="none">
              <a:solidFill>
                <a:srgbClr val="ffffff"/>
              </a:solidFill>
              <a:effectLst/>
              <a:uFillTx/>
              <a:latin typeface="Arial"/>
            </a:endParaRPr>
          </a:p>
        </p:txBody>
      </p:sp>
      <p:sp>
        <p:nvSpPr>
          <p:cNvPr id="43" name="txt29"/>
          <p:cNvSpPr/>
          <p:nvPr/>
        </p:nvSpPr>
        <p:spPr>
          <a:xfrm>
            <a:off x="685800" y="6355080"/>
            <a:ext cx="1078956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100" strike="noStrike" u="none">
                <a:solidFill>
                  <a:schemeClr val="lt2"/>
                </a:solidFill>
                <a:effectLst/>
                <a:uFillTx/>
                <a:latin typeface="Calibri"/>
              </a:rPr>
              <a:t>Desarrollo de componentes software para sistemas de aprendizaje automático · Docente: Francisco Manuel Matías Prados</a:t>
            </a:r>
            <a:endParaRPr b="0" lang="es-ES" sz="11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Índice y reparto</a:t>
            </a:r>
            <a:endParaRPr b="0" lang="es-ES" sz="3400" strike="noStrike" u="none">
              <a:solidFill>
                <a:schemeClr val="dk1"/>
              </a:solidFill>
              <a:effectLst/>
              <a:uFillTx/>
              <a:latin typeface="Calibri"/>
            </a:endParaRPr>
          </a:p>
        </p:txBody>
      </p:sp>
      <p:sp>
        <p:nvSpPr>
          <p:cNvPr id="45"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8–10 MINUTOS</a:t>
            </a:r>
            <a:endParaRPr b="0" lang="es-ES" sz="1200" strike="noStrike" u="none">
              <a:solidFill>
                <a:schemeClr val="dk1"/>
              </a:solidFill>
              <a:effectLst/>
              <a:uFillTx/>
              <a:latin typeface="Calibri"/>
            </a:endParaRPr>
          </a:p>
        </p:txBody>
      </p:sp>
      <p:sp>
        <p:nvSpPr>
          <p:cNvPr id="46" name="presenta30"/>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7" name="txt31"/>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David Molina</a:t>
            </a:r>
            <a:endParaRPr b="0" lang="es-ES" sz="1100" strike="noStrike" u="none">
              <a:solidFill>
                <a:srgbClr val="ffffff"/>
              </a:solidFill>
              <a:effectLst/>
              <a:uFillTx/>
              <a:latin typeface="Arial"/>
            </a:endParaRPr>
          </a:p>
        </p:txBody>
      </p:sp>
      <p:sp>
        <p:nvSpPr>
          <p:cNvPr id="48" name="card32"/>
          <p:cNvSpPr/>
          <p:nvPr/>
        </p:nvSpPr>
        <p:spPr>
          <a:xfrm>
            <a:off x="548640" y="1371600"/>
            <a:ext cx="3611520" cy="2194200"/>
          </a:xfrm>
          <a:prstGeom prst="roundRect">
            <a:avLst>
              <a:gd name="adj" fmla="val 50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9" name="badge33"/>
          <p:cNvSpPr/>
          <p:nvPr/>
        </p:nvSpPr>
        <p:spPr>
          <a:xfrm>
            <a:off x="777240" y="1600200"/>
            <a:ext cx="456840" cy="383760"/>
          </a:xfrm>
          <a:prstGeom prst="roundRect">
            <a:avLst>
              <a:gd name="adj" fmla="val 19048"/>
            </a:avLst>
          </a:prstGeom>
          <a:solidFill>
            <a:schemeClr val="accent1"/>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0" name="txt34"/>
          <p:cNvSpPr/>
          <p:nvPr/>
        </p:nvSpPr>
        <p:spPr>
          <a:xfrm>
            <a:off x="777240" y="1600200"/>
            <a:ext cx="45684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dk1"/>
                </a:solidFill>
                <a:effectLst/>
                <a:uFillTx/>
                <a:latin typeface="Calibri"/>
              </a:rPr>
              <a:t>01</a:t>
            </a:r>
            <a:endParaRPr b="0" lang="es-ES" sz="1400" strike="noStrike" u="none">
              <a:solidFill>
                <a:srgbClr val="ffffff"/>
              </a:solidFill>
              <a:effectLst/>
              <a:uFillTx/>
              <a:latin typeface="Arial"/>
            </a:endParaRPr>
          </a:p>
        </p:txBody>
      </p:sp>
      <p:sp>
        <p:nvSpPr>
          <p:cNvPr id="51" name="txt35"/>
          <p:cNvSpPr/>
          <p:nvPr/>
        </p:nvSpPr>
        <p:spPr>
          <a:xfrm>
            <a:off x="1371600" y="1600200"/>
            <a:ext cx="265140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chemeClr val="lt1"/>
                </a:solidFill>
                <a:effectLst/>
                <a:uFillTx/>
                <a:latin typeface="Calibri"/>
              </a:rPr>
              <a:t>Proyecto y arquitectura</a:t>
            </a:r>
            <a:endParaRPr b="0" lang="es-ES" sz="1800" strike="noStrike" u="none">
              <a:solidFill>
                <a:srgbClr val="ffffff"/>
              </a:solidFill>
              <a:effectLst/>
              <a:uFillTx/>
              <a:latin typeface="Arial"/>
            </a:endParaRPr>
          </a:p>
        </p:txBody>
      </p:sp>
      <p:sp>
        <p:nvSpPr>
          <p:cNvPr id="52" name="txt36"/>
          <p:cNvSpPr/>
          <p:nvPr/>
        </p:nvSpPr>
        <p:spPr>
          <a:xfrm>
            <a:off x="822960" y="2148840"/>
            <a:ext cx="3108600" cy="95976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0000"/>
              </a:lnSpc>
              <a:spcAft>
                <a:spcPts val="300"/>
              </a:spcAft>
              <a:buClr>
                <a:srgbClr val="a9a9bf"/>
              </a:buClr>
              <a:buFont typeface="Symbol" charset="2"/>
              <a:buChar char=""/>
            </a:pPr>
            <a:r>
              <a:rPr b="0" lang="en-US" sz="1300" strike="noStrike" u="none">
                <a:solidFill>
                  <a:schemeClr val="lt2"/>
                </a:solidFill>
                <a:effectLst/>
                <a:uFillTx/>
                <a:latin typeface="Calibri"/>
              </a:rPr>
              <a:t>Necesidad y alcance</a:t>
            </a:r>
            <a:endParaRPr b="0" lang="es-ES" sz="1300" strike="noStrike" u="none">
              <a:solidFill>
                <a:srgbClr val="ffffff"/>
              </a:solidFill>
              <a:effectLst/>
              <a:uFillTx/>
              <a:latin typeface="Arial"/>
            </a:endParaRPr>
          </a:p>
          <a:p>
            <a:pPr marL="177840" indent="-177840" defTabSz="914400">
              <a:lnSpc>
                <a:spcPct val="100000"/>
              </a:lnSpc>
              <a:spcAft>
                <a:spcPts val="300"/>
              </a:spcAft>
              <a:buClr>
                <a:srgbClr val="a9a9bf"/>
              </a:buClr>
              <a:buFont typeface="Symbol" charset="2"/>
              <a:buChar char=""/>
            </a:pPr>
            <a:r>
              <a:rPr b="0" lang="en-US" sz="1300" strike="noStrike" u="none">
                <a:solidFill>
                  <a:schemeClr val="lt2"/>
                </a:solidFill>
                <a:effectLst/>
                <a:uFillTx/>
                <a:latin typeface="Calibri"/>
              </a:rPr>
              <a:t>Arquitectura y flujo</a:t>
            </a:r>
            <a:endParaRPr b="0" lang="es-ES" sz="1300" strike="noStrike" u="none">
              <a:solidFill>
                <a:srgbClr val="ffffff"/>
              </a:solidFill>
              <a:effectLst/>
              <a:uFillTx/>
              <a:latin typeface="Arial"/>
            </a:endParaRPr>
          </a:p>
          <a:p>
            <a:pPr marL="177840" indent="-177840" defTabSz="914400">
              <a:lnSpc>
                <a:spcPct val="100000"/>
              </a:lnSpc>
              <a:spcAft>
                <a:spcPts val="300"/>
              </a:spcAft>
              <a:buClr>
                <a:srgbClr val="a9a9bf"/>
              </a:buClr>
              <a:buFont typeface="Symbol" charset="2"/>
              <a:buChar char=""/>
            </a:pPr>
            <a:r>
              <a:rPr b="0" lang="en-US" sz="1300" strike="noStrike" u="none">
                <a:solidFill>
                  <a:schemeClr val="lt2"/>
                </a:solidFill>
                <a:effectLst/>
                <a:uFillTx/>
                <a:latin typeface="Calibri"/>
              </a:rPr>
              <a:t>Contrato de la API</a:t>
            </a:r>
            <a:endParaRPr b="0" lang="es-ES" sz="1300" strike="noStrike" u="none">
              <a:solidFill>
                <a:srgbClr val="ffffff"/>
              </a:solidFill>
              <a:effectLst/>
              <a:uFillTx/>
              <a:latin typeface="Arial"/>
            </a:endParaRPr>
          </a:p>
        </p:txBody>
      </p:sp>
      <p:sp>
        <p:nvSpPr>
          <p:cNvPr id="53" name="txt37"/>
          <p:cNvSpPr/>
          <p:nvPr/>
        </p:nvSpPr>
        <p:spPr>
          <a:xfrm>
            <a:off x="822960" y="3127320"/>
            <a:ext cx="31086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trike="noStrike" u="none">
                <a:solidFill>
                  <a:schemeClr val="accent1"/>
                </a:solidFill>
                <a:effectLst/>
                <a:uFillTx/>
                <a:latin typeface="Calibri"/>
              </a:rPr>
              <a:t>David · Mario</a:t>
            </a:r>
            <a:endParaRPr b="0" lang="es-ES" sz="1200" strike="noStrike" u="none">
              <a:solidFill>
                <a:srgbClr val="ffffff"/>
              </a:solidFill>
              <a:effectLst/>
              <a:uFillTx/>
              <a:latin typeface="Arial"/>
            </a:endParaRPr>
          </a:p>
        </p:txBody>
      </p:sp>
      <p:sp>
        <p:nvSpPr>
          <p:cNvPr id="54" name="card38"/>
          <p:cNvSpPr/>
          <p:nvPr/>
        </p:nvSpPr>
        <p:spPr>
          <a:xfrm>
            <a:off x="4343400" y="1371600"/>
            <a:ext cx="3611520" cy="2194200"/>
          </a:xfrm>
          <a:prstGeom prst="roundRect">
            <a:avLst>
              <a:gd name="adj" fmla="val 50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5" name="badge39"/>
          <p:cNvSpPr/>
          <p:nvPr/>
        </p:nvSpPr>
        <p:spPr>
          <a:xfrm>
            <a:off x="4572000" y="1600200"/>
            <a:ext cx="456840" cy="383760"/>
          </a:xfrm>
          <a:prstGeom prst="roundRect">
            <a:avLst>
              <a:gd name="adj" fmla="val 19048"/>
            </a:avLst>
          </a:prstGeom>
          <a:solidFill>
            <a:schemeClr val="accent1"/>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6" name="txt40"/>
          <p:cNvSpPr/>
          <p:nvPr/>
        </p:nvSpPr>
        <p:spPr>
          <a:xfrm>
            <a:off x="4572000" y="1600200"/>
            <a:ext cx="45684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dk1"/>
                </a:solidFill>
                <a:effectLst/>
                <a:uFillTx/>
                <a:latin typeface="Calibri"/>
              </a:rPr>
              <a:t>02</a:t>
            </a:r>
            <a:endParaRPr b="0" lang="es-ES" sz="1400" strike="noStrike" u="none">
              <a:solidFill>
                <a:srgbClr val="ffffff"/>
              </a:solidFill>
              <a:effectLst/>
              <a:uFillTx/>
              <a:latin typeface="Arial"/>
            </a:endParaRPr>
          </a:p>
        </p:txBody>
      </p:sp>
      <p:sp>
        <p:nvSpPr>
          <p:cNvPr id="57" name="txt41"/>
          <p:cNvSpPr/>
          <p:nvPr/>
        </p:nvSpPr>
        <p:spPr>
          <a:xfrm>
            <a:off x="5166360" y="1600200"/>
            <a:ext cx="265140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chemeClr val="lt1"/>
                </a:solidFill>
                <a:effectLst/>
                <a:uFillTx/>
                <a:latin typeface="Calibri"/>
              </a:rPr>
              <a:t>ERS y requisitos</a:t>
            </a:r>
            <a:endParaRPr b="0" lang="es-ES" sz="1800" strike="noStrike" u="none">
              <a:solidFill>
                <a:srgbClr val="ffffff"/>
              </a:solidFill>
              <a:effectLst/>
              <a:uFillTx/>
              <a:latin typeface="Arial"/>
            </a:endParaRPr>
          </a:p>
        </p:txBody>
      </p:sp>
      <p:sp>
        <p:nvSpPr>
          <p:cNvPr id="58" name="txt42"/>
          <p:cNvSpPr/>
          <p:nvPr/>
        </p:nvSpPr>
        <p:spPr>
          <a:xfrm>
            <a:off x="4617720" y="2148840"/>
            <a:ext cx="3108600" cy="95976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0000"/>
              </a:lnSpc>
              <a:spcAft>
                <a:spcPts val="300"/>
              </a:spcAft>
              <a:buClr>
                <a:srgbClr val="a9a9bf"/>
              </a:buClr>
              <a:buFont typeface="Symbol" charset="2"/>
              <a:buChar char=""/>
            </a:pPr>
            <a:r>
              <a:rPr b="0" lang="en-US" sz="1300" strike="noStrike" u="none">
                <a:solidFill>
                  <a:schemeClr val="lt2"/>
                </a:solidFill>
                <a:effectLst/>
                <a:uFillTx/>
                <a:latin typeface="Calibri"/>
              </a:rPr>
              <a:t>Stack y estructura</a:t>
            </a:r>
            <a:endParaRPr b="0" lang="es-ES" sz="1300" strike="noStrike" u="none">
              <a:solidFill>
                <a:srgbClr val="ffffff"/>
              </a:solidFill>
              <a:effectLst/>
              <a:uFillTx/>
              <a:latin typeface="Arial"/>
            </a:endParaRPr>
          </a:p>
          <a:p>
            <a:pPr marL="177840" indent="-177840" defTabSz="914400">
              <a:lnSpc>
                <a:spcPct val="100000"/>
              </a:lnSpc>
              <a:spcAft>
                <a:spcPts val="300"/>
              </a:spcAft>
              <a:buClr>
                <a:srgbClr val="a9a9bf"/>
              </a:buClr>
              <a:buFont typeface="Symbol" charset="2"/>
              <a:buChar char=""/>
            </a:pPr>
            <a:r>
              <a:rPr b="0" lang="en-US" sz="1300" strike="noStrike" u="none">
                <a:solidFill>
                  <a:schemeClr val="lt2"/>
                </a:solidFill>
                <a:effectLst/>
                <a:uFillTx/>
                <a:latin typeface="Calibri"/>
              </a:rPr>
              <a:t>Requisitos funcionales</a:t>
            </a:r>
            <a:endParaRPr b="0" lang="es-ES" sz="1300" strike="noStrike" u="none">
              <a:solidFill>
                <a:srgbClr val="ffffff"/>
              </a:solidFill>
              <a:effectLst/>
              <a:uFillTx/>
              <a:latin typeface="Arial"/>
            </a:endParaRPr>
          </a:p>
          <a:p>
            <a:pPr marL="177840" indent="-177840" defTabSz="914400">
              <a:lnSpc>
                <a:spcPct val="100000"/>
              </a:lnSpc>
              <a:spcAft>
                <a:spcPts val="300"/>
              </a:spcAft>
              <a:buClr>
                <a:srgbClr val="a9a9bf"/>
              </a:buClr>
              <a:buFont typeface="Symbol" charset="2"/>
              <a:buChar char=""/>
            </a:pPr>
            <a:r>
              <a:rPr b="0" lang="en-US" sz="1300" strike="noStrike" u="none">
                <a:solidFill>
                  <a:schemeClr val="lt2"/>
                </a:solidFill>
                <a:effectLst/>
                <a:uFillTx/>
                <a:latin typeface="Calibri"/>
              </a:rPr>
              <a:t>No funcionales y seguridad</a:t>
            </a:r>
            <a:endParaRPr b="0" lang="es-ES" sz="1300" strike="noStrike" u="none">
              <a:solidFill>
                <a:srgbClr val="ffffff"/>
              </a:solidFill>
              <a:effectLst/>
              <a:uFillTx/>
              <a:latin typeface="Arial"/>
            </a:endParaRPr>
          </a:p>
        </p:txBody>
      </p:sp>
      <p:sp>
        <p:nvSpPr>
          <p:cNvPr id="59" name="txt43"/>
          <p:cNvSpPr/>
          <p:nvPr/>
        </p:nvSpPr>
        <p:spPr>
          <a:xfrm>
            <a:off x="4617720" y="3127320"/>
            <a:ext cx="31086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trike="noStrike" u="none">
                <a:solidFill>
                  <a:schemeClr val="accent1"/>
                </a:solidFill>
                <a:effectLst/>
                <a:uFillTx/>
                <a:latin typeface="Calibri"/>
              </a:rPr>
              <a:t>David</a:t>
            </a:r>
            <a:endParaRPr b="0" lang="es-ES" sz="1200" strike="noStrike" u="none">
              <a:solidFill>
                <a:srgbClr val="ffffff"/>
              </a:solidFill>
              <a:effectLst/>
              <a:uFillTx/>
              <a:latin typeface="Arial"/>
            </a:endParaRPr>
          </a:p>
        </p:txBody>
      </p:sp>
      <p:sp>
        <p:nvSpPr>
          <p:cNvPr id="60" name="card44"/>
          <p:cNvSpPr/>
          <p:nvPr/>
        </p:nvSpPr>
        <p:spPr>
          <a:xfrm>
            <a:off x="8138160" y="1371600"/>
            <a:ext cx="3611520" cy="2194200"/>
          </a:xfrm>
          <a:prstGeom prst="roundRect">
            <a:avLst>
              <a:gd name="adj" fmla="val 50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1" name="badge45"/>
          <p:cNvSpPr/>
          <p:nvPr/>
        </p:nvSpPr>
        <p:spPr>
          <a:xfrm>
            <a:off x="8366760" y="1600200"/>
            <a:ext cx="456840" cy="383760"/>
          </a:xfrm>
          <a:prstGeom prst="roundRect">
            <a:avLst>
              <a:gd name="adj" fmla="val 19048"/>
            </a:avLst>
          </a:prstGeom>
          <a:solidFill>
            <a:schemeClr val="accent1"/>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2" name="txt46"/>
          <p:cNvSpPr/>
          <p:nvPr/>
        </p:nvSpPr>
        <p:spPr>
          <a:xfrm>
            <a:off x="8366760" y="1600200"/>
            <a:ext cx="45684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dk1"/>
                </a:solidFill>
                <a:effectLst/>
                <a:uFillTx/>
                <a:latin typeface="Calibri"/>
              </a:rPr>
              <a:t>03</a:t>
            </a:r>
            <a:endParaRPr b="0" lang="es-ES" sz="1400" strike="noStrike" u="none">
              <a:solidFill>
                <a:srgbClr val="ffffff"/>
              </a:solidFill>
              <a:effectLst/>
              <a:uFillTx/>
              <a:latin typeface="Arial"/>
            </a:endParaRPr>
          </a:p>
        </p:txBody>
      </p:sp>
      <p:sp>
        <p:nvSpPr>
          <p:cNvPr id="63" name="txt47"/>
          <p:cNvSpPr/>
          <p:nvPr/>
        </p:nvSpPr>
        <p:spPr>
          <a:xfrm>
            <a:off x="8961120" y="1600200"/>
            <a:ext cx="265140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chemeClr val="lt1"/>
                </a:solidFill>
                <a:effectLst/>
                <a:uFillTx/>
                <a:latin typeface="Calibri"/>
              </a:rPr>
              <a:t>Diagramas</a:t>
            </a:r>
            <a:endParaRPr b="0" lang="es-ES" sz="1800" strike="noStrike" u="none">
              <a:solidFill>
                <a:srgbClr val="ffffff"/>
              </a:solidFill>
              <a:effectLst/>
              <a:uFillTx/>
              <a:latin typeface="Arial"/>
            </a:endParaRPr>
          </a:p>
        </p:txBody>
      </p:sp>
      <p:sp>
        <p:nvSpPr>
          <p:cNvPr id="64" name="txt48"/>
          <p:cNvSpPr/>
          <p:nvPr/>
        </p:nvSpPr>
        <p:spPr>
          <a:xfrm>
            <a:off x="8412480" y="2148840"/>
            <a:ext cx="3108600" cy="95976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0000"/>
              </a:lnSpc>
              <a:spcAft>
                <a:spcPts val="300"/>
              </a:spcAft>
              <a:buClr>
                <a:srgbClr val="a9a9bf"/>
              </a:buClr>
              <a:buFont typeface="Symbol" charset="2"/>
              <a:buChar char=""/>
            </a:pPr>
            <a:r>
              <a:rPr b="0" lang="en-US" sz="1300" strike="noStrike" u="none">
                <a:solidFill>
                  <a:schemeClr val="lt2"/>
                </a:solidFill>
                <a:effectLst/>
                <a:uFillTx/>
                <a:latin typeface="Calibri"/>
              </a:rPr>
              <a:t>Casos de uso</a:t>
            </a:r>
            <a:endParaRPr b="0" lang="es-ES" sz="1300" strike="noStrike" u="none">
              <a:solidFill>
                <a:srgbClr val="ffffff"/>
              </a:solidFill>
              <a:effectLst/>
              <a:uFillTx/>
              <a:latin typeface="Arial"/>
            </a:endParaRPr>
          </a:p>
          <a:p>
            <a:pPr marL="177840" indent="-177840" defTabSz="914400">
              <a:lnSpc>
                <a:spcPct val="100000"/>
              </a:lnSpc>
              <a:spcAft>
                <a:spcPts val="300"/>
              </a:spcAft>
              <a:buClr>
                <a:srgbClr val="a9a9bf"/>
              </a:buClr>
              <a:buFont typeface="Symbol" charset="2"/>
              <a:buChar char=""/>
            </a:pPr>
            <a:r>
              <a:rPr b="0" lang="en-US" sz="1300" strike="noStrike" u="none">
                <a:solidFill>
                  <a:schemeClr val="lt2"/>
                </a:solidFill>
                <a:effectLst/>
                <a:uFillTx/>
                <a:latin typeface="Calibri"/>
              </a:rPr>
              <a:t>Secuencia con Clerk</a:t>
            </a:r>
            <a:endParaRPr b="0" lang="es-ES" sz="1300" strike="noStrike" u="none">
              <a:solidFill>
                <a:srgbClr val="ffffff"/>
              </a:solidFill>
              <a:effectLst/>
              <a:uFillTx/>
              <a:latin typeface="Arial"/>
            </a:endParaRPr>
          </a:p>
          <a:p>
            <a:pPr marL="177840" indent="-177840" defTabSz="914400">
              <a:lnSpc>
                <a:spcPct val="100000"/>
              </a:lnSpc>
              <a:spcAft>
                <a:spcPts val="300"/>
              </a:spcAft>
              <a:buClr>
                <a:srgbClr val="a9a9bf"/>
              </a:buClr>
              <a:buFont typeface="Symbol" charset="2"/>
              <a:buChar char=""/>
            </a:pPr>
            <a:r>
              <a:rPr b="0" lang="en-US" sz="1300" strike="noStrike" u="none">
                <a:solidFill>
                  <a:schemeClr val="lt2"/>
                </a:solidFill>
                <a:effectLst/>
                <a:uFillTx/>
                <a:latin typeface="Calibri"/>
              </a:rPr>
              <a:t>Estados del frontend</a:t>
            </a:r>
            <a:endParaRPr b="0" lang="es-ES" sz="1300" strike="noStrike" u="none">
              <a:solidFill>
                <a:srgbClr val="ffffff"/>
              </a:solidFill>
              <a:effectLst/>
              <a:uFillTx/>
              <a:latin typeface="Arial"/>
            </a:endParaRPr>
          </a:p>
        </p:txBody>
      </p:sp>
      <p:sp>
        <p:nvSpPr>
          <p:cNvPr id="65" name="txt49"/>
          <p:cNvSpPr/>
          <p:nvPr/>
        </p:nvSpPr>
        <p:spPr>
          <a:xfrm>
            <a:off x="8412480" y="3127320"/>
            <a:ext cx="31086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trike="noStrike" u="none">
                <a:solidFill>
                  <a:schemeClr val="accent1"/>
                </a:solidFill>
                <a:effectLst/>
                <a:uFillTx/>
                <a:latin typeface="Calibri"/>
              </a:rPr>
              <a:t>David · Mario · Jose</a:t>
            </a:r>
            <a:endParaRPr b="0" lang="es-ES" sz="1200" strike="noStrike" u="none">
              <a:solidFill>
                <a:srgbClr val="ffffff"/>
              </a:solidFill>
              <a:effectLst/>
              <a:uFillTx/>
              <a:latin typeface="Arial"/>
            </a:endParaRPr>
          </a:p>
        </p:txBody>
      </p:sp>
      <p:sp>
        <p:nvSpPr>
          <p:cNvPr id="66" name="card50"/>
          <p:cNvSpPr/>
          <p:nvPr/>
        </p:nvSpPr>
        <p:spPr>
          <a:xfrm>
            <a:off x="548640" y="3749040"/>
            <a:ext cx="3611520" cy="2194200"/>
          </a:xfrm>
          <a:prstGeom prst="roundRect">
            <a:avLst>
              <a:gd name="adj" fmla="val 50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7" name="badge51"/>
          <p:cNvSpPr/>
          <p:nvPr/>
        </p:nvSpPr>
        <p:spPr>
          <a:xfrm>
            <a:off x="777240" y="3977640"/>
            <a:ext cx="456840" cy="383760"/>
          </a:xfrm>
          <a:prstGeom prst="roundRect">
            <a:avLst>
              <a:gd name="adj" fmla="val 19048"/>
            </a:avLst>
          </a:prstGeom>
          <a:solidFill>
            <a:schemeClr val="accent1"/>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8" name="txt52"/>
          <p:cNvSpPr/>
          <p:nvPr/>
        </p:nvSpPr>
        <p:spPr>
          <a:xfrm>
            <a:off x="777240" y="3977640"/>
            <a:ext cx="45684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dk1"/>
                </a:solidFill>
                <a:effectLst/>
                <a:uFillTx/>
                <a:latin typeface="Calibri"/>
              </a:rPr>
              <a:t>04</a:t>
            </a:r>
            <a:endParaRPr b="0" lang="es-ES" sz="1400" strike="noStrike" u="none">
              <a:solidFill>
                <a:srgbClr val="ffffff"/>
              </a:solidFill>
              <a:effectLst/>
              <a:uFillTx/>
              <a:latin typeface="Arial"/>
            </a:endParaRPr>
          </a:p>
        </p:txBody>
      </p:sp>
      <p:sp>
        <p:nvSpPr>
          <p:cNvPr id="69" name="txt53"/>
          <p:cNvSpPr/>
          <p:nvPr/>
        </p:nvSpPr>
        <p:spPr>
          <a:xfrm>
            <a:off x="1371600" y="3977640"/>
            <a:ext cx="265140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chemeClr val="lt1"/>
                </a:solidFill>
                <a:effectLst/>
                <a:uFillTx/>
                <a:latin typeface="Calibri"/>
              </a:rPr>
              <a:t>App 1: hecha a mano</a:t>
            </a:r>
            <a:endParaRPr b="0" lang="es-ES" sz="1800" strike="noStrike" u="none">
              <a:solidFill>
                <a:srgbClr val="ffffff"/>
              </a:solidFill>
              <a:effectLst/>
              <a:uFillTx/>
              <a:latin typeface="Arial"/>
            </a:endParaRPr>
          </a:p>
        </p:txBody>
      </p:sp>
      <p:sp>
        <p:nvSpPr>
          <p:cNvPr id="70" name="txt54"/>
          <p:cNvSpPr/>
          <p:nvPr/>
        </p:nvSpPr>
        <p:spPr>
          <a:xfrm>
            <a:off x="822960" y="4526280"/>
            <a:ext cx="3108600" cy="95976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0000"/>
              </a:lnSpc>
              <a:spcAft>
                <a:spcPts val="300"/>
              </a:spcAft>
              <a:buClr>
                <a:srgbClr val="a9a9bf"/>
              </a:buClr>
              <a:buFont typeface="Symbol" charset="2"/>
              <a:buChar char=""/>
            </a:pPr>
            <a:r>
              <a:rPr b="0" lang="en-US" sz="1300" strike="noStrike" u="none">
                <a:solidFill>
                  <a:schemeClr val="lt2"/>
                </a:solidFill>
                <a:effectLst/>
                <a:uFillTx/>
                <a:latin typeface="Calibri"/>
              </a:rPr>
              <a:t>Backend e IA</a:t>
            </a:r>
            <a:endParaRPr b="0" lang="es-ES" sz="1300" strike="noStrike" u="none">
              <a:solidFill>
                <a:srgbClr val="ffffff"/>
              </a:solidFill>
              <a:effectLst/>
              <a:uFillTx/>
              <a:latin typeface="Arial"/>
            </a:endParaRPr>
          </a:p>
          <a:p>
            <a:pPr marL="177840" indent="-177840" defTabSz="914400">
              <a:lnSpc>
                <a:spcPct val="100000"/>
              </a:lnSpc>
              <a:spcAft>
                <a:spcPts val="300"/>
              </a:spcAft>
              <a:buClr>
                <a:srgbClr val="a9a9bf"/>
              </a:buClr>
              <a:buFont typeface="Symbol" charset="2"/>
              <a:buChar char=""/>
            </a:pPr>
            <a:r>
              <a:rPr b="0" lang="en-US" sz="1300" strike="noStrike" u="none">
                <a:solidFill>
                  <a:schemeClr val="lt2"/>
                </a:solidFill>
                <a:effectLst/>
                <a:uFillTx/>
                <a:latin typeface="Calibri"/>
              </a:rPr>
              <a:t>Frontend y diseño</a:t>
            </a:r>
            <a:endParaRPr b="0" lang="es-ES" sz="1300" strike="noStrike" u="none">
              <a:solidFill>
                <a:srgbClr val="ffffff"/>
              </a:solidFill>
              <a:effectLst/>
              <a:uFillTx/>
              <a:latin typeface="Arial"/>
            </a:endParaRPr>
          </a:p>
          <a:p>
            <a:pPr marL="177840" indent="-177840" defTabSz="914400">
              <a:lnSpc>
                <a:spcPct val="100000"/>
              </a:lnSpc>
              <a:spcAft>
                <a:spcPts val="300"/>
              </a:spcAft>
              <a:buClr>
                <a:srgbClr val="a9a9bf"/>
              </a:buClr>
              <a:buFont typeface="Symbol" charset="2"/>
              <a:buChar char=""/>
            </a:pPr>
            <a:r>
              <a:rPr b="0" lang="en-US" sz="1300" strike="noStrike" u="none">
                <a:solidFill>
                  <a:schemeClr val="lt2"/>
                </a:solidFill>
                <a:effectLst/>
                <a:uFillTx/>
                <a:latin typeface="Calibri"/>
              </a:rPr>
              <a:t>Evolución en Git</a:t>
            </a:r>
            <a:endParaRPr b="0" lang="es-ES" sz="1300" strike="noStrike" u="none">
              <a:solidFill>
                <a:srgbClr val="ffffff"/>
              </a:solidFill>
              <a:effectLst/>
              <a:uFillTx/>
              <a:latin typeface="Arial"/>
            </a:endParaRPr>
          </a:p>
        </p:txBody>
      </p:sp>
      <p:sp>
        <p:nvSpPr>
          <p:cNvPr id="71" name="txt55"/>
          <p:cNvSpPr/>
          <p:nvPr/>
        </p:nvSpPr>
        <p:spPr>
          <a:xfrm>
            <a:off x="822960" y="5504760"/>
            <a:ext cx="31086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trike="noStrike" u="none">
                <a:solidFill>
                  <a:schemeClr val="accent1"/>
                </a:solidFill>
                <a:effectLst/>
                <a:uFillTx/>
                <a:latin typeface="Calibri"/>
              </a:rPr>
              <a:t>Mario · Jose</a:t>
            </a:r>
            <a:endParaRPr b="0" lang="es-ES" sz="1200" strike="noStrike" u="none">
              <a:solidFill>
                <a:srgbClr val="ffffff"/>
              </a:solidFill>
              <a:effectLst/>
              <a:uFillTx/>
              <a:latin typeface="Arial"/>
            </a:endParaRPr>
          </a:p>
        </p:txBody>
      </p:sp>
      <p:sp>
        <p:nvSpPr>
          <p:cNvPr id="72" name="card56"/>
          <p:cNvSpPr/>
          <p:nvPr/>
        </p:nvSpPr>
        <p:spPr>
          <a:xfrm>
            <a:off x="4343400" y="3749040"/>
            <a:ext cx="3611520" cy="2194200"/>
          </a:xfrm>
          <a:prstGeom prst="roundRect">
            <a:avLst>
              <a:gd name="adj" fmla="val 50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3" name="badge57"/>
          <p:cNvSpPr/>
          <p:nvPr/>
        </p:nvSpPr>
        <p:spPr>
          <a:xfrm>
            <a:off x="4572000" y="3977640"/>
            <a:ext cx="456840" cy="383760"/>
          </a:xfrm>
          <a:prstGeom prst="roundRect">
            <a:avLst>
              <a:gd name="adj" fmla="val 19048"/>
            </a:avLst>
          </a:prstGeom>
          <a:solidFill>
            <a:schemeClr val="accent1"/>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4" name="txt58"/>
          <p:cNvSpPr/>
          <p:nvPr/>
        </p:nvSpPr>
        <p:spPr>
          <a:xfrm>
            <a:off x="4572000" y="3977640"/>
            <a:ext cx="45684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dk1"/>
                </a:solidFill>
                <a:effectLst/>
                <a:uFillTx/>
                <a:latin typeface="Calibri"/>
              </a:rPr>
              <a:t>05</a:t>
            </a:r>
            <a:endParaRPr b="0" lang="es-ES" sz="1400" strike="noStrike" u="none">
              <a:solidFill>
                <a:srgbClr val="ffffff"/>
              </a:solidFill>
              <a:effectLst/>
              <a:uFillTx/>
              <a:latin typeface="Arial"/>
            </a:endParaRPr>
          </a:p>
        </p:txBody>
      </p:sp>
      <p:sp>
        <p:nvSpPr>
          <p:cNvPr id="75" name="txt59"/>
          <p:cNvSpPr/>
          <p:nvPr/>
        </p:nvSpPr>
        <p:spPr>
          <a:xfrm>
            <a:off x="5166360" y="3977640"/>
            <a:ext cx="265140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chemeClr val="lt1"/>
                </a:solidFill>
                <a:effectLst/>
                <a:uFillTx/>
                <a:latin typeface="Calibri"/>
              </a:rPr>
              <a:t>App 2: Spec Kit y Clerk</a:t>
            </a:r>
            <a:endParaRPr b="0" lang="es-ES" sz="1800" strike="noStrike" u="none">
              <a:solidFill>
                <a:srgbClr val="ffffff"/>
              </a:solidFill>
              <a:effectLst/>
              <a:uFillTx/>
              <a:latin typeface="Arial"/>
            </a:endParaRPr>
          </a:p>
        </p:txBody>
      </p:sp>
      <p:sp>
        <p:nvSpPr>
          <p:cNvPr id="76" name="txt60"/>
          <p:cNvSpPr/>
          <p:nvPr/>
        </p:nvSpPr>
        <p:spPr>
          <a:xfrm>
            <a:off x="4617720" y="4526280"/>
            <a:ext cx="3108600" cy="95976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0000"/>
              </a:lnSpc>
              <a:spcAft>
                <a:spcPts val="300"/>
              </a:spcAft>
              <a:buClr>
                <a:srgbClr val="a9a9bf"/>
              </a:buClr>
              <a:buFont typeface="Symbol" charset="2"/>
              <a:buChar char=""/>
            </a:pPr>
            <a:r>
              <a:rPr b="0" lang="en-US" sz="1300" strike="noStrike" u="none">
                <a:solidFill>
                  <a:schemeClr val="lt2"/>
                </a:solidFill>
                <a:effectLst/>
                <a:uFillTx/>
                <a:latin typeface="Calibri"/>
              </a:rPr>
              <a:t>Proceso con Spec Kit</a:t>
            </a:r>
            <a:endParaRPr b="0" lang="es-ES" sz="1300" strike="noStrike" u="none">
              <a:solidFill>
                <a:srgbClr val="ffffff"/>
              </a:solidFill>
              <a:effectLst/>
              <a:uFillTx/>
              <a:latin typeface="Arial"/>
            </a:endParaRPr>
          </a:p>
          <a:p>
            <a:pPr marL="177840" indent="-177840" defTabSz="914400">
              <a:lnSpc>
                <a:spcPct val="100000"/>
              </a:lnSpc>
              <a:spcAft>
                <a:spcPts val="300"/>
              </a:spcAft>
              <a:buClr>
                <a:srgbClr val="a9a9bf"/>
              </a:buClr>
              <a:buFont typeface="Symbol" charset="2"/>
              <a:buChar char=""/>
            </a:pPr>
            <a:r>
              <a:rPr b="0" lang="en-US" sz="1300" strike="noStrike" u="none">
                <a:solidFill>
                  <a:schemeClr val="lt2"/>
                </a:solidFill>
                <a:effectLst/>
                <a:uFillTx/>
                <a:latin typeface="Calibri"/>
              </a:rPr>
              <a:t>Revisión de la IA</a:t>
            </a:r>
            <a:endParaRPr b="0" lang="es-ES" sz="1300" strike="noStrike" u="none">
              <a:solidFill>
                <a:srgbClr val="ffffff"/>
              </a:solidFill>
              <a:effectLst/>
              <a:uFillTx/>
              <a:latin typeface="Arial"/>
            </a:endParaRPr>
          </a:p>
          <a:p>
            <a:pPr marL="177840" indent="-177840" defTabSz="914400">
              <a:lnSpc>
                <a:spcPct val="100000"/>
              </a:lnSpc>
              <a:spcAft>
                <a:spcPts val="300"/>
              </a:spcAft>
              <a:buClr>
                <a:srgbClr val="a9a9bf"/>
              </a:buClr>
              <a:buFont typeface="Symbol" charset="2"/>
              <a:buChar char=""/>
            </a:pPr>
            <a:r>
              <a:rPr b="0" lang="en-US" sz="1300" strike="noStrike" u="none">
                <a:solidFill>
                  <a:schemeClr val="lt2"/>
                </a:solidFill>
                <a:effectLst/>
                <a:uFillTx/>
                <a:latin typeface="Calibri"/>
              </a:rPr>
              <a:t>Autenticación con Clerk</a:t>
            </a:r>
            <a:endParaRPr b="0" lang="es-ES" sz="1300" strike="noStrike" u="none">
              <a:solidFill>
                <a:srgbClr val="ffffff"/>
              </a:solidFill>
              <a:effectLst/>
              <a:uFillTx/>
              <a:latin typeface="Arial"/>
            </a:endParaRPr>
          </a:p>
        </p:txBody>
      </p:sp>
      <p:sp>
        <p:nvSpPr>
          <p:cNvPr id="77" name="txt61"/>
          <p:cNvSpPr/>
          <p:nvPr/>
        </p:nvSpPr>
        <p:spPr>
          <a:xfrm>
            <a:off x="4617720" y="5504760"/>
            <a:ext cx="31086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trike="noStrike" u="none">
                <a:solidFill>
                  <a:schemeClr val="accent1"/>
                </a:solidFill>
                <a:effectLst/>
                <a:uFillTx/>
                <a:latin typeface="Calibri"/>
              </a:rPr>
              <a:t>Jose · Mario</a:t>
            </a:r>
            <a:endParaRPr b="0" lang="es-ES" sz="1200" strike="noStrike" u="none">
              <a:solidFill>
                <a:srgbClr val="ffffff"/>
              </a:solidFill>
              <a:effectLst/>
              <a:uFillTx/>
              <a:latin typeface="Arial"/>
            </a:endParaRPr>
          </a:p>
        </p:txBody>
      </p:sp>
      <p:sp>
        <p:nvSpPr>
          <p:cNvPr id="78" name="card62"/>
          <p:cNvSpPr/>
          <p:nvPr/>
        </p:nvSpPr>
        <p:spPr>
          <a:xfrm>
            <a:off x="8138160" y="3749040"/>
            <a:ext cx="3611520" cy="2194200"/>
          </a:xfrm>
          <a:prstGeom prst="roundRect">
            <a:avLst>
              <a:gd name="adj" fmla="val 50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9" name="badge63"/>
          <p:cNvSpPr/>
          <p:nvPr/>
        </p:nvSpPr>
        <p:spPr>
          <a:xfrm>
            <a:off x="8366760" y="3977640"/>
            <a:ext cx="456840" cy="383760"/>
          </a:xfrm>
          <a:prstGeom prst="roundRect">
            <a:avLst>
              <a:gd name="adj" fmla="val 19048"/>
            </a:avLst>
          </a:prstGeom>
          <a:solidFill>
            <a:schemeClr val="accent1"/>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80" name="txt64"/>
          <p:cNvSpPr/>
          <p:nvPr/>
        </p:nvSpPr>
        <p:spPr>
          <a:xfrm>
            <a:off x="8366760" y="3977640"/>
            <a:ext cx="45684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dk1"/>
                </a:solidFill>
                <a:effectLst/>
                <a:uFillTx/>
                <a:latin typeface="Calibri"/>
              </a:rPr>
              <a:t>06</a:t>
            </a:r>
            <a:endParaRPr b="0" lang="es-ES" sz="1400" strike="noStrike" u="none">
              <a:solidFill>
                <a:srgbClr val="ffffff"/>
              </a:solidFill>
              <a:effectLst/>
              <a:uFillTx/>
              <a:latin typeface="Arial"/>
            </a:endParaRPr>
          </a:p>
        </p:txBody>
      </p:sp>
      <p:sp>
        <p:nvSpPr>
          <p:cNvPr id="81" name="txt65"/>
          <p:cNvSpPr/>
          <p:nvPr/>
        </p:nvSpPr>
        <p:spPr>
          <a:xfrm>
            <a:off x="8961120" y="3977640"/>
            <a:ext cx="265140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chemeClr val="lt1"/>
                </a:solidFill>
                <a:effectLst/>
                <a:uFillTx/>
                <a:latin typeface="Calibri"/>
              </a:rPr>
              <a:t>Calidad, despliegue y cierre</a:t>
            </a:r>
            <a:endParaRPr b="0" lang="es-ES" sz="1800" strike="noStrike" u="none">
              <a:solidFill>
                <a:srgbClr val="ffffff"/>
              </a:solidFill>
              <a:effectLst/>
              <a:uFillTx/>
              <a:latin typeface="Arial"/>
            </a:endParaRPr>
          </a:p>
        </p:txBody>
      </p:sp>
      <p:sp>
        <p:nvSpPr>
          <p:cNvPr id="82" name="txt66"/>
          <p:cNvSpPr/>
          <p:nvPr/>
        </p:nvSpPr>
        <p:spPr>
          <a:xfrm>
            <a:off x="8412480" y="4526280"/>
            <a:ext cx="3108600" cy="95976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0000"/>
              </a:lnSpc>
              <a:spcAft>
                <a:spcPts val="300"/>
              </a:spcAft>
              <a:buClr>
                <a:srgbClr val="a9a9bf"/>
              </a:buClr>
              <a:buFont typeface="Symbol" charset="2"/>
              <a:buChar char=""/>
            </a:pPr>
            <a:r>
              <a:rPr b="0" lang="en-US" sz="1300" strike="noStrike" u="none">
                <a:solidFill>
                  <a:schemeClr val="lt2"/>
                </a:solidFill>
                <a:effectLst/>
                <a:uFillTx/>
                <a:latin typeface="Calibri"/>
              </a:rPr>
              <a:t>Pruebas con pytest</a:t>
            </a:r>
            <a:endParaRPr b="0" lang="es-ES" sz="1300" strike="noStrike" u="none">
              <a:solidFill>
                <a:srgbClr val="ffffff"/>
              </a:solidFill>
              <a:effectLst/>
              <a:uFillTx/>
              <a:latin typeface="Arial"/>
            </a:endParaRPr>
          </a:p>
          <a:p>
            <a:pPr marL="177840" indent="-177840" defTabSz="914400">
              <a:lnSpc>
                <a:spcPct val="100000"/>
              </a:lnSpc>
              <a:spcAft>
                <a:spcPts val="300"/>
              </a:spcAft>
              <a:buClr>
                <a:srgbClr val="a9a9bf"/>
              </a:buClr>
              <a:buFont typeface="Symbol" charset="2"/>
              <a:buChar char=""/>
            </a:pPr>
            <a:r>
              <a:rPr b="0" lang="en-US" sz="1300" strike="noStrike" u="none">
                <a:solidFill>
                  <a:schemeClr val="lt2"/>
                </a:solidFill>
                <a:effectLst/>
                <a:uFillTx/>
                <a:latin typeface="Calibri"/>
              </a:rPr>
              <a:t>Vercel, Docker y EC2</a:t>
            </a:r>
            <a:endParaRPr b="0" lang="es-ES" sz="1300" strike="noStrike" u="none">
              <a:solidFill>
                <a:srgbClr val="ffffff"/>
              </a:solidFill>
              <a:effectLst/>
              <a:uFillTx/>
              <a:latin typeface="Arial"/>
            </a:endParaRPr>
          </a:p>
          <a:p>
            <a:pPr marL="177840" indent="-177840" defTabSz="914400">
              <a:lnSpc>
                <a:spcPct val="100000"/>
              </a:lnSpc>
              <a:spcAft>
                <a:spcPts val="300"/>
              </a:spcAft>
              <a:buClr>
                <a:srgbClr val="a9a9bf"/>
              </a:buClr>
              <a:buFont typeface="Symbol" charset="2"/>
              <a:buChar char=""/>
            </a:pPr>
            <a:r>
              <a:rPr b="0" lang="en-US" sz="1300" strike="noStrike" u="none">
                <a:solidFill>
                  <a:schemeClr val="lt2"/>
                </a:solidFill>
                <a:effectLst/>
                <a:uFillTx/>
                <a:latin typeface="Calibri"/>
              </a:rPr>
              <a:t>Comparativa, demo y conclusiones</a:t>
            </a:r>
            <a:endParaRPr b="0" lang="es-ES" sz="1300" strike="noStrike" u="none">
              <a:solidFill>
                <a:srgbClr val="ffffff"/>
              </a:solidFill>
              <a:effectLst/>
              <a:uFillTx/>
              <a:latin typeface="Arial"/>
            </a:endParaRPr>
          </a:p>
        </p:txBody>
      </p:sp>
      <p:sp>
        <p:nvSpPr>
          <p:cNvPr id="83" name="txt67"/>
          <p:cNvSpPr/>
          <p:nvPr/>
        </p:nvSpPr>
        <p:spPr>
          <a:xfrm>
            <a:off x="8412480" y="5504760"/>
            <a:ext cx="310860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trike="noStrike" u="none">
                <a:solidFill>
                  <a:schemeClr val="accent1"/>
                </a:solidFill>
                <a:effectLst/>
                <a:uFillTx/>
                <a:latin typeface="Calibri"/>
              </a:rPr>
              <a:t>David · Mario · Jose</a:t>
            </a:r>
            <a:endParaRPr b="0" lang="es-ES" sz="1200" strike="noStrike" u="none">
              <a:solidFill>
                <a:srgbClr val="ffffff"/>
              </a:solidFill>
              <a:effectLst/>
              <a:uFillTx/>
              <a:latin typeface="Arial"/>
            </a:endParaRPr>
          </a:p>
        </p:txBody>
      </p:sp>
      <p:sp>
        <p:nvSpPr>
          <p:cNvPr id="84" name="PlaceHolder 3"/>
          <p:cNvSpPr>
            <a:spLocks noGrp="1"/>
          </p:cNvSpPr>
          <p:nvPr>
            <p:ph type="sldNum" idx="5"/>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10E4925A-D5FB-4BFC-980F-6C002B12A2D3}"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¿Qué es Musicfy?</a:t>
            </a:r>
            <a:endParaRPr b="0" lang="es-ES" sz="3400" strike="noStrike" u="none">
              <a:solidFill>
                <a:schemeClr val="dk1"/>
              </a:solidFill>
              <a:effectLst/>
              <a:uFillTx/>
              <a:latin typeface="Calibri"/>
            </a:endParaRPr>
          </a:p>
        </p:txBody>
      </p:sp>
      <p:sp>
        <p:nvSpPr>
          <p:cNvPr id="86"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NECESIDAD Y ALCANCE</a:t>
            </a:r>
            <a:endParaRPr b="0" lang="es-ES" sz="1200" strike="noStrike" u="none">
              <a:solidFill>
                <a:schemeClr val="dk1"/>
              </a:solidFill>
              <a:effectLst/>
              <a:uFillTx/>
              <a:latin typeface="Calibri"/>
            </a:endParaRPr>
          </a:p>
        </p:txBody>
      </p:sp>
      <p:sp>
        <p:nvSpPr>
          <p:cNvPr id="87" name="presenta68"/>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88" name="txt69"/>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David Molina</a:t>
            </a:r>
            <a:endParaRPr b="0" lang="es-ES" sz="1100" strike="noStrike" u="none">
              <a:solidFill>
                <a:srgbClr val="ffffff"/>
              </a:solidFill>
              <a:effectLst/>
              <a:uFillTx/>
              <a:latin typeface="Arial"/>
            </a:endParaRPr>
          </a:p>
        </p:txBody>
      </p:sp>
      <p:sp>
        <p:nvSpPr>
          <p:cNvPr id="89" name="card70"/>
          <p:cNvSpPr/>
          <p:nvPr/>
        </p:nvSpPr>
        <p:spPr>
          <a:xfrm>
            <a:off x="548640" y="1325880"/>
            <a:ext cx="11109600" cy="868320"/>
          </a:xfrm>
          <a:prstGeom prst="roundRect">
            <a:avLst>
              <a:gd name="adj" fmla="val 12632"/>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90" name="txt71"/>
          <p:cNvSpPr/>
          <p:nvPr/>
        </p:nvSpPr>
        <p:spPr>
          <a:xfrm>
            <a:off x="822960" y="1325880"/>
            <a:ext cx="10606680" cy="868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700" strike="noStrike" u="none">
                <a:solidFill>
                  <a:schemeClr val="lt1"/>
                </a:solidFill>
                <a:effectLst/>
                <a:uFillTx/>
                <a:latin typeface="Calibri"/>
              </a:rPr>
              <a:t>Describe con tus palabras la música que te gusta </a:t>
            </a:r>
            <a:r>
              <a:rPr b="0" lang="en-US" sz="1700" strike="noStrike" u="none">
                <a:solidFill>
                  <a:schemeClr val="lt2"/>
                </a:solidFill>
                <a:effectLst/>
                <a:uFillTx/>
                <a:latin typeface="Calibri"/>
              </a:rPr>
              <a:t>y recibe en la misma pantalla entre 3 y 5 artistas recomendados, con el porqué y una canción para empezar.</a:t>
            </a:r>
            <a:endParaRPr b="0" lang="es-ES" sz="1700" strike="noStrike" u="none">
              <a:solidFill>
                <a:srgbClr val="ffffff"/>
              </a:solidFill>
              <a:effectLst/>
              <a:uFillTx/>
              <a:latin typeface="Arial"/>
            </a:endParaRPr>
          </a:p>
        </p:txBody>
      </p:sp>
      <p:sp>
        <p:nvSpPr>
          <p:cNvPr id="91" name="card72"/>
          <p:cNvSpPr/>
          <p:nvPr/>
        </p:nvSpPr>
        <p:spPr>
          <a:xfrm>
            <a:off x="548640" y="2423160"/>
            <a:ext cx="5486040" cy="3657240"/>
          </a:xfrm>
          <a:prstGeom prst="roundRect">
            <a:avLst>
              <a:gd name="adj" fmla="val 30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92" name="txt73"/>
          <p:cNvSpPr/>
          <p:nvPr/>
        </p:nvSpPr>
        <p:spPr>
          <a:xfrm>
            <a:off x="822960" y="2606040"/>
            <a:ext cx="493740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000" strike="noStrike" u="none">
                <a:solidFill>
                  <a:schemeClr val="accent1"/>
                </a:solidFill>
                <a:effectLst/>
                <a:uFillTx/>
                <a:latin typeface="Calibri"/>
              </a:rPr>
              <a:t>La necesidad</a:t>
            </a:r>
            <a:endParaRPr b="0" lang="es-ES" sz="2000" strike="noStrike" u="none">
              <a:solidFill>
                <a:srgbClr val="ffffff"/>
              </a:solidFill>
              <a:effectLst/>
              <a:uFillTx/>
              <a:latin typeface="Arial"/>
            </a:endParaRPr>
          </a:p>
        </p:txBody>
      </p:sp>
      <p:sp>
        <p:nvSpPr>
          <p:cNvPr id="93" name="txt74"/>
          <p:cNvSpPr/>
          <p:nvPr/>
        </p:nvSpPr>
        <p:spPr>
          <a:xfrm>
            <a:off x="822960" y="3108960"/>
            <a:ext cx="4937400" cy="283428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0000"/>
              </a:lnSpc>
              <a:spcAft>
                <a:spcPts val="901"/>
              </a:spcAft>
              <a:buClr>
                <a:srgbClr val="ffffff"/>
              </a:buClr>
              <a:buFont typeface="Symbol" charset="2"/>
              <a:buChar char=""/>
            </a:pPr>
            <a:r>
              <a:rPr b="0" lang="en-US" sz="1400" strike="noStrike" u="none">
                <a:solidFill>
                  <a:schemeClr val="lt1"/>
                </a:solidFill>
                <a:effectLst/>
                <a:uFillTx/>
                <a:latin typeface="Calibri"/>
              </a:rPr>
              <a:t>Descubrir artistas nuevos suele obligar a buscar en varias fuentes.</a:t>
            </a:r>
            <a:endParaRPr b="0" lang="es-ES" sz="1400" strike="noStrike" u="none">
              <a:solidFill>
                <a:srgbClr val="ffffff"/>
              </a:solidFill>
              <a:effectLst/>
              <a:uFillTx/>
              <a:latin typeface="Arial"/>
            </a:endParaRPr>
          </a:p>
          <a:p>
            <a:pPr marL="177840" indent="-177840" defTabSz="914400">
              <a:lnSpc>
                <a:spcPct val="100000"/>
              </a:lnSpc>
              <a:spcAft>
                <a:spcPts val="901"/>
              </a:spcAft>
              <a:buClr>
                <a:srgbClr val="ffffff"/>
              </a:buClr>
              <a:buFont typeface="Symbol" charset="2"/>
              <a:buChar char=""/>
            </a:pPr>
            <a:r>
              <a:rPr b="0" lang="en-US" sz="1400" strike="noStrike" u="none">
                <a:solidFill>
                  <a:schemeClr val="lt1"/>
                </a:solidFill>
                <a:effectLst/>
                <a:uFillTx/>
                <a:latin typeface="Calibri"/>
              </a:rPr>
              <a:t>Las recomendaciones habituales no explican por qué encajan contigo.</a:t>
            </a:r>
            <a:endParaRPr b="0" lang="es-ES" sz="1400" strike="noStrike" u="none">
              <a:solidFill>
                <a:srgbClr val="ffffff"/>
              </a:solidFill>
              <a:effectLst/>
              <a:uFillTx/>
              <a:latin typeface="Arial"/>
            </a:endParaRPr>
          </a:p>
          <a:p>
            <a:pPr marL="177840" indent="-177840" defTabSz="914400">
              <a:lnSpc>
                <a:spcPct val="100000"/>
              </a:lnSpc>
              <a:spcAft>
                <a:spcPts val="901"/>
              </a:spcAft>
              <a:buClr>
                <a:srgbClr val="ffffff"/>
              </a:buClr>
              <a:buFont typeface="Symbol" charset="2"/>
              <a:buChar char=""/>
            </a:pPr>
            <a:r>
              <a:rPr b="0" lang="en-US" sz="1400" strike="noStrike" u="none">
                <a:solidFill>
                  <a:schemeClr val="lt1"/>
                </a:solidFill>
                <a:effectLst/>
                <a:uFillTx/>
                <a:latin typeface="Calibri"/>
              </a:rPr>
              <a:t>Usuario: cualquier persona que quiera descubrir música parecida a la que ya le gusta.</a:t>
            </a:r>
            <a:endParaRPr b="0" lang="es-ES" sz="1400" strike="noStrike" u="none">
              <a:solidFill>
                <a:srgbClr val="ffffff"/>
              </a:solidFill>
              <a:effectLst/>
              <a:uFillTx/>
              <a:latin typeface="Arial"/>
            </a:endParaRPr>
          </a:p>
          <a:p>
            <a:pPr marL="177840" indent="-177840" defTabSz="914400">
              <a:lnSpc>
                <a:spcPct val="100000"/>
              </a:lnSpc>
              <a:spcAft>
                <a:spcPts val="901"/>
              </a:spcAft>
              <a:buClr>
                <a:srgbClr val="ffffff"/>
              </a:buClr>
              <a:buFont typeface="Symbol" charset="2"/>
              <a:buChar char=""/>
            </a:pPr>
            <a:r>
              <a:rPr b="0" lang="en-US" sz="1400" strike="noStrike" u="none">
                <a:solidFill>
                  <a:schemeClr val="lt1"/>
                </a:solidFill>
                <a:effectLst/>
                <a:uFillTx/>
                <a:latin typeface="Calibri"/>
              </a:rPr>
              <a:t>App 2: solo con sesión iniciada, para evitar usos anónimos de la IA.</a:t>
            </a:r>
            <a:endParaRPr b="0" lang="es-ES" sz="1400" strike="noStrike" u="none">
              <a:solidFill>
                <a:srgbClr val="ffffff"/>
              </a:solidFill>
              <a:effectLst/>
              <a:uFillTx/>
              <a:latin typeface="Arial"/>
            </a:endParaRPr>
          </a:p>
        </p:txBody>
      </p:sp>
      <p:sp>
        <p:nvSpPr>
          <p:cNvPr id="94" name="card75"/>
          <p:cNvSpPr/>
          <p:nvPr/>
        </p:nvSpPr>
        <p:spPr>
          <a:xfrm>
            <a:off x="6263640" y="2423160"/>
            <a:ext cx="5394600" cy="3657240"/>
          </a:xfrm>
          <a:prstGeom prst="roundRect">
            <a:avLst>
              <a:gd name="adj" fmla="val 30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95" name="txt76"/>
          <p:cNvSpPr/>
          <p:nvPr/>
        </p:nvSpPr>
        <p:spPr>
          <a:xfrm>
            <a:off x="6537960" y="2606040"/>
            <a:ext cx="484596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000" strike="noStrike" u="none">
                <a:solidFill>
                  <a:schemeClr val="accent1"/>
                </a:solidFill>
                <a:effectLst/>
                <a:uFillTx/>
                <a:latin typeface="Calibri"/>
              </a:rPr>
              <a:t>Regla de simplicidad</a:t>
            </a:r>
            <a:endParaRPr b="0" lang="es-ES" sz="2000" strike="noStrike" u="none">
              <a:solidFill>
                <a:srgbClr val="ffffff"/>
              </a:solidFill>
              <a:effectLst/>
              <a:uFillTx/>
              <a:latin typeface="Arial"/>
            </a:endParaRPr>
          </a:p>
        </p:txBody>
      </p:sp>
      <p:sp>
        <p:nvSpPr>
          <p:cNvPr id="96" name="card77"/>
          <p:cNvSpPr/>
          <p:nvPr/>
        </p:nvSpPr>
        <p:spPr>
          <a:xfrm>
            <a:off x="6537960" y="3108960"/>
            <a:ext cx="2331360" cy="822600"/>
          </a:xfrm>
          <a:prstGeom prst="roundRect">
            <a:avLst>
              <a:gd name="adj" fmla="val 13333"/>
            </a:avLst>
          </a:prstGeom>
          <a:solidFill>
            <a:schemeClr val="tx1"/>
          </a:solidFill>
          <a:ln w="9525">
            <a:solidFill>
              <a:schemeClr val="lt2">
                <a:alpha val="4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97" name="txt78"/>
          <p:cNvSpPr/>
          <p:nvPr/>
        </p:nvSpPr>
        <p:spPr>
          <a:xfrm>
            <a:off x="6720840" y="3108960"/>
            <a:ext cx="205704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chemeClr val="accent1"/>
                </a:solidFill>
                <a:effectLst/>
                <a:uFillTx/>
                <a:latin typeface="Calibri"/>
              </a:rPr>
              <a:t>1  </a:t>
            </a:r>
            <a:r>
              <a:rPr b="1" lang="en-US" sz="1600" strike="noStrike" u="none">
                <a:solidFill>
                  <a:schemeClr val="lt1"/>
                </a:solidFill>
                <a:effectLst/>
                <a:uFillTx/>
                <a:latin typeface="Calibri"/>
              </a:rPr>
              <a:t>pantalla</a:t>
            </a:r>
            <a:endParaRPr b="0" lang="es-ES" sz="1600" strike="noStrike" u="none">
              <a:solidFill>
                <a:srgbClr val="ffffff"/>
              </a:solidFill>
              <a:effectLst/>
              <a:uFillTx/>
              <a:latin typeface="Arial"/>
            </a:endParaRPr>
          </a:p>
        </p:txBody>
      </p:sp>
      <p:sp>
        <p:nvSpPr>
          <p:cNvPr id="98" name="card79"/>
          <p:cNvSpPr/>
          <p:nvPr/>
        </p:nvSpPr>
        <p:spPr>
          <a:xfrm>
            <a:off x="9006840" y="3108960"/>
            <a:ext cx="2331360" cy="822600"/>
          </a:xfrm>
          <a:prstGeom prst="roundRect">
            <a:avLst>
              <a:gd name="adj" fmla="val 13333"/>
            </a:avLst>
          </a:prstGeom>
          <a:solidFill>
            <a:schemeClr val="tx1"/>
          </a:solidFill>
          <a:ln w="9525">
            <a:solidFill>
              <a:schemeClr val="lt2">
                <a:alpha val="4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99" name="txt80"/>
          <p:cNvSpPr/>
          <p:nvPr/>
        </p:nvSpPr>
        <p:spPr>
          <a:xfrm>
            <a:off x="9189720" y="3108960"/>
            <a:ext cx="205704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chemeClr val="accent1"/>
                </a:solidFill>
                <a:effectLst/>
                <a:uFillTx/>
                <a:latin typeface="Calibri"/>
              </a:rPr>
              <a:t>1  </a:t>
            </a:r>
            <a:r>
              <a:rPr b="1" lang="en-US" sz="1600" strike="noStrike" u="none">
                <a:solidFill>
                  <a:schemeClr val="lt1"/>
                </a:solidFill>
                <a:effectLst/>
                <a:uFillTx/>
                <a:latin typeface="Calibri"/>
              </a:rPr>
              <a:t>formulario</a:t>
            </a:r>
            <a:endParaRPr b="0" lang="es-ES" sz="1600" strike="noStrike" u="none">
              <a:solidFill>
                <a:srgbClr val="ffffff"/>
              </a:solidFill>
              <a:effectLst/>
              <a:uFillTx/>
              <a:latin typeface="Arial"/>
            </a:endParaRPr>
          </a:p>
        </p:txBody>
      </p:sp>
      <p:sp>
        <p:nvSpPr>
          <p:cNvPr id="100" name="card81"/>
          <p:cNvSpPr/>
          <p:nvPr/>
        </p:nvSpPr>
        <p:spPr>
          <a:xfrm>
            <a:off x="6537960" y="4069080"/>
            <a:ext cx="2331360" cy="822600"/>
          </a:xfrm>
          <a:prstGeom prst="roundRect">
            <a:avLst>
              <a:gd name="adj" fmla="val 13333"/>
            </a:avLst>
          </a:prstGeom>
          <a:solidFill>
            <a:schemeClr val="tx1"/>
          </a:solidFill>
          <a:ln w="9525">
            <a:solidFill>
              <a:schemeClr val="lt2">
                <a:alpha val="4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01" name="txt82"/>
          <p:cNvSpPr/>
          <p:nvPr/>
        </p:nvSpPr>
        <p:spPr>
          <a:xfrm>
            <a:off x="6720840" y="4069080"/>
            <a:ext cx="205704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chemeClr val="accent1"/>
                </a:solidFill>
                <a:effectLst/>
                <a:uFillTx/>
                <a:latin typeface="Calibri"/>
              </a:rPr>
              <a:t>1  </a:t>
            </a:r>
            <a:r>
              <a:rPr b="1" lang="en-US" sz="1600" strike="noStrike" u="none">
                <a:solidFill>
                  <a:schemeClr val="lt1"/>
                </a:solidFill>
                <a:effectLst/>
                <a:uFillTx/>
                <a:latin typeface="Calibri"/>
              </a:rPr>
              <a:t>función útil</a:t>
            </a:r>
            <a:endParaRPr b="0" lang="es-ES" sz="1600" strike="noStrike" u="none">
              <a:solidFill>
                <a:srgbClr val="ffffff"/>
              </a:solidFill>
              <a:effectLst/>
              <a:uFillTx/>
              <a:latin typeface="Arial"/>
            </a:endParaRPr>
          </a:p>
        </p:txBody>
      </p:sp>
      <p:sp>
        <p:nvSpPr>
          <p:cNvPr id="102" name="card83"/>
          <p:cNvSpPr/>
          <p:nvPr/>
        </p:nvSpPr>
        <p:spPr>
          <a:xfrm>
            <a:off x="9006840" y="4069080"/>
            <a:ext cx="2331360" cy="822600"/>
          </a:xfrm>
          <a:prstGeom prst="roundRect">
            <a:avLst>
              <a:gd name="adj" fmla="val 13333"/>
            </a:avLst>
          </a:prstGeom>
          <a:solidFill>
            <a:schemeClr val="tx1"/>
          </a:solidFill>
          <a:ln w="9525">
            <a:solidFill>
              <a:schemeClr val="lt2">
                <a:alpha val="4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03" name="txt84"/>
          <p:cNvSpPr/>
          <p:nvPr/>
        </p:nvSpPr>
        <p:spPr>
          <a:xfrm>
            <a:off x="9189720" y="4069080"/>
            <a:ext cx="205704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000" strike="noStrike" u="none">
                <a:solidFill>
                  <a:schemeClr val="accent1"/>
                </a:solidFill>
                <a:effectLst/>
                <a:uFillTx/>
                <a:latin typeface="Calibri"/>
              </a:rPr>
              <a:t>1  </a:t>
            </a:r>
            <a:r>
              <a:rPr b="1" lang="en-US" sz="1600" strike="noStrike" u="none">
                <a:solidFill>
                  <a:schemeClr val="lt1"/>
                </a:solidFill>
                <a:effectLst/>
                <a:uFillTx/>
                <a:latin typeface="Calibri"/>
              </a:rPr>
              <a:t>API de IA</a:t>
            </a:r>
            <a:endParaRPr b="0" lang="es-ES" sz="1600" strike="noStrike" u="none">
              <a:solidFill>
                <a:srgbClr val="ffffff"/>
              </a:solidFill>
              <a:effectLst/>
              <a:uFillTx/>
              <a:latin typeface="Arial"/>
            </a:endParaRPr>
          </a:p>
        </p:txBody>
      </p:sp>
      <p:sp>
        <p:nvSpPr>
          <p:cNvPr id="104" name="txt85"/>
          <p:cNvSpPr/>
          <p:nvPr/>
        </p:nvSpPr>
        <p:spPr>
          <a:xfrm>
            <a:off x="6537960" y="5120640"/>
            <a:ext cx="4845960" cy="776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trike="noStrike" u="none">
                <a:solidFill>
                  <a:schemeClr val="lt1"/>
                </a:solidFill>
                <a:effectLst/>
                <a:uFillTx/>
                <a:latin typeface="Calibri"/>
              </a:rPr>
              <a:t>Fuera del alcance: </a:t>
            </a:r>
            <a:r>
              <a:rPr b="0" lang="en-US" sz="1300" strike="noStrike" u="none">
                <a:solidFill>
                  <a:schemeClr val="lt2"/>
                </a:solidFill>
                <a:effectLst/>
                <a:uFillTx/>
                <a:latin typeface="Calibri"/>
              </a:rPr>
              <a:t>bases de datos y localStorage, historial y chat, login propio o varias pantallas.</a:t>
            </a:r>
            <a:endParaRPr b="0" lang="es-ES" sz="1300" strike="noStrike" u="none">
              <a:solidFill>
                <a:srgbClr val="ffffff"/>
              </a:solidFill>
              <a:effectLst/>
              <a:uFillTx/>
              <a:latin typeface="Arial"/>
            </a:endParaRPr>
          </a:p>
        </p:txBody>
      </p:sp>
      <p:sp>
        <p:nvSpPr>
          <p:cNvPr id="105" name="PlaceHolder 3"/>
          <p:cNvSpPr>
            <a:spLocks noGrp="1"/>
          </p:cNvSpPr>
          <p:nvPr>
            <p:ph type="sldNum" idx="6"/>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D9D7B44D-CBD1-4D80-8311-CBD16247E0C8}"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6"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Arquitectura y flujo</a:t>
            </a:r>
            <a:endParaRPr b="0" lang="es-ES" sz="3400" strike="noStrike" u="none">
              <a:solidFill>
                <a:schemeClr val="dk1"/>
              </a:solidFill>
              <a:effectLst/>
              <a:uFillTx/>
              <a:latin typeface="Calibri"/>
            </a:endParaRPr>
          </a:p>
        </p:txBody>
      </p:sp>
      <p:sp>
        <p:nvSpPr>
          <p:cNvPr id="107"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DIAGRAMA DE CONTEXTO</a:t>
            </a:r>
            <a:endParaRPr b="0" lang="es-ES" sz="1200" strike="noStrike" u="none">
              <a:solidFill>
                <a:schemeClr val="dk1"/>
              </a:solidFill>
              <a:effectLst/>
              <a:uFillTx/>
              <a:latin typeface="Calibri"/>
            </a:endParaRPr>
          </a:p>
        </p:txBody>
      </p:sp>
      <p:sp>
        <p:nvSpPr>
          <p:cNvPr id="108" name="presenta86"/>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09" name="txt87"/>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Mario Luna</a:t>
            </a:r>
            <a:endParaRPr b="0" lang="es-ES" sz="1100" strike="noStrike" u="none">
              <a:solidFill>
                <a:srgbClr val="ffffff"/>
              </a:solidFill>
              <a:effectLst/>
              <a:uFillTx/>
              <a:latin typeface="Arial"/>
            </a:endParaRPr>
          </a:p>
        </p:txBody>
      </p:sp>
      <p:sp>
        <p:nvSpPr>
          <p:cNvPr id="110" name="card88"/>
          <p:cNvSpPr/>
          <p:nvPr/>
        </p:nvSpPr>
        <p:spPr>
          <a:xfrm>
            <a:off x="548640" y="2331720"/>
            <a:ext cx="1737000" cy="959760"/>
          </a:xfrm>
          <a:prstGeom prst="roundRect">
            <a:avLst>
              <a:gd name="adj" fmla="val 11429"/>
            </a:avLst>
          </a:prstGeom>
          <a:solidFill>
            <a:schemeClr val="tx2"/>
          </a:solidFill>
          <a:ln w="15875">
            <a:solidFill>
              <a:srgbClr val="ffff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11" name="txt89"/>
          <p:cNvSpPr/>
          <p:nvPr/>
        </p:nvSpPr>
        <p:spPr>
          <a:xfrm>
            <a:off x="621720" y="2331720"/>
            <a:ext cx="1590840" cy="959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lt1"/>
                </a:solidFill>
                <a:effectLst/>
                <a:uFillTx/>
                <a:latin typeface="Calibri"/>
              </a:rPr>
              <a:t>Usuario</a:t>
            </a:r>
            <a:endParaRPr b="0" lang="es-ES" sz="1400" strike="noStrike" u="none">
              <a:solidFill>
                <a:srgbClr val="ffffff"/>
              </a:solidFill>
              <a:effectLst/>
              <a:uFillTx/>
              <a:latin typeface="Arial"/>
            </a:endParaRPr>
          </a:p>
          <a:p>
            <a:pPr algn="ctr" defTabSz="914400">
              <a:lnSpc>
                <a:spcPct val="100000"/>
              </a:lnSpc>
              <a:tabLst>
                <a:tab algn="l" pos="0"/>
              </a:tabLst>
            </a:pPr>
            <a:r>
              <a:rPr b="0" lang="en-US" sz="1100" strike="noStrike" u="none">
                <a:solidFill>
                  <a:schemeClr val="lt2"/>
                </a:solidFill>
                <a:effectLst/>
                <a:uFillTx/>
                <a:latin typeface="Calibri"/>
              </a:rPr>
              <a:t>navegador</a:t>
            </a:r>
            <a:endParaRPr b="0" lang="es-ES" sz="1100" strike="noStrike" u="none">
              <a:solidFill>
                <a:srgbClr val="ffffff"/>
              </a:solidFill>
              <a:effectLst/>
              <a:uFillTx/>
              <a:latin typeface="Arial"/>
            </a:endParaRPr>
          </a:p>
        </p:txBody>
      </p:sp>
      <p:sp>
        <p:nvSpPr>
          <p:cNvPr id="112" name="card90"/>
          <p:cNvSpPr/>
          <p:nvPr/>
        </p:nvSpPr>
        <p:spPr>
          <a:xfrm>
            <a:off x="2926080" y="2331720"/>
            <a:ext cx="2377080" cy="959760"/>
          </a:xfrm>
          <a:prstGeom prst="roundRect">
            <a:avLst>
              <a:gd name="adj" fmla="val 11429"/>
            </a:avLst>
          </a:prstGeom>
          <a:solidFill>
            <a:schemeClr val="tx2"/>
          </a:solidFill>
          <a:ln w="1587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13" name="txt91"/>
          <p:cNvSpPr/>
          <p:nvPr/>
        </p:nvSpPr>
        <p:spPr>
          <a:xfrm>
            <a:off x="2999160" y="2331720"/>
            <a:ext cx="2230920" cy="959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accent1"/>
                </a:solidFill>
                <a:effectLst/>
                <a:uFillTx/>
                <a:latin typeface="Calibri"/>
              </a:rPr>
              <a:t>Frontend SPA</a:t>
            </a:r>
            <a:endParaRPr b="0" lang="es-ES" sz="1400" strike="noStrike" u="none">
              <a:solidFill>
                <a:srgbClr val="ffffff"/>
              </a:solidFill>
              <a:effectLst/>
              <a:uFillTx/>
              <a:latin typeface="Arial"/>
            </a:endParaRPr>
          </a:p>
          <a:p>
            <a:pPr algn="ctr" defTabSz="914400">
              <a:lnSpc>
                <a:spcPct val="100000"/>
              </a:lnSpc>
              <a:tabLst>
                <a:tab algn="l" pos="0"/>
              </a:tabLst>
            </a:pPr>
            <a:r>
              <a:rPr b="0" lang="en-US" sz="1100" strike="noStrike" u="none">
                <a:solidFill>
                  <a:schemeClr val="lt2"/>
                </a:solidFill>
                <a:effectLst/>
                <a:uFillTx/>
                <a:latin typeface="Calibri"/>
              </a:rPr>
              <a:t>Vue 3 + Tailwind</a:t>
            </a:r>
            <a:endParaRPr b="0" lang="es-ES" sz="1100" strike="noStrike" u="none">
              <a:solidFill>
                <a:srgbClr val="ffffff"/>
              </a:solidFill>
              <a:effectLst/>
              <a:uFillTx/>
              <a:latin typeface="Arial"/>
            </a:endParaRPr>
          </a:p>
        </p:txBody>
      </p:sp>
      <p:sp>
        <p:nvSpPr>
          <p:cNvPr id="114" name="card92"/>
          <p:cNvSpPr/>
          <p:nvPr/>
        </p:nvSpPr>
        <p:spPr>
          <a:xfrm>
            <a:off x="5943600" y="2331720"/>
            <a:ext cx="2377080" cy="959760"/>
          </a:xfrm>
          <a:prstGeom prst="roundRect">
            <a:avLst>
              <a:gd name="adj" fmla="val 11429"/>
            </a:avLst>
          </a:prstGeom>
          <a:solidFill>
            <a:schemeClr val="tx2"/>
          </a:solidFill>
          <a:ln w="15875">
            <a:solidFill>
              <a:srgbClr val="ffff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15" name="txt93"/>
          <p:cNvSpPr/>
          <p:nvPr/>
        </p:nvSpPr>
        <p:spPr>
          <a:xfrm>
            <a:off x="6016680" y="2331720"/>
            <a:ext cx="2230920" cy="959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lt1"/>
                </a:solidFill>
                <a:effectLst/>
                <a:uFillTx/>
                <a:latin typeface="Calibri"/>
              </a:rPr>
              <a:t>Backend FastAPI</a:t>
            </a:r>
            <a:endParaRPr b="0" lang="es-ES" sz="1400" strike="noStrike" u="none">
              <a:solidFill>
                <a:srgbClr val="ffffff"/>
              </a:solidFill>
              <a:effectLst/>
              <a:uFillTx/>
              <a:latin typeface="Arial"/>
            </a:endParaRPr>
          </a:p>
          <a:p>
            <a:pPr algn="ctr" defTabSz="914400">
              <a:lnSpc>
                <a:spcPct val="100000"/>
              </a:lnSpc>
              <a:tabLst>
                <a:tab algn="l" pos="0"/>
              </a:tabLst>
            </a:pPr>
            <a:r>
              <a:rPr b="0" lang="en-US" sz="1100" strike="noStrike" u="none">
                <a:solidFill>
                  <a:schemeClr val="lt2"/>
                </a:solidFill>
                <a:effectLst/>
                <a:uFillTx/>
                <a:latin typeface="Calibri"/>
              </a:rPr>
              <a:t>valida y llama a la IA</a:t>
            </a:r>
            <a:endParaRPr b="0" lang="es-ES" sz="1100" strike="noStrike" u="none">
              <a:solidFill>
                <a:srgbClr val="ffffff"/>
              </a:solidFill>
              <a:effectLst/>
              <a:uFillTx/>
              <a:latin typeface="Arial"/>
            </a:endParaRPr>
          </a:p>
        </p:txBody>
      </p:sp>
      <p:sp>
        <p:nvSpPr>
          <p:cNvPr id="116" name="card94"/>
          <p:cNvSpPr/>
          <p:nvPr/>
        </p:nvSpPr>
        <p:spPr>
          <a:xfrm>
            <a:off x="8961120" y="2331720"/>
            <a:ext cx="2697120" cy="959760"/>
          </a:xfrm>
          <a:prstGeom prst="roundRect">
            <a:avLst>
              <a:gd name="adj" fmla="val 11429"/>
            </a:avLst>
          </a:prstGeom>
          <a:solidFill>
            <a:schemeClr val="tx2"/>
          </a:solidFill>
          <a:ln w="15875">
            <a:solidFill>
              <a:srgbClr val="9b8c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17" name="txt95"/>
          <p:cNvSpPr/>
          <p:nvPr/>
        </p:nvSpPr>
        <p:spPr>
          <a:xfrm>
            <a:off x="9034200" y="2331720"/>
            <a:ext cx="2550960" cy="959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accent2"/>
                </a:solidFill>
                <a:effectLst/>
                <a:uFillTx/>
                <a:latin typeface="Calibri"/>
              </a:rPr>
              <a:t>API de Gemini</a:t>
            </a:r>
            <a:endParaRPr b="0" lang="es-ES" sz="1400" strike="noStrike" u="none">
              <a:solidFill>
                <a:srgbClr val="ffffff"/>
              </a:solidFill>
              <a:effectLst/>
              <a:uFillTx/>
              <a:latin typeface="Arial"/>
            </a:endParaRPr>
          </a:p>
          <a:p>
            <a:pPr algn="ctr" defTabSz="914400">
              <a:lnSpc>
                <a:spcPct val="100000"/>
              </a:lnSpc>
              <a:tabLst>
                <a:tab algn="l" pos="0"/>
              </a:tabLst>
            </a:pPr>
            <a:r>
              <a:rPr b="0" lang="en-US" sz="1100" strike="noStrike" u="none">
                <a:solidFill>
                  <a:schemeClr val="lt2"/>
                </a:solidFill>
                <a:effectLst/>
                <a:uFillTx/>
                <a:latin typeface="Calibri"/>
              </a:rPr>
              <a:t>gemini-3.5-flash-lite</a:t>
            </a:r>
            <a:endParaRPr b="0" lang="es-ES" sz="1100" strike="noStrike" u="none">
              <a:solidFill>
                <a:srgbClr val="ffffff"/>
              </a:solidFill>
              <a:effectLst/>
              <a:uFillTx/>
              <a:latin typeface="Arial"/>
            </a:endParaRPr>
          </a:p>
        </p:txBody>
      </p:sp>
      <p:sp>
        <p:nvSpPr>
          <p:cNvPr id="118" name="card96"/>
          <p:cNvSpPr/>
          <p:nvPr/>
        </p:nvSpPr>
        <p:spPr>
          <a:xfrm>
            <a:off x="4206240" y="1325880"/>
            <a:ext cx="3291480" cy="548280"/>
          </a:xfrm>
          <a:prstGeom prst="roundRect">
            <a:avLst>
              <a:gd name="adj" fmla="val 20000"/>
            </a:avLst>
          </a:prstGeom>
          <a:solidFill>
            <a:schemeClr val="tx2"/>
          </a:solidFill>
          <a:ln w="15875">
            <a:solidFill>
              <a:srgbClr val="9b8cff"/>
            </a:solidFill>
            <a:prstDash val="dash"/>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19" name="txt97"/>
          <p:cNvSpPr/>
          <p:nvPr/>
        </p:nvSpPr>
        <p:spPr>
          <a:xfrm>
            <a:off x="4279320" y="1325880"/>
            <a:ext cx="314532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accent2"/>
                </a:solidFill>
                <a:effectLst/>
                <a:uFillTx/>
                <a:latin typeface="Calibri"/>
              </a:rPr>
              <a:t>Clerk · solo App 2</a:t>
            </a:r>
            <a:endParaRPr b="0" lang="es-ES" sz="1300" strike="noStrike" u="none">
              <a:solidFill>
                <a:srgbClr val="ffffff"/>
              </a:solidFill>
              <a:effectLst/>
              <a:uFillTx/>
              <a:latin typeface="Arial"/>
            </a:endParaRPr>
          </a:p>
        </p:txBody>
      </p:sp>
      <p:sp>
        <p:nvSpPr>
          <p:cNvPr id="120" name="line98"/>
          <p:cNvSpPr/>
          <p:nvPr/>
        </p:nvSpPr>
        <p:spPr>
          <a:xfrm>
            <a:off x="4754880" y="1874520"/>
            <a:ext cx="360" cy="457200"/>
          </a:xfrm>
          <a:prstGeom prst="line">
            <a:avLst/>
          </a:prstGeom>
          <a:ln w="15875">
            <a:solidFill>
              <a:srgbClr val="9b8cff"/>
            </a:solidFill>
            <a:prstDash val="dash"/>
            <a:roun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121" name="line99"/>
          <p:cNvSpPr/>
          <p:nvPr/>
        </p:nvSpPr>
        <p:spPr>
          <a:xfrm>
            <a:off x="6949440" y="1874520"/>
            <a:ext cx="360" cy="457200"/>
          </a:xfrm>
          <a:prstGeom prst="line">
            <a:avLst/>
          </a:prstGeom>
          <a:ln w="15875">
            <a:solidFill>
              <a:srgbClr val="9b8cff"/>
            </a:solidFill>
            <a:prstDash val="dash"/>
            <a:roun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122" name="txt100"/>
          <p:cNvSpPr/>
          <p:nvPr/>
        </p:nvSpPr>
        <p:spPr>
          <a:xfrm>
            <a:off x="4160520" y="1965960"/>
            <a:ext cx="548280" cy="273960"/>
          </a:xfrm>
          <a:prstGeom prst="rect">
            <a:avLst/>
          </a:prstGeom>
          <a:noFill/>
          <a:ln w="0">
            <a:noFill/>
          </a:ln>
        </p:spPr>
        <p:style>
          <a:lnRef idx="0"/>
          <a:fillRef idx="0"/>
          <a:effectRef idx="0"/>
          <a:fontRef idx="minor"/>
        </p:style>
        <p:txBody>
          <a:bodyPr lIns="0" rIns="0" tIns="0" bIns="0" anchor="t">
            <a:noAutofit/>
          </a:bodyPr>
          <a:p>
            <a:pPr algn="r" defTabSz="914400">
              <a:lnSpc>
                <a:spcPct val="100000"/>
              </a:lnSpc>
              <a:tabLst>
                <a:tab algn="l" pos="0"/>
              </a:tabLst>
            </a:pPr>
            <a:r>
              <a:rPr b="0" lang="en-US" sz="1000" strike="noStrike" u="none">
                <a:solidFill>
                  <a:schemeClr val="accent2"/>
                </a:solidFill>
                <a:effectLst/>
                <a:uFillTx/>
                <a:latin typeface="Calibri"/>
              </a:rPr>
              <a:t>token</a:t>
            </a:r>
            <a:endParaRPr b="0" lang="es-ES" sz="1000" strike="noStrike" u="none">
              <a:solidFill>
                <a:srgbClr val="ffffff"/>
              </a:solidFill>
              <a:effectLst/>
              <a:uFillTx/>
              <a:latin typeface="Arial"/>
            </a:endParaRPr>
          </a:p>
        </p:txBody>
      </p:sp>
      <p:sp>
        <p:nvSpPr>
          <p:cNvPr id="123" name="txt101"/>
          <p:cNvSpPr/>
          <p:nvPr/>
        </p:nvSpPr>
        <p:spPr>
          <a:xfrm>
            <a:off x="7022520" y="1965960"/>
            <a:ext cx="54828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000" strike="noStrike" u="none">
                <a:solidFill>
                  <a:schemeClr val="accent2"/>
                </a:solidFill>
                <a:effectLst/>
                <a:uFillTx/>
                <a:latin typeface="Calibri"/>
              </a:rPr>
              <a:t>JWKS</a:t>
            </a:r>
            <a:endParaRPr b="0" lang="es-ES" sz="1000" strike="noStrike" u="none">
              <a:solidFill>
                <a:srgbClr val="ffffff"/>
              </a:solidFill>
              <a:effectLst/>
              <a:uFillTx/>
              <a:latin typeface="Arial"/>
            </a:endParaRPr>
          </a:p>
        </p:txBody>
      </p:sp>
      <p:sp>
        <p:nvSpPr>
          <p:cNvPr id="124" name="line102"/>
          <p:cNvSpPr/>
          <p:nvPr/>
        </p:nvSpPr>
        <p:spPr>
          <a:xfrm>
            <a:off x="2286000" y="2633400"/>
            <a:ext cx="640080" cy="360"/>
          </a:xfrm>
          <a:prstGeom prst="line">
            <a:avLst/>
          </a:prstGeom>
          <a:ln w="15875">
            <a:solidFill>
              <a:srgbClr val="e86cca"/>
            </a:solidFill>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125" name="dot103"/>
          <p:cNvSpPr/>
          <p:nvPr/>
        </p:nvSpPr>
        <p:spPr>
          <a:xfrm>
            <a:off x="2468880" y="2496240"/>
            <a:ext cx="273960" cy="273960"/>
          </a:xfrm>
          <a:prstGeom prst="ellipse">
            <a:avLst/>
          </a:prstGeom>
          <a:solidFill>
            <a:schemeClr val="accent1"/>
          </a:solidFill>
          <a:ln w="19050">
            <a:solidFill>
              <a:srgbClr val="0b0b12"/>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26" name="txt104"/>
          <p:cNvSpPr/>
          <p:nvPr/>
        </p:nvSpPr>
        <p:spPr>
          <a:xfrm>
            <a:off x="2468880" y="2496240"/>
            <a:ext cx="27396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trike="noStrike" u="none">
                <a:solidFill>
                  <a:schemeClr val="dk1"/>
                </a:solidFill>
                <a:effectLst/>
                <a:uFillTx/>
                <a:latin typeface="Calibri"/>
              </a:rPr>
              <a:t>1</a:t>
            </a:r>
            <a:endParaRPr b="0" lang="es-ES" sz="1100" strike="noStrike" u="none">
              <a:solidFill>
                <a:srgbClr val="ffffff"/>
              </a:solidFill>
              <a:effectLst/>
              <a:uFillTx/>
              <a:latin typeface="Arial"/>
            </a:endParaRPr>
          </a:p>
        </p:txBody>
      </p:sp>
      <p:sp>
        <p:nvSpPr>
          <p:cNvPr id="127" name="line105"/>
          <p:cNvSpPr/>
          <p:nvPr/>
        </p:nvSpPr>
        <p:spPr>
          <a:xfrm>
            <a:off x="5303520" y="2633400"/>
            <a:ext cx="640080" cy="360"/>
          </a:xfrm>
          <a:prstGeom prst="line">
            <a:avLst/>
          </a:prstGeom>
          <a:ln w="15875">
            <a:solidFill>
              <a:srgbClr val="e86cca"/>
            </a:solidFill>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128" name="dot106"/>
          <p:cNvSpPr/>
          <p:nvPr/>
        </p:nvSpPr>
        <p:spPr>
          <a:xfrm>
            <a:off x="5486400" y="2496240"/>
            <a:ext cx="273960" cy="273960"/>
          </a:xfrm>
          <a:prstGeom prst="ellipse">
            <a:avLst/>
          </a:prstGeom>
          <a:solidFill>
            <a:schemeClr val="accent1"/>
          </a:solidFill>
          <a:ln w="19050">
            <a:solidFill>
              <a:srgbClr val="0b0b12"/>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29" name="txt107"/>
          <p:cNvSpPr/>
          <p:nvPr/>
        </p:nvSpPr>
        <p:spPr>
          <a:xfrm>
            <a:off x="5486400" y="2496240"/>
            <a:ext cx="27396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trike="noStrike" u="none">
                <a:solidFill>
                  <a:schemeClr val="dk1"/>
                </a:solidFill>
                <a:effectLst/>
                <a:uFillTx/>
                <a:latin typeface="Calibri"/>
              </a:rPr>
              <a:t>2</a:t>
            </a:r>
            <a:endParaRPr b="0" lang="es-ES" sz="1100" strike="noStrike" u="none">
              <a:solidFill>
                <a:srgbClr val="ffffff"/>
              </a:solidFill>
              <a:effectLst/>
              <a:uFillTx/>
              <a:latin typeface="Arial"/>
            </a:endParaRPr>
          </a:p>
        </p:txBody>
      </p:sp>
      <p:sp>
        <p:nvSpPr>
          <p:cNvPr id="130" name="line108"/>
          <p:cNvSpPr/>
          <p:nvPr/>
        </p:nvSpPr>
        <p:spPr>
          <a:xfrm>
            <a:off x="8321040" y="2633400"/>
            <a:ext cx="640080" cy="360"/>
          </a:xfrm>
          <a:prstGeom prst="line">
            <a:avLst/>
          </a:prstGeom>
          <a:ln w="15875">
            <a:solidFill>
              <a:srgbClr val="e86cca"/>
            </a:solidFill>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131" name="dot109"/>
          <p:cNvSpPr/>
          <p:nvPr/>
        </p:nvSpPr>
        <p:spPr>
          <a:xfrm>
            <a:off x="8503920" y="2496240"/>
            <a:ext cx="273960" cy="273960"/>
          </a:xfrm>
          <a:prstGeom prst="ellipse">
            <a:avLst/>
          </a:prstGeom>
          <a:solidFill>
            <a:schemeClr val="accent1"/>
          </a:solidFill>
          <a:ln w="19050">
            <a:solidFill>
              <a:srgbClr val="0b0b12"/>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32" name="txt110"/>
          <p:cNvSpPr/>
          <p:nvPr/>
        </p:nvSpPr>
        <p:spPr>
          <a:xfrm>
            <a:off x="8503920" y="2496240"/>
            <a:ext cx="27396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trike="noStrike" u="none">
                <a:solidFill>
                  <a:schemeClr val="dk1"/>
                </a:solidFill>
                <a:effectLst/>
                <a:uFillTx/>
                <a:latin typeface="Calibri"/>
              </a:rPr>
              <a:t>3</a:t>
            </a:r>
            <a:endParaRPr b="0" lang="es-ES" sz="1100" strike="noStrike" u="none">
              <a:solidFill>
                <a:srgbClr val="ffffff"/>
              </a:solidFill>
              <a:effectLst/>
              <a:uFillTx/>
              <a:latin typeface="Arial"/>
            </a:endParaRPr>
          </a:p>
        </p:txBody>
      </p:sp>
      <p:sp>
        <p:nvSpPr>
          <p:cNvPr id="133" name="line111"/>
          <p:cNvSpPr/>
          <p:nvPr/>
        </p:nvSpPr>
        <p:spPr>
          <a:xfrm flipH="1">
            <a:off x="8321040" y="3017520"/>
            <a:ext cx="640080" cy="360"/>
          </a:xfrm>
          <a:prstGeom prst="line">
            <a:avLst/>
          </a:prstGeom>
          <a:ln w="15875">
            <a:solidFill>
              <a:srgbClr val="a9a9bf"/>
            </a:solidFill>
            <a:prstDash val="dash"/>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134" name="dot112"/>
          <p:cNvSpPr/>
          <p:nvPr/>
        </p:nvSpPr>
        <p:spPr>
          <a:xfrm>
            <a:off x="8503920" y="2880360"/>
            <a:ext cx="273960" cy="273960"/>
          </a:xfrm>
          <a:prstGeom prst="ellipse">
            <a:avLst/>
          </a:prstGeom>
          <a:solidFill>
            <a:schemeClr val="bg1"/>
          </a:solidFill>
          <a:ln w="19050">
            <a:solidFill>
              <a:srgbClr val="0b0b12"/>
            </a:solidFill>
            <a:round/>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135" name="txt113"/>
          <p:cNvSpPr/>
          <p:nvPr/>
        </p:nvSpPr>
        <p:spPr>
          <a:xfrm>
            <a:off x="8503920" y="2880360"/>
            <a:ext cx="27396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trike="noStrike" u="none">
                <a:solidFill>
                  <a:schemeClr val="dk1"/>
                </a:solidFill>
                <a:effectLst/>
                <a:uFillTx/>
                <a:latin typeface="Calibri"/>
              </a:rPr>
              <a:t>4</a:t>
            </a:r>
            <a:endParaRPr b="0" lang="es-ES" sz="1100" strike="noStrike" u="none">
              <a:solidFill>
                <a:srgbClr val="ffffff"/>
              </a:solidFill>
              <a:effectLst/>
              <a:uFillTx/>
              <a:latin typeface="Arial"/>
            </a:endParaRPr>
          </a:p>
        </p:txBody>
      </p:sp>
      <p:sp>
        <p:nvSpPr>
          <p:cNvPr id="136" name="line114"/>
          <p:cNvSpPr/>
          <p:nvPr/>
        </p:nvSpPr>
        <p:spPr>
          <a:xfrm flipH="1">
            <a:off x="5303520" y="3017520"/>
            <a:ext cx="640080" cy="360"/>
          </a:xfrm>
          <a:prstGeom prst="line">
            <a:avLst/>
          </a:prstGeom>
          <a:ln w="15875">
            <a:solidFill>
              <a:srgbClr val="a9a9bf"/>
            </a:solidFill>
            <a:prstDash val="dash"/>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137" name="dot115"/>
          <p:cNvSpPr/>
          <p:nvPr/>
        </p:nvSpPr>
        <p:spPr>
          <a:xfrm>
            <a:off x="5486400" y="2880360"/>
            <a:ext cx="273960" cy="273960"/>
          </a:xfrm>
          <a:prstGeom prst="ellipse">
            <a:avLst/>
          </a:prstGeom>
          <a:solidFill>
            <a:schemeClr val="bg1"/>
          </a:solidFill>
          <a:ln w="19050">
            <a:solidFill>
              <a:srgbClr val="0b0b12"/>
            </a:solidFill>
            <a:round/>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138" name="txt116"/>
          <p:cNvSpPr/>
          <p:nvPr/>
        </p:nvSpPr>
        <p:spPr>
          <a:xfrm>
            <a:off x="5486400" y="2880360"/>
            <a:ext cx="27396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trike="noStrike" u="none">
                <a:solidFill>
                  <a:schemeClr val="dk1"/>
                </a:solidFill>
                <a:effectLst/>
                <a:uFillTx/>
                <a:latin typeface="Calibri"/>
              </a:rPr>
              <a:t>5</a:t>
            </a:r>
            <a:endParaRPr b="0" lang="es-ES" sz="1100" strike="noStrike" u="none">
              <a:solidFill>
                <a:srgbClr val="ffffff"/>
              </a:solidFill>
              <a:effectLst/>
              <a:uFillTx/>
              <a:latin typeface="Arial"/>
            </a:endParaRPr>
          </a:p>
        </p:txBody>
      </p:sp>
      <p:sp>
        <p:nvSpPr>
          <p:cNvPr id="139" name="line117"/>
          <p:cNvSpPr/>
          <p:nvPr/>
        </p:nvSpPr>
        <p:spPr>
          <a:xfrm flipH="1">
            <a:off x="2286000" y="3017520"/>
            <a:ext cx="640080" cy="360"/>
          </a:xfrm>
          <a:prstGeom prst="line">
            <a:avLst/>
          </a:prstGeom>
          <a:ln w="15875">
            <a:solidFill>
              <a:srgbClr val="a9a9bf"/>
            </a:solidFill>
            <a:prstDash val="dash"/>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140" name="dot118"/>
          <p:cNvSpPr/>
          <p:nvPr/>
        </p:nvSpPr>
        <p:spPr>
          <a:xfrm>
            <a:off x="2468880" y="2880360"/>
            <a:ext cx="273960" cy="273960"/>
          </a:xfrm>
          <a:prstGeom prst="ellipse">
            <a:avLst/>
          </a:prstGeom>
          <a:solidFill>
            <a:schemeClr val="bg1"/>
          </a:solidFill>
          <a:ln w="19050">
            <a:solidFill>
              <a:srgbClr val="0b0b12"/>
            </a:solidFill>
            <a:round/>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141" name="txt119"/>
          <p:cNvSpPr/>
          <p:nvPr/>
        </p:nvSpPr>
        <p:spPr>
          <a:xfrm>
            <a:off x="2468880" y="2880360"/>
            <a:ext cx="273960" cy="2739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trike="noStrike" u="none">
                <a:solidFill>
                  <a:schemeClr val="dk1"/>
                </a:solidFill>
                <a:effectLst/>
                <a:uFillTx/>
                <a:latin typeface="Calibri"/>
              </a:rPr>
              <a:t>6</a:t>
            </a:r>
            <a:endParaRPr b="0" lang="es-ES" sz="1100" strike="noStrike" u="none">
              <a:solidFill>
                <a:srgbClr val="ffffff"/>
              </a:solidFill>
              <a:effectLst/>
              <a:uFillTx/>
              <a:latin typeface="Arial"/>
            </a:endParaRPr>
          </a:p>
        </p:txBody>
      </p:sp>
      <p:sp>
        <p:nvSpPr>
          <p:cNvPr id="142" name="card120"/>
          <p:cNvSpPr/>
          <p:nvPr/>
        </p:nvSpPr>
        <p:spPr>
          <a:xfrm>
            <a:off x="548640" y="3749040"/>
            <a:ext cx="1755360" cy="2285640"/>
          </a:xfrm>
          <a:prstGeom prst="roundRect">
            <a:avLst>
              <a:gd name="adj" fmla="val 625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43" name="badge121"/>
          <p:cNvSpPr/>
          <p:nvPr/>
        </p:nvSpPr>
        <p:spPr>
          <a:xfrm>
            <a:off x="731520" y="3931920"/>
            <a:ext cx="383760" cy="347040"/>
          </a:xfrm>
          <a:prstGeom prst="roundRect">
            <a:avLst>
              <a:gd name="adj" fmla="val 21053"/>
            </a:avLst>
          </a:prstGeom>
          <a:solidFill>
            <a:schemeClr val="accent1"/>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44" name="txt122"/>
          <p:cNvSpPr/>
          <p:nvPr/>
        </p:nvSpPr>
        <p:spPr>
          <a:xfrm>
            <a:off x="731520" y="3931920"/>
            <a:ext cx="38376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dk1"/>
                </a:solidFill>
                <a:effectLst/>
                <a:uFillTx/>
                <a:latin typeface="Calibri"/>
              </a:rPr>
              <a:t>1</a:t>
            </a:r>
            <a:endParaRPr b="0" lang="es-ES" sz="1300" strike="noStrike" u="none">
              <a:solidFill>
                <a:srgbClr val="ffffff"/>
              </a:solidFill>
              <a:effectLst/>
              <a:uFillTx/>
              <a:latin typeface="Arial"/>
            </a:endParaRPr>
          </a:p>
        </p:txBody>
      </p:sp>
      <p:sp>
        <p:nvSpPr>
          <p:cNvPr id="145" name="txt123"/>
          <p:cNvSpPr/>
          <p:nvPr/>
        </p:nvSpPr>
        <p:spPr>
          <a:xfrm>
            <a:off x="731520" y="4434840"/>
            <a:ext cx="1416960" cy="1508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El usuario elige géneros y escribe sus gustos en el único formulario.</a:t>
            </a:r>
            <a:endParaRPr b="0" lang="es-ES" sz="1300" strike="noStrike" u="none">
              <a:solidFill>
                <a:srgbClr val="ffffff"/>
              </a:solidFill>
              <a:effectLst/>
              <a:uFillTx/>
              <a:latin typeface="Arial"/>
            </a:endParaRPr>
          </a:p>
        </p:txBody>
      </p:sp>
      <p:sp>
        <p:nvSpPr>
          <p:cNvPr id="146" name="card124"/>
          <p:cNvSpPr/>
          <p:nvPr/>
        </p:nvSpPr>
        <p:spPr>
          <a:xfrm>
            <a:off x="2414160" y="3749040"/>
            <a:ext cx="1755360" cy="2285640"/>
          </a:xfrm>
          <a:prstGeom prst="roundRect">
            <a:avLst>
              <a:gd name="adj" fmla="val 625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47" name="badge125"/>
          <p:cNvSpPr/>
          <p:nvPr/>
        </p:nvSpPr>
        <p:spPr>
          <a:xfrm>
            <a:off x="2597040" y="3931920"/>
            <a:ext cx="383760" cy="347040"/>
          </a:xfrm>
          <a:prstGeom prst="roundRect">
            <a:avLst>
              <a:gd name="adj" fmla="val 21053"/>
            </a:avLst>
          </a:prstGeom>
          <a:solidFill>
            <a:schemeClr val="accent1"/>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48" name="txt126"/>
          <p:cNvSpPr/>
          <p:nvPr/>
        </p:nvSpPr>
        <p:spPr>
          <a:xfrm>
            <a:off x="2597040" y="3931920"/>
            <a:ext cx="38376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dk1"/>
                </a:solidFill>
                <a:effectLst/>
                <a:uFillTx/>
                <a:latin typeface="Calibri"/>
              </a:rPr>
              <a:t>2</a:t>
            </a:r>
            <a:endParaRPr b="0" lang="es-ES" sz="1300" strike="noStrike" u="none">
              <a:solidFill>
                <a:srgbClr val="ffffff"/>
              </a:solidFill>
              <a:effectLst/>
              <a:uFillTx/>
              <a:latin typeface="Arial"/>
            </a:endParaRPr>
          </a:p>
        </p:txBody>
      </p:sp>
      <p:sp>
        <p:nvSpPr>
          <p:cNvPr id="149" name="txt127"/>
          <p:cNvSpPr/>
          <p:nvPr/>
        </p:nvSpPr>
        <p:spPr>
          <a:xfrm>
            <a:off x="2597040" y="4434840"/>
            <a:ext cx="1416960" cy="1508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La SPA envía POST /api/recommend con JSON (y el token de Clerk en la App 2).</a:t>
            </a:r>
            <a:endParaRPr b="0" lang="es-ES" sz="1300" strike="noStrike" u="none">
              <a:solidFill>
                <a:srgbClr val="ffffff"/>
              </a:solidFill>
              <a:effectLst/>
              <a:uFillTx/>
              <a:latin typeface="Arial"/>
            </a:endParaRPr>
          </a:p>
        </p:txBody>
      </p:sp>
      <p:sp>
        <p:nvSpPr>
          <p:cNvPr id="150" name="card128"/>
          <p:cNvSpPr/>
          <p:nvPr/>
        </p:nvSpPr>
        <p:spPr>
          <a:xfrm>
            <a:off x="4279320" y="3749040"/>
            <a:ext cx="1755360" cy="2285640"/>
          </a:xfrm>
          <a:prstGeom prst="roundRect">
            <a:avLst>
              <a:gd name="adj" fmla="val 625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51" name="badge129"/>
          <p:cNvSpPr/>
          <p:nvPr/>
        </p:nvSpPr>
        <p:spPr>
          <a:xfrm>
            <a:off x="4462200" y="3931920"/>
            <a:ext cx="383760" cy="347040"/>
          </a:xfrm>
          <a:prstGeom prst="roundRect">
            <a:avLst>
              <a:gd name="adj" fmla="val 21053"/>
            </a:avLst>
          </a:prstGeom>
          <a:solidFill>
            <a:schemeClr val="accent1"/>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52" name="txt130"/>
          <p:cNvSpPr/>
          <p:nvPr/>
        </p:nvSpPr>
        <p:spPr>
          <a:xfrm>
            <a:off x="4462200" y="3931920"/>
            <a:ext cx="38376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dk1"/>
                </a:solidFill>
                <a:effectLst/>
                <a:uFillTx/>
                <a:latin typeface="Calibri"/>
              </a:rPr>
              <a:t>3</a:t>
            </a:r>
            <a:endParaRPr b="0" lang="es-ES" sz="1300" strike="noStrike" u="none">
              <a:solidFill>
                <a:srgbClr val="ffffff"/>
              </a:solidFill>
              <a:effectLst/>
              <a:uFillTx/>
              <a:latin typeface="Arial"/>
            </a:endParaRPr>
          </a:p>
        </p:txBody>
      </p:sp>
      <p:sp>
        <p:nvSpPr>
          <p:cNvPr id="153" name="txt131"/>
          <p:cNvSpPr/>
          <p:nvPr/>
        </p:nvSpPr>
        <p:spPr>
          <a:xfrm>
            <a:off x="4462200" y="4434840"/>
            <a:ext cx="1416960" cy="1508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FastAPI verifica el token, valida con Pydantic y hace una sola llamada a Gemini.</a:t>
            </a:r>
            <a:endParaRPr b="0" lang="es-ES" sz="1300" strike="noStrike" u="none">
              <a:solidFill>
                <a:srgbClr val="ffffff"/>
              </a:solidFill>
              <a:effectLst/>
              <a:uFillTx/>
              <a:latin typeface="Arial"/>
            </a:endParaRPr>
          </a:p>
        </p:txBody>
      </p:sp>
      <p:sp>
        <p:nvSpPr>
          <p:cNvPr id="154" name="card132"/>
          <p:cNvSpPr/>
          <p:nvPr/>
        </p:nvSpPr>
        <p:spPr>
          <a:xfrm>
            <a:off x="6144840" y="3749040"/>
            <a:ext cx="1755360" cy="2285640"/>
          </a:xfrm>
          <a:prstGeom prst="roundRect">
            <a:avLst>
              <a:gd name="adj" fmla="val 625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55" name="badge133"/>
          <p:cNvSpPr/>
          <p:nvPr/>
        </p:nvSpPr>
        <p:spPr>
          <a:xfrm>
            <a:off x="6327720" y="3931920"/>
            <a:ext cx="383760" cy="347040"/>
          </a:xfrm>
          <a:prstGeom prst="roundRect">
            <a:avLst>
              <a:gd name="adj" fmla="val 21053"/>
            </a:avLst>
          </a:prstGeom>
          <a:solidFill>
            <a:schemeClr val="bg1"/>
          </a:solidFill>
          <a:ln w="0">
            <a:noFill/>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156" name="txt134"/>
          <p:cNvSpPr/>
          <p:nvPr/>
        </p:nvSpPr>
        <p:spPr>
          <a:xfrm>
            <a:off x="6327720" y="3931920"/>
            <a:ext cx="38376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dk1"/>
                </a:solidFill>
                <a:effectLst/>
                <a:uFillTx/>
                <a:latin typeface="Calibri"/>
              </a:rPr>
              <a:t>4</a:t>
            </a:r>
            <a:endParaRPr b="0" lang="es-ES" sz="1300" strike="noStrike" u="none">
              <a:solidFill>
                <a:srgbClr val="ffffff"/>
              </a:solidFill>
              <a:effectLst/>
              <a:uFillTx/>
              <a:latin typeface="Arial"/>
            </a:endParaRPr>
          </a:p>
        </p:txBody>
      </p:sp>
      <p:sp>
        <p:nvSpPr>
          <p:cNvPr id="157" name="txt135"/>
          <p:cNvSpPr/>
          <p:nvPr/>
        </p:nvSpPr>
        <p:spPr>
          <a:xfrm>
            <a:off x="6327720" y="4434840"/>
            <a:ext cx="1416960" cy="1508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Gemini devuelve el texto de las recomendaciones.</a:t>
            </a:r>
            <a:endParaRPr b="0" lang="es-ES" sz="1300" strike="noStrike" u="none">
              <a:solidFill>
                <a:srgbClr val="ffffff"/>
              </a:solidFill>
              <a:effectLst/>
              <a:uFillTx/>
              <a:latin typeface="Arial"/>
            </a:endParaRPr>
          </a:p>
        </p:txBody>
      </p:sp>
      <p:sp>
        <p:nvSpPr>
          <p:cNvPr id="158" name="card136"/>
          <p:cNvSpPr/>
          <p:nvPr/>
        </p:nvSpPr>
        <p:spPr>
          <a:xfrm>
            <a:off x="8010000" y="3749040"/>
            <a:ext cx="1755360" cy="2285640"/>
          </a:xfrm>
          <a:prstGeom prst="roundRect">
            <a:avLst>
              <a:gd name="adj" fmla="val 625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59" name="badge137"/>
          <p:cNvSpPr/>
          <p:nvPr/>
        </p:nvSpPr>
        <p:spPr>
          <a:xfrm>
            <a:off x="8192880" y="3931920"/>
            <a:ext cx="383760" cy="347040"/>
          </a:xfrm>
          <a:prstGeom prst="roundRect">
            <a:avLst>
              <a:gd name="adj" fmla="val 21053"/>
            </a:avLst>
          </a:prstGeom>
          <a:solidFill>
            <a:schemeClr val="bg1"/>
          </a:solidFill>
          <a:ln w="0">
            <a:noFill/>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160" name="txt138"/>
          <p:cNvSpPr/>
          <p:nvPr/>
        </p:nvSpPr>
        <p:spPr>
          <a:xfrm>
            <a:off x="8192880" y="3931920"/>
            <a:ext cx="38376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dk1"/>
                </a:solidFill>
                <a:effectLst/>
                <a:uFillTx/>
                <a:latin typeface="Calibri"/>
              </a:rPr>
              <a:t>5</a:t>
            </a:r>
            <a:endParaRPr b="0" lang="es-ES" sz="1300" strike="noStrike" u="none">
              <a:solidFill>
                <a:srgbClr val="ffffff"/>
              </a:solidFill>
              <a:effectLst/>
              <a:uFillTx/>
              <a:latin typeface="Arial"/>
            </a:endParaRPr>
          </a:p>
        </p:txBody>
      </p:sp>
      <p:sp>
        <p:nvSpPr>
          <p:cNvPr id="161" name="txt139"/>
          <p:cNvSpPr/>
          <p:nvPr/>
        </p:nvSpPr>
        <p:spPr>
          <a:xfrm>
            <a:off x="8192880" y="4434840"/>
            <a:ext cx="1416960" cy="1508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FastAPI lo envuelve en {"resultado"} o en un error JSON controlado.</a:t>
            </a:r>
            <a:endParaRPr b="0" lang="es-ES" sz="1300" strike="noStrike" u="none">
              <a:solidFill>
                <a:srgbClr val="ffffff"/>
              </a:solidFill>
              <a:effectLst/>
              <a:uFillTx/>
              <a:latin typeface="Arial"/>
            </a:endParaRPr>
          </a:p>
        </p:txBody>
      </p:sp>
      <p:sp>
        <p:nvSpPr>
          <p:cNvPr id="162" name="card140"/>
          <p:cNvSpPr/>
          <p:nvPr/>
        </p:nvSpPr>
        <p:spPr>
          <a:xfrm>
            <a:off x="9875520" y="3749040"/>
            <a:ext cx="1755360" cy="2285640"/>
          </a:xfrm>
          <a:prstGeom prst="roundRect">
            <a:avLst>
              <a:gd name="adj" fmla="val 625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63" name="badge141"/>
          <p:cNvSpPr/>
          <p:nvPr/>
        </p:nvSpPr>
        <p:spPr>
          <a:xfrm>
            <a:off x="10058400" y="3931920"/>
            <a:ext cx="383760" cy="347040"/>
          </a:xfrm>
          <a:prstGeom prst="roundRect">
            <a:avLst>
              <a:gd name="adj" fmla="val 21053"/>
            </a:avLst>
          </a:prstGeom>
          <a:solidFill>
            <a:schemeClr val="bg1"/>
          </a:solidFill>
          <a:ln w="0">
            <a:noFill/>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164" name="txt142"/>
          <p:cNvSpPr/>
          <p:nvPr/>
        </p:nvSpPr>
        <p:spPr>
          <a:xfrm>
            <a:off x="10058400" y="3931920"/>
            <a:ext cx="38376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dk1"/>
                </a:solidFill>
                <a:effectLst/>
                <a:uFillTx/>
                <a:latin typeface="Calibri"/>
              </a:rPr>
              <a:t>6</a:t>
            </a:r>
            <a:endParaRPr b="0" lang="es-ES" sz="1300" strike="noStrike" u="none">
              <a:solidFill>
                <a:srgbClr val="ffffff"/>
              </a:solidFill>
              <a:effectLst/>
              <a:uFillTx/>
              <a:latin typeface="Arial"/>
            </a:endParaRPr>
          </a:p>
        </p:txBody>
      </p:sp>
      <p:sp>
        <p:nvSpPr>
          <p:cNvPr id="165" name="txt143"/>
          <p:cNvSpPr/>
          <p:nvPr/>
        </p:nvSpPr>
        <p:spPr>
          <a:xfrm>
            <a:off x="10058400" y="4434840"/>
            <a:ext cx="1416960" cy="1508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La SPA lo muestra como texto en la misma pantalla.</a:t>
            </a:r>
            <a:endParaRPr b="0" lang="es-ES" sz="1300" strike="noStrike" u="none">
              <a:solidFill>
                <a:srgbClr val="ffffff"/>
              </a:solidFill>
              <a:effectLst/>
              <a:uFillTx/>
              <a:latin typeface="Arial"/>
            </a:endParaRPr>
          </a:p>
        </p:txBody>
      </p:sp>
      <p:sp>
        <p:nvSpPr>
          <p:cNvPr id="166" name="PlaceHolder 3"/>
          <p:cNvSpPr>
            <a:spLocks noGrp="1"/>
          </p:cNvSpPr>
          <p:nvPr>
            <p:ph type="sldNum" idx="7"/>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A7B37FE5-9731-466C-ACC2-E86FB9326645}"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Contrato de la API</a:t>
            </a:r>
            <a:endParaRPr b="0" lang="es-ES" sz="3400" strike="noStrike" u="none">
              <a:solidFill>
                <a:schemeClr val="dk1"/>
              </a:solidFill>
              <a:effectLst/>
              <a:uFillTx/>
              <a:latin typeface="Calibri"/>
            </a:endParaRPr>
          </a:p>
        </p:txBody>
      </p:sp>
      <p:sp>
        <p:nvSpPr>
          <p:cNvPr id="168"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POST /api/recommend</a:t>
            </a:r>
            <a:endParaRPr b="0" lang="es-ES" sz="1200" strike="noStrike" u="none">
              <a:solidFill>
                <a:schemeClr val="dk1"/>
              </a:solidFill>
              <a:effectLst/>
              <a:uFillTx/>
              <a:latin typeface="Calibri"/>
            </a:endParaRPr>
          </a:p>
        </p:txBody>
      </p:sp>
      <p:sp>
        <p:nvSpPr>
          <p:cNvPr id="169" name="presenta144"/>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70" name="txt145"/>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Mario Luna</a:t>
            </a:r>
            <a:endParaRPr b="0" lang="es-ES" sz="1100" strike="noStrike" u="none">
              <a:solidFill>
                <a:srgbClr val="ffffff"/>
              </a:solidFill>
              <a:effectLst/>
              <a:uFillTx/>
              <a:latin typeface="Arial"/>
            </a:endParaRPr>
          </a:p>
        </p:txBody>
      </p:sp>
      <p:sp>
        <p:nvSpPr>
          <p:cNvPr id="171" name="txt146"/>
          <p:cNvSpPr/>
          <p:nvPr/>
        </p:nvSpPr>
        <p:spPr>
          <a:xfrm>
            <a:off x="548640" y="1325880"/>
            <a:ext cx="566892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trike="noStrike" u="none">
                <a:solidFill>
                  <a:schemeClr val="accent1"/>
                </a:solidFill>
                <a:effectLst/>
                <a:uFillTx/>
                <a:latin typeface="Calibri"/>
              </a:rPr>
              <a:t>Petición</a:t>
            </a:r>
            <a:endParaRPr b="0" lang="es-ES" sz="1400" strike="noStrike" u="none">
              <a:solidFill>
                <a:srgbClr val="ffffff"/>
              </a:solidFill>
              <a:effectLst/>
              <a:uFillTx/>
              <a:latin typeface="Arial"/>
            </a:endParaRPr>
          </a:p>
        </p:txBody>
      </p:sp>
      <p:sp>
        <p:nvSpPr>
          <p:cNvPr id="172" name="card147"/>
          <p:cNvSpPr/>
          <p:nvPr/>
        </p:nvSpPr>
        <p:spPr>
          <a:xfrm>
            <a:off x="548640" y="1691640"/>
            <a:ext cx="5806080" cy="1599840"/>
          </a:xfrm>
          <a:prstGeom prst="roundRect">
            <a:avLst>
              <a:gd name="adj" fmla="val 4571"/>
            </a:avLst>
          </a:prstGeom>
          <a:solidFill>
            <a:schemeClr val="tx1"/>
          </a:solidFill>
          <a:ln w="9525">
            <a:solidFill>
              <a:schemeClr val="lt2">
                <a:alpha val="45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73" name="txt148"/>
          <p:cNvSpPr/>
          <p:nvPr/>
        </p:nvSpPr>
        <p:spPr>
          <a:xfrm>
            <a:off x="731520" y="1828800"/>
            <a:ext cx="5440320" cy="13255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trike="noStrike" u="none">
                <a:solidFill>
                  <a:schemeClr val="lt1"/>
                </a:solidFill>
                <a:effectLst/>
                <a:uFillTx/>
                <a:latin typeface="Consolas"/>
                <a:ea typeface="Consolas"/>
              </a:rPr>
              <a:t>POST /api/recommend</a:t>
            </a:r>
            <a:endParaRPr b="0" lang="es-ES" sz="12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1"/>
                </a:solidFill>
                <a:effectLst/>
                <a:uFillTx/>
                <a:latin typeface="Consolas"/>
                <a:ea typeface="Consolas"/>
              </a:rPr>
              <a:t>Authorization: Bearer &lt;token&gt;   ← solo App 2</a:t>
            </a:r>
            <a:endParaRPr b="0" lang="es-ES" sz="1200" strike="noStrike" u="none">
              <a:solidFill>
                <a:srgbClr val="ffffff"/>
              </a:solidFill>
              <a:effectLst/>
              <a:uFillTx/>
              <a:latin typeface="Arial"/>
            </a:endParaRPr>
          </a:p>
          <a:p>
            <a:pPr defTabSz="914400">
              <a:lnSpc>
                <a:spcPct val="100000"/>
              </a:lnSpc>
              <a:tabLst>
                <a:tab algn="l" pos="0"/>
              </a:tabLst>
            </a:pPr>
            <a:endParaRPr b="0" lang="es-ES" sz="12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1"/>
                </a:solidFill>
                <a:effectLst/>
                <a:uFillTx/>
                <a:latin typeface="Consolas"/>
                <a:ea typeface="Consolas"/>
              </a:rPr>
              <a:t>{ "tastes": "Géneros: Electrónica, Flamenco, Metal.</a:t>
            </a:r>
            <a:endParaRPr b="0" lang="es-ES" sz="12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1"/>
                </a:solidFill>
                <a:effectLst/>
                <a:uFillTx/>
                <a:latin typeface="Consolas"/>
                <a:ea typeface="Consolas"/>
              </a:rPr>
              <a:t>             Además: Me gusta la musica de los 2000s" }</a:t>
            </a:r>
            <a:endParaRPr b="0" lang="es-ES" sz="1200" strike="noStrike" u="none">
              <a:solidFill>
                <a:srgbClr val="ffffff"/>
              </a:solidFill>
              <a:effectLst/>
              <a:uFillTx/>
              <a:latin typeface="Arial"/>
            </a:endParaRPr>
          </a:p>
        </p:txBody>
      </p:sp>
      <p:sp>
        <p:nvSpPr>
          <p:cNvPr id="174" name="txt149"/>
          <p:cNvSpPr/>
          <p:nvPr/>
        </p:nvSpPr>
        <p:spPr>
          <a:xfrm>
            <a:off x="548640" y="3474720"/>
            <a:ext cx="566892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trike="noStrike" u="none">
                <a:solidFill>
                  <a:schemeClr val="accent6"/>
                </a:solidFill>
                <a:effectLst/>
                <a:uFillTx/>
                <a:latin typeface="Calibri"/>
              </a:rPr>
              <a:t>Respuesta 200 (de la demo en Vercel)</a:t>
            </a:r>
            <a:endParaRPr b="0" lang="es-ES" sz="1400" strike="noStrike" u="none">
              <a:solidFill>
                <a:srgbClr val="ffffff"/>
              </a:solidFill>
              <a:effectLst/>
              <a:uFillTx/>
              <a:latin typeface="Arial"/>
            </a:endParaRPr>
          </a:p>
        </p:txBody>
      </p:sp>
      <p:sp>
        <p:nvSpPr>
          <p:cNvPr id="175" name="card150"/>
          <p:cNvSpPr/>
          <p:nvPr/>
        </p:nvSpPr>
        <p:spPr>
          <a:xfrm>
            <a:off x="548640" y="3840480"/>
            <a:ext cx="5806080" cy="959760"/>
          </a:xfrm>
          <a:prstGeom prst="roundRect">
            <a:avLst>
              <a:gd name="adj" fmla="val 7619"/>
            </a:avLst>
          </a:prstGeom>
          <a:solidFill>
            <a:schemeClr val="tx1"/>
          </a:solidFill>
          <a:ln w="9525">
            <a:solidFill>
              <a:schemeClr val="lt2">
                <a:alpha val="45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76" name="txt151"/>
          <p:cNvSpPr/>
          <p:nvPr/>
        </p:nvSpPr>
        <p:spPr>
          <a:xfrm>
            <a:off x="731520" y="3977640"/>
            <a:ext cx="5440320" cy="6854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trike="noStrike" u="none">
                <a:solidFill>
                  <a:schemeClr val="lt1"/>
                </a:solidFill>
                <a:effectLst/>
                <a:uFillTx/>
                <a:latin typeface="Consolas"/>
                <a:ea typeface="Consolas"/>
              </a:rPr>
              <a:t>{ "resultado": "1. Rodrigo y Gabriela – Dúo acústico</a:t>
            </a:r>
            <a:endParaRPr b="0" lang="es-ES" sz="12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1"/>
                </a:solidFill>
                <a:effectLst/>
                <a:uFillTx/>
                <a:latin typeface="Consolas"/>
                <a:ea typeface="Consolas"/>
              </a:rPr>
              <a:t>   mexicano que fusiona el flamenco con el metal…" }</a:t>
            </a:r>
            <a:endParaRPr b="0" lang="es-ES" sz="1200" strike="noStrike" u="none">
              <a:solidFill>
                <a:srgbClr val="ffffff"/>
              </a:solidFill>
              <a:effectLst/>
              <a:uFillTx/>
              <a:latin typeface="Arial"/>
            </a:endParaRPr>
          </a:p>
        </p:txBody>
      </p:sp>
      <p:sp>
        <p:nvSpPr>
          <p:cNvPr id="177" name="card152"/>
          <p:cNvSpPr/>
          <p:nvPr/>
        </p:nvSpPr>
        <p:spPr>
          <a:xfrm>
            <a:off x="548640" y="5029200"/>
            <a:ext cx="5806080" cy="1005480"/>
          </a:xfrm>
          <a:prstGeom prst="roundRect">
            <a:avLst>
              <a:gd name="adj" fmla="val 10909"/>
            </a:avLst>
          </a:prstGeom>
          <a:solidFill>
            <a:schemeClr val="tx2"/>
          </a:solidFill>
          <a:ln w="9525">
            <a:solidFill>
              <a:schemeClr val="accent1">
                <a:alpha val="6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78" name="txt153"/>
          <p:cNvSpPr/>
          <p:nvPr/>
        </p:nvSpPr>
        <p:spPr>
          <a:xfrm>
            <a:off x="777240" y="5029200"/>
            <a:ext cx="5394600" cy="1005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chemeClr val="lt1"/>
                </a:solidFill>
                <a:effectLst/>
                <a:uFillTx/>
                <a:latin typeface="Calibri"/>
              </a:rPr>
              <a:t>El modelo devuelve texto: FastAPI lo envuelve en JSON y el frontend lo pinta como texto, nunca como HTML.</a:t>
            </a:r>
            <a:endParaRPr b="0" lang="es-ES" sz="1400" strike="noStrike" u="none">
              <a:solidFill>
                <a:srgbClr val="ffffff"/>
              </a:solidFill>
              <a:effectLst/>
              <a:uFillTx/>
              <a:latin typeface="Arial"/>
            </a:endParaRPr>
          </a:p>
        </p:txBody>
      </p:sp>
      <p:sp>
        <p:nvSpPr>
          <p:cNvPr id="179" name="txt154"/>
          <p:cNvSpPr/>
          <p:nvPr/>
        </p:nvSpPr>
        <p:spPr>
          <a:xfrm>
            <a:off x="6629400" y="1325880"/>
            <a:ext cx="50288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trike="noStrike" u="none">
                <a:solidFill>
                  <a:schemeClr val="accent1"/>
                </a:solidFill>
                <a:effectLst/>
                <a:uFillTx/>
                <a:latin typeface="Calibri"/>
              </a:rPr>
              <a:t>Códigos de respuesta</a:t>
            </a:r>
            <a:endParaRPr b="0" lang="es-ES" sz="1400" strike="noStrike" u="none">
              <a:solidFill>
                <a:srgbClr val="ffffff"/>
              </a:solidFill>
              <a:effectLst/>
              <a:uFillTx/>
              <a:latin typeface="Arial"/>
            </a:endParaRPr>
          </a:p>
        </p:txBody>
      </p:sp>
      <p:sp>
        <p:nvSpPr>
          <p:cNvPr id="180" name="card155"/>
          <p:cNvSpPr/>
          <p:nvPr/>
        </p:nvSpPr>
        <p:spPr>
          <a:xfrm>
            <a:off x="6629400" y="1691640"/>
            <a:ext cx="5028840" cy="529920"/>
          </a:xfrm>
          <a:prstGeom prst="roundRect">
            <a:avLst>
              <a:gd name="adj" fmla="val 13793"/>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81" name="badge156"/>
          <p:cNvSpPr/>
          <p:nvPr/>
        </p:nvSpPr>
        <p:spPr>
          <a:xfrm>
            <a:off x="6748200" y="1783080"/>
            <a:ext cx="566640" cy="347040"/>
          </a:xfrm>
          <a:prstGeom prst="roundRect">
            <a:avLst>
              <a:gd name="adj" fmla="val 21053"/>
            </a:avLst>
          </a:prstGeom>
          <a:solidFill>
            <a:schemeClr val="accent6"/>
          </a:solidFill>
          <a:ln w="0">
            <a:noFill/>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182" name="txt157"/>
          <p:cNvSpPr/>
          <p:nvPr/>
        </p:nvSpPr>
        <p:spPr>
          <a:xfrm>
            <a:off x="6748200" y="1783080"/>
            <a:ext cx="56664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dk1"/>
                </a:solidFill>
                <a:effectLst/>
                <a:uFillTx/>
                <a:latin typeface="Calibri"/>
              </a:rPr>
              <a:t>200</a:t>
            </a:r>
            <a:endParaRPr b="0" lang="es-ES" sz="1300" strike="noStrike" u="none">
              <a:solidFill>
                <a:srgbClr val="ffffff"/>
              </a:solidFill>
              <a:effectLst/>
              <a:uFillTx/>
              <a:latin typeface="Arial"/>
            </a:endParaRPr>
          </a:p>
        </p:txBody>
      </p:sp>
      <p:sp>
        <p:nvSpPr>
          <p:cNvPr id="183" name="txt158"/>
          <p:cNvSpPr/>
          <p:nvPr/>
        </p:nvSpPr>
        <p:spPr>
          <a:xfrm>
            <a:off x="7452360" y="1710000"/>
            <a:ext cx="4114440" cy="493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100" strike="noStrike" u="none">
                <a:solidFill>
                  <a:schemeClr val="accent6"/>
                </a:solidFill>
                <a:effectLst/>
                <a:uFillTx/>
                <a:latin typeface="Consolas"/>
                <a:ea typeface="Consolas"/>
              </a:rPr>
              <a:t>resultado</a:t>
            </a:r>
            <a:endParaRPr b="0" lang="es-ES" sz="11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ea typeface="Consolas"/>
              </a:rPr>
              <a:t>Recomendaciones de la IA</a:t>
            </a:r>
            <a:endParaRPr b="0" lang="es-ES" sz="1200" strike="noStrike" u="none">
              <a:solidFill>
                <a:srgbClr val="ffffff"/>
              </a:solidFill>
              <a:effectLst/>
              <a:uFillTx/>
              <a:latin typeface="Arial"/>
            </a:endParaRPr>
          </a:p>
        </p:txBody>
      </p:sp>
      <p:sp>
        <p:nvSpPr>
          <p:cNvPr id="184" name="card159"/>
          <p:cNvSpPr/>
          <p:nvPr/>
        </p:nvSpPr>
        <p:spPr>
          <a:xfrm>
            <a:off x="6629400" y="2295000"/>
            <a:ext cx="5028840" cy="529920"/>
          </a:xfrm>
          <a:prstGeom prst="roundRect">
            <a:avLst>
              <a:gd name="adj" fmla="val 13793"/>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85" name="badge160"/>
          <p:cNvSpPr/>
          <p:nvPr/>
        </p:nvSpPr>
        <p:spPr>
          <a:xfrm>
            <a:off x="6748200" y="2386440"/>
            <a:ext cx="566640" cy="347040"/>
          </a:xfrm>
          <a:prstGeom prst="roundRect">
            <a:avLst>
              <a:gd name="adj" fmla="val 21053"/>
            </a:avLst>
          </a:prstGeom>
          <a:solidFill>
            <a:schemeClr val="accent2"/>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86" name="txt161"/>
          <p:cNvSpPr/>
          <p:nvPr/>
        </p:nvSpPr>
        <p:spPr>
          <a:xfrm>
            <a:off x="6748200" y="2386440"/>
            <a:ext cx="56664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dk1"/>
                </a:solidFill>
                <a:effectLst/>
                <a:uFillTx/>
                <a:latin typeface="Calibri"/>
              </a:rPr>
              <a:t>401</a:t>
            </a:r>
            <a:endParaRPr b="0" lang="es-ES" sz="1300" strike="noStrike" u="none">
              <a:solidFill>
                <a:srgbClr val="ffffff"/>
              </a:solidFill>
              <a:effectLst/>
              <a:uFillTx/>
              <a:latin typeface="Arial"/>
            </a:endParaRPr>
          </a:p>
        </p:txBody>
      </p:sp>
      <p:sp>
        <p:nvSpPr>
          <p:cNvPr id="187" name="txt162"/>
          <p:cNvSpPr/>
          <p:nvPr/>
        </p:nvSpPr>
        <p:spPr>
          <a:xfrm>
            <a:off x="7452360" y="2313360"/>
            <a:ext cx="4114440" cy="493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100" strike="noStrike" u="none">
                <a:solidFill>
                  <a:schemeClr val="accent2"/>
                </a:solidFill>
                <a:effectLst/>
                <a:uFillTx/>
                <a:latin typeface="Consolas"/>
                <a:ea typeface="Consolas"/>
              </a:rPr>
              <a:t>NO_AUTORIZADO</a:t>
            </a:r>
            <a:endParaRPr b="0" lang="es-ES" sz="11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ea typeface="Consolas"/>
              </a:rPr>
              <a:t>App 2: sin token, inválido o caducado</a:t>
            </a:r>
            <a:endParaRPr b="0" lang="es-ES" sz="1200" strike="noStrike" u="none">
              <a:solidFill>
                <a:srgbClr val="ffffff"/>
              </a:solidFill>
              <a:effectLst/>
              <a:uFillTx/>
              <a:latin typeface="Arial"/>
            </a:endParaRPr>
          </a:p>
        </p:txBody>
      </p:sp>
      <p:sp>
        <p:nvSpPr>
          <p:cNvPr id="188" name="card163"/>
          <p:cNvSpPr/>
          <p:nvPr/>
        </p:nvSpPr>
        <p:spPr>
          <a:xfrm>
            <a:off x="6629400" y="2898720"/>
            <a:ext cx="5028840" cy="529920"/>
          </a:xfrm>
          <a:prstGeom prst="roundRect">
            <a:avLst>
              <a:gd name="adj" fmla="val 13793"/>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89" name="badge164"/>
          <p:cNvSpPr/>
          <p:nvPr/>
        </p:nvSpPr>
        <p:spPr>
          <a:xfrm>
            <a:off x="6748200" y="2990160"/>
            <a:ext cx="566640" cy="347040"/>
          </a:xfrm>
          <a:prstGeom prst="roundRect">
            <a:avLst>
              <a:gd name="adj" fmla="val 21053"/>
            </a:avLst>
          </a:prstGeom>
          <a:solidFill>
            <a:schemeClr val="accent4"/>
          </a:solidFill>
          <a:ln w="0">
            <a:noFill/>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190" name="txt165"/>
          <p:cNvSpPr/>
          <p:nvPr/>
        </p:nvSpPr>
        <p:spPr>
          <a:xfrm>
            <a:off x="6748200" y="2990160"/>
            <a:ext cx="56664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dk1"/>
                </a:solidFill>
                <a:effectLst/>
                <a:uFillTx/>
                <a:latin typeface="Calibri"/>
              </a:rPr>
              <a:t>422</a:t>
            </a:r>
            <a:endParaRPr b="0" lang="es-ES" sz="1300" strike="noStrike" u="none">
              <a:solidFill>
                <a:srgbClr val="ffffff"/>
              </a:solidFill>
              <a:effectLst/>
              <a:uFillTx/>
              <a:latin typeface="Arial"/>
            </a:endParaRPr>
          </a:p>
        </p:txBody>
      </p:sp>
      <p:sp>
        <p:nvSpPr>
          <p:cNvPr id="191" name="txt166"/>
          <p:cNvSpPr/>
          <p:nvPr/>
        </p:nvSpPr>
        <p:spPr>
          <a:xfrm>
            <a:off x="7452360" y="2917080"/>
            <a:ext cx="4114440" cy="493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100" strike="noStrike" u="none">
                <a:solidFill>
                  <a:schemeClr val="accent4"/>
                </a:solidFill>
                <a:effectLst/>
                <a:uFillTx/>
                <a:latin typeface="Consolas"/>
                <a:ea typeface="Consolas"/>
              </a:rPr>
              <a:t>validación</a:t>
            </a:r>
            <a:endParaRPr b="0" lang="es-ES" sz="11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ea typeface="Consolas"/>
              </a:rPr>
              <a:t>Vacío, solo espacios o más de 500 caracteres</a:t>
            </a:r>
            <a:endParaRPr b="0" lang="es-ES" sz="1200" strike="noStrike" u="none">
              <a:solidFill>
                <a:srgbClr val="ffffff"/>
              </a:solidFill>
              <a:effectLst/>
              <a:uFillTx/>
              <a:latin typeface="Arial"/>
            </a:endParaRPr>
          </a:p>
        </p:txBody>
      </p:sp>
      <p:sp>
        <p:nvSpPr>
          <p:cNvPr id="192" name="card167"/>
          <p:cNvSpPr/>
          <p:nvPr/>
        </p:nvSpPr>
        <p:spPr>
          <a:xfrm>
            <a:off x="6629400" y="3502080"/>
            <a:ext cx="5028840" cy="529920"/>
          </a:xfrm>
          <a:prstGeom prst="roundRect">
            <a:avLst>
              <a:gd name="adj" fmla="val 13793"/>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93" name="badge168"/>
          <p:cNvSpPr/>
          <p:nvPr/>
        </p:nvSpPr>
        <p:spPr>
          <a:xfrm>
            <a:off x="6748200" y="3593520"/>
            <a:ext cx="566640" cy="347040"/>
          </a:xfrm>
          <a:prstGeom prst="roundRect">
            <a:avLst>
              <a:gd name="adj" fmla="val 21053"/>
            </a:avLst>
          </a:prstGeom>
          <a:solidFill>
            <a:schemeClr val="accent5"/>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94" name="txt169"/>
          <p:cNvSpPr/>
          <p:nvPr/>
        </p:nvSpPr>
        <p:spPr>
          <a:xfrm>
            <a:off x="6748200" y="3593520"/>
            <a:ext cx="56664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dk1"/>
                </a:solidFill>
                <a:effectLst/>
                <a:uFillTx/>
                <a:latin typeface="Calibri"/>
              </a:rPr>
              <a:t>502</a:t>
            </a:r>
            <a:endParaRPr b="0" lang="es-ES" sz="1300" strike="noStrike" u="none">
              <a:solidFill>
                <a:srgbClr val="ffffff"/>
              </a:solidFill>
              <a:effectLst/>
              <a:uFillTx/>
              <a:latin typeface="Arial"/>
            </a:endParaRPr>
          </a:p>
        </p:txBody>
      </p:sp>
      <p:sp>
        <p:nvSpPr>
          <p:cNvPr id="195" name="txt170"/>
          <p:cNvSpPr/>
          <p:nvPr/>
        </p:nvSpPr>
        <p:spPr>
          <a:xfrm>
            <a:off x="7452360" y="3520440"/>
            <a:ext cx="4114440" cy="493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100" strike="noStrike" u="none">
                <a:solidFill>
                  <a:schemeClr val="accent5"/>
                </a:solidFill>
                <a:effectLst/>
                <a:uFillTx/>
                <a:latin typeface="Consolas"/>
                <a:ea typeface="Consolas"/>
              </a:rPr>
              <a:t>IA_NO_DISPONIBLE · RESPUESTA_INVALIDA</a:t>
            </a:r>
            <a:endParaRPr b="0" lang="es-ES" sz="11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ea typeface="Consolas"/>
              </a:rPr>
              <a:t>Gemini falla o responde sin texto</a:t>
            </a:r>
            <a:endParaRPr b="0" lang="es-ES" sz="1200" strike="noStrike" u="none">
              <a:solidFill>
                <a:srgbClr val="ffffff"/>
              </a:solidFill>
              <a:effectLst/>
              <a:uFillTx/>
              <a:latin typeface="Arial"/>
            </a:endParaRPr>
          </a:p>
        </p:txBody>
      </p:sp>
      <p:sp>
        <p:nvSpPr>
          <p:cNvPr id="196" name="card171"/>
          <p:cNvSpPr/>
          <p:nvPr/>
        </p:nvSpPr>
        <p:spPr>
          <a:xfrm>
            <a:off x="6629400" y="4105800"/>
            <a:ext cx="5028840" cy="529920"/>
          </a:xfrm>
          <a:prstGeom prst="roundRect">
            <a:avLst>
              <a:gd name="adj" fmla="val 13793"/>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97" name="badge172"/>
          <p:cNvSpPr/>
          <p:nvPr/>
        </p:nvSpPr>
        <p:spPr>
          <a:xfrm>
            <a:off x="6748200" y="4197240"/>
            <a:ext cx="566640" cy="347040"/>
          </a:xfrm>
          <a:prstGeom prst="roundRect">
            <a:avLst>
              <a:gd name="adj" fmla="val 21053"/>
            </a:avLst>
          </a:prstGeom>
          <a:solidFill>
            <a:schemeClr val="accent5"/>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198" name="txt173"/>
          <p:cNvSpPr/>
          <p:nvPr/>
        </p:nvSpPr>
        <p:spPr>
          <a:xfrm>
            <a:off x="6748200" y="4197240"/>
            <a:ext cx="56664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dk1"/>
                </a:solidFill>
                <a:effectLst/>
                <a:uFillTx/>
                <a:latin typeface="Calibri"/>
              </a:rPr>
              <a:t>504</a:t>
            </a:r>
            <a:endParaRPr b="0" lang="es-ES" sz="1300" strike="noStrike" u="none">
              <a:solidFill>
                <a:srgbClr val="ffffff"/>
              </a:solidFill>
              <a:effectLst/>
              <a:uFillTx/>
              <a:latin typeface="Arial"/>
            </a:endParaRPr>
          </a:p>
        </p:txBody>
      </p:sp>
      <p:sp>
        <p:nvSpPr>
          <p:cNvPr id="199" name="txt174"/>
          <p:cNvSpPr/>
          <p:nvPr/>
        </p:nvSpPr>
        <p:spPr>
          <a:xfrm>
            <a:off x="7452360" y="4123800"/>
            <a:ext cx="4114440" cy="493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100" strike="noStrike" u="none">
                <a:solidFill>
                  <a:schemeClr val="accent5"/>
                </a:solidFill>
                <a:effectLst/>
                <a:uFillTx/>
                <a:latin typeface="Consolas"/>
                <a:ea typeface="Consolas"/>
              </a:rPr>
              <a:t>TIMEOUT</a:t>
            </a:r>
            <a:endParaRPr b="0" lang="es-ES" sz="11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ea typeface="Consolas"/>
              </a:rPr>
              <a:t>Gemini tarda más de 25 s</a:t>
            </a:r>
            <a:endParaRPr b="0" lang="es-ES" sz="1200" strike="noStrike" u="none">
              <a:solidFill>
                <a:srgbClr val="ffffff"/>
              </a:solidFill>
              <a:effectLst/>
              <a:uFillTx/>
              <a:latin typeface="Arial"/>
            </a:endParaRPr>
          </a:p>
        </p:txBody>
      </p:sp>
      <p:sp>
        <p:nvSpPr>
          <p:cNvPr id="200" name="card175"/>
          <p:cNvSpPr/>
          <p:nvPr/>
        </p:nvSpPr>
        <p:spPr>
          <a:xfrm>
            <a:off x="6629400" y="4709160"/>
            <a:ext cx="5028840" cy="529920"/>
          </a:xfrm>
          <a:prstGeom prst="roundRect">
            <a:avLst>
              <a:gd name="adj" fmla="val 13793"/>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01" name="badge176"/>
          <p:cNvSpPr/>
          <p:nvPr/>
        </p:nvSpPr>
        <p:spPr>
          <a:xfrm>
            <a:off x="6748200" y="4800600"/>
            <a:ext cx="566640" cy="347040"/>
          </a:xfrm>
          <a:prstGeom prst="roundRect">
            <a:avLst>
              <a:gd name="adj" fmla="val 21053"/>
            </a:avLst>
          </a:prstGeom>
          <a:solidFill>
            <a:schemeClr val="accent5"/>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02" name="txt177"/>
          <p:cNvSpPr/>
          <p:nvPr/>
        </p:nvSpPr>
        <p:spPr>
          <a:xfrm>
            <a:off x="6748200" y="4800600"/>
            <a:ext cx="56664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dk1"/>
                </a:solidFill>
                <a:effectLst/>
                <a:uFillTx/>
                <a:latin typeface="Calibri"/>
              </a:rPr>
              <a:t>500</a:t>
            </a:r>
            <a:endParaRPr b="0" lang="es-ES" sz="1300" strike="noStrike" u="none">
              <a:solidFill>
                <a:srgbClr val="ffffff"/>
              </a:solidFill>
              <a:effectLst/>
              <a:uFillTx/>
              <a:latin typeface="Arial"/>
            </a:endParaRPr>
          </a:p>
        </p:txBody>
      </p:sp>
      <p:sp>
        <p:nvSpPr>
          <p:cNvPr id="203" name="txt178"/>
          <p:cNvSpPr/>
          <p:nvPr/>
        </p:nvSpPr>
        <p:spPr>
          <a:xfrm>
            <a:off x="7452360" y="4727520"/>
            <a:ext cx="4114440" cy="4935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100" strike="noStrike" u="none">
                <a:solidFill>
                  <a:schemeClr val="accent5"/>
                </a:solidFill>
                <a:effectLst/>
                <a:uFillTx/>
                <a:latin typeface="Consolas"/>
                <a:ea typeface="Consolas"/>
              </a:rPr>
              <a:t>ERROR_INTERNO</a:t>
            </a:r>
            <a:endParaRPr b="0" lang="es-ES" sz="11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ea typeface="Consolas"/>
              </a:rPr>
              <a:t>Fallo inesperado, sin detalles internos</a:t>
            </a:r>
            <a:endParaRPr b="0" lang="es-ES" sz="1200" strike="noStrike" u="none">
              <a:solidFill>
                <a:srgbClr val="ffffff"/>
              </a:solidFill>
              <a:effectLst/>
              <a:uFillTx/>
              <a:latin typeface="Arial"/>
            </a:endParaRPr>
          </a:p>
        </p:txBody>
      </p:sp>
      <p:sp>
        <p:nvSpPr>
          <p:cNvPr id="204" name="card179"/>
          <p:cNvSpPr/>
          <p:nvPr/>
        </p:nvSpPr>
        <p:spPr>
          <a:xfrm>
            <a:off x="6629400" y="5440680"/>
            <a:ext cx="5028840" cy="594000"/>
          </a:xfrm>
          <a:prstGeom prst="roundRect">
            <a:avLst>
              <a:gd name="adj" fmla="val 12308"/>
            </a:avLst>
          </a:prstGeom>
          <a:solidFill>
            <a:schemeClr val="tx1"/>
          </a:solidFill>
          <a:ln w="9525">
            <a:solidFill>
              <a:schemeClr val="lt2">
                <a:alpha val="45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05" name="txt180"/>
          <p:cNvSpPr/>
          <p:nvPr/>
        </p:nvSpPr>
        <p:spPr>
          <a:xfrm>
            <a:off x="6812280" y="5577840"/>
            <a:ext cx="466308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trike="noStrike" u="none">
                <a:solidFill>
                  <a:schemeClr val="lt1"/>
                </a:solidFill>
                <a:effectLst/>
                <a:uFillTx/>
                <a:latin typeface="Consolas"/>
                <a:ea typeface="Consolas"/>
              </a:rPr>
              <a:t>{"error": {"codigo": "TIMEOUT", "mensaje": "…"}}</a:t>
            </a:r>
            <a:endParaRPr b="0" lang="es-ES" sz="1200" strike="noStrike" u="none">
              <a:solidFill>
                <a:srgbClr val="ffffff"/>
              </a:solidFill>
              <a:effectLst/>
              <a:uFillTx/>
              <a:latin typeface="Arial"/>
            </a:endParaRPr>
          </a:p>
        </p:txBody>
      </p:sp>
      <p:sp>
        <p:nvSpPr>
          <p:cNvPr id="206" name="PlaceHolder 3"/>
          <p:cNvSpPr>
            <a:spLocks noGrp="1"/>
          </p:cNvSpPr>
          <p:nvPr>
            <p:ph type="sldNum" idx="8"/>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3CCBA988-DF4B-409B-82AC-51F34EDC8209}"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Stack y estructura del repositorio</a:t>
            </a:r>
            <a:endParaRPr b="0" lang="es-ES" sz="3400" strike="noStrike" u="none">
              <a:solidFill>
                <a:schemeClr val="dk1"/>
              </a:solidFill>
              <a:effectLst/>
              <a:uFillTx/>
              <a:latin typeface="Calibri"/>
            </a:endParaRPr>
          </a:p>
        </p:txBody>
      </p:sp>
      <p:sp>
        <p:nvSpPr>
          <p:cNvPr id="208"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TECNOLOGÍAS</a:t>
            </a:r>
            <a:endParaRPr b="0" lang="es-ES" sz="1200" strike="noStrike" u="none">
              <a:solidFill>
                <a:schemeClr val="dk1"/>
              </a:solidFill>
              <a:effectLst/>
              <a:uFillTx/>
              <a:latin typeface="Calibri"/>
            </a:endParaRPr>
          </a:p>
        </p:txBody>
      </p:sp>
      <p:sp>
        <p:nvSpPr>
          <p:cNvPr id="209" name="presenta181"/>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10" name="txt182"/>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David Molina</a:t>
            </a:r>
            <a:endParaRPr b="0" lang="es-ES" sz="1100" strike="noStrike" u="none">
              <a:solidFill>
                <a:srgbClr val="ffffff"/>
              </a:solidFill>
              <a:effectLst/>
              <a:uFillTx/>
              <a:latin typeface="Arial"/>
            </a:endParaRPr>
          </a:p>
        </p:txBody>
      </p:sp>
      <p:graphicFrame>
        <p:nvGraphicFramePr>
          <p:cNvPr id="211" name="tablaStack"/>
          <p:cNvGraphicFramePr/>
          <p:nvPr/>
        </p:nvGraphicFramePr>
        <p:xfrm>
          <a:off x="548640" y="1371600"/>
          <a:ext cx="6309000" cy="4388760"/>
        </p:xfrm>
        <a:graphic>
          <a:graphicData uri="http://schemas.openxmlformats.org/drawingml/2006/table">
            <a:tbl>
              <a:tblPr/>
              <a:tblGrid>
                <a:gridCol w="1600200"/>
                <a:gridCol w="2148840"/>
                <a:gridCol w="2560320"/>
              </a:tblGrid>
              <a:tr h="438840">
                <a:tc>
                  <a:txBody>
                    <a:bodyPr rIns="73080" tIns="18000" bIns="18000" anchor="ctr">
                      <a:noAutofit/>
                    </a:bodyPr>
                    <a:p>
                      <a:pPr defTabSz="914400">
                        <a:lnSpc>
                          <a:spcPct val="100000"/>
                        </a:lnSpc>
                        <a:tabLst>
                          <a:tab algn="l" pos="0"/>
                        </a:tabLst>
                      </a:pPr>
                      <a:r>
                        <a:rPr b="1" lang="en-US" sz="1200" strike="noStrike" u="none">
                          <a:solidFill>
                            <a:srgbClr val="0b0b12"/>
                          </a:solidFill>
                          <a:effectLst/>
                          <a:uFillTx/>
                          <a:latin typeface="Calibri"/>
                        </a:rPr>
                        <a:t>Capa</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e86cca"/>
                    </a:solidFill>
                  </a:tcPr>
                </a:tc>
                <a:tc>
                  <a:txBody>
                    <a:bodyPr rIns="73080" tIns="18000" bIns="18000" anchor="ctr">
                      <a:noAutofit/>
                    </a:bodyPr>
                    <a:p>
                      <a:pPr defTabSz="914400">
                        <a:lnSpc>
                          <a:spcPct val="100000"/>
                        </a:lnSpc>
                        <a:tabLst>
                          <a:tab algn="l" pos="0"/>
                        </a:tabLst>
                      </a:pPr>
                      <a:r>
                        <a:rPr b="1" lang="en-US" sz="1200" strike="noStrike" u="none">
                          <a:solidFill>
                            <a:srgbClr val="0b0b12"/>
                          </a:solidFill>
                          <a:effectLst/>
                          <a:uFillTx/>
                          <a:latin typeface="Calibri"/>
                        </a:rPr>
                        <a:t>Tecnología</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e86cca"/>
                    </a:solidFill>
                  </a:tcPr>
                </a:tc>
                <a:tc>
                  <a:txBody>
                    <a:bodyPr rIns="73080" tIns="18000" bIns="18000" anchor="ctr">
                      <a:noAutofit/>
                    </a:bodyPr>
                    <a:p>
                      <a:pPr defTabSz="914400">
                        <a:lnSpc>
                          <a:spcPct val="100000"/>
                        </a:lnSpc>
                        <a:tabLst>
                          <a:tab algn="l" pos="0"/>
                        </a:tabLst>
                      </a:pPr>
                      <a:r>
                        <a:rPr b="1" lang="en-US" sz="1200" strike="noStrike" u="none">
                          <a:solidFill>
                            <a:srgbClr val="0b0b12"/>
                          </a:solidFill>
                          <a:effectLst/>
                          <a:uFillTx/>
                          <a:latin typeface="Calibri"/>
                        </a:rPr>
                        <a:t>Para qué</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e86cca"/>
                    </a:solidFill>
                  </a:tcPr>
                </a:tc>
              </a:tr>
              <a:tr h="438840">
                <a:tc>
                  <a:txBody>
                    <a:bodyPr rIns="73080" tIns="18000" bIns="18000" anchor="ctr">
                      <a:noAutofit/>
                    </a:bodyPr>
                    <a:p>
                      <a:pPr defTabSz="914400">
                        <a:lnSpc>
                          <a:spcPct val="100000"/>
                        </a:lnSpc>
                        <a:tabLst>
                          <a:tab algn="l" pos="0"/>
                        </a:tabLst>
                      </a:pPr>
                      <a:r>
                        <a:rPr b="0" lang="en-US" sz="1200" strike="noStrike" u="none">
                          <a:solidFill>
                            <a:srgbClr val="a9a9bf"/>
                          </a:solidFill>
                          <a:effectLst/>
                          <a:uFillTx/>
                          <a:latin typeface="Calibri"/>
                        </a:rPr>
                        <a:t>Frontend</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rIns="73080" tIns="18000" bIns="18000" anchor="ctr">
                      <a:noAutofit/>
                    </a:bodyPr>
                    <a:p>
                      <a:pPr defTabSz="914400">
                        <a:lnSpc>
                          <a:spcPct val="100000"/>
                        </a:lnSpc>
                        <a:tabLst>
                          <a:tab algn="l" pos="0"/>
                        </a:tabLst>
                      </a:pPr>
                      <a:r>
                        <a:rPr b="1" lang="en-US" sz="1200" strike="noStrike" u="none">
                          <a:solidFill>
                            <a:srgbClr val="e86cca"/>
                          </a:solidFill>
                          <a:effectLst/>
                          <a:uFillTx/>
                          <a:latin typeface="Calibri"/>
                        </a:rPr>
                        <a:t>Vue 3.5 + Vite 8</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rIns="73080" tIns="18000" bIns="18000" anchor="ctr">
                      <a:noAutofit/>
                    </a:bodyPr>
                    <a:p>
                      <a:pPr defTabSz="914400">
                        <a:lnSpc>
                          <a:spcPct val="100000"/>
                        </a:lnSpc>
                        <a:tabLst>
                          <a:tab algn="l" pos="0"/>
                        </a:tabLst>
                      </a:pPr>
                      <a:r>
                        <a:rPr b="0" lang="en-US" sz="1200" strike="noStrike" u="none">
                          <a:solidFill>
                            <a:srgbClr val="ffffff"/>
                          </a:solidFill>
                          <a:effectLst/>
                          <a:uFillTx/>
                          <a:latin typeface="Calibri"/>
                        </a:rPr>
                        <a:t>SPA de una sola pantalla</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r>
              <a:tr h="438840">
                <a:tc>
                  <a:txBody>
                    <a:bodyPr rIns="73080" tIns="18000" bIns="18000" anchor="ctr">
                      <a:noAutofit/>
                    </a:bodyPr>
                    <a:p>
                      <a:pPr defTabSz="914400">
                        <a:lnSpc>
                          <a:spcPct val="100000"/>
                        </a:lnSpc>
                        <a:tabLst>
                          <a:tab algn="l" pos="0"/>
                        </a:tabLst>
                      </a:pPr>
                      <a:r>
                        <a:rPr b="0" lang="en-US" sz="1200" strike="noStrike" u="none">
                          <a:solidFill>
                            <a:srgbClr val="a9a9bf"/>
                          </a:solidFill>
                          <a:effectLst/>
                          <a:uFillTx/>
                          <a:latin typeface="Calibri"/>
                        </a:rPr>
                        <a:t>Estilos</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rIns="73080" tIns="18000" bIns="18000" anchor="ctr">
                      <a:noAutofit/>
                    </a:bodyPr>
                    <a:p>
                      <a:pPr defTabSz="914400">
                        <a:lnSpc>
                          <a:spcPct val="100000"/>
                        </a:lnSpc>
                        <a:tabLst>
                          <a:tab algn="l" pos="0"/>
                        </a:tabLst>
                      </a:pPr>
                      <a:r>
                        <a:rPr b="1" lang="en-US" sz="1200" strike="noStrike" u="none">
                          <a:solidFill>
                            <a:srgbClr val="e86cca"/>
                          </a:solidFill>
                          <a:effectLst/>
                          <a:uFillTx/>
                          <a:latin typeface="Calibri"/>
                        </a:rPr>
                        <a:t>Tailwind CSS 4</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rIns="73080" tIns="18000" bIns="18000" anchor="ctr">
                      <a:noAutofit/>
                    </a:bodyPr>
                    <a:p>
                      <a:pPr defTabSz="914400">
                        <a:lnSpc>
                          <a:spcPct val="100000"/>
                        </a:lnSpc>
                        <a:tabLst>
                          <a:tab algn="l" pos="0"/>
                        </a:tabLst>
                      </a:pPr>
                      <a:r>
                        <a:rPr b="0" lang="en-US" sz="1200" strike="noStrike" u="none">
                          <a:solidFill>
                            <a:srgbClr val="ffffff"/>
                          </a:solidFill>
                          <a:effectLst/>
                          <a:uFillTx/>
                          <a:latin typeface="Calibri"/>
                        </a:rPr>
                        <a:t>Adaptable a móvil, foco visible</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r>
              <a:tr h="438840">
                <a:tc>
                  <a:txBody>
                    <a:bodyPr rIns="73080" tIns="18000" bIns="18000" anchor="ctr">
                      <a:noAutofit/>
                    </a:bodyPr>
                    <a:p>
                      <a:pPr defTabSz="914400">
                        <a:lnSpc>
                          <a:spcPct val="100000"/>
                        </a:lnSpc>
                        <a:tabLst>
                          <a:tab algn="l" pos="0"/>
                        </a:tabLst>
                      </a:pPr>
                      <a:r>
                        <a:rPr b="0" lang="en-US" sz="1200" strike="noStrike" u="none">
                          <a:solidFill>
                            <a:srgbClr val="a9a9bf"/>
                          </a:solidFill>
                          <a:effectLst/>
                          <a:uFillTx/>
                          <a:latin typeface="Calibri"/>
                        </a:rPr>
                        <a:t>Backend</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rIns="73080" tIns="18000" bIns="18000" anchor="ctr">
                      <a:noAutofit/>
                    </a:bodyPr>
                    <a:p>
                      <a:pPr defTabSz="914400">
                        <a:lnSpc>
                          <a:spcPct val="100000"/>
                        </a:lnSpc>
                        <a:tabLst>
                          <a:tab algn="l" pos="0"/>
                        </a:tabLst>
                      </a:pPr>
                      <a:r>
                        <a:rPr b="1" lang="en-US" sz="1200" strike="noStrike" u="none">
                          <a:solidFill>
                            <a:srgbClr val="e86cca"/>
                          </a:solidFill>
                          <a:effectLst/>
                          <a:uFillTx/>
                          <a:latin typeface="Calibri"/>
                        </a:rPr>
                        <a:t>FastAPI + Pydantic v2</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rIns="73080" tIns="18000" bIns="18000" anchor="ctr">
                      <a:noAutofit/>
                    </a:bodyPr>
                    <a:p>
                      <a:pPr defTabSz="914400">
                        <a:lnSpc>
                          <a:spcPct val="100000"/>
                        </a:lnSpc>
                        <a:tabLst>
                          <a:tab algn="l" pos="0"/>
                        </a:tabLst>
                      </a:pPr>
                      <a:r>
                        <a:rPr b="0" lang="en-US" sz="1200" strike="noStrike" u="none">
                          <a:solidFill>
                            <a:srgbClr val="ffffff"/>
                          </a:solidFill>
                          <a:effectLst/>
                          <a:uFillTx/>
                          <a:latin typeface="Calibri"/>
                        </a:rPr>
                        <a:t>Validación y contrato JSON</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r>
              <a:tr h="438840">
                <a:tc>
                  <a:txBody>
                    <a:bodyPr rIns="73080" tIns="18000" bIns="18000" anchor="ctr">
                      <a:noAutofit/>
                    </a:bodyPr>
                    <a:p>
                      <a:pPr defTabSz="914400">
                        <a:lnSpc>
                          <a:spcPct val="100000"/>
                        </a:lnSpc>
                        <a:tabLst>
                          <a:tab algn="l" pos="0"/>
                        </a:tabLst>
                      </a:pPr>
                      <a:r>
                        <a:rPr b="0" lang="en-US" sz="1200" strike="noStrike" u="none">
                          <a:solidFill>
                            <a:srgbClr val="a9a9bf"/>
                          </a:solidFill>
                          <a:effectLst/>
                          <a:uFillTx/>
                          <a:latin typeface="Calibri"/>
                        </a:rPr>
                        <a:t>Cliente IA</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rIns="73080" tIns="18000" bIns="18000" anchor="ctr">
                      <a:noAutofit/>
                    </a:bodyPr>
                    <a:p>
                      <a:pPr defTabSz="914400">
                        <a:lnSpc>
                          <a:spcPct val="100000"/>
                        </a:lnSpc>
                        <a:tabLst>
                          <a:tab algn="l" pos="0"/>
                        </a:tabLst>
                      </a:pPr>
                      <a:r>
                        <a:rPr b="1" lang="en-US" sz="1200" strike="noStrike" u="none">
                          <a:solidFill>
                            <a:srgbClr val="e86cca"/>
                          </a:solidFill>
                          <a:effectLst/>
                          <a:uFillTx/>
                          <a:latin typeface="Calibri"/>
                        </a:rPr>
                        <a:t>httpx asíncrono</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rIns="73080" tIns="18000" bIns="18000" anchor="ctr">
                      <a:noAutofit/>
                    </a:bodyPr>
                    <a:p>
                      <a:pPr defTabSz="914400">
                        <a:lnSpc>
                          <a:spcPct val="100000"/>
                        </a:lnSpc>
                        <a:tabLst>
                          <a:tab algn="l" pos="0"/>
                        </a:tabLst>
                      </a:pPr>
                      <a:r>
                        <a:rPr b="0" lang="en-US" sz="1200" strike="noStrike" u="none">
                          <a:solidFill>
                            <a:srgbClr val="ffffff"/>
                          </a:solidFill>
                          <a:effectLst/>
                          <a:uFillTx/>
                          <a:latin typeface="Calibri"/>
                        </a:rPr>
                        <a:t>Timeout de 25 s</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r>
              <a:tr h="438840">
                <a:tc>
                  <a:txBody>
                    <a:bodyPr rIns="73080" tIns="18000" bIns="18000" anchor="ctr">
                      <a:noAutofit/>
                    </a:bodyPr>
                    <a:p>
                      <a:pPr defTabSz="914400">
                        <a:lnSpc>
                          <a:spcPct val="100000"/>
                        </a:lnSpc>
                        <a:tabLst>
                          <a:tab algn="l" pos="0"/>
                        </a:tabLst>
                      </a:pPr>
                      <a:r>
                        <a:rPr b="0" lang="en-US" sz="1200" strike="noStrike" u="none">
                          <a:solidFill>
                            <a:srgbClr val="a9a9bf"/>
                          </a:solidFill>
                          <a:effectLst/>
                          <a:uFillTx/>
                          <a:latin typeface="Calibri"/>
                        </a:rPr>
                        <a:t>IA</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rIns="73080" tIns="18000" bIns="18000" anchor="ctr">
                      <a:noAutofit/>
                    </a:bodyPr>
                    <a:p>
                      <a:pPr defTabSz="914400">
                        <a:lnSpc>
                          <a:spcPct val="100000"/>
                        </a:lnSpc>
                        <a:tabLst>
                          <a:tab algn="l" pos="0"/>
                        </a:tabLst>
                      </a:pPr>
                      <a:r>
                        <a:rPr b="1" lang="en-US" sz="1200" strike="noStrike" u="none">
                          <a:solidFill>
                            <a:srgbClr val="e86cca"/>
                          </a:solidFill>
                          <a:effectLst/>
                          <a:uFillTx/>
                          <a:latin typeface="Calibri"/>
                        </a:rPr>
                        <a:t>API de Gemini</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rIns="73080" tIns="18000" bIns="18000" anchor="ctr">
                      <a:noAutofit/>
                    </a:bodyPr>
                    <a:p>
                      <a:pPr defTabSz="914400">
                        <a:lnSpc>
                          <a:spcPct val="100000"/>
                        </a:lnSpc>
                        <a:tabLst>
                          <a:tab algn="l" pos="0"/>
                        </a:tabLst>
                      </a:pPr>
                      <a:r>
                        <a:rPr b="0" lang="en-US" sz="1200" strike="noStrike" u="none">
                          <a:solidFill>
                            <a:srgbClr val="ffffff"/>
                          </a:solidFill>
                          <a:effectLst/>
                          <a:uFillTx/>
                          <a:latin typeface="Calibri"/>
                        </a:rPr>
                        <a:t>gemini-3.5-flash-lite, 600 tokens</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r>
              <a:tr h="438840">
                <a:tc>
                  <a:txBody>
                    <a:bodyPr rIns="73080" tIns="18000" bIns="18000" anchor="ctr">
                      <a:noAutofit/>
                    </a:bodyPr>
                    <a:p>
                      <a:pPr defTabSz="914400">
                        <a:lnSpc>
                          <a:spcPct val="100000"/>
                        </a:lnSpc>
                        <a:tabLst>
                          <a:tab algn="l" pos="0"/>
                        </a:tabLst>
                      </a:pPr>
                      <a:r>
                        <a:rPr b="0" lang="en-US" sz="1200" strike="noStrike" u="none">
                          <a:solidFill>
                            <a:srgbClr val="a9a9bf"/>
                          </a:solidFill>
                          <a:effectLst/>
                          <a:uFillTx/>
                          <a:latin typeface="Calibri"/>
                        </a:rPr>
                        <a:t>Pruebas</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rIns="73080" tIns="18000" bIns="18000" anchor="ctr">
                      <a:noAutofit/>
                    </a:bodyPr>
                    <a:p>
                      <a:pPr defTabSz="914400">
                        <a:lnSpc>
                          <a:spcPct val="100000"/>
                        </a:lnSpc>
                        <a:tabLst>
                          <a:tab algn="l" pos="0"/>
                        </a:tabLst>
                      </a:pPr>
                      <a:r>
                        <a:rPr b="1" lang="en-US" sz="1200" strike="noStrike" u="none">
                          <a:solidFill>
                            <a:srgbClr val="e86cca"/>
                          </a:solidFill>
                          <a:effectLst/>
                          <a:uFillTx/>
                          <a:latin typeface="Calibri"/>
                        </a:rPr>
                        <a:t>pytest + mocks</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rIns="73080" tIns="18000" bIns="18000" anchor="ctr">
                      <a:noAutofit/>
                    </a:bodyPr>
                    <a:p>
                      <a:pPr defTabSz="914400">
                        <a:lnSpc>
                          <a:spcPct val="100000"/>
                        </a:lnSpc>
                        <a:tabLst>
                          <a:tab algn="l" pos="0"/>
                        </a:tabLst>
                      </a:pPr>
                      <a:r>
                        <a:rPr b="0" lang="en-US" sz="1200" strike="noStrike" u="none">
                          <a:solidFill>
                            <a:srgbClr val="ffffff"/>
                          </a:solidFill>
                          <a:effectLst/>
                          <a:uFillTx/>
                          <a:latin typeface="Calibri"/>
                        </a:rPr>
                        <a:t>Sin llamar a la IA real</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r>
              <a:tr h="438840">
                <a:tc>
                  <a:txBody>
                    <a:bodyPr rIns="73080" tIns="18000" bIns="18000" anchor="ctr">
                      <a:noAutofit/>
                    </a:bodyPr>
                    <a:p>
                      <a:pPr defTabSz="914400">
                        <a:lnSpc>
                          <a:spcPct val="100000"/>
                        </a:lnSpc>
                        <a:tabLst>
                          <a:tab algn="l" pos="0"/>
                        </a:tabLst>
                      </a:pPr>
                      <a:r>
                        <a:rPr b="0" lang="en-US" sz="1200" strike="noStrike" u="none">
                          <a:solidFill>
                            <a:srgbClr val="a9a9bf"/>
                          </a:solidFill>
                          <a:effectLst/>
                          <a:uFillTx/>
                          <a:latin typeface="Calibri"/>
                        </a:rPr>
                        <a:t>Identidad (App 2)</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rIns="73080" tIns="18000" bIns="18000" anchor="ctr">
                      <a:noAutofit/>
                    </a:bodyPr>
                    <a:p>
                      <a:pPr defTabSz="914400">
                        <a:lnSpc>
                          <a:spcPct val="100000"/>
                        </a:lnSpc>
                        <a:tabLst>
                          <a:tab algn="l" pos="0"/>
                        </a:tabLst>
                      </a:pPr>
                      <a:r>
                        <a:rPr b="1" lang="en-US" sz="1200" strike="noStrike" u="none">
                          <a:solidFill>
                            <a:srgbClr val="e86cca"/>
                          </a:solidFill>
                          <a:effectLst/>
                          <a:uFillTx/>
                          <a:latin typeface="Calibri"/>
                        </a:rPr>
                        <a:t>Clerk + PyJWT</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rIns="73080" tIns="18000" bIns="18000" anchor="ctr">
                      <a:noAutofit/>
                    </a:bodyPr>
                    <a:p>
                      <a:pPr defTabSz="914400">
                        <a:lnSpc>
                          <a:spcPct val="100000"/>
                        </a:lnSpc>
                        <a:tabLst>
                          <a:tab algn="l" pos="0"/>
                        </a:tabLst>
                      </a:pPr>
                      <a:r>
                        <a:rPr b="0" lang="en-US" sz="1200" strike="noStrike" u="none">
                          <a:solidFill>
                            <a:srgbClr val="ffffff"/>
                          </a:solidFill>
                          <a:effectLst/>
                          <a:uFillTx/>
                          <a:latin typeface="Calibri"/>
                        </a:rPr>
                        <a:t>Token verificado con JWKS</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r>
              <a:tr h="438840">
                <a:tc>
                  <a:txBody>
                    <a:bodyPr rIns="73080" tIns="18000" bIns="18000" anchor="ctr">
                      <a:noAutofit/>
                    </a:bodyPr>
                    <a:p>
                      <a:pPr defTabSz="914400">
                        <a:lnSpc>
                          <a:spcPct val="100000"/>
                        </a:lnSpc>
                        <a:tabLst>
                          <a:tab algn="l" pos="0"/>
                        </a:tabLst>
                      </a:pPr>
                      <a:r>
                        <a:rPr b="0" lang="en-US" sz="1200" strike="noStrike" u="none">
                          <a:solidFill>
                            <a:srgbClr val="a9a9bf"/>
                          </a:solidFill>
                          <a:effectLst/>
                          <a:uFillTx/>
                          <a:latin typeface="Calibri"/>
                        </a:rPr>
                        <a:t>Desarrollo App 2</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rIns="73080" tIns="18000" bIns="18000" anchor="ctr">
                      <a:noAutofit/>
                    </a:bodyPr>
                    <a:p>
                      <a:pPr defTabSz="914400">
                        <a:lnSpc>
                          <a:spcPct val="100000"/>
                        </a:lnSpc>
                        <a:tabLst>
                          <a:tab algn="l" pos="0"/>
                        </a:tabLst>
                      </a:pPr>
                      <a:r>
                        <a:rPr b="1" lang="en-US" sz="1200" strike="noStrike" u="none">
                          <a:solidFill>
                            <a:srgbClr val="e86cca"/>
                          </a:solidFill>
                          <a:effectLst/>
                          <a:uFillTx/>
                          <a:latin typeface="Calibri"/>
                        </a:rPr>
                        <a:t>Spec Kit + Claude Code</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rIns="73080" tIns="18000" bIns="18000" anchor="ctr">
                      <a:noAutofit/>
                    </a:bodyPr>
                    <a:p>
                      <a:pPr defTabSz="914400">
                        <a:lnSpc>
                          <a:spcPct val="100000"/>
                        </a:lnSpc>
                        <a:tabLst>
                          <a:tab algn="l" pos="0"/>
                        </a:tabLst>
                      </a:pPr>
                      <a:r>
                        <a:rPr b="0" lang="en-US" sz="1200" strike="noStrike" u="none">
                          <a:solidFill>
                            <a:srgbClr val="ffffff"/>
                          </a:solidFill>
                          <a:effectLst/>
                          <a:uFillTx/>
                          <a:latin typeface="Calibri"/>
                        </a:rPr>
                        <a:t>De la especificación al código</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r>
              <a:tr h="438840">
                <a:tc>
                  <a:txBody>
                    <a:bodyPr rIns="73080" tIns="18000" bIns="18000" anchor="ctr">
                      <a:noAutofit/>
                    </a:bodyPr>
                    <a:p>
                      <a:pPr defTabSz="914400">
                        <a:lnSpc>
                          <a:spcPct val="100000"/>
                        </a:lnSpc>
                        <a:tabLst>
                          <a:tab algn="l" pos="0"/>
                        </a:tabLst>
                      </a:pPr>
                      <a:r>
                        <a:rPr b="0" lang="en-US" sz="1200" strike="noStrike" u="none">
                          <a:solidFill>
                            <a:srgbClr val="a9a9bf"/>
                          </a:solidFill>
                          <a:effectLst/>
                          <a:uFillTx/>
                          <a:latin typeface="Calibri"/>
                        </a:rPr>
                        <a:t>Despliegue</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rIns="73080" tIns="18000" bIns="18000" anchor="ctr">
                      <a:noAutofit/>
                    </a:bodyPr>
                    <a:p>
                      <a:pPr defTabSz="914400">
                        <a:lnSpc>
                          <a:spcPct val="100000"/>
                        </a:lnSpc>
                        <a:tabLst>
                          <a:tab algn="l" pos="0"/>
                        </a:tabLst>
                      </a:pPr>
                      <a:r>
                        <a:rPr b="1" lang="en-US" sz="1200" strike="noStrike" u="none">
                          <a:solidFill>
                            <a:srgbClr val="e86cca"/>
                          </a:solidFill>
                          <a:effectLst/>
                          <a:uFillTx/>
                          <a:latin typeface="Calibri"/>
                        </a:rPr>
                        <a:t>Vercel · Docker + Caddy</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rIns="73080" tIns="18000" bIns="18000" anchor="ctr">
                      <a:noAutofit/>
                    </a:bodyPr>
                    <a:p>
                      <a:pPr defTabSz="914400">
                        <a:lnSpc>
                          <a:spcPct val="100000"/>
                        </a:lnSpc>
                        <a:tabLst>
                          <a:tab algn="l" pos="0"/>
                        </a:tabLst>
                      </a:pPr>
                      <a:r>
                        <a:rPr b="0" lang="en-US" sz="1200" strike="noStrike" u="none">
                          <a:solidFill>
                            <a:srgbClr val="ffffff"/>
                          </a:solidFill>
                          <a:effectLst/>
                          <a:uFillTx/>
                          <a:latin typeface="Calibri"/>
                        </a:rPr>
                        <a:t>App 1 y App 2 · EC2 con HTTPS</a:t>
                      </a:r>
                      <a:endParaRPr b="0" lang="es-ES" sz="1200" strike="noStrike" u="none">
                        <a:solidFill>
                          <a:srgbClr val="ffffff"/>
                        </a:solidFill>
                        <a:effectLst/>
                        <a:uFillTx/>
                        <a:latin typeface="Arial"/>
                      </a:endParaRPr>
                    </a:p>
                  </a:txBody>
                  <a:tcPr anchor="ctr" marL="91440" marR="7308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r>
            </a:tbl>
          </a:graphicData>
        </a:graphic>
      </p:graphicFrame>
      <p:sp>
        <p:nvSpPr>
          <p:cNvPr id="212" name="card183"/>
          <p:cNvSpPr/>
          <p:nvPr/>
        </p:nvSpPr>
        <p:spPr>
          <a:xfrm>
            <a:off x="7086600" y="1371600"/>
            <a:ext cx="4571640" cy="4663080"/>
          </a:xfrm>
          <a:prstGeom prst="roundRect">
            <a:avLst>
              <a:gd name="adj" fmla="val 1600"/>
            </a:avLst>
          </a:prstGeom>
          <a:solidFill>
            <a:schemeClr val="tx1"/>
          </a:solidFill>
          <a:ln w="9525">
            <a:solidFill>
              <a:schemeClr val="lt2">
                <a:alpha val="45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13" name="txt184"/>
          <p:cNvSpPr/>
          <p:nvPr/>
        </p:nvSpPr>
        <p:spPr>
          <a:xfrm>
            <a:off x="7269480" y="1508760"/>
            <a:ext cx="4205880" cy="43887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100" strike="noStrike" u="none">
                <a:solidFill>
                  <a:schemeClr val="lt1"/>
                </a:solidFill>
                <a:effectLst/>
                <a:uFillTx/>
                <a:latin typeface="Consolas"/>
                <a:ea typeface="Consolas"/>
              </a:rPr>
              <a:t>ProyectoWebIA/</a:t>
            </a:r>
            <a:endParaRPr b="0" lang="es-ES" sz="1100" strike="noStrike" u="none">
              <a:solidFill>
                <a:srgbClr val="ffffff"/>
              </a:solidFill>
              <a:effectLst/>
              <a:uFillTx/>
              <a:latin typeface="Arial"/>
            </a:endParaRPr>
          </a:p>
          <a:p>
            <a:pPr defTabSz="914400">
              <a:lnSpc>
                <a:spcPct val="100000"/>
              </a:lnSpc>
              <a:tabLst>
                <a:tab algn="l" pos="0"/>
              </a:tabLst>
            </a:pPr>
            <a:r>
              <a:rPr b="0" lang="en-US" sz="1100" strike="noStrike" u="none">
                <a:solidFill>
                  <a:schemeClr val="lt1"/>
                </a:solidFill>
                <a:effectLst/>
                <a:uFillTx/>
                <a:latin typeface="Consolas"/>
                <a:ea typeface="Consolas"/>
              </a:rPr>
              <a:t>├── app1-Musicfy/       hecha a mano</a:t>
            </a:r>
            <a:endParaRPr b="0" lang="es-ES" sz="1100" strike="noStrike" u="none">
              <a:solidFill>
                <a:srgbClr val="ffffff"/>
              </a:solidFill>
              <a:effectLst/>
              <a:uFillTx/>
              <a:latin typeface="Arial"/>
            </a:endParaRPr>
          </a:p>
          <a:p>
            <a:pPr defTabSz="914400">
              <a:lnSpc>
                <a:spcPct val="100000"/>
              </a:lnSpc>
              <a:tabLst>
                <a:tab algn="l" pos="0"/>
              </a:tabLst>
            </a:pPr>
            <a:r>
              <a:rPr b="0" lang="en-US" sz="1100" strike="noStrike" u="none">
                <a:solidFill>
                  <a:schemeClr val="lt1"/>
                </a:solidFill>
                <a:effectLst/>
                <a:uFillTx/>
                <a:latin typeface="Consolas"/>
                <a:ea typeface="Consolas"/>
              </a:rPr>
              <a:t>│   ├── backend/        main.py · ai_client.py</a:t>
            </a:r>
            <a:endParaRPr b="0" lang="es-ES" sz="1100" strike="noStrike" u="none">
              <a:solidFill>
                <a:srgbClr val="ffffff"/>
              </a:solidFill>
              <a:effectLst/>
              <a:uFillTx/>
              <a:latin typeface="Arial"/>
            </a:endParaRPr>
          </a:p>
          <a:p>
            <a:pPr defTabSz="914400">
              <a:lnSpc>
                <a:spcPct val="100000"/>
              </a:lnSpc>
              <a:tabLst>
                <a:tab algn="l" pos="0"/>
              </a:tabLst>
            </a:pPr>
            <a:r>
              <a:rPr b="0" lang="en-US" sz="1100" strike="noStrike" u="none">
                <a:solidFill>
                  <a:schemeClr val="lt1"/>
                </a:solidFill>
                <a:effectLst/>
                <a:uFillTx/>
                <a:latin typeface="Consolas"/>
                <a:ea typeface="Consolas"/>
              </a:rPr>
              <a:t>│   └── frontend/       Vue + Tailwind</a:t>
            </a:r>
            <a:endParaRPr b="0" lang="es-ES" sz="1100" strike="noStrike" u="none">
              <a:solidFill>
                <a:srgbClr val="ffffff"/>
              </a:solidFill>
              <a:effectLst/>
              <a:uFillTx/>
              <a:latin typeface="Arial"/>
            </a:endParaRPr>
          </a:p>
          <a:p>
            <a:pPr defTabSz="914400">
              <a:lnSpc>
                <a:spcPct val="100000"/>
              </a:lnSpc>
              <a:tabLst>
                <a:tab algn="l" pos="0"/>
              </a:tabLst>
            </a:pPr>
            <a:r>
              <a:rPr b="0" lang="en-US" sz="1100" strike="noStrike" u="none">
                <a:solidFill>
                  <a:schemeClr val="lt1"/>
                </a:solidFill>
                <a:effectLst/>
                <a:uFillTx/>
                <a:latin typeface="Consolas"/>
                <a:ea typeface="Consolas"/>
              </a:rPr>
              <a:t>├── app2-Musicfy/       proyecto nuevo</a:t>
            </a:r>
            <a:endParaRPr b="0" lang="es-ES" sz="1100" strike="noStrike" u="none">
              <a:solidFill>
                <a:srgbClr val="ffffff"/>
              </a:solidFill>
              <a:effectLst/>
              <a:uFillTx/>
              <a:latin typeface="Arial"/>
            </a:endParaRPr>
          </a:p>
          <a:p>
            <a:pPr defTabSz="914400">
              <a:lnSpc>
                <a:spcPct val="100000"/>
              </a:lnSpc>
              <a:tabLst>
                <a:tab algn="l" pos="0"/>
              </a:tabLst>
            </a:pPr>
            <a:r>
              <a:rPr b="0" lang="en-US" sz="1100" strike="noStrike" u="none">
                <a:solidFill>
                  <a:schemeClr val="lt1"/>
                </a:solidFill>
                <a:effectLst/>
                <a:uFillTx/>
                <a:latin typeface="Consolas"/>
                <a:ea typeface="Consolas"/>
              </a:rPr>
              <a:t>│   ├── .specify/       constitución</a:t>
            </a:r>
            <a:endParaRPr b="0" lang="es-ES" sz="1100" strike="noStrike" u="none">
              <a:solidFill>
                <a:srgbClr val="ffffff"/>
              </a:solidFill>
              <a:effectLst/>
              <a:uFillTx/>
              <a:latin typeface="Arial"/>
            </a:endParaRPr>
          </a:p>
          <a:p>
            <a:pPr defTabSz="914400">
              <a:lnSpc>
                <a:spcPct val="100000"/>
              </a:lnSpc>
              <a:tabLst>
                <a:tab algn="l" pos="0"/>
              </a:tabLst>
            </a:pPr>
            <a:r>
              <a:rPr b="0" lang="en-US" sz="1100" strike="noStrike" u="none">
                <a:solidFill>
                  <a:schemeClr val="lt1"/>
                </a:solidFill>
                <a:effectLst/>
                <a:uFillTx/>
                <a:latin typeface="Consolas"/>
                <a:ea typeface="Consolas"/>
              </a:rPr>
              <a:t>│   ├── specs/          spec · plan · tasks</a:t>
            </a:r>
            <a:endParaRPr b="0" lang="es-ES" sz="1100" strike="noStrike" u="none">
              <a:solidFill>
                <a:srgbClr val="ffffff"/>
              </a:solidFill>
              <a:effectLst/>
              <a:uFillTx/>
              <a:latin typeface="Arial"/>
            </a:endParaRPr>
          </a:p>
          <a:p>
            <a:pPr defTabSz="914400">
              <a:lnSpc>
                <a:spcPct val="100000"/>
              </a:lnSpc>
              <a:tabLst>
                <a:tab algn="l" pos="0"/>
              </a:tabLst>
            </a:pPr>
            <a:r>
              <a:rPr b="0" lang="en-US" sz="1100" strike="noStrike" u="none">
                <a:solidFill>
                  <a:schemeClr val="lt1"/>
                </a:solidFill>
                <a:effectLst/>
                <a:uFillTx/>
                <a:latin typeface="Consolas"/>
                <a:ea typeface="Consolas"/>
              </a:rPr>
              <a:t>│   ├── backend/        app/ · tests/ (59)</a:t>
            </a:r>
            <a:endParaRPr b="0" lang="es-ES" sz="1100" strike="noStrike" u="none">
              <a:solidFill>
                <a:srgbClr val="ffffff"/>
              </a:solidFill>
              <a:effectLst/>
              <a:uFillTx/>
              <a:latin typeface="Arial"/>
            </a:endParaRPr>
          </a:p>
          <a:p>
            <a:pPr defTabSz="914400">
              <a:lnSpc>
                <a:spcPct val="100000"/>
              </a:lnSpc>
              <a:tabLst>
                <a:tab algn="l" pos="0"/>
              </a:tabLst>
            </a:pPr>
            <a:r>
              <a:rPr b="0" lang="en-US" sz="1100" strike="noStrike" u="none">
                <a:solidFill>
                  <a:schemeClr val="lt1"/>
                </a:solidFill>
                <a:effectLst/>
                <a:uFillTx/>
                <a:latin typeface="Consolas"/>
                <a:ea typeface="Consolas"/>
              </a:rPr>
              <a:t>│   ├── frontend/       Vue + Clerk · Caddy</a:t>
            </a:r>
            <a:endParaRPr b="0" lang="es-ES" sz="1100" strike="noStrike" u="none">
              <a:solidFill>
                <a:srgbClr val="ffffff"/>
              </a:solidFill>
              <a:effectLst/>
              <a:uFillTx/>
              <a:latin typeface="Arial"/>
            </a:endParaRPr>
          </a:p>
          <a:p>
            <a:pPr defTabSz="914400">
              <a:lnSpc>
                <a:spcPct val="100000"/>
              </a:lnSpc>
              <a:tabLst>
                <a:tab algn="l" pos="0"/>
              </a:tabLst>
            </a:pPr>
            <a:r>
              <a:rPr b="0" lang="en-US" sz="1100" strike="noStrike" u="none">
                <a:solidFill>
                  <a:schemeClr val="lt1"/>
                </a:solidFill>
                <a:effectLst/>
                <a:uFillTx/>
                <a:latin typeface="Consolas"/>
                <a:ea typeface="Consolas"/>
              </a:rPr>
              <a:t>│   └── docker-compose.yml</a:t>
            </a:r>
            <a:endParaRPr b="0" lang="es-ES" sz="1100" strike="noStrike" u="none">
              <a:solidFill>
                <a:srgbClr val="ffffff"/>
              </a:solidFill>
              <a:effectLst/>
              <a:uFillTx/>
              <a:latin typeface="Arial"/>
            </a:endParaRPr>
          </a:p>
          <a:p>
            <a:pPr defTabSz="914400">
              <a:lnSpc>
                <a:spcPct val="100000"/>
              </a:lnSpc>
              <a:tabLst>
                <a:tab algn="l" pos="0"/>
              </a:tabLst>
            </a:pPr>
            <a:r>
              <a:rPr b="0" lang="en-US" sz="1100" strike="noStrike" u="none">
                <a:solidFill>
                  <a:schemeClr val="lt1"/>
                </a:solidFill>
                <a:effectLst/>
                <a:uFillTx/>
                <a:latin typeface="Consolas"/>
                <a:ea typeface="Consolas"/>
              </a:rPr>
              <a:t>├── docs/               ERS · pruebas · proceso</a:t>
            </a:r>
            <a:endParaRPr b="0" lang="es-ES" sz="1100" strike="noStrike" u="none">
              <a:solidFill>
                <a:srgbClr val="ffffff"/>
              </a:solidFill>
              <a:effectLst/>
              <a:uFillTx/>
              <a:latin typeface="Arial"/>
            </a:endParaRPr>
          </a:p>
          <a:p>
            <a:pPr defTabSz="914400">
              <a:lnSpc>
                <a:spcPct val="100000"/>
              </a:lnSpc>
              <a:tabLst>
                <a:tab algn="l" pos="0"/>
              </a:tabLst>
            </a:pPr>
            <a:r>
              <a:rPr b="0" lang="en-US" sz="1100" strike="noStrike" u="none">
                <a:solidFill>
                  <a:schemeClr val="lt1"/>
                </a:solidFill>
                <a:effectLst/>
                <a:uFillTx/>
                <a:latin typeface="Consolas"/>
                <a:ea typeface="Consolas"/>
              </a:rPr>
              <a:t>│                       comparativa · uso-ia</a:t>
            </a:r>
            <a:endParaRPr b="0" lang="es-ES" sz="1100" strike="noStrike" u="none">
              <a:solidFill>
                <a:srgbClr val="ffffff"/>
              </a:solidFill>
              <a:effectLst/>
              <a:uFillTx/>
              <a:latin typeface="Arial"/>
            </a:endParaRPr>
          </a:p>
          <a:p>
            <a:pPr defTabSz="914400">
              <a:lnSpc>
                <a:spcPct val="100000"/>
              </a:lnSpc>
              <a:tabLst>
                <a:tab algn="l" pos="0"/>
              </a:tabLst>
            </a:pPr>
            <a:r>
              <a:rPr b="0" lang="en-US" sz="1100" strike="noStrike" u="none">
                <a:solidFill>
                  <a:schemeClr val="lt1"/>
                </a:solidFill>
                <a:effectLst/>
                <a:uFillTx/>
                <a:latin typeface="Consolas"/>
                <a:ea typeface="Consolas"/>
              </a:rPr>
              <a:t>│                       despliegues · evidencias</a:t>
            </a:r>
            <a:endParaRPr b="0" lang="es-ES" sz="1100" strike="noStrike" u="none">
              <a:solidFill>
                <a:srgbClr val="ffffff"/>
              </a:solidFill>
              <a:effectLst/>
              <a:uFillTx/>
              <a:latin typeface="Arial"/>
            </a:endParaRPr>
          </a:p>
          <a:p>
            <a:pPr defTabSz="914400">
              <a:lnSpc>
                <a:spcPct val="100000"/>
              </a:lnSpc>
              <a:tabLst>
                <a:tab algn="l" pos="0"/>
              </a:tabLst>
            </a:pPr>
            <a:r>
              <a:rPr b="0" lang="en-US" sz="1100" strike="noStrike" u="none">
                <a:solidFill>
                  <a:schemeClr val="lt1"/>
                </a:solidFill>
                <a:effectLst/>
                <a:uFillTx/>
                <a:latin typeface="Consolas"/>
                <a:ea typeface="Consolas"/>
              </a:rPr>
              <a:t>├── portal/             portal de prácticas</a:t>
            </a:r>
            <a:endParaRPr b="0" lang="es-ES" sz="1100" strike="noStrike" u="none">
              <a:solidFill>
                <a:srgbClr val="ffffff"/>
              </a:solidFill>
              <a:effectLst/>
              <a:uFillTx/>
              <a:latin typeface="Arial"/>
            </a:endParaRPr>
          </a:p>
          <a:p>
            <a:pPr defTabSz="914400">
              <a:lnSpc>
                <a:spcPct val="100000"/>
              </a:lnSpc>
              <a:tabLst>
                <a:tab algn="l" pos="0"/>
              </a:tabLst>
            </a:pPr>
            <a:r>
              <a:rPr b="0" lang="en-US" sz="1100" strike="noStrike" u="none">
                <a:solidFill>
                  <a:schemeClr val="lt1"/>
                </a:solidFill>
                <a:effectLst/>
                <a:uFillTx/>
                <a:latin typeface="Consolas"/>
                <a:ea typeface="Consolas"/>
              </a:rPr>
              <a:t>└── vercel.json         App 1: 1 proyecto</a:t>
            </a:r>
            <a:endParaRPr b="0" lang="es-ES" sz="1100" strike="noStrike" u="none">
              <a:solidFill>
                <a:srgbClr val="ffffff"/>
              </a:solidFill>
              <a:effectLst/>
              <a:uFillTx/>
              <a:latin typeface="Arial"/>
            </a:endParaRPr>
          </a:p>
        </p:txBody>
      </p:sp>
      <p:sp>
        <p:nvSpPr>
          <p:cNvPr id="214" name="PlaceHolder 3"/>
          <p:cNvSpPr>
            <a:spLocks noGrp="1"/>
          </p:cNvSpPr>
          <p:nvPr>
            <p:ph type="sldNum" idx="9"/>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0E7A4702-AC3E-4178-8FBA-E98DCC6CD2B8}"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Requisitos funcionales</a:t>
            </a:r>
            <a:endParaRPr b="0" lang="es-ES" sz="3400" strike="noStrike" u="none">
              <a:solidFill>
                <a:schemeClr val="dk1"/>
              </a:solidFill>
              <a:effectLst/>
              <a:uFillTx/>
              <a:latin typeface="Calibri"/>
            </a:endParaRPr>
          </a:p>
        </p:txBody>
      </p:sp>
      <p:sp>
        <p:nvSpPr>
          <p:cNvPr id="216"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RF-01 … RF-06</a:t>
            </a:r>
            <a:endParaRPr b="0" lang="es-ES" sz="1200" strike="noStrike" u="none">
              <a:solidFill>
                <a:schemeClr val="dk1"/>
              </a:solidFill>
              <a:effectLst/>
              <a:uFillTx/>
              <a:latin typeface="Calibri"/>
            </a:endParaRPr>
          </a:p>
        </p:txBody>
      </p:sp>
      <p:sp>
        <p:nvSpPr>
          <p:cNvPr id="217" name="presenta185"/>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18" name="txt186"/>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David Molina</a:t>
            </a:r>
            <a:endParaRPr b="0" lang="es-ES" sz="1100" strike="noStrike" u="none">
              <a:solidFill>
                <a:srgbClr val="ffffff"/>
              </a:solidFill>
              <a:effectLst/>
              <a:uFillTx/>
              <a:latin typeface="Arial"/>
            </a:endParaRPr>
          </a:p>
        </p:txBody>
      </p:sp>
      <p:sp>
        <p:nvSpPr>
          <p:cNvPr id="219" name="card187"/>
          <p:cNvSpPr/>
          <p:nvPr/>
        </p:nvSpPr>
        <p:spPr>
          <a:xfrm>
            <a:off x="548640" y="1371600"/>
            <a:ext cx="3611520" cy="2194200"/>
          </a:xfrm>
          <a:prstGeom prst="roundRect">
            <a:avLst>
              <a:gd name="adj" fmla="val 50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20" name="txt188"/>
          <p:cNvSpPr/>
          <p:nvPr/>
        </p:nvSpPr>
        <p:spPr>
          <a:xfrm>
            <a:off x="822960" y="1600200"/>
            <a:ext cx="109692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trike="noStrike" u="none">
                <a:solidFill>
                  <a:schemeClr val="accent1"/>
                </a:solidFill>
                <a:effectLst/>
                <a:uFillTx/>
                <a:latin typeface="Consolas"/>
                <a:ea typeface="Consolas"/>
              </a:rPr>
              <a:t>RF-01</a:t>
            </a:r>
            <a:endParaRPr b="0" lang="es-ES" sz="1300" strike="noStrike" u="none">
              <a:solidFill>
                <a:srgbClr val="ffffff"/>
              </a:solidFill>
              <a:effectLst/>
              <a:uFillTx/>
              <a:latin typeface="Arial"/>
            </a:endParaRPr>
          </a:p>
        </p:txBody>
      </p:sp>
      <p:sp>
        <p:nvSpPr>
          <p:cNvPr id="221" name="txt189"/>
          <p:cNvSpPr/>
          <p:nvPr/>
        </p:nvSpPr>
        <p:spPr>
          <a:xfrm>
            <a:off x="822960" y="2011680"/>
            <a:ext cx="310860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trike="noStrike" u="none">
                <a:solidFill>
                  <a:schemeClr val="lt1"/>
                </a:solidFill>
                <a:effectLst/>
                <a:uFillTx/>
                <a:latin typeface="Calibri"/>
              </a:rPr>
              <a:t>Introducir los gustos</a:t>
            </a:r>
            <a:endParaRPr b="0" lang="es-ES" sz="1800" strike="noStrike" u="none">
              <a:solidFill>
                <a:srgbClr val="ffffff"/>
              </a:solidFill>
              <a:effectLst/>
              <a:uFillTx/>
              <a:latin typeface="Arial"/>
            </a:endParaRPr>
          </a:p>
        </p:txBody>
      </p:sp>
      <p:sp>
        <p:nvSpPr>
          <p:cNvPr id="222" name="txt190"/>
          <p:cNvSpPr/>
          <p:nvPr/>
        </p:nvSpPr>
        <p:spPr>
          <a:xfrm>
            <a:off x="822960" y="2468880"/>
            <a:ext cx="3108600" cy="9597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12 botones de género (máximo 5) y texto libre, que se unen en un único campo tastes.</a:t>
            </a:r>
            <a:endParaRPr b="0" lang="es-ES" sz="1300" strike="noStrike" u="none">
              <a:solidFill>
                <a:srgbClr val="ffffff"/>
              </a:solidFill>
              <a:effectLst/>
              <a:uFillTx/>
              <a:latin typeface="Arial"/>
            </a:endParaRPr>
          </a:p>
        </p:txBody>
      </p:sp>
      <p:sp>
        <p:nvSpPr>
          <p:cNvPr id="223" name="card191"/>
          <p:cNvSpPr/>
          <p:nvPr/>
        </p:nvSpPr>
        <p:spPr>
          <a:xfrm>
            <a:off x="4343400" y="1371600"/>
            <a:ext cx="3611520" cy="2194200"/>
          </a:xfrm>
          <a:prstGeom prst="roundRect">
            <a:avLst>
              <a:gd name="adj" fmla="val 50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24" name="txt192"/>
          <p:cNvSpPr/>
          <p:nvPr/>
        </p:nvSpPr>
        <p:spPr>
          <a:xfrm>
            <a:off x="4617720" y="1600200"/>
            <a:ext cx="109692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trike="noStrike" u="none">
                <a:solidFill>
                  <a:schemeClr val="accent1"/>
                </a:solidFill>
                <a:effectLst/>
                <a:uFillTx/>
                <a:latin typeface="Consolas"/>
                <a:ea typeface="Consolas"/>
              </a:rPr>
              <a:t>RF-02</a:t>
            </a:r>
            <a:endParaRPr b="0" lang="es-ES" sz="1300" strike="noStrike" u="none">
              <a:solidFill>
                <a:srgbClr val="ffffff"/>
              </a:solidFill>
              <a:effectLst/>
              <a:uFillTx/>
              <a:latin typeface="Arial"/>
            </a:endParaRPr>
          </a:p>
        </p:txBody>
      </p:sp>
      <p:sp>
        <p:nvSpPr>
          <p:cNvPr id="225" name="txt193"/>
          <p:cNvSpPr/>
          <p:nvPr/>
        </p:nvSpPr>
        <p:spPr>
          <a:xfrm>
            <a:off x="4617720" y="2011680"/>
            <a:ext cx="310860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trike="noStrike" u="none">
                <a:solidFill>
                  <a:schemeClr val="lt1"/>
                </a:solidFill>
                <a:effectLst/>
                <a:uFillTx/>
                <a:latin typeface="Calibri"/>
              </a:rPr>
              <a:t>Validar la entrada</a:t>
            </a:r>
            <a:endParaRPr b="0" lang="es-ES" sz="1800" strike="noStrike" u="none">
              <a:solidFill>
                <a:srgbClr val="ffffff"/>
              </a:solidFill>
              <a:effectLst/>
              <a:uFillTx/>
              <a:latin typeface="Arial"/>
            </a:endParaRPr>
          </a:p>
        </p:txBody>
      </p:sp>
      <p:sp>
        <p:nvSpPr>
          <p:cNvPr id="226" name="txt194"/>
          <p:cNvSpPr/>
          <p:nvPr/>
        </p:nvSpPr>
        <p:spPr>
          <a:xfrm>
            <a:off x="4617720" y="2468880"/>
            <a:ext cx="3108600" cy="9597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De 1 a 500 caracteres tras quitar espacios. Si no, 422 sin llamar a la IA.</a:t>
            </a:r>
            <a:endParaRPr b="0" lang="es-ES" sz="1300" strike="noStrike" u="none">
              <a:solidFill>
                <a:srgbClr val="ffffff"/>
              </a:solidFill>
              <a:effectLst/>
              <a:uFillTx/>
              <a:latin typeface="Arial"/>
            </a:endParaRPr>
          </a:p>
        </p:txBody>
      </p:sp>
      <p:sp>
        <p:nvSpPr>
          <p:cNvPr id="227" name="card195"/>
          <p:cNvSpPr/>
          <p:nvPr/>
        </p:nvSpPr>
        <p:spPr>
          <a:xfrm>
            <a:off x="8138160" y="1371600"/>
            <a:ext cx="3611520" cy="2194200"/>
          </a:xfrm>
          <a:prstGeom prst="roundRect">
            <a:avLst>
              <a:gd name="adj" fmla="val 50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28" name="txt196"/>
          <p:cNvSpPr/>
          <p:nvPr/>
        </p:nvSpPr>
        <p:spPr>
          <a:xfrm>
            <a:off x="8412480" y="1600200"/>
            <a:ext cx="109692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trike="noStrike" u="none">
                <a:solidFill>
                  <a:schemeClr val="accent1"/>
                </a:solidFill>
                <a:effectLst/>
                <a:uFillTx/>
                <a:latin typeface="Consolas"/>
                <a:ea typeface="Consolas"/>
              </a:rPr>
              <a:t>RF-03</a:t>
            </a:r>
            <a:endParaRPr b="0" lang="es-ES" sz="1300" strike="noStrike" u="none">
              <a:solidFill>
                <a:srgbClr val="ffffff"/>
              </a:solidFill>
              <a:effectLst/>
              <a:uFillTx/>
              <a:latin typeface="Arial"/>
            </a:endParaRPr>
          </a:p>
        </p:txBody>
      </p:sp>
      <p:sp>
        <p:nvSpPr>
          <p:cNvPr id="229" name="txt197"/>
          <p:cNvSpPr/>
          <p:nvPr/>
        </p:nvSpPr>
        <p:spPr>
          <a:xfrm>
            <a:off x="8412480" y="2011680"/>
            <a:ext cx="310860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trike="noStrike" u="none">
                <a:solidFill>
                  <a:schemeClr val="lt1"/>
                </a:solidFill>
                <a:effectLst/>
                <a:uFillTx/>
                <a:latin typeface="Calibri"/>
              </a:rPr>
              <a:t>Obtener recomendaciones</a:t>
            </a:r>
            <a:endParaRPr b="0" lang="es-ES" sz="1800" strike="noStrike" u="none">
              <a:solidFill>
                <a:srgbClr val="ffffff"/>
              </a:solidFill>
              <a:effectLst/>
              <a:uFillTx/>
              <a:latin typeface="Arial"/>
            </a:endParaRPr>
          </a:p>
        </p:txBody>
      </p:sp>
      <p:sp>
        <p:nvSpPr>
          <p:cNvPr id="230" name="txt198"/>
          <p:cNvSpPr/>
          <p:nvPr/>
        </p:nvSpPr>
        <p:spPr>
          <a:xfrm>
            <a:off x="8412480" y="2468880"/>
            <a:ext cx="3108600" cy="9597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Una sola consulta a Gemini por envío válido: de 3 a 5 artistas con el porqué.</a:t>
            </a:r>
            <a:endParaRPr b="0" lang="es-ES" sz="1300" strike="noStrike" u="none">
              <a:solidFill>
                <a:srgbClr val="ffffff"/>
              </a:solidFill>
              <a:effectLst/>
              <a:uFillTx/>
              <a:latin typeface="Arial"/>
            </a:endParaRPr>
          </a:p>
        </p:txBody>
      </p:sp>
      <p:sp>
        <p:nvSpPr>
          <p:cNvPr id="231" name="card199"/>
          <p:cNvSpPr/>
          <p:nvPr/>
        </p:nvSpPr>
        <p:spPr>
          <a:xfrm>
            <a:off x="548640" y="3749040"/>
            <a:ext cx="3611520" cy="2194200"/>
          </a:xfrm>
          <a:prstGeom prst="roundRect">
            <a:avLst>
              <a:gd name="adj" fmla="val 50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32" name="txt200"/>
          <p:cNvSpPr/>
          <p:nvPr/>
        </p:nvSpPr>
        <p:spPr>
          <a:xfrm>
            <a:off x="822960" y="3977640"/>
            <a:ext cx="109692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trike="noStrike" u="none">
                <a:solidFill>
                  <a:schemeClr val="accent1"/>
                </a:solidFill>
                <a:effectLst/>
                <a:uFillTx/>
                <a:latin typeface="Consolas"/>
                <a:ea typeface="Consolas"/>
              </a:rPr>
              <a:t>RF-04</a:t>
            </a:r>
            <a:endParaRPr b="0" lang="es-ES" sz="1300" strike="noStrike" u="none">
              <a:solidFill>
                <a:srgbClr val="ffffff"/>
              </a:solidFill>
              <a:effectLst/>
              <a:uFillTx/>
              <a:latin typeface="Arial"/>
            </a:endParaRPr>
          </a:p>
        </p:txBody>
      </p:sp>
      <p:sp>
        <p:nvSpPr>
          <p:cNvPr id="233" name="txt201"/>
          <p:cNvSpPr/>
          <p:nvPr/>
        </p:nvSpPr>
        <p:spPr>
          <a:xfrm>
            <a:off x="822960" y="4389120"/>
            <a:ext cx="310860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trike="noStrike" u="none">
                <a:solidFill>
                  <a:schemeClr val="lt1"/>
                </a:solidFill>
                <a:effectLst/>
                <a:uFillTx/>
                <a:latin typeface="Calibri"/>
              </a:rPr>
              <a:t>Mostrar en la misma pantalla</a:t>
            </a:r>
            <a:endParaRPr b="0" lang="es-ES" sz="1800" strike="noStrike" u="none">
              <a:solidFill>
                <a:srgbClr val="ffffff"/>
              </a:solidFill>
              <a:effectLst/>
              <a:uFillTx/>
              <a:latin typeface="Arial"/>
            </a:endParaRPr>
          </a:p>
        </p:txBody>
      </p:sp>
      <p:sp>
        <p:nvSpPr>
          <p:cNvPr id="234" name="txt202"/>
          <p:cNvSpPr/>
          <p:nvPr/>
        </p:nvSpPr>
        <p:spPr>
          <a:xfrm>
            <a:off x="822960" y="4846320"/>
            <a:ext cx="3108600" cy="9597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Estados de espera, resultado y error, sin acumular resultados anteriores.</a:t>
            </a:r>
            <a:endParaRPr b="0" lang="es-ES" sz="1300" strike="noStrike" u="none">
              <a:solidFill>
                <a:srgbClr val="ffffff"/>
              </a:solidFill>
              <a:effectLst/>
              <a:uFillTx/>
              <a:latin typeface="Arial"/>
            </a:endParaRPr>
          </a:p>
        </p:txBody>
      </p:sp>
      <p:sp>
        <p:nvSpPr>
          <p:cNvPr id="235" name="card203"/>
          <p:cNvSpPr/>
          <p:nvPr/>
        </p:nvSpPr>
        <p:spPr>
          <a:xfrm>
            <a:off x="4343400" y="3749040"/>
            <a:ext cx="3611520" cy="2194200"/>
          </a:xfrm>
          <a:prstGeom prst="roundRect">
            <a:avLst>
              <a:gd name="adj" fmla="val 50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36" name="txt204"/>
          <p:cNvSpPr/>
          <p:nvPr/>
        </p:nvSpPr>
        <p:spPr>
          <a:xfrm>
            <a:off x="4617720" y="3977640"/>
            <a:ext cx="109692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trike="noStrike" u="none">
                <a:solidFill>
                  <a:schemeClr val="accent1"/>
                </a:solidFill>
                <a:effectLst/>
                <a:uFillTx/>
                <a:latin typeface="Consolas"/>
                <a:ea typeface="Consolas"/>
              </a:rPr>
              <a:t>RF-05</a:t>
            </a:r>
            <a:endParaRPr b="0" lang="es-ES" sz="1300" strike="noStrike" u="none">
              <a:solidFill>
                <a:srgbClr val="ffffff"/>
              </a:solidFill>
              <a:effectLst/>
              <a:uFillTx/>
              <a:latin typeface="Arial"/>
            </a:endParaRPr>
          </a:p>
        </p:txBody>
      </p:sp>
      <p:sp>
        <p:nvSpPr>
          <p:cNvPr id="237" name="txt205"/>
          <p:cNvSpPr/>
          <p:nvPr/>
        </p:nvSpPr>
        <p:spPr>
          <a:xfrm>
            <a:off x="4617720" y="4389120"/>
            <a:ext cx="310860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trike="noStrike" u="none">
                <a:solidFill>
                  <a:schemeClr val="lt1"/>
                </a:solidFill>
                <a:effectLst/>
                <a:uFillTx/>
                <a:latin typeface="Calibri"/>
              </a:rPr>
              <a:t>Informar de errores de la IA</a:t>
            </a:r>
            <a:endParaRPr b="0" lang="es-ES" sz="1800" strike="noStrike" u="none">
              <a:solidFill>
                <a:srgbClr val="ffffff"/>
              </a:solidFill>
              <a:effectLst/>
              <a:uFillTx/>
              <a:latin typeface="Arial"/>
            </a:endParaRPr>
          </a:p>
        </p:txBody>
      </p:sp>
      <p:sp>
        <p:nvSpPr>
          <p:cNvPr id="238" name="txt206"/>
          <p:cNvSpPr/>
          <p:nvPr/>
        </p:nvSpPr>
        <p:spPr>
          <a:xfrm>
            <a:off x="4617720" y="4846320"/>
            <a:ext cx="3108600" cy="9597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502 o 504 con un mensaje comprensible, sin trazas ni detalles internos.</a:t>
            </a:r>
            <a:endParaRPr b="0" lang="es-ES" sz="1300" strike="noStrike" u="none">
              <a:solidFill>
                <a:srgbClr val="ffffff"/>
              </a:solidFill>
              <a:effectLst/>
              <a:uFillTx/>
              <a:latin typeface="Arial"/>
            </a:endParaRPr>
          </a:p>
        </p:txBody>
      </p:sp>
      <p:sp>
        <p:nvSpPr>
          <p:cNvPr id="239" name="card207"/>
          <p:cNvSpPr/>
          <p:nvPr/>
        </p:nvSpPr>
        <p:spPr>
          <a:xfrm>
            <a:off x="8138160" y="3749040"/>
            <a:ext cx="3611520" cy="2194200"/>
          </a:xfrm>
          <a:prstGeom prst="roundRect">
            <a:avLst>
              <a:gd name="adj" fmla="val 5000"/>
            </a:avLst>
          </a:prstGeom>
          <a:solidFill>
            <a:schemeClr val="tx2"/>
          </a:solidFill>
          <a:ln w="9525">
            <a:solidFill>
              <a:srgbClr val="9b8c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40" name="txt208"/>
          <p:cNvSpPr/>
          <p:nvPr/>
        </p:nvSpPr>
        <p:spPr>
          <a:xfrm>
            <a:off x="8412480" y="3977640"/>
            <a:ext cx="109692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trike="noStrike" u="none">
                <a:solidFill>
                  <a:schemeClr val="accent2"/>
                </a:solidFill>
                <a:effectLst/>
                <a:uFillTx/>
                <a:latin typeface="Consolas"/>
                <a:ea typeface="Consolas"/>
              </a:rPr>
              <a:t>RF-06</a:t>
            </a:r>
            <a:endParaRPr b="0" lang="es-ES" sz="1300" strike="noStrike" u="none">
              <a:solidFill>
                <a:srgbClr val="ffffff"/>
              </a:solidFill>
              <a:effectLst/>
              <a:uFillTx/>
              <a:latin typeface="Arial"/>
            </a:endParaRPr>
          </a:p>
        </p:txBody>
      </p:sp>
      <p:sp>
        <p:nvSpPr>
          <p:cNvPr id="241" name="pill209"/>
          <p:cNvSpPr/>
          <p:nvPr/>
        </p:nvSpPr>
        <p:spPr>
          <a:xfrm>
            <a:off x="10652760" y="3950280"/>
            <a:ext cx="868320" cy="328680"/>
          </a:xfrm>
          <a:prstGeom prst="roundRect">
            <a:avLst>
              <a:gd name="adj" fmla="val 50000"/>
            </a:avLst>
          </a:prstGeom>
          <a:solidFill>
            <a:schemeClr val="accent2"/>
          </a:solidFill>
          <a:ln w="12700">
            <a:solidFill>
              <a:srgbClr val="9b8c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42" name="txt210"/>
          <p:cNvSpPr/>
          <p:nvPr/>
        </p:nvSpPr>
        <p:spPr>
          <a:xfrm>
            <a:off x="10652760" y="3950280"/>
            <a:ext cx="868320" cy="328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trike="noStrike" u="none">
                <a:solidFill>
                  <a:schemeClr val="dk1"/>
                </a:solidFill>
                <a:effectLst/>
                <a:uFillTx/>
                <a:latin typeface="Calibri"/>
              </a:rPr>
              <a:t>App 2</a:t>
            </a:r>
            <a:endParaRPr b="0" lang="es-ES" sz="1100" strike="noStrike" u="none">
              <a:solidFill>
                <a:srgbClr val="ffffff"/>
              </a:solidFill>
              <a:effectLst/>
              <a:uFillTx/>
              <a:latin typeface="Arial"/>
            </a:endParaRPr>
          </a:p>
        </p:txBody>
      </p:sp>
      <p:sp>
        <p:nvSpPr>
          <p:cNvPr id="243" name="txt211"/>
          <p:cNvSpPr/>
          <p:nvPr/>
        </p:nvSpPr>
        <p:spPr>
          <a:xfrm>
            <a:off x="8412480" y="4389120"/>
            <a:ext cx="310860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trike="noStrike" u="none">
                <a:solidFill>
                  <a:schemeClr val="lt1"/>
                </a:solidFill>
                <a:effectLst/>
                <a:uFillTx/>
                <a:latin typeface="Calibri"/>
              </a:rPr>
              <a:t>Autenticar y proteger</a:t>
            </a:r>
            <a:endParaRPr b="0" lang="es-ES" sz="1800" strike="noStrike" u="none">
              <a:solidFill>
                <a:srgbClr val="ffffff"/>
              </a:solidFill>
              <a:effectLst/>
              <a:uFillTx/>
              <a:latin typeface="Arial"/>
            </a:endParaRPr>
          </a:p>
        </p:txBody>
      </p:sp>
      <p:sp>
        <p:nvSpPr>
          <p:cNvPr id="244" name="txt212"/>
          <p:cNvSpPr/>
          <p:nvPr/>
        </p:nvSpPr>
        <p:spPr>
          <a:xfrm>
            <a:off x="8412480" y="4846320"/>
            <a:ext cx="3108600" cy="9597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Clerk en la misma pantalla. Sin token válido, 401 y no se consulta a la IA.</a:t>
            </a:r>
            <a:endParaRPr b="0" lang="es-ES" sz="1300" strike="noStrike" u="none">
              <a:solidFill>
                <a:srgbClr val="ffffff"/>
              </a:solidFill>
              <a:effectLst/>
              <a:uFillTx/>
              <a:latin typeface="Arial"/>
            </a:endParaRPr>
          </a:p>
        </p:txBody>
      </p:sp>
      <p:sp>
        <p:nvSpPr>
          <p:cNvPr id="245" name="PlaceHolder 3"/>
          <p:cNvSpPr>
            <a:spLocks noGrp="1"/>
          </p:cNvSpPr>
          <p:nvPr>
            <p:ph type="sldNum" idx="10"/>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7795353C-5161-45B6-9579-73437018E708}"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Requisitos no funcionales y seguridad</a:t>
            </a:r>
            <a:endParaRPr b="0" lang="es-ES" sz="3400" strike="noStrike" u="none">
              <a:solidFill>
                <a:schemeClr val="dk1"/>
              </a:solidFill>
              <a:effectLst/>
              <a:uFillTx/>
              <a:latin typeface="Calibri"/>
            </a:endParaRPr>
          </a:p>
        </p:txBody>
      </p:sp>
      <p:sp>
        <p:nvSpPr>
          <p:cNvPr id="247"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RNF-01 … RNF-05</a:t>
            </a:r>
            <a:endParaRPr b="0" lang="es-ES" sz="1200" strike="noStrike" u="none">
              <a:solidFill>
                <a:schemeClr val="dk1"/>
              </a:solidFill>
              <a:effectLst/>
              <a:uFillTx/>
              <a:latin typeface="Calibri"/>
            </a:endParaRPr>
          </a:p>
        </p:txBody>
      </p:sp>
      <p:sp>
        <p:nvSpPr>
          <p:cNvPr id="248" name="presenta213"/>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49" name="txt214"/>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David Molina</a:t>
            </a:r>
            <a:endParaRPr b="0" lang="es-ES" sz="1100" strike="noStrike" u="none">
              <a:solidFill>
                <a:srgbClr val="ffffff"/>
              </a:solidFill>
              <a:effectLst/>
              <a:uFillTx/>
              <a:latin typeface="Arial"/>
            </a:endParaRPr>
          </a:p>
        </p:txBody>
      </p:sp>
      <p:sp>
        <p:nvSpPr>
          <p:cNvPr id="250" name="card215"/>
          <p:cNvSpPr/>
          <p:nvPr/>
        </p:nvSpPr>
        <p:spPr>
          <a:xfrm>
            <a:off x="548640" y="1371600"/>
            <a:ext cx="3291480" cy="1462680"/>
          </a:xfrm>
          <a:prstGeom prst="roundRect">
            <a:avLst>
              <a:gd name="adj" fmla="val 75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51" name="txt216"/>
          <p:cNvSpPr/>
          <p:nvPr/>
        </p:nvSpPr>
        <p:spPr>
          <a:xfrm>
            <a:off x="777240" y="1536120"/>
            <a:ext cx="118836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trike="noStrike" u="none">
                <a:solidFill>
                  <a:schemeClr val="accent1"/>
                </a:solidFill>
                <a:effectLst/>
                <a:uFillTx/>
                <a:latin typeface="Consolas"/>
                <a:ea typeface="Consolas"/>
              </a:rPr>
              <a:t>RNF-01</a:t>
            </a:r>
            <a:endParaRPr b="0" lang="es-ES" sz="1200" strike="noStrike" u="none">
              <a:solidFill>
                <a:srgbClr val="ffffff"/>
              </a:solidFill>
              <a:effectLst/>
              <a:uFillTx/>
              <a:latin typeface="Arial"/>
            </a:endParaRPr>
          </a:p>
        </p:txBody>
      </p:sp>
      <p:sp>
        <p:nvSpPr>
          <p:cNvPr id="252" name="txt217"/>
          <p:cNvSpPr/>
          <p:nvPr/>
        </p:nvSpPr>
        <p:spPr>
          <a:xfrm>
            <a:off x="777240" y="1801440"/>
            <a:ext cx="28800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500" strike="noStrike" u="none">
                <a:solidFill>
                  <a:schemeClr val="lt1"/>
                </a:solidFill>
                <a:effectLst/>
                <a:uFillTx/>
                <a:latin typeface="Calibri"/>
              </a:rPr>
              <a:t>Secretos solo en el backend</a:t>
            </a:r>
            <a:endParaRPr b="0" lang="es-ES" sz="1500" strike="noStrike" u="none">
              <a:solidFill>
                <a:srgbClr val="ffffff"/>
              </a:solidFill>
              <a:effectLst/>
              <a:uFillTx/>
              <a:latin typeface="Arial"/>
            </a:endParaRPr>
          </a:p>
        </p:txBody>
      </p:sp>
      <p:sp>
        <p:nvSpPr>
          <p:cNvPr id="253" name="txt218"/>
          <p:cNvSpPr/>
          <p:nvPr/>
        </p:nvSpPr>
        <p:spPr>
          <a:xfrm>
            <a:off x="777240" y="2148840"/>
            <a:ext cx="288000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trike="noStrike" u="none">
                <a:solidFill>
                  <a:schemeClr val="lt2"/>
                </a:solidFill>
                <a:effectLst/>
                <a:uFillTx/>
                <a:latin typeface="Calibri"/>
              </a:rPr>
              <a:t>La clave de Gemini no está en el frontend, ni en el repo, ni en su historial, ni en las imágenes.</a:t>
            </a:r>
            <a:endParaRPr b="0" lang="es-ES" sz="1200" strike="noStrike" u="none">
              <a:solidFill>
                <a:srgbClr val="ffffff"/>
              </a:solidFill>
              <a:effectLst/>
              <a:uFillTx/>
              <a:latin typeface="Arial"/>
            </a:endParaRPr>
          </a:p>
        </p:txBody>
      </p:sp>
      <p:sp>
        <p:nvSpPr>
          <p:cNvPr id="254" name="card219"/>
          <p:cNvSpPr/>
          <p:nvPr/>
        </p:nvSpPr>
        <p:spPr>
          <a:xfrm>
            <a:off x="3977640" y="1371600"/>
            <a:ext cx="3291480" cy="1462680"/>
          </a:xfrm>
          <a:prstGeom prst="roundRect">
            <a:avLst>
              <a:gd name="adj" fmla="val 75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55" name="txt220"/>
          <p:cNvSpPr/>
          <p:nvPr/>
        </p:nvSpPr>
        <p:spPr>
          <a:xfrm>
            <a:off x="4206240" y="1536120"/>
            <a:ext cx="118836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trike="noStrike" u="none">
                <a:solidFill>
                  <a:schemeClr val="accent1"/>
                </a:solidFill>
                <a:effectLst/>
                <a:uFillTx/>
                <a:latin typeface="Consolas"/>
                <a:ea typeface="Consolas"/>
              </a:rPr>
              <a:t>RNF-02</a:t>
            </a:r>
            <a:endParaRPr b="0" lang="es-ES" sz="1200" strike="noStrike" u="none">
              <a:solidFill>
                <a:srgbClr val="ffffff"/>
              </a:solidFill>
              <a:effectLst/>
              <a:uFillTx/>
              <a:latin typeface="Arial"/>
            </a:endParaRPr>
          </a:p>
        </p:txBody>
      </p:sp>
      <p:sp>
        <p:nvSpPr>
          <p:cNvPr id="256" name="txt221"/>
          <p:cNvSpPr/>
          <p:nvPr/>
        </p:nvSpPr>
        <p:spPr>
          <a:xfrm>
            <a:off x="4206240" y="1801440"/>
            <a:ext cx="28800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500" strike="noStrike" u="none">
                <a:solidFill>
                  <a:schemeClr val="lt1"/>
                </a:solidFill>
                <a:effectLst/>
                <a:uFillTx/>
                <a:latin typeface="Calibri"/>
              </a:rPr>
              <a:t>Timeout de 25 s</a:t>
            </a:r>
            <a:endParaRPr b="0" lang="es-ES" sz="1500" strike="noStrike" u="none">
              <a:solidFill>
                <a:srgbClr val="ffffff"/>
              </a:solidFill>
              <a:effectLst/>
              <a:uFillTx/>
              <a:latin typeface="Arial"/>
            </a:endParaRPr>
          </a:p>
        </p:txBody>
      </p:sp>
      <p:sp>
        <p:nvSpPr>
          <p:cNvPr id="257" name="txt222"/>
          <p:cNvSpPr/>
          <p:nvPr/>
        </p:nvSpPr>
        <p:spPr>
          <a:xfrm>
            <a:off x="4206240" y="2148840"/>
            <a:ext cx="288000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trike="noStrike" u="none">
                <a:solidFill>
                  <a:schemeClr val="lt2"/>
                </a:solidFill>
                <a:effectLst/>
                <a:uFillTx/>
                <a:latin typeface="Calibri"/>
              </a:rPr>
              <a:t>Si la IA no responde a tiempo: 504 TIMEOUT sin detalles internos.</a:t>
            </a:r>
            <a:endParaRPr b="0" lang="es-ES" sz="1200" strike="noStrike" u="none">
              <a:solidFill>
                <a:srgbClr val="ffffff"/>
              </a:solidFill>
              <a:effectLst/>
              <a:uFillTx/>
              <a:latin typeface="Arial"/>
            </a:endParaRPr>
          </a:p>
        </p:txBody>
      </p:sp>
      <p:sp>
        <p:nvSpPr>
          <p:cNvPr id="258" name="card223"/>
          <p:cNvSpPr/>
          <p:nvPr/>
        </p:nvSpPr>
        <p:spPr>
          <a:xfrm>
            <a:off x="548640" y="2971800"/>
            <a:ext cx="3291480" cy="1462680"/>
          </a:xfrm>
          <a:prstGeom prst="roundRect">
            <a:avLst>
              <a:gd name="adj" fmla="val 75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59" name="txt224"/>
          <p:cNvSpPr/>
          <p:nvPr/>
        </p:nvSpPr>
        <p:spPr>
          <a:xfrm>
            <a:off x="777240" y="3136320"/>
            <a:ext cx="118836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trike="noStrike" u="none">
                <a:solidFill>
                  <a:schemeClr val="accent1"/>
                </a:solidFill>
                <a:effectLst/>
                <a:uFillTx/>
                <a:latin typeface="Consolas"/>
                <a:ea typeface="Consolas"/>
              </a:rPr>
              <a:t>RNF-03</a:t>
            </a:r>
            <a:endParaRPr b="0" lang="es-ES" sz="1200" strike="noStrike" u="none">
              <a:solidFill>
                <a:srgbClr val="ffffff"/>
              </a:solidFill>
              <a:effectLst/>
              <a:uFillTx/>
              <a:latin typeface="Arial"/>
            </a:endParaRPr>
          </a:p>
        </p:txBody>
      </p:sp>
      <p:sp>
        <p:nvSpPr>
          <p:cNvPr id="260" name="txt225"/>
          <p:cNvSpPr/>
          <p:nvPr/>
        </p:nvSpPr>
        <p:spPr>
          <a:xfrm>
            <a:off x="777240" y="3401640"/>
            <a:ext cx="28800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500" strike="noStrike" u="none">
                <a:solidFill>
                  <a:schemeClr val="lt1"/>
                </a:solidFill>
                <a:effectLst/>
                <a:uFillTx/>
                <a:latin typeface="Calibri"/>
              </a:rPr>
              <a:t>Privacidad</a:t>
            </a:r>
            <a:endParaRPr b="0" lang="es-ES" sz="1500" strike="noStrike" u="none">
              <a:solidFill>
                <a:srgbClr val="ffffff"/>
              </a:solidFill>
              <a:effectLst/>
              <a:uFillTx/>
              <a:latin typeface="Arial"/>
            </a:endParaRPr>
          </a:p>
        </p:txBody>
      </p:sp>
      <p:sp>
        <p:nvSpPr>
          <p:cNvPr id="261" name="txt226"/>
          <p:cNvSpPr/>
          <p:nvPr/>
        </p:nvSpPr>
        <p:spPr>
          <a:xfrm>
            <a:off x="777240" y="3749040"/>
            <a:ext cx="288000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trike="noStrike" u="none">
                <a:solidFill>
                  <a:schemeClr val="lt2"/>
                </a:solidFill>
                <a:effectLst/>
                <a:uFillTx/>
                <a:latin typeface="Calibri"/>
              </a:rPr>
              <a:t>No se guarda nada: tras recargar o reiniciar no aparece ninguna consulta anterior.</a:t>
            </a:r>
            <a:endParaRPr b="0" lang="es-ES" sz="1200" strike="noStrike" u="none">
              <a:solidFill>
                <a:srgbClr val="ffffff"/>
              </a:solidFill>
              <a:effectLst/>
              <a:uFillTx/>
              <a:latin typeface="Arial"/>
            </a:endParaRPr>
          </a:p>
        </p:txBody>
      </p:sp>
      <p:sp>
        <p:nvSpPr>
          <p:cNvPr id="262" name="card227"/>
          <p:cNvSpPr/>
          <p:nvPr/>
        </p:nvSpPr>
        <p:spPr>
          <a:xfrm>
            <a:off x="3977640" y="2971800"/>
            <a:ext cx="3291480" cy="1462680"/>
          </a:xfrm>
          <a:prstGeom prst="roundRect">
            <a:avLst>
              <a:gd name="adj" fmla="val 75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63" name="txt228"/>
          <p:cNvSpPr/>
          <p:nvPr/>
        </p:nvSpPr>
        <p:spPr>
          <a:xfrm>
            <a:off x="4206240" y="3136320"/>
            <a:ext cx="118836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trike="noStrike" u="none">
                <a:solidFill>
                  <a:schemeClr val="accent1"/>
                </a:solidFill>
                <a:effectLst/>
                <a:uFillTx/>
                <a:latin typeface="Consolas"/>
                <a:ea typeface="Consolas"/>
              </a:rPr>
              <a:t>RNF-04</a:t>
            </a:r>
            <a:endParaRPr b="0" lang="es-ES" sz="1200" strike="noStrike" u="none">
              <a:solidFill>
                <a:srgbClr val="ffffff"/>
              </a:solidFill>
              <a:effectLst/>
              <a:uFillTx/>
              <a:latin typeface="Arial"/>
            </a:endParaRPr>
          </a:p>
        </p:txBody>
      </p:sp>
      <p:sp>
        <p:nvSpPr>
          <p:cNvPr id="264" name="txt229"/>
          <p:cNvSpPr/>
          <p:nvPr/>
        </p:nvSpPr>
        <p:spPr>
          <a:xfrm>
            <a:off x="4206240" y="3401640"/>
            <a:ext cx="288000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500" strike="noStrike" u="none">
                <a:solidFill>
                  <a:schemeClr val="lt1"/>
                </a:solidFill>
                <a:effectLst/>
                <a:uFillTx/>
                <a:latin typeface="Calibri"/>
              </a:rPr>
              <a:t>Accesibilidad</a:t>
            </a:r>
            <a:endParaRPr b="0" lang="es-ES" sz="1500" strike="noStrike" u="none">
              <a:solidFill>
                <a:srgbClr val="ffffff"/>
              </a:solidFill>
              <a:effectLst/>
              <a:uFillTx/>
              <a:latin typeface="Arial"/>
            </a:endParaRPr>
          </a:p>
        </p:txBody>
      </p:sp>
      <p:sp>
        <p:nvSpPr>
          <p:cNvPr id="265" name="txt230"/>
          <p:cNvSpPr/>
          <p:nvPr/>
        </p:nvSpPr>
        <p:spPr>
          <a:xfrm>
            <a:off x="4206240" y="3749040"/>
            <a:ext cx="288000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trike="noStrike" u="none">
                <a:solidFill>
                  <a:schemeClr val="lt2"/>
                </a:solidFill>
                <a:effectLst/>
                <a:uFillTx/>
                <a:latin typeface="Calibri"/>
              </a:rPr>
              <a:t>Todo se usa con teclado, con foco visible y sin scroll horizontal a 320 px.</a:t>
            </a:r>
            <a:endParaRPr b="0" lang="es-ES" sz="1200" strike="noStrike" u="none">
              <a:solidFill>
                <a:srgbClr val="ffffff"/>
              </a:solidFill>
              <a:effectLst/>
              <a:uFillTx/>
              <a:latin typeface="Arial"/>
            </a:endParaRPr>
          </a:p>
        </p:txBody>
      </p:sp>
      <p:sp>
        <p:nvSpPr>
          <p:cNvPr id="266" name="card231"/>
          <p:cNvSpPr/>
          <p:nvPr/>
        </p:nvSpPr>
        <p:spPr>
          <a:xfrm>
            <a:off x="548640" y="4572000"/>
            <a:ext cx="6720480" cy="1462680"/>
          </a:xfrm>
          <a:prstGeom prst="roundRect">
            <a:avLst>
              <a:gd name="adj" fmla="val 7500"/>
            </a:avLst>
          </a:prstGeom>
          <a:solidFill>
            <a:schemeClr val="tx2"/>
          </a:solidFill>
          <a:ln w="9525">
            <a:solidFill>
              <a:srgbClr val="9b8c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67" name="txt232"/>
          <p:cNvSpPr/>
          <p:nvPr/>
        </p:nvSpPr>
        <p:spPr>
          <a:xfrm>
            <a:off x="777240" y="4736520"/>
            <a:ext cx="118836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trike="noStrike" u="none">
                <a:solidFill>
                  <a:schemeClr val="accent2"/>
                </a:solidFill>
                <a:effectLst/>
                <a:uFillTx/>
                <a:latin typeface="Consolas"/>
                <a:ea typeface="Consolas"/>
              </a:rPr>
              <a:t>RNF-05</a:t>
            </a:r>
            <a:endParaRPr b="0" lang="es-ES" sz="1200" strike="noStrike" u="none">
              <a:solidFill>
                <a:srgbClr val="ffffff"/>
              </a:solidFill>
              <a:effectLst/>
              <a:uFillTx/>
              <a:latin typeface="Arial"/>
            </a:endParaRPr>
          </a:p>
        </p:txBody>
      </p:sp>
      <p:sp>
        <p:nvSpPr>
          <p:cNvPr id="268" name="pill233"/>
          <p:cNvSpPr/>
          <p:nvPr/>
        </p:nvSpPr>
        <p:spPr>
          <a:xfrm>
            <a:off x="6217920" y="4709160"/>
            <a:ext cx="868320" cy="310680"/>
          </a:xfrm>
          <a:prstGeom prst="roundRect">
            <a:avLst>
              <a:gd name="adj" fmla="val 50000"/>
            </a:avLst>
          </a:prstGeom>
          <a:solidFill>
            <a:schemeClr val="accent2"/>
          </a:solidFill>
          <a:ln w="12700">
            <a:solidFill>
              <a:srgbClr val="9b8c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69" name="txt234"/>
          <p:cNvSpPr/>
          <p:nvPr/>
        </p:nvSpPr>
        <p:spPr>
          <a:xfrm>
            <a:off x="6217920" y="4709160"/>
            <a:ext cx="868320" cy="310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100" strike="noStrike" u="none">
                <a:solidFill>
                  <a:schemeClr val="dk1"/>
                </a:solidFill>
                <a:effectLst/>
                <a:uFillTx/>
                <a:latin typeface="Calibri"/>
              </a:rPr>
              <a:t>App 2</a:t>
            </a:r>
            <a:endParaRPr b="0" lang="es-ES" sz="1100" strike="noStrike" u="none">
              <a:solidFill>
                <a:srgbClr val="ffffff"/>
              </a:solidFill>
              <a:effectLst/>
              <a:uFillTx/>
              <a:latin typeface="Arial"/>
            </a:endParaRPr>
          </a:p>
        </p:txBody>
      </p:sp>
      <p:sp>
        <p:nvSpPr>
          <p:cNvPr id="270" name="txt235"/>
          <p:cNvSpPr/>
          <p:nvPr/>
        </p:nvSpPr>
        <p:spPr>
          <a:xfrm>
            <a:off x="777240" y="5001840"/>
            <a:ext cx="59432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500" strike="noStrike" u="none">
                <a:solidFill>
                  <a:schemeClr val="lt1"/>
                </a:solidFill>
                <a:effectLst/>
                <a:uFillTx/>
                <a:latin typeface="Calibri"/>
              </a:rPr>
              <a:t>Token verificado y solo por HTTPS</a:t>
            </a:r>
            <a:endParaRPr b="0" lang="es-ES" sz="1500" strike="noStrike" u="none">
              <a:solidFill>
                <a:srgbClr val="ffffff"/>
              </a:solidFill>
              <a:effectLst/>
              <a:uFillTx/>
              <a:latin typeface="Arial"/>
            </a:endParaRPr>
          </a:p>
        </p:txBody>
      </p:sp>
      <p:sp>
        <p:nvSpPr>
          <p:cNvPr id="271" name="txt236"/>
          <p:cNvSpPr/>
          <p:nvPr/>
        </p:nvSpPr>
        <p:spPr>
          <a:xfrm>
            <a:off x="777240" y="5349240"/>
            <a:ext cx="6263280" cy="63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trike="noStrike" u="none">
                <a:solidFill>
                  <a:schemeClr val="lt2"/>
                </a:solidFill>
                <a:effectLst/>
                <a:uFillTx/>
                <a:latin typeface="Calibri"/>
              </a:rPr>
              <a:t>El backend comprueba firma, emisor y caducidad. Sin token, inválido o caducado: 401 sin llamar a la IA. Vercel y EC2 se sirven por HTTPS.</a:t>
            </a:r>
            <a:endParaRPr b="0" lang="es-ES" sz="1200" strike="noStrike" u="none">
              <a:solidFill>
                <a:srgbClr val="ffffff"/>
              </a:solidFill>
              <a:effectLst/>
              <a:uFillTx/>
              <a:latin typeface="Arial"/>
            </a:endParaRPr>
          </a:p>
        </p:txBody>
      </p:sp>
      <p:sp>
        <p:nvSpPr>
          <p:cNvPr id="272" name="card237"/>
          <p:cNvSpPr/>
          <p:nvPr/>
        </p:nvSpPr>
        <p:spPr>
          <a:xfrm>
            <a:off x="7543800" y="1371600"/>
            <a:ext cx="4114440" cy="4663080"/>
          </a:xfrm>
          <a:prstGeom prst="roundRect">
            <a:avLst>
              <a:gd name="adj" fmla="val 2667"/>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73" name="txt238"/>
          <p:cNvSpPr/>
          <p:nvPr/>
        </p:nvSpPr>
        <p:spPr>
          <a:xfrm>
            <a:off x="7772400" y="1536120"/>
            <a:ext cx="36572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500" strike="noStrike" u="none">
                <a:solidFill>
                  <a:schemeClr val="accent1"/>
                </a:solidFill>
                <a:effectLst/>
                <a:uFillTx/>
                <a:latin typeface="Calibri"/>
              </a:rPr>
              <a:t>Qué atraviesa cada petición</a:t>
            </a:r>
            <a:endParaRPr b="0" lang="es-ES" sz="1500" strike="noStrike" u="none">
              <a:solidFill>
                <a:srgbClr val="ffffff"/>
              </a:solidFill>
              <a:effectLst/>
              <a:uFillTx/>
              <a:latin typeface="Arial"/>
            </a:endParaRPr>
          </a:p>
        </p:txBody>
      </p:sp>
      <p:sp>
        <p:nvSpPr>
          <p:cNvPr id="274" name="card239"/>
          <p:cNvSpPr/>
          <p:nvPr/>
        </p:nvSpPr>
        <p:spPr>
          <a:xfrm>
            <a:off x="7772400" y="2011680"/>
            <a:ext cx="3657240" cy="749520"/>
          </a:xfrm>
          <a:prstGeom prst="roundRect">
            <a:avLst>
              <a:gd name="adj" fmla="val 14634"/>
            </a:avLst>
          </a:prstGeom>
          <a:solidFill>
            <a:schemeClr val="tx1"/>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75" name="txt240"/>
          <p:cNvSpPr/>
          <p:nvPr/>
        </p:nvSpPr>
        <p:spPr>
          <a:xfrm>
            <a:off x="7936920" y="2011680"/>
            <a:ext cx="2651400" cy="749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chemeClr val="accent1"/>
                </a:solidFill>
                <a:effectLst/>
                <a:uFillTx/>
                <a:latin typeface="Calibri"/>
              </a:rPr>
              <a:t>Frontend</a:t>
            </a:r>
            <a:endParaRPr b="0" lang="es-ES" sz="1300" strike="noStrike" u="none">
              <a:solidFill>
                <a:srgbClr val="ffffff"/>
              </a:solidFill>
              <a:effectLst/>
              <a:uFillTx/>
              <a:latin typeface="Arial"/>
            </a:endParaRPr>
          </a:p>
          <a:p>
            <a:pPr defTabSz="914400">
              <a:lnSpc>
                <a:spcPct val="100000"/>
              </a:lnSpc>
              <a:tabLst>
                <a:tab algn="l" pos="0"/>
              </a:tabLst>
            </a:pPr>
            <a:r>
              <a:rPr b="0" lang="en-US" sz="1100" strike="noStrike" u="none">
                <a:solidFill>
                  <a:schemeClr val="lt2"/>
                </a:solidFill>
                <a:effectLst/>
                <a:uFillTx/>
                <a:latin typeface="Calibri"/>
              </a:rPr>
              <a:t>no envía si no hay géneros ni texto</a:t>
            </a:r>
            <a:endParaRPr b="0" lang="es-ES" sz="1100" strike="noStrike" u="none">
              <a:solidFill>
                <a:srgbClr val="ffffff"/>
              </a:solidFill>
              <a:effectLst/>
              <a:uFillTx/>
              <a:latin typeface="Arial"/>
            </a:endParaRPr>
          </a:p>
        </p:txBody>
      </p:sp>
      <p:sp>
        <p:nvSpPr>
          <p:cNvPr id="276" name="line241"/>
          <p:cNvSpPr/>
          <p:nvPr/>
        </p:nvSpPr>
        <p:spPr>
          <a:xfrm>
            <a:off x="9601200" y="2761200"/>
            <a:ext cx="360" cy="237960"/>
          </a:xfrm>
          <a:prstGeom prst="line">
            <a:avLst/>
          </a:prstGeom>
          <a:ln w="15875">
            <a:solidFill>
              <a:srgbClr val="a9a9bf"/>
            </a:solidFill>
            <a:round/>
            <a:tailEnd len="med" type="triangle" w="me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277" name="card242"/>
          <p:cNvSpPr/>
          <p:nvPr/>
        </p:nvSpPr>
        <p:spPr>
          <a:xfrm>
            <a:off x="7772400" y="2999160"/>
            <a:ext cx="3657240" cy="749520"/>
          </a:xfrm>
          <a:prstGeom prst="roundRect">
            <a:avLst>
              <a:gd name="adj" fmla="val 14634"/>
            </a:avLst>
          </a:prstGeom>
          <a:solidFill>
            <a:schemeClr val="tx1"/>
          </a:solidFill>
          <a:ln w="9525">
            <a:solidFill>
              <a:srgbClr val="9b8c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78" name="txt243"/>
          <p:cNvSpPr/>
          <p:nvPr/>
        </p:nvSpPr>
        <p:spPr>
          <a:xfrm>
            <a:off x="7936920" y="2999160"/>
            <a:ext cx="2651400" cy="749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chemeClr val="accent2"/>
                </a:solidFill>
                <a:effectLst/>
                <a:uFillTx/>
                <a:latin typeface="Calibri"/>
              </a:rPr>
              <a:t>Clerk (App 2)</a:t>
            </a:r>
            <a:endParaRPr b="0" lang="es-ES" sz="1300" strike="noStrike" u="none">
              <a:solidFill>
                <a:srgbClr val="ffffff"/>
              </a:solidFill>
              <a:effectLst/>
              <a:uFillTx/>
              <a:latin typeface="Arial"/>
            </a:endParaRPr>
          </a:p>
          <a:p>
            <a:pPr defTabSz="914400">
              <a:lnSpc>
                <a:spcPct val="100000"/>
              </a:lnSpc>
              <a:tabLst>
                <a:tab algn="l" pos="0"/>
              </a:tabLst>
            </a:pPr>
            <a:r>
              <a:rPr b="0" lang="en-US" sz="1100" strike="noStrike" u="none">
                <a:solidFill>
                  <a:schemeClr val="lt2"/>
                </a:solidFill>
                <a:effectLst/>
                <a:uFillTx/>
                <a:latin typeface="Calibri"/>
              </a:rPr>
              <a:t>token ausente, inválido o caducado</a:t>
            </a:r>
            <a:endParaRPr b="0" lang="es-ES" sz="1100" strike="noStrike" u="none">
              <a:solidFill>
                <a:srgbClr val="ffffff"/>
              </a:solidFill>
              <a:effectLst/>
              <a:uFillTx/>
              <a:latin typeface="Arial"/>
            </a:endParaRPr>
          </a:p>
        </p:txBody>
      </p:sp>
      <p:sp>
        <p:nvSpPr>
          <p:cNvPr id="279" name="txt244"/>
          <p:cNvSpPr/>
          <p:nvPr/>
        </p:nvSpPr>
        <p:spPr>
          <a:xfrm>
            <a:off x="10469880" y="2999160"/>
            <a:ext cx="868320" cy="749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1200" strike="noStrike" u="none">
                <a:solidFill>
                  <a:schemeClr val="accent2"/>
                </a:solidFill>
                <a:effectLst/>
                <a:uFillTx/>
                <a:latin typeface="Calibri"/>
              </a:rPr>
              <a:t>401</a:t>
            </a:r>
            <a:endParaRPr b="0" lang="es-ES" sz="1200" strike="noStrike" u="none">
              <a:solidFill>
                <a:srgbClr val="ffffff"/>
              </a:solidFill>
              <a:effectLst/>
              <a:uFillTx/>
              <a:latin typeface="Arial"/>
            </a:endParaRPr>
          </a:p>
        </p:txBody>
      </p:sp>
      <p:sp>
        <p:nvSpPr>
          <p:cNvPr id="280" name="line245"/>
          <p:cNvSpPr/>
          <p:nvPr/>
        </p:nvSpPr>
        <p:spPr>
          <a:xfrm>
            <a:off x="9601200" y="3749040"/>
            <a:ext cx="360" cy="237600"/>
          </a:xfrm>
          <a:prstGeom prst="line">
            <a:avLst/>
          </a:prstGeom>
          <a:ln w="15875">
            <a:solidFill>
              <a:srgbClr val="a9a9bf"/>
            </a:solidFill>
            <a:round/>
            <a:tailEnd len="med" type="triangle" w="me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281" name="card246"/>
          <p:cNvSpPr/>
          <p:nvPr/>
        </p:nvSpPr>
        <p:spPr>
          <a:xfrm>
            <a:off x="7772400" y="3986640"/>
            <a:ext cx="3657240" cy="749520"/>
          </a:xfrm>
          <a:prstGeom prst="roundRect">
            <a:avLst>
              <a:gd name="adj" fmla="val 14634"/>
            </a:avLst>
          </a:prstGeom>
          <a:solidFill>
            <a:schemeClr val="tx1"/>
          </a:solidFill>
          <a:ln w="9525">
            <a:solidFill>
              <a:srgbClr val="f5b84b"/>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82" name="txt247"/>
          <p:cNvSpPr/>
          <p:nvPr/>
        </p:nvSpPr>
        <p:spPr>
          <a:xfrm>
            <a:off x="7936920" y="3986640"/>
            <a:ext cx="2651400" cy="749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chemeClr val="accent4"/>
                </a:solidFill>
                <a:effectLst/>
                <a:uFillTx/>
                <a:latin typeface="Calibri"/>
              </a:rPr>
              <a:t>Pydantic</a:t>
            </a:r>
            <a:endParaRPr b="0" lang="es-ES" sz="1300" strike="noStrike" u="none">
              <a:solidFill>
                <a:srgbClr val="ffffff"/>
              </a:solidFill>
              <a:effectLst/>
              <a:uFillTx/>
              <a:latin typeface="Arial"/>
            </a:endParaRPr>
          </a:p>
          <a:p>
            <a:pPr defTabSz="914400">
              <a:lnSpc>
                <a:spcPct val="100000"/>
              </a:lnSpc>
              <a:tabLst>
                <a:tab algn="l" pos="0"/>
              </a:tabLst>
            </a:pPr>
            <a:r>
              <a:rPr b="0" lang="en-US" sz="1100" strike="noStrike" u="none">
                <a:solidFill>
                  <a:schemeClr val="lt2"/>
                </a:solidFill>
                <a:effectLst/>
                <a:uFillTx/>
                <a:latin typeface="Calibri"/>
              </a:rPr>
              <a:t>vacío, solo espacios o &gt; 500 caracteres</a:t>
            </a:r>
            <a:endParaRPr b="0" lang="es-ES" sz="1100" strike="noStrike" u="none">
              <a:solidFill>
                <a:srgbClr val="ffffff"/>
              </a:solidFill>
              <a:effectLst/>
              <a:uFillTx/>
              <a:latin typeface="Arial"/>
            </a:endParaRPr>
          </a:p>
        </p:txBody>
      </p:sp>
      <p:sp>
        <p:nvSpPr>
          <p:cNvPr id="283" name="txt248"/>
          <p:cNvSpPr/>
          <p:nvPr/>
        </p:nvSpPr>
        <p:spPr>
          <a:xfrm>
            <a:off x="10469880" y="3986640"/>
            <a:ext cx="868320" cy="749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1200" strike="noStrike" u="none">
                <a:solidFill>
                  <a:schemeClr val="accent4"/>
                </a:solidFill>
                <a:effectLst/>
                <a:uFillTx/>
                <a:latin typeface="Calibri"/>
              </a:rPr>
              <a:t>422</a:t>
            </a:r>
            <a:endParaRPr b="0" lang="es-ES" sz="1200" strike="noStrike" u="none">
              <a:solidFill>
                <a:srgbClr val="ffffff"/>
              </a:solidFill>
              <a:effectLst/>
              <a:uFillTx/>
              <a:latin typeface="Arial"/>
            </a:endParaRPr>
          </a:p>
        </p:txBody>
      </p:sp>
      <p:sp>
        <p:nvSpPr>
          <p:cNvPr id="284" name="line249"/>
          <p:cNvSpPr/>
          <p:nvPr/>
        </p:nvSpPr>
        <p:spPr>
          <a:xfrm>
            <a:off x="9601200" y="4736520"/>
            <a:ext cx="360" cy="237600"/>
          </a:xfrm>
          <a:prstGeom prst="line">
            <a:avLst/>
          </a:prstGeom>
          <a:ln w="15875">
            <a:solidFill>
              <a:srgbClr val="a9a9bf"/>
            </a:solidFill>
            <a:round/>
            <a:tailEnd len="med" type="triangle" w="me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285" name="card250"/>
          <p:cNvSpPr/>
          <p:nvPr/>
        </p:nvSpPr>
        <p:spPr>
          <a:xfrm>
            <a:off x="7772400" y="4974480"/>
            <a:ext cx="3657240" cy="749520"/>
          </a:xfrm>
          <a:prstGeom prst="roundRect">
            <a:avLst>
              <a:gd name="adj" fmla="val 14634"/>
            </a:avLst>
          </a:prstGeom>
          <a:solidFill>
            <a:schemeClr val="tx1"/>
          </a:solidFill>
          <a:ln w="9525">
            <a:solidFill>
              <a:srgbClr val="4fd1e8"/>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86" name="txt251"/>
          <p:cNvSpPr/>
          <p:nvPr/>
        </p:nvSpPr>
        <p:spPr>
          <a:xfrm>
            <a:off x="7936920" y="4974480"/>
            <a:ext cx="2651400" cy="7495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chemeClr val="accent3"/>
                </a:solidFill>
                <a:effectLst/>
                <a:uFillTx/>
                <a:latin typeface="Calibri"/>
              </a:rPr>
              <a:t>Gemini</a:t>
            </a:r>
            <a:endParaRPr b="0" lang="es-ES" sz="1300" strike="noStrike" u="none">
              <a:solidFill>
                <a:srgbClr val="ffffff"/>
              </a:solidFill>
              <a:effectLst/>
              <a:uFillTx/>
              <a:latin typeface="Arial"/>
            </a:endParaRPr>
          </a:p>
          <a:p>
            <a:pPr defTabSz="914400">
              <a:lnSpc>
                <a:spcPct val="100000"/>
              </a:lnSpc>
              <a:tabLst>
                <a:tab algn="l" pos="0"/>
              </a:tabLst>
            </a:pPr>
            <a:r>
              <a:rPr b="0" lang="en-US" sz="1100" strike="noStrike" u="none">
                <a:solidFill>
                  <a:schemeClr val="lt2"/>
                </a:solidFill>
                <a:effectLst/>
                <a:uFillTx/>
                <a:latin typeface="Calibri"/>
              </a:rPr>
              <a:t>una llamada con la clave privada</a:t>
            </a:r>
            <a:endParaRPr b="0" lang="es-ES" sz="1100" strike="noStrike" u="none">
              <a:solidFill>
                <a:srgbClr val="ffffff"/>
              </a:solidFill>
              <a:effectLst/>
              <a:uFillTx/>
              <a:latin typeface="Arial"/>
            </a:endParaRPr>
          </a:p>
        </p:txBody>
      </p:sp>
      <p:sp>
        <p:nvSpPr>
          <p:cNvPr id="287" name="txt252"/>
          <p:cNvSpPr/>
          <p:nvPr/>
        </p:nvSpPr>
        <p:spPr>
          <a:xfrm>
            <a:off x="10469880" y="4974480"/>
            <a:ext cx="868320" cy="7495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1200" strike="noStrike" u="none">
                <a:solidFill>
                  <a:schemeClr val="accent3"/>
                </a:solidFill>
                <a:effectLst/>
                <a:uFillTx/>
                <a:latin typeface="Calibri"/>
              </a:rPr>
              <a:t>502 · 504</a:t>
            </a:r>
            <a:endParaRPr b="0" lang="es-ES" sz="1200" strike="noStrike" u="none">
              <a:solidFill>
                <a:srgbClr val="ffffff"/>
              </a:solidFill>
              <a:effectLst/>
              <a:uFillTx/>
              <a:latin typeface="Arial"/>
            </a:endParaRPr>
          </a:p>
        </p:txBody>
      </p:sp>
      <p:sp>
        <p:nvSpPr>
          <p:cNvPr id="288" name="PlaceHolder 3"/>
          <p:cNvSpPr>
            <a:spLocks noGrp="1"/>
          </p:cNvSpPr>
          <p:nvPr>
            <p:ph type="sldNum" idx="11"/>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1CF53E64-201D-4F20-BB70-582AB570B4C4}"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Diagrama de casos de uso</a:t>
            </a:r>
            <a:endParaRPr b="0" lang="es-ES" sz="3400" strike="noStrike" u="none">
              <a:solidFill>
                <a:schemeClr val="dk1"/>
              </a:solidFill>
              <a:effectLst/>
              <a:uFillTx/>
              <a:latin typeface="Calibri"/>
            </a:endParaRPr>
          </a:p>
        </p:txBody>
      </p:sp>
      <p:sp>
        <p:nvSpPr>
          <p:cNvPr id="290"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DIAGRAMAS · 1 / 3</a:t>
            </a:r>
            <a:endParaRPr b="0" lang="es-ES" sz="1200" strike="noStrike" u="none">
              <a:solidFill>
                <a:schemeClr val="dk1"/>
              </a:solidFill>
              <a:effectLst/>
              <a:uFillTx/>
              <a:latin typeface="Calibri"/>
            </a:endParaRPr>
          </a:p>
        </p:txBody>
      </p:sp>
      <p:sp>
        <p:nvSpPr>
          <p:cNvPr id="291" name="presenta253"/>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92" name="txt254"/>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David Molina</a:t>
            </a:r>
            <a:endParaRPr b="0" lang="es-ES" sz="1100" strike="noStrike" u="none">
              <a:solidFill>
                <a:srgbClr val="ffffff"/>
              </a:solidFill>
              <a:effectLst/>
              <a:uFillTx/>
              <a:latin typeface="Arial"/>
            </a:endParaRPr>
          </a:p>
        </p:txBody>
      </p:sp>
      <p:sp>
        <p:nvSpPr>
          <p:cNvPr id="293" name="actorHead"/>
          <p:cNvSpPr/>
          <p:nvPr/>
        </p:nvSpPr>
        <p:spPr>
          <a:xfrm>
            <a:off x="850320" y="2743200"/>
            <a:ext cx="402120" cy="402120"/>
          </a:xfrm>
          <a:prstGeom prst="ellipse">
            <a:avLst/>
          </a:prstGeom>
          <a:solidFill>
            <a:schemeClr val="tx2"/>
          </a:solidFill>
          <a:ln w="19050">
            <a:solidFill>
              <a:srgbClr val="ffff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294" name="line255"/>
          <p:cNvSpPr/>
          <p:nvPr/>
        </p:nvSpPr>
        <p:spPr>
          <a:xfrm>
            <a:off x="1051560" y="3145320"/>
            <a:ext cx="360" cy="649440"/>
          </a:xfrm>
          <a:prstGeom prst="line">
            <a:avLst/>
          </a:prstGeom>
          <a:ln w="19050">
            <a:solidFill>
              <a:srgbClr val="ffffff"/>
            </a:solidFill>
            <a:roun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295" name="line256"/>
          <p:cNvSpPr/>
          <p:nvPr/>
        </p:nvSpPr>
        <p:spPr>
          <a:xfrm>
            <a:off x="703800" y="3337560"/>
            <a:ext cx="695160" cy="360"/>
          </a:xfrm>
          <a:prstGeom prst="line">
            <a:avLst/>
          </a:prstGeom>
          <a:ln w="19050">
            <a:solidFill>
              <a:srgbClr val="ffffff"/>
            </a:solidFill>
            <a:roun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296" name="line257"/>
          <p:cNvSpPr/>
          <p:nvPr/>
        </p:nvSpPr>
        <p:spPr>
          <a:xfrm flipH="1">
            <a:off x="777240" y="3794760"/>
            <a:ext cx="274320" cy="411480"/>
          </a:xfrm>
          <a:prstGeom prst="line">
            <a:avLst/>
          </a:prstGeom>
          <a:ln w="19050">
            <a:solidFill>
              <a:srgbClr val="ffffff"/>
            </a:solidFill>
            <a:roun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297" name="line258"/>
          <p:cNvSpPr/>
          <p:nvPr/>
        </p:nvSpPr>
        <p:spPr>
          <a:xfrm>
            <a:off x="1051560" y="3794760"/>
            <a:ext cx="274320" cy="411480"/>
          </a:xfrm>
          <a:prstGeom prst="line">
            <a:avLst/>
          </a:prstGeom>
          <a:ln w="19050">
            <a:solidFill>
              <a:srgbClr val="ffffff"/>
            </a:solidFill>
            <a:roun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298" name="txt259"/>
          <p:cNvSpPr/>
          <p:nvPr/>
        </p:nvSpPr>
        <p:spPr>
          <a:xfrm>
            <a:off x="502920" y="4297680"/>
            <a:ext cx="1096920" cy="27396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300" strike="noStrike" u="none">
                <a:solidFill>
                  <a:schemeClr val="lt1"/>
                </a:solidFill>
                <a:effectLst/>
                <a:uFillTx/>
                <a:latin typeface="Calibri"/>
              </a:rPr>
              <a:t>Usuario</a:t>
            </a:r>
            <a:endParaRPr b="0" lang="es-ES" sz="1300" strike="noStrike" u="none">
              <a:solidFill>
                <a:srgbClr val="ffffff"/>
              </a:solidFill>
              <a:effectLst/>
              <a:uFillTx/>
              <a:latin typeface="Arial"/>
            </a:endParaRPr>
          </a:p>
        </p:txBody>
      </p:sp>
      <p:sp>
        <p:nvSpPr>
          <p:cNvPr id="299" name="card260"/>
          <p:cNvSpPr/>
          <p:nvPr/>
        </p:nvSpPr>
        <p:spPr>
          <a:xfrm>
            <a:off x="2103120" y="1371600"/>
            <a:ext cx="7086240" cy="4663080"/>
          </a:xfrm>
          <a:prstGeom prst="roundRect">
            <a:avLst>
              <a:gd name="adj" fmla="val 2353"/>
            </a:avLst>
          </a:prstGeom>
          <a:solidFill>
            <a:schemeClr val="tx1"/>
          </a:solidFill>
          <a:ln w="9525">
            <a:solidFill>
              <a:schemeClr val="lt2">
                <a:alpha val="50000"/>
              </a:schemeClr>
            </a:solidFill>
            <a:prstDash val="dash"/>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00" name="txt261"/>
          <p:cNvSpPr/>
          <p:nvPr/>
        </p:nvSpPr>
        <p:spPr>
          <a:xfrm>
            <a:off x="2286000" y="1444680"/>
            <a:ext cx="274284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trike="noStrike" u="none">
                <a:solidFill>
                  <a:schemeClr val="accent1"/>
                </a:solidFill>
                <a:effectLst/>
                <a:uFillTx/>
                <a:latin typeface="Calibri"/>
              </a:rPr>
              <a:t>Sistema Musicfy</a:t>
            </a:r>
            <a:endParaRPr b="0" lang="es-ES" sz="1200" strike="noStrike" u="none">
              <a:solidFill>
                <a:srgbClr val="ffffff"/>
              </a:solidFill>
              <a:effectLst/>
              <a:uFillTx/>
              <a:latin typeface="Arial"/>
            </a:endParaRPr>
          </a:p>
        </p:txBody>
      </p:sp>
      <p:sp>
        <p:nvSpPr>
          <p:cNvPr id="301" name="uc262"/>
          <p:cNvSpPr/>
          <p:nvPr/>
        </p:nvSpPr>
        <p:spPr>
          <a:xfrm>
            <a:off x="2423160" y="1828800"/>
            <a:ext cx="2605680" cy="685440"/>
          </a:xfrm>
          <a:prstGeom prst="ellipse">
            <a:avLst/>
          </a:prstGeom>
          <a:solidFill>
            <a:schemeClr val="tx2"/>
          </a:solidFill>
          <a:ln w="15875">
            <a:solidFill>
              <a:srgbClr val="9b8c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02" name="txt263"/>
          <p:cNvSpPr/>
          <p:nvPr/>
        </p:nvSpPr>
        <p:spPr>
          <a:xfrm>
            <a:off x="2560320" y="1828800"/>
            <a:ext cx="2331360" cy="6854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chemeClr val="lt1"/>
                </a:solidFill>
                <a:effectLst/>
                <a:uFillTx/>
                <a:latin typeface="Calibri"/>
              </a:rPr>
              <a:t>Iniciar sesión (App 2)</a:t>
            </a:r>
            <a:endParaRPr b="0" lang="es-ES" sz="1200" strike="noStrike" u="none">
              <a:solidFill>
                <a:srgbClr val="ffffff"/>
              </a:solidFill>
              <a:effectLst/>
              <a:uFillTx/>
              <a:latin typeface="Arial"/>
            </a:endParaRPr>
          </a:p>
        </p:txBody>
      </p:sp>
      <p:sp>
        <p:nvSpPr>
          <p:cNvPr id="303" name="uc264"/>
          <p:cNvSpPr/>
          <p:nvPr/>
        </p:nvSpPr>
        <p:spPr>
          <a:xfrm>
            <a:off x="2423160" y="3154680"/>
            <a:ext cx="2605680" cy="685440"/>
          </a:xfrm>
          <a:prstGeom prst="ellipse">
            <a:avLst/>
          </a:prstGeom>
          <a:solidFill>
            <a:schemeClr val="tx2"/>
          </a:solidFill>
          <a:ln w="1587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04" name="txt265"/>
          <p:cNvSpPr/>
          <p:nvPr/>
        </p:nvSpPr>
        <p:spPr>
          <a:xfrm>
            <a:off x="2560320" y="3154680"/>
            <a:ext cx="2331360" cy="6854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chemeClr val="lt1"/>
                </a:solidFill>
                <a:effectLst/>
                <a:uFillTx/>
                <a:latin typeface="Calibri"/>
              </a:rPr>
              <a:t>Pedir recomendaciones</a:t>
            </a:r>
            <a:endParaRPr b="0" lang="es-ES" sz="1200" strike="noStrike" u="none">
              <a:solidFill>
                <a:srgbClr val="ffffff"/>
              </a:solidFill>
              <a:effectLst/>
              <a:uFillTx/>
              <a:latin typeface="Arial"/>
            </a:endParaRPr>
          </a:p>
        </p:txBody>
      </p:sp>
      <p:sp>
        <p:nvSpPr>
          <p:cNvPr id="305" name="uc266"/>
          <p:cNvSpPr/>
          <p:nvPr/>
        </p:nvSpPr>
        <p:spPr>
          <a:xfrm>
            <a:off x="2423160" y="4526280"/>
            <a:ext cx="2605680" cy="685440"/>
          </a:xfrm>
          <a:prstGeom prst="ellipse">
            <a:avLst/>
          </a:prstGeom>
          <a:solidFill>
            <a:schemeClr val="tx2"/>
          </a:solidFill>
          <a:ln w="1587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06" name="txt267"/>
          <p:cNvSpPr/>
          <p:nvPr/>
        </p:nvSpPr>
        <p:spPr>
          <a:xfrm>
            <a:off x="2560320" y="4526280"/>
            <a:ext cx="2331360" cy="6854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chemeClr val="lt1"/>
                </a:solidFill>
                <a:effectLst/>
                <a:uFillTx/>
                <a:latin typeface="Calibri"/>
              </a:rPr>
              <a:t>Ver recomendaciones</a:t>
            </a:r>
            <a:endParaRPr b="0" lang="es-ES" sz="1200" strike="noStrike" u="none">
              <a:solidFill>
                <a:srgbClr val="ffffff"/>
              </a:solidFill>
              <a:effectLst/>
              <a:uFillTx/>
              <a:latin typeface="Arial"/>
            </a:endParaRPr>
          </a:p>
        </p:txBody>
      </p:sp>
      <p:sp>
        <p:nvSpPr>
          <p:cNvPr id="307" name="uc268"/>
          <p:cNvSpPr/>
          <p:nvPr/>
        </p:nvSpPr>
        <p:spPr>
          <a:xfrm>
            <a:off x="6263640" y="1828800"/>
            <a:ext cx="2697120" cy="685440"/>
          </a:xfrm>
          <a:prstGeom prst="ellipse">
            <a:avLst/>
          </a:prstGeom>
          <a:solidFill>
            <a:schemeClr val="tx2"/>
          </a:solidFill>
          <a:ln w="15875">
            <a:solidFill>
              <a:srgbClr val="9b8c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08" name="txt269"/>
          <p:cNvSpPr/>
          <p:nvPr/>
        </p:nvSpPr>
        <p:spPr>
          <a:xfrm>
            <a:off x="6400800" y="1828800"/>
            <a:ext cx="2422800" cy="6854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chemeClr val="lt1"/>
                </a:solidFill>
                <a:effectLst/>
                <a:uFillTx/>
                <a:latin typeface="Calibri"/>
              </a:rPr>
              <a:t>Verificar token (App 2)</a:t>
            </a:r>
            <a:endParaRPr b="0" lang="es-ES" sz="1200" strike="noStrike" u="none">
              <a:solidFill>
                <a:srgbClr val="ffffff"/>
              </a:solidFill>
              <a:effectLst/>
              <a:uFillTx/>
              <a:latin typeface="Arial"/>
            </a:endParaRPr>
          </a:p>
        </p:txBody>
      </p:sp>
      <p:sp>
        <p:nvSpPr>
          <p:cNvPr id="309" name="uc270"/>
          <p:cNvSpPr/>
          <p:nvPr/>
        </p:nvSpPr>
        <p:spPr>
          <a:xfrm>
            <a:off x="6263640" y="2788920"/>
            <a:ext cx="2697120" cy="685440"/>
          </a:xfrm>
          <a:prstGeom prst="ellipse">
            <a:avLst/>
          </a:prstGeom>
          <a:solidFill>
            <a:schemeClr val="tx2"/>
          </a:solidFill>
          <a:ln w="1587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10" name="txt271"/>
          <p:cNvSpPr/>
          <p:nvPr/>
        </p:nvSpPr>
        <p:spPr>
          <a:xfrm>
            <a:off x="6400800" y="2788920"/>
            <a:ext cx="2422800" cy="6854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chemeClr val="lt1"/>
                </a:solidFill>
                <a:effectLst/>
                <a:uFillTx/>
                <a:latin typeface="Calibri"/>
              </a:rPr>
              <a:t>Validar entrada</a:t>
            </a:r>
            <a:endParaRPr b="0" lang="es-ES" sz="1200" strike="noStrike" u="none">
              <a:solidFill>
                <a:srgbClr val="ffffff"/>
              </a:solidFill>
              <a:effectLst/>
              <a:uFillTx/>
              <a:latin typeface="Arial"/>
            </a:endParaRPr>
          </a:p>
        </p:txBody>
      </p:sp>
      <p:sp>
        <p:nvSpPr>
          <p:cNvPr id="311" name="uc272"/>
          <p:cNvSpPr/>
          <p:nvPr/>
        </p:nvSpPr>
        <p:spPr>
          <a:xfrm>
            <a:off x="6263640" y="3749040"/>
            <a:ext cx="2697120" cy="685440"/>
          </a:xfrm>
          <a:prstGeom prst="ellipse">
            <a:avLst/>
          </a:prstGeom>
          <a:solidFill>
            <a:schemeClr val="tx2"/>
          </a:solidFill>
          <a:ln w="1587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12" name="txt273"/>
          <p:cNvSpPr/>
          <p:nvPr/>
        </p:nvSpPr>
        <p:spPr>
          <a:xfrm>
            <a:off x="6400800" y="3749040"/>
            <a:ext cx="2422800" cy="6854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chemeClr val="lt1"/>
                </a:solidFill>
                <a:effectLst/>
                <a:uFillTx/>
                <a:latin typeface="Calibri"/>
              </a:rPr>
              <a:t>Consultar la IA</a:t>
            </a:r>
            <a:endParaRPr b="0" lang="es-ES" sz="1200" strike="noStrike" u="none">
              <a:solidFill>
                <a:srgbClr val="ffffff"/>
              </a:solidFill>
              <a:effectLst/>
              <a:uFillTx/>
              <a:latin typeface="Arial"/>
            </a:endParaRPr>
          </a:p>
        </p:txBody>
      </p:sp>
      <p:sp>
        <p:nvSpPr>
          <p:cNvPr id="313" name="uc274"/>
          <p:cNvSpPr/>
          <p:nvPr/>
        </p:nvSpPr>
        <p:spPr>
          <a:xfrm>
            <a:off x="6263640" y="4937760"/>
            <a:ext cx="2697120" cy="685440"/>
          </a:xfrm>
          <a:prstGeom prst="ellipse">
            <a:avLst/>
          </a:prstGeom>
          <a:solidFill>
            <a:schemeClr val="tx2"/>
          </a:solidFill>
          <a:ln w="15875">
            <a:solidFill>
              <a:srgbClr val="f2667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14" name="txt275"/>
          <p:cNvSpPr/>
          <p:nvPr/>
        </p:nvSpPr>
        <p:spPr>
          <a:xfrm>
            <a:off x="6400800" y="4937760"/>
            <a:ext cx="2422800" cy="6854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chemeClr val="lt1"/>
                </a:solidFill>
                <a:effectLst/>
                <a:uFillTx/>
                <a:latin typeface="Calibri"/>
              </a:rPr>
              <a:t>Ver aviso de error</a:t>
            </a:r>
            <a:endParaRPr b="0" lang="es-ES" sz="1200" strike="noStrike" u="none">
              <a:solidFill>
                <a:srgbClr val="ffffff"/>
              </a:solidFill>
              <a:effectLst/>
              <a:uFillTx/>
              <a:latin typeface="Arial"/>
            </a:endParaRPr>
          </a:p>
        </p:txBody>
      </p:sp>
      <p:sp>
        <p:nvSpPr>
          <p:cNvPr id="315" name="line276"/>
          <p:cNvSpPr/>
          <p:nvPr/>
        </p:nvSpPr>
        <p:spPr>
          <a:xfrm flipV="1">
            <a:off x="1463040" y="2176200"/>
            <a:ext cx="960120" cy="1161360"/>
          </a:xfrm>
          <a:prstGeom prst="line">
            <a:avLst/>
          </a:prstGeom>
          <a:ln w="15875">
            <a:solidFill>
              <a:srgbClr val="ffffff"/>
            </a:solidFill>
            <a:roun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316" name="line277"/>
          <p:cNvSpPr/>
          <p:nvPr/>
        </p:nvSpPr>
        <p:spPr>
          <a:xfrm>
            <a:off x="1463040" y="3337560"/>
            <a:ext cx="960120" cy="164520"/>
          </a:xfrm>
          <a:prstGeom prst="line">
            <a:avLst/>
          </a:prstGeom>
          <a:ln w="15875">
            <a:solidFill>
              <a:srgbClr val="ffffff"/>
            </a:solidFill>
            <a:roun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317" name="line278"/>
          <p:cNvSpPr/>
          <p:nvPr/>
        </p:nvSpPr>
        <p:spPr>
          <a:xfrm>
            <a:off x="1463040" y="3337560"/>
            <a:ext cx="960120" cy="1536120"/>
          </a:xfrm>
          <a:prstGeom prst="line">
            <a:avLst/>
          </a:prstGeom>
          <a:ln w="15875">
            <a:solidFill>
              <a:srgbClr val="ffffff"/>
            </a:solidFill>
            <a:roun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318" name="line279"/>
          <p:cNvSpPr/>
          <p:nvPr/>
        </p:nvSpPr>
        <p:spPr>
          <a:xfrm flipV="1">
            <a:off x="5029200" y="2194560"/>
            <a:ext cx="1234440" cy="1143000"/>
          </a:xfrm>
          <a:prstGeom prst="line">
            <a:avLst/>
          </a:prstGeom>
          <a:ln w="15875">
            <a:solidFill>
              <a:srgbClr val="e86cca"/>
            </a:solidFill>
            <a:prstDash val="dash"/>
            <a:round/>
            <a:tailEnd len="med" type="triangle" w="me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319" name="line280"/>
          <p:cNvSpPr/>
          <p:nvPr/>
        </p:nvSpPr>
        <p:spPr>
          <a:xfrm flipV="1">
            <a:off x="5029200" y="3126960"/>
            <a:ext cx="1234440" cy="347760"/>
          </a:xfrm>
          <a:prstGeom prst="line">
            <a:avLst/>
          </a:prstGeom>
          <a:ln w="15875">
            <a:solidFill>
              <a:srgbClr val="e86cca"/>
            </a:solidFill>
            <a:prstDash val="dash"/>
            <a:round/>
            <a:tailEnd len="med" type="triangle" w="me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320" name="line281"/>
          <p:cNvSpPr/>
          <p:nvPr/>
        </p:nvSpPr>
        <p:spPr>
          <a:xfrm>
            <a:off x="5029200" y="3611880"/>
            <a:ext cx="1234440" cy="457200"/>
          </a:xfrm>
          <a:prstGeom prst="line">
            <a:avLst/>
          </a:prstGeom>
          <a:ln w="15875">
            <a:solidFill>
              <a:srgbClr val="e86cca"/>
            </a:solidFill>
            <a:prstDash val="dash"/>
            <a:round/>
            <a:tailEnd len="med" type="triangle" w="me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321" name="txt282"/>
          <p:cNvSpPr/>
          <p:nvPr/>
        </p:nvSpPr>
        <p:spPr>
          <a:xfrm>
            <a:off x="5074920" y="2606040"/>
            <a:ext cx="914040" cy="228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000" strike="noStrike" u="none">
                <a:solidFill>
                  <a:schemeClr val="accent1"/>
                </a:solidFill>
                <a:effectLst/>
                <a:uFillTx/>
                <a:latin typeface="Calibri"/>
              </a:rPr>
              <a:t>«include»</a:t>
            </a:r>
            <a:endParaRPr b="0" lang="es-ES" sz="1000" strike="noStrike" u="none">
              <a:solidFill>
                <a:srgbClr val="ffffff"/>
              </a:solidFill>
              <a:effectLst/>
              <a:uFillTx/>
              <a:latin typeface="Arial"/>
            </a:endParaRPr>
          </a:p>
        </p:txBody>
      </p:sp>
      <p:sp>
        <p:nvSpPr>
          <p:cNvPr id="322" name="line283"/>
          <p:cNvSpPr/>
          <p:nvPr/>
        </p:nvSpPr>
        <p:spPr>
          <a:xfrm flipH="1" flipV="1">
            <a:off x="4846320" y="3840480"/>
            <a:ext cx="1417320" cy="1417320"/>
          </a:xfrm>
          <a:prstGeom prst="line">
            <a:avLst/>
          </a:prstGeom>
          <a:ln w="15875">
            <a:solidFill>
              <a:srgbClr val="f2667a"/>
            </a:solidFill>
            <a:prstDash val="dash"/>
            <a:round/>
            <a:tailEnd len="med" type="triangle" w="me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323" name="txt284"/>
          <p:cNvSpPr/>
          <p:nvPr/>
        </p:nvSpPr>
        <p:spPr>
          <a:xfrm>
            <a:off x="4617720" y="4434840"/>
            <a:ext cx="914040" cy="228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000" strike="noStrike" u="none">
                <a:solidFill>
                  <a:schemeClr val="accent5"/>
                </a:solidFill>
                <a:effectLst/>
                <a:uFillTx/>
                <a:latin typeface="Calibri"/>
              </a:rPr>
              <a:t>«extend»</a:t>
            </a:r>
            <a:endParaRPr b="0" lang="es-ES" sz="1000" strike="noStrike" u="none">
              <a:solidFill>
                <a:srgbClr val="ffffff"/>
              </a:solidFill>
              <a:effectLst/>
              <a:uFillTx/>
              <a:latin typeface="Arial"/>
            </a:endParaRPr>
          </a:p>
        </p:txBody>
      </p:sp>
      <p:sp>
        <p:nvSpPr>
          <p:cNvPr id="324" name="txt285"/>
          <p:cNvSpPr/>
          <p:nvPr/>
        </p:nvSpPr>
        <p:spPr>
          <a:xfrm>
            <a:off x="6263640" y="5669280"/>
            <a:ext cx="2697120" cy="25560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000" strike="noStrike" u="none">
                <a:solidFill>
                  <a:schemeClr val="accent5"/>
                </a:solidFill>
                <a:effectLst/>
                <a:uFillTx/>
                <a:latin typeface="Calibri"/>
              </a:rPr>
              <a:t>A1 · 422   A2 · 502/504   A3 · 401</a:t>
            </a:r>
            <a:endParaRPr b="0" lang="es-ES" sz="1000" strike="noStrike" u="none">
              <a:solidFill>
                <a:srgbClr val="ffffff"/>
              </a:solidFill>
              <a:effectLst/>
              <a:uFillTx/>
              <a:latin typeface="Arial"/>
            </a:endParaRPr>
          </a:p>
        </p:txBody>
      </p:sp>
      <p:sp>
        <p:nvSpPr>
          <p:cNvPr id="325" name="card286"/>
          <p:cNvSpPr/>
          <p:nvPr/>
        </p:nvSpPr>
        <p:spPr>
          <a:xfrm>
            <a:off x="9646920" y="1828800"/>
            <a:ext cx="2011320" cy="685440"/>
          </a:xfrm>
          <a:prstGeom prst="roundRect">
            <a:avLst>
              <a:gd name="adj" fmla="val 16000"/>
            </a:avLst>
          </a:prstGeom>
          <a:solidFill>
            <a:schemeClr val="tx2"/>
          </a:solidFill>
          <a:ln w="15875">
            <a:solidFill>
              <a:srgbClr val="9b8c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26" name="txt287"/>
          <p:cNvSpPr/>
          <p:nvPr/>
        </p:nvSpPr>
        <p:spPr>
          <a:xfrm>
            <a:off x="9720000" y="1828800"/>
            <a:ext cx="1865160" cy="6854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accent2"/>
                </a:solidFill>
                <a:effectLst/>
                <a:uFillTx/>
                <a:latin typeface="Calibri"/>
              </a:rPr>
              <a:t>Clerk</a:t>
            </a:r>
            <a:endParaRPr b="0" lang="es-ES" sz="1300" strike="noStrike" u="none">
              <a:solidFill>
                <a:srgbClr val="ffffff"/>
              </a:solidFill>
              <a:effectLst/>
              <a:uFillTx/>
              <a:latin typeface="Arial"/>
            </a:endParaRPr>
          </a:p>
          <a:p>
            <a:pPr algn="ctr" defTabSz="914400">
              <a:lnSpc>
                <a:spcPct val="100000"/>
              </a:lnSpc>
              <a:tabLst>
                <a:tab algn="l" pos="0"/>
              </a:tabLst>
            </a:pPr>
            <a:r>
              <a:rPr b="0" lang="en-US" sz="1100" strike="noStrike" u="none">
                <a:solidFill>
                  <a:schemeClr val="lt2"/>
                </a:solidFill>
                <a:effectLst/>
                <a:uFillTx/>
                <a:latin typeface="Calibri"/>
              </a:rPr>
              <a:t>identidad</a:t>
            </a:r>
            <a:endParaRPr b="0" lang="es-ES" sz="1100" strike="noStrike" u="none">
              <a:solidFill>
                <a:srgbClr val="ffffff"/>
              </a:solidFill>
              <a:effectLst/>
              <a:uFillTx/>
              <a:latin typeface="Arial"/>
            </a:endParaRPr>
          </a:p>
        </p:txBody>
      </p:sp>
      <p:sp>
        <p:nvSpPr>
          <p:cNvPr id="327" name="card288"/>
          <p:cNvSpPr/>
          <p:nvPr/>
        </p:nvSpPr>
        <p:spPr>
          <a:xfrm>
            <a:off x="9646920" y="3749040"/>
            <a:ext cx="2011320" cy="685440"/>
          </a:xfrm>
          <a:prstGeom prst="roundRect">
            <a:avLst>
              <a:gd name="adj" fmla="val 16000"/>
            </a:avLst>
          </a:prstGeom>
          <a:solidFill>
            <a:schemeClr val="tx2"/>
          </a:solidFill>
          <a:ln w="15875">
            <a:solidFill>
              <a:srgbClr val="4fd1e8"/>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28" name="txt289"/>
          <p:cNvSpPr/>
          <p:nvPr/>
        </p:nvSpPr>
        <p:spPr>
          <a:xfrm>
            <a:off x="9720000" y="3749040"/>
            <a:ext cx="1865160" cy="6854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accent3"/>
                </a:solidFill>
                <a:effectLst/>
                <a:uFillTx/>
                <a:latin typeface="Calibri"/>
              </a:rPr>
              <a:t>API de Gemini</a:t>
            </a:r>
            <a:endParaRPr b="0" lang="es-ES" sz="1300" strike="noStrike" u="none">
              <a:solidFill>
                <a:srgbClr val="ffffff"/>
              </a:solidFill>
              <a:effectLst/>
              <a:uFillTx/>
              <a:latin typeface="Arial"/>
            </a:endParaRPr>
          </a:p>
          <a:p>
            <a:pPr algn="ctr" defTabSz="914400">
              <a:lnSpc>
                <a:spcPct val="100000"/>
              </a:lnSpc>
              <a:tabLst>
                <a:tab algn="l" pos="0"/>
              </a:tabLst>
            </a:pPr>
            <a:r>
              <a:rPr b="0" lang="en-US" sz="1100" strike="noStrike" u="none">
                <a:solidFill>
                  <a:schemeClr val="lt2"/>
                </a:solidFill>
                <a:effectLst/>
                <a:uFillTx/>
                <a:latin typeface="Calibri"/>
              </a:rPr>
              <a:t>proveedor de IA</a:t>
            </a:r>
            <a:endParaRPr b="0" lang="es-ES" sz="1100" strike="noStrike" u="none">
              <a:solidFill>
                <a:srgbClr val="ffffff"/>
              </a:solidFill>
              <a:effectLst/>
              <a:uFillTx/>
              <a:latin typeface="Arial"/>
            </a:endParaRPr>
          </a:p>
        </p:txBody>
      </p:sp>
      <p:sp>
        <p:nvSpPr>
          <p:cNvPr id="329" name="line290"/>
          <p:cNvSpPr/>
          <p:nvPr/>
        </p:nvSpPr>
        <p:spPr>
          <a:xfrm>
            <a:off x="8961120" y="2176200"/>
            <a:ext cx="685800" cy="360"/>
          </a:xfrm>
          <a:prstGeom prst="line">
            <a:avLst/>
          </a:prstGeom>
          <a:ln w="15875">
            <a:solidFill>
              <a:srgbClr val="9b8cff"/>
            </a:solidFill>
            <a:roun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330" name="line291"/>
          <p:cNvSpPr/>
          <p:nvPr/>
        </p:nvSpPr>
        <p:spPr>
          <a:xfrm>
            <a:off x="8961120" y="4096440"/>
            <a:ext cx="685800" cy="360"/>
          </a:xfrm>
          <a:prstGeom prst="line">
            <a:avLst/>
          </a:prstGeom>
          <a:ln w="15875">
            <a:solidFill>
              <a:srgbClr val="4fd1e8"/>
            </a:solidFill>
            <a:roun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331" name="PlaceHolder 3"/>
          <p:cNvSpPr>
            <a:spLocks noGrp="1"/>
          </p:cNvSpPr>
          <p:nvPr>
            <p:ph type="sldNum" idx="12"/>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1ECF9EC2-E7CF-42C7-9018-49ABD2E7D5A8}"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2"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Diagrama de secuencia (App 2)</a:t>
            </a:r>
            <a:endParaRPr b="0" lang="es-ES" sz="3400" strike="noStrike" u="none">
              <a:solidFill>
                <a:schemeClr val="dk1"/>
              </a:solidFill>
              <a:effectLst/>
              <a:uFillTx/>
              <a:latin typeface="Calibri"/>
            </a:endParaRPr>
          </a:p>
        </p:txBody>
      </p:sp>
      <p:sp>
        <p:nvSpPr>
          <p:cNvPr id="333"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DIAGRAMAS · 2 / 3</a:t>
            </a:r>
            <a:endParaRPr b="0" lang="es-ES" sz="1200" strike="noStrike" u="none">
              <a:solidFill>
                <a:schemeClr val="dk1"/>
              </a:solidFill>
              <a:effectLst/>
              <a:uFillTx/>
              <a:latin typeface="Calibri"/>
            </a:endParaRPr>
          </a:p>
        </p:txBody>
      </p:sp>
      <p:sp>
        <p:nvSpPr>
          <p:cNvPr id="334" name="presenta292"/>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35" name="txt293"/>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Mario Luna</a:t>
            </a:r>
            <a:endParaRPr b="0" lang="es-ES" sz="1100" strike="noStrike" u="none">
              <a:solidFill>
                <a:srgbClr val="ffffff"/>
              </a:solidFill>
              <a:effectLst/>
              <a:uFillTx/>
              <a:latin typeface="Arial"/>
            </a:endParaRPr>
          </a:p>
        </p:txBody>
      </p:sp>
      <p:sp>
        <p:nvSpPr>
          <p:cNvPr id="336" name="card294"/>
          <p:cNvSpPr/>
          <p:nvPr/>
        </p:nvSpPr>
        <p:spPr>
          <a:xfrm>
            <a:off x="365760" y="1298520"/>
            <a:ext cx="1919880" cy="456840"/>
          </a:xfrm>
          <a:prstGeom prst="roundRect">
            <a:avLst>
              <a:gd name="adj" fmla="val 24000"/>
            </a:avLst>
          </a:prstGeom>
          <a:solidFill>
            <a:schemeClr val="tx2"/>
          </a:solidFill>
          <a:ln w="15875">
            <a:solidFill>
              <a:srgbClr val="ffff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37" name="txt295"/>
          <p:cNvSpPr/>
          <p:nvPr/>
        </p:nvSpPr>
        <p:spPr>
          <a:xfrm>
            <a:off x="438840" y="1298520"/>
            <a:ext cx="177372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chemeClr val="lt1"/>
                </a:solidFill>
                <a:effectLst/>
                <a:uFillTx/>
                <a:latin typeface="Calibri"/>
              </a:rPr>
              <a:t>Usuario</a:t>
            </a:r>
            <a:endParaRPr b="0" lang="es-ES" sz="1200" strike="noStrike" u="none">
              <a:solidFill>
                <a:srgbClr val="ffffff"/>
              </a:solidFill>
              <a:effectLst/>
              <a:uFillTx/>
              <a:latin typeface="Arial"/>
            </a:endParaRPr>
          </a:p>
        </p:txBody>
      </p:sp>
      <p:sp>
        <p:nvSpPr>
          <p:cNvPr id="338" name="line296"/>
          <p:cNvSpPr/>
          <p:nvPr/>
        </p:nvSpPr>
        <p:spPr>
          <a:xfrm>
            <a:off x="1325880" y="1755360"/>
            <a:ext cx="360" cy="4297680"/>
          </a:xfrm>
          <a:prstGeom prst="line">
            <a:avLst/>
          </a:prstGeom>
          <a:ln w="9525">
            <a:solidFill>
              <a:srgbClr val="a9a9bf"/>
            </a:solidFill>
            <a:prstDash val="dash"/>
            <a:roun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339" name="card297"/>
          <p:cNvSpPr/>
          <p:nvPr/>
        </p:nvSpPr>
        <p:spPr>
          <a:xfrm>
            <a:off x="2697480" y="1298520"/>
            <a:ext cx="1919880" cy="456840"/>
          </a:xfrm>
          <a:prstGeom prst="roundRect">
            <a:avLst>
              <a:gd name="adj" fmla="val 24000"/>
            </a:avLst>
          </a:prstGeom>
          <a:solidFill>
            <a:schemeClr val="tx2"/>
          </a:solidFill>
          <a:ln w="1587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40" name="txt298"/>
          <p:cNvSpPr/>
          <p:nvPr/>
        </p:nvSpPr>
        <p:spPr>
          <a:xfrm>
            <a:off x="2770560" y="1298520"/>
            <a:ext cx="177372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chemeClr val="accent1"/>
                </a:solidFill>
                <a:effectLst/>
                <a:uFillTx/>
                <a:latin typeface="Calibri"/>
              </a:rPr>
              <a:t>SPA · Vue + Clerk</a:t>
            </a:r>
            <a:endParaRPr b="0" lang="es-ES" sz="1200" strike="noStrike" u="none">
              <a:solidFill>
                <a:srgbClr val="ffffff"/>
              </a:solidFill>
              <a:effectLst/>
              <a:uFillTx/>
              <a:latin typeface="Arial"/>
            </a:endParaRPr>
          </a:p>
        </p:txBody>
      </p:sp>
      <p:sp>
        <p:nvSpPr>
          <p:cNvPr id="341" name="line299"/>
          <p:cNvSpPr/>
          <p:nvPr/>
        </p:nvSpPr>
        <p:spPr>
          <a:xfrm>
            <a:off x="3657600" y="1755360"/>
            <a:ext cx="360" cy="4297680"/>
          </a:xfrm>
          <a:prstGeom prst="line">
            <a:avLst/>
          </a:prstGeom>
          <a:ln w="9525">
            <a:solidFill>
              <a:srgbClr val="a9a9bf"/>
            </a:solidFill>
            <a:prstDash val="dash"/>
            <a:roun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342" name="card300"/>
          <p:cNvSpPr/>
          <p:nvPr/>
        </p:nvSpPr>
        <p:spPr>
          <a:xfrm>
            <a:off x="5029200" y="1298520"/>
            <a:ext cx="1919880" cy="456840"/>
          </a:xfrm>
          <a:prstGeom prst="roundRect">
            <a:avLst>
              <a:gd name="adj" fmla="val 24000"/>
            </a:avLst>
          </a:prstGeom>
          <a:solidFill>
            <a:schemeClr val="tx2"/>
          </a:solidFill>
          <a:ln w="15875">
            <a:solidFill>
              <a:srgbClr val="ffff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43" name="txt301"/>
          <p:cNvSpPr/>
          <p:nvPr/>
        </p:nvSpPr>
        <p:spPr>
          <a:xfrm>
            <a:off x="5102280" y="1298520"/>
            <a:ext cx="177372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chemeClr val="lt1"/>
                </a:solidFill>
                <a:effectLst/>
                <a:uFillTx/>
                <a:latin typeface="Calibri"/>
              </a:rPr>
              <a:t>Backend FastAPI</a:t>
            </a:r>
            <a:endParaRPr b="0" lang="es-ES" sz="1200" strike="noStrike" u="none">
              <a:solidFill>
                <a:srgbClr val="ffffff"/>
              </a:solidFill>
              <a:effectLst/>
              <a:uFillTx/>
              <a:latin typeface="Arial"/>
            </a:endParaRPr>
          </a:p>
        </p:txBody>
      </p:sp>
      <p:sp>
        <p:nvSpPr>
          <p:cNvPr id="344" name="line302"/>
          <p:cNvSpPr/>
          <p:nvPr/>
        </p:nvSpPr>
        <p:spPr>
          <a:xfrm>
            <a:off x="5989320" y="1755360"/>
            <a:ext cx="360" cy="4297680"/>
          </a:xfrm>
          <a:prstGeom prst="line">
            <a:avLst/>
          </a:prstGeom>
          <a:ln w="9525">
            <a:solidFill>
              <a:srgbClr val="a9a9bf"/>
            </a:solidFill>
            <a:prstDash val="dash"/>
            <a:roun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345" name="card303"/>
          <p:cNvSpPr/>
          <p:nvPr/>
        </p:nvSpPr>
        <p:spPr>
          <a:xfrm>
            <a:off x="7360920" y="1298520"/>
            <a:ext cx="1919880" cy="456840"/>
          </a:xfrm>
          <a:prstGeom prst="roundRect">
            <a:avLst>
              <a:gd name="adj" fmla="val 24000"/>
            </a:avLst>
          </a:prstGeom>
          <a:solidFill>
            <a:schemeClr val="tx2"/>
          </a:solidFill>
          <a:ln w="15875">
            <a:solidFill>
              <a:srgbClr val="9b8c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46" name="txt304"/>
          <p:cNvSpPr/>
          <p:nvPr/>
        </p:nvSpPr>
        <p:spPr>
          <a:xfrm>
            <a:off x="7434000" y="1298520"/>
            <a:ext cx="177372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chemeClr val="accent2"/>
                </a:solidFill>
                <a:effectLst/>
                <a:uFillTx/>
                <a:latin typeface="Calibri"/>
              </a:rPr>
              <a:t>Clerk · JWKS</a:t>
            </a:r>
            <a:endParaRPr b="0" lang="es-ES" sz="1200" strike="noStrike" u="none">
              <a:solidFill>
                <a:srgbClr val="ffffff"/>
              </a:solidFill>
              <a:effectLst/>
              <a:uFillTx/>
              <a:latin typeface="Arial"/>
            </a:endParaRPr>
          </a:p>
        </p:txBody>
      </p:sp>
      <p:sp>
        <p:nvSpPr>
          <p:cNvPr id="347" name="line305"/>
          <p:cNvSpPr/>
          <p:nvPr/>
        </p:nvSpPr>
        <p:spPr>
          <a:xfrm>
            <a:off x="8321040" y="1755360"/>
            <a:ext cx="360" cy="4297680"/>
          </a:xfrm>
          <a:prstGeom prst="line">
            <a:avLst/>
          </a:prstGeom>
          <a:ln w="9525">
            <a:solidFill>
              <a:srgbClr val="a9a9bf"/>
            </a:solidFill>
            <a:prstDash val="dash"/>
            <a:roun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348" name="card306"/>
          <p:cNvSpPr/>
          <p:nvPr/>
        </p:nvSpPr>
        <p:spPr>
          <a:xfrm>
            <a:off x="9692640" y="1298520"/>
            <a:ext cx="1919880" cy="456840"/>
          </a:xfrm>
          <a:prstGeom prst="roundRect">
            <a:avLst>
              <a:gd name="adj" fmla="val 24000"/>
            </a:avLst>
          </a:prstGeom>
          <a:solidFill>
            <a:schemeClr val="tx2"/>
          </a:solidFill>
          <a:ln w="15875">
            <a:solidFill>
              <a:srgbClr val="4fd1e8"/>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49" name="txt307"/>
          <p:cNvSpPr/>
          <p:nvPr/>
        </p:nvSpPr>
        <p:spPr>
          <a:xfrm>
            <a:off x="9765720" y="1298520"/>
            <a:ext cx="1773720" cy="4568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chemeClr val="accent3"/>
                </a:solidFill>
                <a:effectLst/>
                <a:uFillTx/>
                <a:latin typeface="Calibri"/>
              </a:rPr>
              <a:t>API de Gemini</a:t>
            </a:r>
            <a:endParaRPr b="0" lang="es-ES" sz="1200" strike="noStrike" u="none">
              <a:solidFill>
                <a:srgbClr val="ffffff"/>
              </a:solidFill>
              <a:effectLst/>
              <a:uFillTx/>
              <a:latin typeface="Arial"/>
            </a:endParaRPr>
          </a:p>
        </p:txBody>
      </p:sp>
      <p:sp>
        <p:nvSpPr>
          <p:cNvPr id="350" name="line308"/>
          <p:cNvSpPr/>
          <p:nvPr/>
        </p:nvSpPr>
        <p:spPr>
          <a:xfrm>
            <a:off x="10652760" y="1755360"/>
            <a:ext cx="360" cy="4297680"/>
          </a:xfrm>
          <a:prstGeom prst="line">
            <a:avLst/>
          </a:prstGeom>
          <a:ln w="9525">
            <a:solidFill>
              <a:srgbClr val="a9a9bf"/>
            </a:solidFill>
            <a:prstDash val="dash"/>
            <a:roun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351" name="line309"/>
          <p:cNvSpPr/>
          <p:nvPr/>
        </p:nvSpPr>
        <p:spPr>
          <a:xfrm>
            <a:off x="1325880" y="2148840"/>
            <a:ext cx="2331720" cy="360"/>
          </a:xfrm>
          <a:prstGeom prst="line">
            <a:avLst/>
          </a:prstGeom>
          <a:ln w="15875">
            <a:solidFill>
              <a:srgbClr val="ffffff"/>
            </a:solidFill>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352" name="txt310"/>
          <p:cNvSpPr/>
          <p:nvPr/>
        </p:nvSpPr>
        <p:spPr>
          <a:xfrm>
            <a:off x="1005840" y="1901880"/>
            <a:ext cx="2971440" cy="228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000" strike="noStrike" u="none">
                <a:solidFill>
                  <a:schemeClr val="lt1"/>
                </a:solidFill>
                <a:effectLst/>
                <a:uFillTx/>
                <a:latin typeface="Calibri"/>
              </a:rPr>
              <a:t>1 · inicia sesión y pulsa Recomendar</a:t>
            </a:r>
            <a:endParaRPr b="0" lang="es-ES" sz="1000" strike="noStrike" u="none">
              <a:solidFill>
                <a:srgbClr val="ffffff"/>
              </a:solidFill>
              <a:effectLst/>
              <a:uFillTx/>
              <a:latin typeface="Arial"/>
            </a:endParaRPr>
          </a:p>
        </p:txBody>
      </p:sp>
      <p:sp>
        <p:nvSpPr>
          <p:cNvPr id="353" name="txt311"/>
          <p:cNvSpPr/>
          <p:nvPr/>
        </p:nvSpPr>
        <p:spPr>
          <a:xfrm>
            <a:off x="3749040" y="2286000"/>
            <a:ext cx="1462680" cy="237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050" strike="noStrike" u="none">
                <a:solidFill>
                  <a:schemeClr val="accent1"/>
                </a:solidFill>
                <a:effectLst/>
                <a:uFillTx/>
                <a:latin typeface="Calibri"/>
              </a:rPr>
              <a:t>2 · getToken()</a:t>
            </a:r>
            <a:endParaRPr b="0" lang="es-ES" sz="1050" strike="noStrike" u="none">
              <a:solidFill>
                <a:srgbClr val="ffffff"/>
              </a:solidFill>
              <a:effectLst/>
              <a:uFillTx/>
              <a:latin typeface="Arial"/>
            </a:endParaRPr>
          </a:p>
        </p:txBody>
      </p:sp>
      <p:sp>
        <p:nvSpPr>
          <p:cNvPr id="354" name="line312"/>
          <p:cNvSpPr/>
          <p:nvPr/>
        </p:nvSpPr>
        <p:spPr>
          <a:xfrm>
            <a:off x="3657600" y="2788920"/>
            <a:ext cx="2331720" cy="360"/>
          </a:xfrm>
          <a:prstGeom prst="line">
            <a:avLst/>
          </a:prstGeom>
          <a:ln w="15875">
            <a:solidFill>
              <a:srgbClr val="e86cca"/>
            </a:solidFill>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355" name="txt313"/>
          <p:cNvSpPr/>
          <p:nvPr/>
        </p:nvSpPr>
        <p:spPr>
          <a:xfrm>
            <a:off x="3337560" y="2541960"/>
            <a:ext cx="2971440" cy="228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000" strike="noStrike" u="none">
                <a:solidFill>
                  <a:schemeClr val="accent1"/>
                </a:solidFill>
                <a:effectLst/>
                <a:uFillTx/>
                <a:latin typeface="Calibri"/>
              </a:rPr>
              <a:t>3 · POST /api/recommend + Bearer</a:t>
            </a:r>
            <a:endParaRPr b="0" lang="es-ES" sz="1000" strike="noStrike" u="none">
              <a:solidFill>
                <a:srgbClr val="ffffff"/>
              </a:solidFill>
              <a:effectLst/>
              <a:uFillTx/>
              <a:latin typeface="Arial"/>
            </a:endParaRPr>
          </a:p>
        </p:txBody>
      </p:sp>
      <p:sp>
        <p:nvSpPr>
          <p:cNvPr id="356" name="line314"/>
          <p:cNvSpPr/>
          <p:nvPr/>
        </p:nvSpPr>
        <p:spPr>
          <a:xfrm>
            <a:off x="5989320" y="3200400"/>
            <a:ext cx="2331720" cy="360"/>
          </a:xfrm>
          <a:prstGeom prst="line">
            <a:avLst/>
          </a:prstGeom>
          <a:ln w="15875">
            <a:solidFill>
              <a:srgbClr val="9b8cff"/>
            </a:solidFill>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357" name="txt315"/>
          <p:cNvSpPr/>
          <p:nvPr/>
        </p:nvSpPr>
        <p:spPr>
          <a:xfrm>
            <a:off x="5669280" y="2953440"/>
            <a:ext cx="2971440" cy="228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000" strike="noStrike" u="none">
                <a:solidFill>
                  <a:schemeClr val="accent2"/>
                </a:solidFill>
                <a:effectLst/>
                <a:uFillTx/>
                <a:latin typeface="Calibri"/>
              </a:rPr>
              <a:t>4 · pide las claves públicas</a:t>
            </a:r>
            <a:endParaRPr b="0" lang="es-ES" sz="1000" strike="noStrike" u="none">
              <a:solidFill>
                <a:srgbClr val="ffffff"/>
              </a:solidFill>
              <a:effectLst/>
              <a:uFillTx/>
              <a:latin typeface="Arial"/>
            </a:endParaRPr>
          </a:p>
        </p:txBody>
      </p:sp>
      <p:sp>
        <p:nvSpPr>
          <p:cNvPr id="358" name="line316"/>
          <p:cNvSpPr/>
          <p:nvPr/>
        </p:nvSpPr>
        <p:spPr>
          <a:xfrm flipH="1">
            <a:off x="5989320" y="3520440"/>
            <a:ext cx="2331720" cy="360"/>
          </a:xfrm>
          <a:prstGeom prst="line">
            <a:avLst/>
          </a:prstGeom>
          <a:ln w="15875">
            <a:solidFill>
              <a:srgbClr val="9b8cff"/>
            </a:solidFill>
            <a:prstDash val="dash"/>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359" name="txt317"/>
          <p:cNvSpPr/>
          <p:nvPr/>
        </p:nvSpPr>
        <p:spPr>
          <a:xfrm>
            <a:off x="5669280" y="3273480"/>
            <a:ext cx="2971440" cy="228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000" strike="noStrike" u="none">
                <a:solidFill>
                  <a:schemeClr val="accent2"/>
                </a:solidFill>
                <a:effectLst/>
                <a:uFillTx/>
                <a:latin typeface="Calibri"/>
              </a:rPr>
              <a:t>5 · JWKS</a:t>
            </a:r>
            <a:endParaRPr b="0" lang="es-ES" sz="1000" strike="noStrike" u="none">
              <a:solidFill>
                <a:srgbClr val="ffffff"/>
              </a:solidFill>
              <a:effectLst/>
              <a:uFillTx/>
              <a:latin typeface="Arial"/>
            </a:endParaRPr>
          </a:p>
        </p:txBody>
      </p:sp>
      <p:sp>
        <p:nvSpPr>
          <p:cNvPr id="360" name="card318"/>
          <p:cNvSpPr/>
          <p:nvPr/>
        </p:nvSpPr>
        <p:spPr>
          <a:xfrm>
            <a:off x="3291840" y="3657600"/>
            <a:ext cx="4845960" cy="658080"/>
          </a:xfrm>
          <a:prstGeom prst="roundRect">
            <a:avLst>
              <a:gd name="adj" fmla="val 8333"/>
            </a:avLst>
          </a:prstGeom>
          <a:solidFill>
            <a:schemeClr val="accent5">
              <a:alpha val="12000"/>
            </a:schemeClr>
          </a:solidFill>
          <a:ln w="9525">
            <a:solidFill>
              <a:schemeClr val="accent5">
                <a:alpha val="8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61" name="txt319"/>
          <p:cNvSpPr/>
          <p:nvPr/>
        </p:nvSpPr>
        <p:spPr>
          <a:xfrm>
            <a:off x="3383280" y="3675960"/>
            <a:ext cx="3657240" cy="200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950" strike="noStrike" u="none">
                <a:solidFill>
                  <a:schemeClr val="accent5"/>
                </a:solidFill>
                <a:effectLst/>
                <a:uFillTx/>
                <a:latin typeface="Calibri"/>
              </a:rPr>
              <a:t>alt  [token ausente, inválido o caducado]</a:t>
            </a:r>
            <a:endParaRPr b="0" lang="es-ES" sz="950" strike="noStrike" u="none">
              <a:solidFill>
                <a:srgbClr val="ffffff"/>
              </a:solidFill>
              <a:effectLst/>
              <a:uFillTx/>
              <a:latin typeface="Arial"/>
            </a:endParaRPr>
          </a:p>
        </p:txBody>
      </p:sp>
      <p:sp>
        <p:nvSpPr>
          <p:cNvPr id="362" name="line320"/>
          <p:cNvSpPr/>
          <p:nvPr/>
        </p:nvSpPr>
        <p:spPr>
          <a:xfrm flipH="1">
            <a:off x="3657600" y="4160520"/>
            <a:ext cx="2331720" cy="360"/>
          </a:xfrm>
          <a:prstGeom prst="line">
            <a:avLst/>
          </a:prstGeom>
          <a:ln w="15875">
            <a:solidFill>
              <a:srgbClr val="f2667a"/>
            </a:solidFill>
            <a:prstDash val="dash"/>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363" name="txt321"/>
          <p:cNvSpPr/>
          <p:nvPr/>
        </p:nvSpPr>
        <p:spPr>
          <a:xfrm>
            <a:off x="3337560" y="3913560"/>
            <a:ext cx="2971440" cy="228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000" strike="noStrike" u="none">
                <a:solidFill>
                  <a:schemeClr val="accent5"/>
                </a:solidFill>
                <a:effectLst/>
                <a:uFillTx/>
                <a:latin typeface="Calibri"/>
              </a:rPr>
              <a:t>401 · no se llama a la IA</a:t>
            </a:r>
            <a:endParaRPr b="0" lang="es-ES" sz="1000" strike="noStrike" u="none">
              <a:solidFill>
                <a:srgbClr val="ffffff"/>
              </a:solidFill>
              <a:effectLst/>
              <a:uFillTx/>
              <a:latin typeface="Arial"/>
            </a:endParaRPr>
          </a:p>
        </p:txBody>
      </p:sp>
      <p:sp>
        <p:nvSpPr>
          <p:cNvPr id="364" name="card322"/>
          <p:cNvSpPr/>
          <p:nvPr/>
        </p:nvSpPr>
        <p:spPr>
          <a:xfrm>
            <a:off x="3291840" y="4407480"/>
            <a:ext cx="8137800" cy="1627200"/>
          </a:xfrm>
          <a:prstGeom prst="roundRect">
            <a:avLst>
              <a:gd name="adj" fmla="val 3371"/>
            </a:avLst>
          </a:prstGeom>
          <a:solidFill>
            <a:schemeClr val="accent6">
              <a:alpha val="10000"/>
            </a:schemeClr>
          </a:solidFill>
          <a:ln w="9525">
            <a:solidFill>
              <a:schemeClr val="accent6">
                <a:alpha val="80000"/>
              </a:schemeClr>
            </a:solidFill>
            <a:round/>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365" name="txt323"/>
          <p:cNvSpPr/>
          <p:nvPr/>
        </p:nvSpPr>
        <p:spPr>
          <a:xfrm>
            <a:off x="3383280" y="4425840"/>
            <a:ext cx="1828440" cy="200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950" strike="noStrike" u="none">
                <a:solidFill>
                  <a:schemeClr val="accent6"/>
                </a:solidFill>
                <a:effectLst/>
                <a:uFillTx/>
                <a:latin typeface="Calibri"/>
              </a:rPr>
              <a:t>[token válido]</a:t>
            </a:r>
            <a:endParaRPr b="0" lang="es-ES" sz="950" strike="noStrike" u="none">
              <a:solidFill>
                <a:srgbClr val="ffffff"/>
              </a:solidFill>
              <a:effectLst/>
              <a:uFillTx/>
              <a:latin typeface="Arial"/>
            </a:endParaRPr>
          </a:p>
        </p:txBody>
      </p:sp>
      <p:sp>
        <p:nvSpPr>
          <p:cNvPr id="366" name="txt324"/>
          <p:cNvSpPr/>
          <p:nvPr/>
        </p:nvSpPr>
        <p:spPr>
          <a:xfrm>
            <a:off x="6080760" y="4572000"/>
            <a:ext cx="2011320" cy="237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050" strike="noStrike" u="none">
                <a:solidFill>
                  <a:schemeClr val="accent4"/>
                </a:solidFill>
                <a:effectLst/>
                <a:uFillTx/>
                <a:latin typeface="Calibri"/>
              </a:rPr>
              <a:t>6 · Pydantic valida (422 si no)</a:t>
            </a:r>
            <a:endParaRPr b="0" lang="es-ES" sz="1050" strike="noStrike" u="none">
              <a:solidFill>
                <a:srgbClr val="ffffff"/>
              </a:solidFill>
              <a:effectLst/>
              <a:uFillTx/>
              <a:latin typeface="Arial"/>
            </a:endParaRPr>
          </a:p>
        </p:txBody>
      </p:sp>
      <p:sp>
        <p:nvSpPr>
          <p:cNvPr id="367" name="line325"/>
          <p:cNvSpPr/>
          <p:nvPr/>
        </p:nvSpPr>
        <p:spPr>
          <a:xfrm>
            <a:off x="5989320" y="5074920"/>
            <a:ext cx="4663440" cy="360"/>
          </a:xfrm>
          <a:prstGeom prst="line">
            <a:avLst/>
          </a:prstGeom>
          <a:ln w="15875">
            <a:solidFill>
              <a:srgbClr val="4fd1e8"/>
            </a:solidFill>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368" name="txt326"/>
          <p:cNvSpPr/>
          <p:nvPr/>
        </p:nvSpPr>
        <p:spPr>
          <a:xfrm>
            <a:off x="5669280" y="4827960"/>
            <a:ext cx="5303160" cy="228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000" strike="noStrike" u="none">
                <a:solidFill>
                  <a:schemeClr val="accent3"/>
                </a:solidFill>
                <a:effectLst/>
                <a:uFillTx/>
                <a:latin typeface="Calibri"/>
              </a:rPr>
              <a:t>7 · una petición con la clave privada</a:t>
            </a:r>
            <a:endParaRPr b="0" lang="es-ES" sz="1000" strike="noStrike" u="none">
              <a:solidFill>
                <a:srgbClr val="ffffff"/>
              </a:solidFill>
              <a:effectLst/>
              <a:uFillTx/>
              <a:latin typeface="Arial"/>
            </a:endParaRPr>
          </a:p>
        </p:txBody>
      </p:sp>
      <p:sp>
        <p:nvSpPr>
          <p:cNvPr id="369" name="line327"/>
          <p:cNvSpPr/>
          <p:nvPr/>
        </p:nvSpPr>
        <p:spPr>
          <a:xfrm flipH="1">
            <a:off x="5989320" y="5412960"/>
            <a:ext cx="4663440" cy="360"/>
          </a:xfrm>
          <a:prstGeom prst="line">
            <a:avLst/>
          </a:prstGeom>
          <a:ln w="15875">
            <a:solidFill>
              <a:srgbClr val="4fd1e8"/>
            </a:solidFill>
            <a:prstDash val="dash"/>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370" name="txt328"/>
          <p:cNvSpPr/>
          <p:nvPr/>
        </p:nvSpPr>
        <p:spPr>
          <a:xfrm>
            <a:off x="5669280" y="5166360"/>
            <a:ext cx="5303160" cy="228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000" strike="noStrike" u="none">
                <a:solidFill>
                  <a:schemeClr val="accent3"/>
                </a:solidFill>
                <a:effectLst/>
                <a:uFillTx/>
                <a:latin typeface="Calibri"/>
              </a:rPr>
              <a:t>8 · texto</a:t>
            </a:r>
            <a:endParaRPr b="0" lang="es-ES" sz="1000" strike="noStrike" u="none">
              <a:solidFill>
                <a:srgbClr val="ffffff"/>
              </a:solidFill>
              <a:effectLst/>
              <a:uFillTx/>
              <a:latin typeface="Arial"/>
            </a:endParaRPr>
          </a:p>
        </p:txBody>
      </p:sp>
      <p:sp>
        <p:nvSpPr>
          <p:cNvPr id="371" name="line329"/>
          <p:cNvSpPr/>
          <p:nvPr/>
        </p:nvSpPr>
        <p:spPr>
          <a:xfrm flipH="1">
            <a:off x="3657600" y="5760720"/>
            <a:ext cx="2331720" cy="360"/>
          </a:xfrm>
          <a:prstGeom prst="line">
            <a:avLst/>
          </a:prstGeom>
          <a:ln w="15875">
            <a:solidFill>
              <a:srgbClr val="4ade80"/>
            </a:solidFill>
            <a:prstDash val="dash"/>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372" name="txt330"/>
          <p:cNvSpPr/>
          <p:nvPr/>
        </p:nvSpPr>
        <p:spPr>
          <a:xfrm>
            <a:off x="3337560" y="5513760"/>
            <a:ext cx="2971440" cy="228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000" strike="noStrike" u="none">
                <a:solidFill>
                  <a:schemeClr val="accent6"/>
                </a:solidFill>
                <a:effectLst/>
                <a:uFillTx/>
                <a:latin typeface="Calibri"/>
              </a:rPr>
              <a:t>9 · 200 {resultado} · 502 · 504</a:t>
            </a:r>
            <a:endParaRPr b="0" lang="es-ES" sz="1000" strike="noStrike" u="none">
              <a:solidFill>
                <a:srgbClr val="ffffff"/>
              </a:solidFill>
              <a:effectLst/>
              <a:uFillTx/>
              <a:latin typeface="Arial"/>
            </a:endParaRPr>
          </a:p>
        </p:txBody>
      </p:sp>
      <p:sp>
        <p:nvSpPr>
          <p:cNvPr id="373" name="txt331"/>
          <p:cNvSpPr/>
          <p:nvPr/>
        </p:nvSpPr>
        <p:spPr>
          <a:xfrm>
            <a:off x="548640" y="5788080"/>
            <a:ext cx="2925720" cy="237240"/>
          </a:xfrm>
          <a:prstGeom prst="rect">
            <a:avLst/>
          </a:prstGeom>
          <a:noFill/>
          <a:ln w="0">
            <a:noFill/>
          </a:ln>
        </p:spPr>
        <p:style>
          <a:lnRef idx="0"/>
          <a:fillRef idx="0"/>
          <a:effectRef idx="0"/>
          <a:fontRef idx="minor"/>
        </p:style>
        <p:txBody>
          <a:bodyPr lIns="0" rIns="0" tIns="0" bIns="0" anchor="t">
            <a:noAutofit/>
          </a:bodyPr>
          <a:p>
            <a:pPr algn="r" defTabSz="914400">
              <a:lnSpc>
                <a:spcPct val="100000"/>
              </a:lnSpc>
              <a:tabLst>
                <a:tab algn="l" pos="0"/>
              </a:tabLst>
            </a:pPr>
            <a:r>
              <a:rPr b="0" lang="en-US" sz="1050" strike="noStrike" u="none">
                <a:solidFill>
                  <a:schemeClr val="lt1"/>
                </a:solidFill>
                <a:effectLst/>
                <a:uFillTx/>
                <a:latin typeface="Calibri"/>
              </a:rPr>
              <a:t>10 · lo muestra en la misma pantalla</a:t>
            </a:r>
            <a:endParaRPr b="0" lang="es-ES" sz="1050" strike="noStrike" u="none">
              <a:solidFill>
                <a:srgbClr val="ffffff"/>
              </a:solidFill>
              <a:effectLst/>
              <a:uFillTx/>
              <a:latin typeface="Arial"/>
            </a:endParaRPr>
          </a:p>
        </p:txBody>
      </p:sp>
      <p:sp>
        <p:nvSpPr>
          <p:cNvPr id="374" name="PlaceHolder 3"/>
          <p:cNvSpPr>
            <a:spLocks noGrp="1"/>
          </p:cNvSpPr>
          <p:nvPr>
            <p:ph type="sldNum" idx="13"/>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C5622BCE-540F-4273-88AB-21AEB4C0B8E8}"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5"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Estados del frontend</a:t>
            </a:r>
            <a:endParaRPr b="0" lang="es-ES" sz="3400" strike="noStrike" u="none">
              <a:solidFill>
                <a:schemeClr val="dk1"/>
              </a:solidFill>
              <a:effectLst/>
              <a:uFillTx/>
              <a:latin typeface="Calibri"/>
            </a:endParaRPr>
          </a:p>
        </p:txBody>
      </p:sp>
      <p:sp>
        <p:nvSpPr>
          <p:cNvPr id="376"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DIAGRAMAS · 3 / 3</a:t>
            </a:r>
            <a:endParaRPr b="0" lang="es-ES" sz="1200" strike="noStrike" u="none">
              <a:solidFill>
                <a:schemeClr val="dk1"/>
              </a:solidFill>
              <a:effectLst/>
              <a:uFillTx/>
              <a:latin typeface="Calibri"/>
            </a:endParaRPr>
          </a:p>
        </p:txBody>
      </p:sp>
      <p:sp>
        <p:nvSpPr>
          <p:cNvPr id="377" name="presenta332"/>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78" name="txt333"/>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Jose Antonio Nieto</a:t>
            </a:r>
            <a:endParaRPr b="0" lang="es-ES" sz="1100" strike="noStrike" u="none">
              <a:solidFill>
                <a:srgbClr val="ffffff"/>
              </a:solidFill>
              <a:effectLst/>
              <a:uFillTx/>
              <a:latin typeface="Arial"/>
            </a:endParaRPr>
          </a:p>
        </p:txBody>
      </p:sp>
      <p:sp>
        <p:nvSpPr>
          <p:cNvPr id="379" name="inicio"/>
          <p:cNvSpPr/>
          <p:nvPr/>
        </p:nvSpPr>
        <p:spPr>
          <a:xfrm>
            <a:off x="548640" y="2633400"/>
            <a:ext cx="310680" cy="310680"/>
          </a:xfrm>
          <a:prstGeom prst="ellipse">
            <a:avLst/>
          </a:prstGeom>
          <a:solidFill>
            <a:schemeClr val="bg1"/>
          </a:solidFill>
          <a:ln w="0">
            <a:noFill/>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380" name="line334"/>
          <p:cNvSpPr/>
          <p:nvPr/>
        </p:nvSpPr>
        <p:spPr>
          <a:xfrm>
            <a:off x="859320" y="2788920"/>
            <a:ext cx="329400" cy="360"/>
          </a:xfrm>
          <a:prstGeom prst="line">
            <a:avLst/>
          </a:prstGeom>
          <a:ln w="15875">
            <a:solidFill>
              <a:srgbClr val="ffffff"/>
            </a:solidFill>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381" name="card335"/>
          <p:cNvSpPr/>
          <p:nvPr/>
        </p:nvSpPr>
        <p:spPr>
          <a:xfrm>
            <a:off x="1188720" y="2331720"/>
            <a:ext cx="2011320" cy="914040"/>
          </a:xfrm>
          <a:prstGeom prst="roundRect">
            <a:avLst>
              <a:gd name="adj" fmla="val 12000"/>
            </a:avLst>
          </a:prstGeom>
          <a:solidFill>
            <a:schemeClr val="tx2"/>
          </a:solidFill>
          <a:ln w="15875">
            <a:solidFill>
              <a:srgbClr val="9b8c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82" name="txt336"/>
          <p:cNvSpPr/>
          <p:nvPr/>
        </p:nvSpPr>
        <p:spPr>
          <a:xfrm>
            <a:off x="1261800" y="2331720"/>
            <a:ext cx="1865160" cy="914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accent2"/>
                </a:solidFill>
                <a:effectLst/>
                <a:uFillTx/>
                <a:latin typeface="Calibri"/>
              </a:rPr>
              <a:t>Sin sesión</a:t>
            </a:r>
            <a:endParaRPr b="0" lang="es-ES" sz="1400" strike="noStrike" u="none">
              <a:solidFill>
                <a:srgbClr val="ffffff"/>
              </a:solidFill>
              <a:effectLst/>
              <a:uFillTx/>
              <a:latin typeface="Arial"/>
            </a:endParaRPr>
          </a:p>
          <a:p>
            <a:pPr algn="ctr" defTabSz="914400">
              <a:lnSpc>
                <a:spcPct val="100000"/>
              </a:lnSpc>
              <a:tabLst>
                <a:tab algn="l" pos="0"/>
              </a:tabLst>
            </a:pPr>
            <a:r>
              <a:rPr b="0" lang="en-US" sz="1100" strike="noStrike" u="none">
                <a:solidFill>
                  <a:schemeClr val="lt2"/>
                </a:solidFill>
                <a:effectLst/>
                <a:uFillTx/>
                <a:latin typeface="Calibri"/>
              </a:rPr>
              <a:t>App 2 · botón desactivado</a:t>
            </a:r>
            <a:endParaRPr b="0" lang="es-ES" sz="1100" strike="noStrike" u="none">
              <a:solidFill>
                <a:srgbClr val="ffffff"/>
              </a:solidFill>
              <a:effectLst/>
              <a:uFillTx/>
              <a:latin typeface="Arial"/>
            </a:endParaRPr>
          </a:p>
        </p:txBody>
      </p:sp>
      <p:sp>
        <p:nvSpPr>
          <p:cNvPr id="383" name="card337"/>
          <p:cNvSpPr/>
          <p:nvPr/>
        </p:nvSpPr>
        <p:spPr>
          <a:xfrm>
            <a:off x="4023360" y="2331720"/>
            <a:ext cx="2011320" cy="914040"/>
          </a:xfrm>
          <a:prstGeom prst="roundRect">
            <a:avLst>
              <a:gd name="adj" fmla="val 12000"/>
            </a:avLst>
          </a:prstGeom>
          <a:solidFill>
            <a:schemeClr val="tx2"/>
          </a:solidFill>
          <a:ln w="1587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84" name="txt338"/>
          <p:cNvSpPr/>
          <p:nvPr/>
        </p:nvSpPr>
        <p:spPr>
          <a:xfrm>
            <a:off x="4096440" y="2331720"/>
            <a:ext cx="1865160" cy="914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accent1"/>
                </a:solidFill>
                <a:effectLst/>
                <a:uFillTx/>
                <a:latin typeface="Calibri"/>
              </a:rPr>
              <a:t>Listo</a:t>
            </a:r>
            <a:endParaRPr b="0" lang="es-ES" sz="1400" strike="noStrike" u="none">
              <a:solidFill>
                <a:srgbClr val="ffffff"/>
              </a:solidFill>
              <a:effectLst/>
              <a:uFillTx/>
              <a:latin typeface="Arial"/>
            </a:endParaRPr>
          </a:p>
          <a:p>
            <a:pPr algn="ctr" defTabSz="914400">
              <a:lnSpc>
                <a:spcPct val="100000"/>
              </a:lnSpc>
              <a:tabLst>
                <a:tab algn="l" pos="0"/>
              </a:tabLst>
            </a:pPr>
            <a:r>
              <a:rPr b="0" lang="en-US" sz="1100" strike="noStrike" u="none">
                <a:solidFill>
                  <a:schemeClr val="lt2"/>
                </a:solidFill>
                <a:effectLst/>
                <a:uFillTx/>
                <a:latin typeface="Calibri"/>
              </a:rPr>
              <a:t>formulario editable</a:t>
            </a:r>
            <a:endParaRPr b="0" lang="es-ES" sz="1100" strike="noStrike" u="none">
              <a:solidFill>
                <a:srgbClr val="ffffff"/>
              </a:solidFill>
              <a:effectLst/>
              <a:uFillTx/>
              <a:latin typeface="Arial"/>
            </a:endParaRPr>
          </a:p>
        </p:txBody>
      </p:sp>
      <p:sp>
        <p:nvSpPr>
          <p:cNvPr id="385" name="card339"/>
          <p:cNvSpPr/>
          <p:nvPr/>
        </p:nvSpPr>
        <p:spPr>
          <a:xfrm>
            <a:off x="6858000" y="2331720"/>
            <a:ext cx="2011320" cy="914040"/>
          </a:xfrm>
          <a:prstGeom prst="roundRect">
            <a:avLst>
              <a:gd name="adj" fmla="val 12000"/>
            </a:avLst>
          </a:prstGeom>
          <a:solidFill>
            <a:schemeClr val="tx2"/>
          </a:solidFill>
          <a:ln w="15875">
            <a:solidFill>
              <a:srgbClr val="f5b84b"/>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86" name="txt340"/>
          <p:cNvSpPr/>
          <p:nvPr/>
        </p:nvSpPr>
        <p:spPr>
          <a:xfrm>
            <a:off x="6931080" y="2331720"/>
            <a:ext cx="1865160" cy="914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accent4"/>
                </a:solidFill>
                <a:effectLst/>
                <a:uFillTx/>
                <a:latin typeface="Calibri"/>
              </a:rPr>
              <a:t>Enviando</a:t>
            </a:r>
            <a:endParaRPr b="0" lang="es-ES" sz="1400" strike="noStrike" u="none">
              <a:solidFill>
                <a:srgbClr val="ffffff"/>
              </a:solidFill>
              <a:effectLst/>
              <a:uFillTx/>
              <a:latin typeface="Arial"/>
            </a:endParaRPr>
          </a:p>
          <a:p>
            <a:pPr algn="ctr" defTabSz="914400">
              <a:lnSpc>
                <a:spcPct val="100000"/>
              </a:lnSpc>
              <a:tabLst>
                <a:tab algn="l" pos="0"/>
              </a:tabLst>
            </a:pPr>
            <a:r>
              <a:rPr b="0" lang="en-US" sz="1100" strike="noStrike" u="none">
                <a:solidFill>
                  <a:schemeClr val="lt2"/>
                </a:solidFill>
                <a:effectLst/>
                <a:uFillTx/>
                <a:latin typeface="Calibri"/>
              </a:rPr>
              <a:t>botón bloqueado · espera</a:t>
            </a:r>
            <a:endParaRPr b="0" lang="es-ES" sz="1100" strike="noStrike" u="none">
              <a:solidFill>
                <a:srgbClr val="ffffff"/>
              </a:solidFill>
              <a:effectLst/>
              <a:uFillTx/>
              <a:latin typeface="Arial"/>
            </a:endParaRPr>
          </a:p>
        </p:txBody>
      </p:sp>
      <p:sp>
        <p:nvSpPr>
          <p:cNvPr id="387" name="card341"/>
          <p:cNvSpPr/>
          <p:nvPr/>
        </p:nvSpPr>
        <p:spPr>
          <a:xfrm>
            <a:off x="9601200" y="1325880"/>
            <a:ext cx="2057040" cy="914040"/>
          </a:xfrm>
          <a:prstGeom prst="roundRect">
            <a:avLst>
              <a:gd name="adj" fmla="val 12000"/>
            </a:avLst>
          </a:prstGeom>
          <a:solidFill>
            <a:schemeClr val="tx2"/>
          </a:solidFill>
          <a:ln w="15875">
            <a:solidFill>
              <a:srgbClr val="4ade80"/>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88" name="txt342"/>
          <p:cNvSpPr/>
          <p:nvPr/>
        </p:nvSpPr>
        <p:spPr>
          <a:xfrm>
            <a:off x="9674280" y="1325880"/>
            <a:ext cx="1910880" cy="914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accent6"/>
                </a:solidFill>
                <a:effectLst/>
                <a:uFillTx/>
                <a:latin typeface="Calibri"/>
              </a:rPr>
              <a:t>Resultado</a:t>
            </a:r>
            <a:endParaRPr b="0" lang="es-ES" sz="1400" strike="noStrike" u="none">
              <a:solidFill>
                <a:srgbClr val="ffffff"/>
              </a:solidFill>
              <a:effectLst/>
              <a:uFillTx/>
              <a:latin typeface="Arial"/>
            </a:endParaRPr>
          </a:p>
          <a:p>
            <a:pPr algn="ctr" defTabSz="914400">
              <a:lnSpc>
                <a:spcPct val="100000"/>
              </a:lnSpc>
              <a:tabLst>
                <a:tab algn="l" pos="0"/>
              </a:tabLst>
            </a:pPr>
            <a:r>
              <a:rPr b="0" lang="en-US" sz="1100" strike="noStrike" u="none">
                <a:solidFill>
                  <a:schemeClr val="lt2"/>
                </a:solidFill>
                <a:effectLst/>
                <a:uFillTx/>
                <a:latin typeface="Calibri"/>
              </a:rPr>
              <a:t>texto en la misma pantalla</a:t>
            </a:r>
            <a:endParaRPr b="0" lang="es-ES" sz="1100" strike="noStrike" u="none">
              <a:solidFill>
                <a:srgbClr val="ffffff"/>
              </a:solidFill>
              <a:effectLst/>
              <a:uFillTx/>
              <a:latin typeface="Arial"/>
            </a:endParaRPr>
          </a:p>
        </p:txBody>
      </p:sp>
      <p:sp>
        <p:nvSpPr>
          <p:cNvPr id="389" name="card343"/>
          <p:cNvSpPr/>
          <p:nvPr/>
        </p:nvSpPr>
        <p:spPr>
          <a:xfrm>
            <a:off x="9601200" y="3429000"/>
            <a:ext cx="2057040" cy="914040"/>
          </a:xfrm>
          <a:prstGeom prst="roundRect">
            <a:avLst>
              <a:gd name="adj" fmla="val 12000"/>
            </a:avLst>
          </a:prstGeom>
          <a:solidFill>
            <a:schemeClr val="tx2"/>
          </a:solidFill>
          <a:ln w="15875">
            <a:solidFill>
              <a:srgbClr val="f2667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390" name="txt344"/>
          <p:cNvSpPr/>
          <p:nvPr/>
        </p:nvSpPr>
        <p:spPr>
          <a:xfrm>
            <a:off x="9674280" y="3429000"/>
            <a:ext cx="1910880" cy="914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accent5"/>
                </a:solidFill>
                <a:effectLst/>
                <a:uFillTx/>
                <a:latin typeface="Calibri"/>
              </a:rPr>
              <a:t>Error</a:t>
            </a:r>
            <a:endParaRPr b="0" lang="es-ES" sz="1400" strike="noStrike" u="none">
              <a:solidFill>
                <a:srgbClr val="ffffff"/>
              </a:solidFill>
              <a:effectLst/>
              <a:uFillTx/>
              <a:latin typeface="Arial"/>
            </a:endParaRPr>
          </a:p>
          <a:p>
            <a:pPr algn="ctr" defTabSz="914400">
              <a:lnSpc>
                <a:spcPct val="100000"/>
              </a:lnSpc>
              <a:tabLst>
                <a:tab algn="l" pos="0"/>
              </a:tabLst>
            </a:pPr>
            <a:r>
              <a:rPr b="0" lang="en-US" sz="1100" strike="noStrike" u="none">
                <a:solidFill>
                  <a:schemeClr val="lt2"/>
                </a:solidFill>
                <a:effectLst/>
                <a:uFillTx/>
                <a:latin typeface="Calibri"/>
              </a:rPr>
              <a:t>mensaje comprensible</a:t>
            </a:r>
            <a:endParaRPr b="0" lang="es-ES" sz="1100" strike="noStrike" u="none">
              <a:solidFill>
                <a:srgbClr val="ffffff"/>
              </a:solidFill>
              <a:effectLst/>
              <a:uFillTx/>
              <a:latin typeface="Arial"/>
            </a:endParaRPr>
          </a:p>
        </p:txBody>
      </p:sp>
      <p:sp>
        <p:nvSpPr>
          <p:cNvPr id="391" name="line345"/>
          <p:cNvSpPr/>
          <p:nvPr/>
        </p:nvSpPr>
        <p:spPr>
          <a:xfrm>
            <a:off x="3200400" y="2788920"/>
            <a:ext cx="822960" cy="360"/>
          </a:xfrm>
          <a:prstGeom prst="line">
            <a:avLst/>
          </a:prstGeom>
          <a:ln w="15875">
            <a:solidFill>
              <a:srgbClr val="9b8cff"/>
            </a:solidFill>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392" name="txt346"/>
          <p:cNvSpPr/>
          <p:nvPr/>
        </p:nvSpPr>
        <p:spPr>
          <a:xfrm>
            <a:off x="3200400" y="2514600"/>
            <a:ext cx="822600" cy="237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000" strike="noStrike" u="none">
                <a:solidFill>
                  <a:schemeClr val="accent2"/>
                </a:solidFill>
                <a:effectLst/>
                <a:uFillTx/>
                <a:latin typeface="Calibri"/>
              </a:rPr>
              <a:t>inicia sesión</a:t>
            </a:r>
            <a:endParaRPr b="0" lang="es-ES" sz="1000" strike="noStrike" u="none">
              <a:solidFill>
                <a:srgbClr val="ffffff"/>
              </a:solidFill>
              <a:effectLst/>
              <a:uFillTx/>
              <a:latin typeface="Arial"/>
            </a:endParaRPr>
          </a:p>
        </p:txBody>
      </p:sp>
      <p:sp>
        <p:nvSpPr>
          <p:cNvPr id="393" name="line347"/>
          <p:cNvSpPr/>
          <p:nvPr/>
        </p:nvSpPr>
        <p:spPr>
          <a:xfrm>
            <a:off x="6035040" y="2788920"/>
            <a:ext cx="822960" cy="360"/>
          </a:xfrm>
          <a:prstGeom prst="line">
            <a:avLst/>
          </a:prstGeom>
          <a:ln w="15875">
            <a:solidFill>
              <a:srgbClr val="e86cca"/>
            </a:solidFill>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394" name="txt348"/>
          <p:cNvSpPr/>
          <p:nvPr/>
        </p:nvSpPr>
        <p:spPr>
          <a:xfrm>
            <a:off x="6035040" y="2514600"/>
            <a:ext cx="822600" cy="237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0" lang="en-US" sz="1000" strike="noStrike" u="none">
                <a:solidFill>
                  <a:schemeClr val="accent1"/>
                </a:solidFill>
                <a:effectLst/>
                <a:uFillTx/>
                <a:latin typeface="Calibri"/>
              </a:rPr>
              <a:t>Recomendar</a:t>
            </a:r>
            <a:endParaRPr b="0" lang="es-ES" sz="1000" strike="noStrike" u="none">
              <a:solidFill>
                <a:srgbClr val="ffffff"/>
              </a:solidFill>
              <a:effectLst/>
              <a:uFillTx/>
              <a:latin typeface="Arial"/>
            </a:endParaRPr>
          </a:p>
        </p:txBody>
      </p:sp>
      <p:sp>
        <p:nvSpPr>
          <p:cNvPr id="395" name="line349"/>
          <p:cNvSpPr/>
          <p:nvPr/>
        </p:nvSpPr>
        <p:spPr>
          <a:xfrm flipV="1">
            <a:off x="8869680" y="1920240"/>
            <a:ext cx="731520" cy="685800"/>
          </a:xfrm>
          <a:prstGeom prst="line">
            <a:avLst/>
          </a:prstGeom>
          <a:ln w="15875">
            <a:solidFill>
              <a:srgbClr val="4ade80"/>
            </a:solidFill>
            <a:round/>
            <a:tailEnd len="med" type="triangle" w="me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396" name="txt350"/>
          <p:cNvSpPr/>
          <p:nvPr/>
        </p:nvSpPr>
        <p:spPr>
          <a:xfrm>
            <a:off x="9006840" y="2011680"/>
            <a:ext cx="411120" cy="228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000" strike="noStrike" u="none">
                <a:solidFill>
                  <a:schemeClr val="accent6"/>
                </a:solidFill>
                <a:effectLst/>
                <a:uFillTx/>
                <a:latin typeface="Calibri"/>
              </a:rPr>
              <a:t>200</a:t>
            </a:r>
            <a:endParaRPr b="0" lang="es-ES" sz="1000" strike="noStrike" u="none">
              <a:solidFill>
                <a:srgbClr val="ffffff"/>
              </a:solidFill>
              <a:effectLst/>
              <a:uFillTx/>
              <a:latin typeface="Arial"/>
            </a:endParaRPr>
          </a:p>
        </p:txBody>
      </p:sp>
      <p:sp>
        <p:nvSpPr>
          <p:cNvPr id="397" name="line351"/>
          <p:cNvSpPr/>
          <p:nvPr/>
        </p:nvSpPr>
        <p:spPr>
          <a:xfrm>
            <a:off x="8869680" y="2971800"/>
            <a:ext cx="731520" cy="685800"/>
          </a:xfrm>
          <a:prstGeom prst="line">
            <a:avLst/>
          </a:prstGeom>
          <a:ln w="15875">
            <a:solidFill>
              <a:srgbClr val="f2667a"/>
            </a:solidFill>
            <a:round/>
            <a:tailEnd len="med" type="triangle" w="me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398" name="txt352"/>
          <p:cNvSpPr/>
          <p:nvPr/>
        </p:nvSpPr>
        <p:spPr>
          <a:xfrm>
            <a:off x="8503920" y="3429000"/>
            <a:ext cx="822600" cy="228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000" strike="noStrike" u="none">
                <a:solidFill>
                  <a:schemeClr val="accent5"/>
                </a:solidFill>
                <a:effectLst/>
                <a:uFillTx/>
                <a:latin typeface="Calibri"/>
              </a:rPr>
              <a:t>4xx · 5xx</a:t>
            </a:r>
            <a:endParaRPr b="0" lang="es-ES" sz="1000" strike="noStrike" u="none">
              <a:solidFill>
                <a:srgbClr val="ffffff"/>
              </a:solidFill>
              <a:effectLst/>
              <a:uFillTx/>
              <a:latin typeface="Arial"/>
            </a:endParaRPr>
          </a:p>
        </p:txBody>
      </p:sp>
      <p:sp>
        <p:nvSpPr>
          <p:cNvPr id="399" name="line353"/>
          <p:cNvSpPr/>
          <p:nvPr/>
        </p:nvSpPr>
        <p:spPr>
          <a:xfrm>
            <a:off x="11658600" y="1783080"/>
            <a:ext cx="182880" cy="360"/>
          </a:xfrm>
          <a:prstGeom prst="line">
            <a:avLst/>
          </a:prstGeom>
          <a:ln w="15875">
            <a:solidFill>
              <a:srgbClr val="a9a9bf"/>
            </a:solidFill>
            <a:roun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400" name="line354"/>
          <p:cNvSpPr/>
          <p:nvPr/>
        </p:nvSpPr>
        <p:spPr>
          <a:xfrm>
            <a:off x="11841480" y="1783080"/>
            <a:ext cx="360" cy="2971800"/>
          </a:xfrm>
          <a:prstGeom prst="line">
            <a:avLst/>
          </a:prstGeom>
          <a:ln w="15875">
            <a:solidFill>
              <a:srgbClr val="a9a9bf"/>
            </a:solidFill>
            <a:roun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401" name="line355"/>
          <p:cNvSpPr/>
          <p:nvPr/>
        </p:nvSpPr>
        <p:spPr>
          <a:xfrm>
            <a:off x="10625040" y="4343400"/>
            <a:ext cx="360" cy="411480"/>
          </a:xfrm>
          <a:prstGeom prst="line">
            <a:avLst/>
          </a:prstGeom>
          <a:ln w="15875">
            <a:solidFill>
              <a:srgbClr val="a9a9bf"/>
            </a:solidFill>
            <a:roun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402" name="line356"/>
          <p:cNvSpPr/>
          <p:nvPr/>
        </p:nvSpPr>
        <p:spPr>
          <a:xfrm flipH="1">
            <a:off x="5029200" y="4754880"/>
            <a:ext cx="6812280" cy="360"/>
          </a:xfrm>
          <a:prstGeom prst="line">
            <a:avLst/>
          </a:prstGeom>
          <a:ln w="15875">
            <a:solidFill>
              <a:srgbClr val="a9a9bf"/>
            </a:solidFill>
            <a:roun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403" name="line357"/>
          <p:cNvSpPr/>
          <p:nvPr/>
        </p:nvSpPr>
        <p:spPr>
          <a:xfrm flipV="1">
            <a:off x="5029200" y="3246120"/>
            <a:ext cx="360" cy="1508760"/>
          </a:xfrm>
          <a:prstGeom prst="line">
            <a:avLst/>
          </a:prstGeom>
          <a:ln w="15875">
            <a:solidFill>
              <a:srgbClr val="a9a9bf"/>
            </a:solidFill>
            <a:round/>
            <a:tailEnd len="med" type="triangle" w="me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404" name="txt358"/>
          <p:cNvSpPr/>
          <p:nvPr/>
        </p:nvSpPr>
        <p:spPr>
          <a:xfrm>
            <a:off x="5303520" y="4480560"/>
            <a:ext cx="4205880" cy="246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050" strike="noStrike" u="none">
                <a:solidFill>
                  <a:schemeClr val="lt2"/>
                </a:solidFill>
                <a:effectLst/>
                <a:uFillTx/>
                <a:latin typeface="Calibri"/>
              </a:rPr>
              <a:t>edita o vuelve a enviar: el resultado anterior no se acumula</a:t>
            </a:r>
            <a:endParaRPr b="0" lang="es-ES" sz="1050" strike="noStrike" u="none">
              <a:solidFill>
                <a:srgbClr val="ffffff"/>
              </a:solidFill>
              <a:effectLst/>
              <a:uFillTx/>
              <a:latin typeface="Arial"/>
            </a:endParaRPr>
          </a:p>
        </p:txBody>
      </p:sp>
      <p:sp>
        <p:nvSpPr>
          <p:cNvPr id="405" name="line359"/>
          <p:cNvSpPr/>
          <p:nvPr/>
        </p:nvSpPr>
        <p:spPr>
          <a:xfrm flipV="1">
            <a:off x="5029200" y="1920240"/>
            <a:ext cx="360" cy="411480"/>
          </a:xfrm>
          <a:prstGeom prst="line">
            <a:avLst/>
          </a:prstGeom>
          <a:ln w="15875">
            <a:solidFill>
              <a:srgbClr val="9b8cff"/>
            </a:solidFill>
            <a:prstDash val="dash"/>
            <a:roun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406" name="line360"/>
          <p:cNvSpPr/>
          <p:nvPr/>
        </p:nvSpPr>
        <p:spPr>
          <a:xfrm flipH="1">
            <a:off x="2194560" y="1920240"/>
            <a:ext cx="2834640" cy="360"/>
          </a:xfrm>
          <a:prstGeom prst="line">
            <a:avLst/>
          </a:prstGeom>
          <a:ln w="15875">
            <a:solidFill>
              <a:srgbClr val="9b8cff"/>
            </a:solidFill>
            <a:prstDash val="dash"/>
            <a:roun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407" name="line361"/>
          <p:cNvSpPr/>
          <p:nvPr/>
        </p:nvSpPr>
        <p:spPr>
          <a:xfrm>
            <a:off x="2194560" y="1920240"/>
            <a:ext cx="360" cy="411480"/>
          </a:xfrm>
          <a:prstGeom prst="line">
            <a:avLst/>
          </a:prstGeom>
          <a:ln w="15875">
            <a:solidFill>
              <a:srgbClr val="9b8cff"/>
            </a:solidFill>
            <a:prstDash val="dash"/>
            <a:round/>
            <a:tailEnd len="med" type="triangle" w="me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408" name="txt362"/>
          <p:cNvSpPr/>
          <p:nvPr/>
        </p:nvSpPr>
        <p:spPr>
          <a:xfrm>
            <a:off x="2377440" y="1645920"/>
            <a:ext cx="2651400" cy="237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050" strike="noStrike" u="none">
                <a:solidFill>
                  <a:schemeClr val="accent2"/>
                </a:solidFill>
                <a:effectLst/>
                <a:uFillTx/>
                <a:latin typeface="Calibri"/>
              </a:rPr>
              <a:t>cierra sesión: se descarta el resultado</a:t>
            </a:r>
            <a:endParaRPr b="0" lang="es-ES" sz="1050" strike="noStrike" u="none">
              <a:solidFill>
                <a:srgbClr val="ffffff"/>
              </a:solidFill>
              <a:effectLst/>
              <a:uFillTx/>
              <a:latin typeface="Arial"/>
            </a:endParaRPr>
          </a:p>
        </p:txBody>
      </p:sp>
      <p:sp>
        <p:nvSpPr>
          <p:cNvPr id="409" name="txt363"/>
          <p:cNvSpPr/>
          <p:nvPr/>
        </p:nvSpPr>
        <p:spPr>
          <a:xfrm>
            <a:off x="548640" y="3703320"/>
            <a:ext cx="3291480" cy="8226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100" strike="noStrike" u="none">
                <a:solidFill>
                  <a:schemeClr val="lt2"/>
                </a:solidFill>
                <a:effectLst/>
                <a:uFillTx/>
                <a:latin typeface="Calibri"/>
              </a:rPr>
              <a:t>En la App 1 no hay sesión: se empieza directamente en «Listo». Sin géneros ni texto, el formulario no envía y muestra un aviso.</a:t>
            </a:r>
            <a:endParaRPr b="0" lang="es-ES" sz="1100" strike="noStrike" u="none">
              <a:solidFill>
                <a:srgbClr val="ffffff"/>
              </a:solidFill>
              <a:effectLst/>
              <a:uFillTx/>
              <a:latin typeface="Arial"/>
            </a:endParaRPr>
          </a:p>
        </p:txBody>
      </p:sp>
      <p:sp>
        <p:nvSpPr>
          <p:cNvPr id="410" name="card364"/>
          <p:cNvSpPr/>
          <p:nvPr/>
        </p:nvSpPr>
        <p:spPr>
          <a:xfrm>
            <a:off x="548640" y="5166360"/>
            <a:ext cx="11109600" cy="868320"/>
          </a:xfrm>
          <a:prstGeom prst="roundRect">
            <a:avLst>
              <a:gd name="adj" fmla="val 12632"/>
            </a:avLst>
          </a:prstGeom>
          <a:solidFill>
            <a:schemeClr val="tx2"/>
          </a:solidFill>
          <a:ln w="9525">
            <a:solidFill>
              <a:schemeClr val="accent1">
                <a:alpha val="5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11" name="txt365"/>
          <p:cNvSpPr/>
          <p:nvPr/>
        </p:nvSpPr>
        <p:spPr>
          <a:xfrm>
            <a:off x="822960" y="5166360"/>
            <a:ext cx="10606680" cy="868320"/>
          </a:xfrm>
          <a:prstGeom prst="rect">
            <a:avLst/>
          </a:prstGeom>
          <a:noFill/>
          <a:ln w="0">
            <a:noFill/>
          </a:ln>
        </p:spPr>
        <p:style>
          <a:lnRef idx="0"/>
          <a:fillRef idx="0"/>
          <a:effectRef idx="0"/>
          <a:fontRef idx="minor"/>
        </p:style>
        <p:txBody>
          <a:bodyPr lIns="0" rIns="0" tIns="0" bIns="0" anchor="ctr">
            <a:noAutofit/>
          </a:bodyPr>
          <a:p>
            <a:pPr defTabSz="914400">
              <a:lnSpc>
                <a:spcPct val="100000"/>
              </a:lnSpc>
              <a:spcBef>
                <a:spcPts val="1191"/>
              </a:spcBef>
              <a:spcAft>
                <a:spcPts val="992"/>
              </a:spcAft>
              <a:tabLst>
                <a:tab algn="l" pos="0"/>
              </a:tabLst>
            </a:pPr>
            <a:r>
              <a:rPr b="1" lang="en-US" sz="1400" strike="noStrike" u="none">
                <a:solidFill>
                  <a:schemeClr val="accent1"/>
                </a:solidFill>
                <a:effectLst/>
                <a:uFillTx/>
                <a:latin typeface="Calibri"/>
              </a:rPr>
              <a:t>¿Y el diagrama de clases? </a:t>
            </a:r>
            <a:r>
              <a:rPr b="0" lang="en-US" sz="1400" strike="noStrike" u="none">
                <a:solidFill>
                  <a:schemeClr val="lt1"/>
                </a:solidFill>
                <a:effectLst/>
                <a:uFillTx/>
                <a:latin typeface="Calibri"/>
              </a:rPr>
              <a:t>Porque Musicfy no guarda datos: recibe lo que escribes y devuelve un texto. En la App 2 los usuarios los gestiona Clerk, no nuestra app. El enunciado pide no hacer diagramas que no aporten nada. </a:t>
            </a:r>
            <a:endParaRPr b="0" lang="es-ES" sz="1400" strike="noStrike" u="none">
              <a:solidFill>
                <a:srgbClr val="ffffff"/>
              </a:solidFill>
              <a:effectLst/>
              <a:uFillTx/>
              <a:latin typeface="Arial"/>
            </a:endParaRPr>
          </a:p>
        </p:txBody>
      </p:sp>
      <p:sp>
        <p:nvSpPr>
          <p:cNvPr id="412" name="PlaceHolder 3"/>
          <p:cNvSpPr>
            <a:spLocks noGrp="1"/>
          </p:cNvSpPr>
          <p:nvPr>
            <p:ph type="sldNum" idx="14"/>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A4A966C5-B9B8-44D0-9EF4-CFD8E4991341}"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3"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App 1 · Backend e IA</a:t>
            </a:r>
            <a:endParaRPr b="0" lang="es-ES" sz="3400" strike="noStrike" u="none">
              <a:solidFill>
                <a:schemeClr val="dk1"/>
              </a:solidFill>
              <a:effectLst/>
              <a:uFillTx/>
              <a:latin typeface="Calibri"/>
            </a:endParaRPr>
          </a:p>
        </p:txBody>
      </p:sp>
      <p:sp>
        <p:nvSpPr>
          <p:cNvPr id="414"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HECHA A MANO</a:t>
            </a:r>
            <a:endParaRPr b="0" lang="es-ES" sz="1200" strike="noStrike" u="none">
              <a:solidFill>
                <a:schemeClr val="dk1"/>
              </a:solidFill>
              <a:effectLst/>
              <a:uFillTx/>
              <a:latin typeface="Calibri"/>
            </a:endParaRPr>
          </a:p>
        </p:txBody>
      </p:sp>
      <p:sp>
        <p:nvSpPr>
          <p:cNvPr id="415" name="presenta366"/>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16" name="txt367"/>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Mario Luna</a:t>
            </a:r>
            <a:endParaRPr b="0" lang="es-ES" sz="1100" strike="noStrike" u="none">
              <a:solidFill>
                <a:srgbClr val="ffffff"/>
              </a:solidFill>
              <a:effectLst/>
              <a:uFillTx/>
              <a:latin typeface="Arial"/>
            </a:endParaRPr>
          </a:p>
        </p:txBody>
      </p:sp>
      <p:sp>
        <p:nvSpPr>
          <p:cNvPr id="417" name="card368"/>
          <p:cNvSpPr/>
          <p:nvPr/>
        </p:nvSpPr>
        <p:spPr>
          <a:xfrm>
            <a:off x="548640" y="1371600"/>
            <a:ext cx="5851800" cy="4663080"/>
          </a:xfrm>
          <a:prstGeom prst="roundRect">
            <a:avLst>
              <a:gd name="adj" fmla="val 2353"/>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18" name="txt369"/>
          <p:cNvSpPr/>
          <p:nvPr/>
        </p:nvSpPr>
        <p:spPr>
          <a:xfrm>
            <a:off x="822960" y="1554480"/>
            <a:ext cx="530316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000" strike="noStrike" u="none">
                <a:solidFill>
                  <a:schemeClr val="accent1"/>
                </a:solidFill>
                <a:effectLst/>
                <a:uFillTx/>
                <a:latin typeface="Calibri"/>
              </a:rPr>
              <a:t>Cómo está hecho</a:t>
            </a:r>
            <a:endParaRPr b="0" lang="es-ES" sz="2000" strike="noStrike" u="none">
              <a:solidFill>
                <a:srgbClr val="ffffff"/>
              </a:solidFill>
              <a:effectLst/>
              <a:uFillTx/>
              <a:latin typeface="Arial"/>
            </a:endParaRPr>
          </a:p>
        </p:txBody>
      </p:sp>
      <p:sp>
        <p:nvSpPr>
          <p:cNvPr id="419" name="txt370"/>
          <p:cNvSpPr/>
          <p:nvPr/>
        </p:nvSpPr>
        <p:spPr>
          <a:xfrm>
            <a:off x="822960" y="2057400"/>
            <a:ext cx="5348880" cy="3885840"/>
          </a:xfrm>
          <a:prstGeom prst="rect">
            <a:avLst/>
          </a:prstGeom>
          <a:noFill/>
          <a:ln w="0">
            <a:noFill/>
          </a:ln>
        </p:spPr>
        <p:style>
          <a:lnRef idx="0"/>
          <a:fillRef idx="0"/>
          <a:effectRef idx="0"/>
          <a:fontRef idx="minor"/>
        </p:style>
        <p:txBody>
          <a:bodyPr lIns="0" rIns="0" tIns="0" bIns="0" anchor="t">
            <a:noAutofit/>
          </a:bodyPr>
          <a:p>
            <a:pPr defTabSz="914400">
              <a:lnSpc>
                <a:spcPct val="100000"/>
              </a:lnSpc>
              <a:spcAft>
                <a:spcPts val="799"/>
              </a:spcAft>
              <a:tabLst>
                <a:tab algn="l" pos="0"/>
              </a:tabLst>
            </a:pPr>
            <a:r>
              <a:rPr b="1" lang="en-US" sz="1400" strike="noStrike" u="none">
                <a:solidFill>
                  <a:schemeClr val="lt1"/>
                </a:solidFill>
                <a:effectLst/>
                <a:uFillTx/>
                <a:latin typeface="Calibri"/>
              </a:rPr>
              <a:t>main.py: </a:t>
            </a:r>
            <a:r>
              <a:rPr b="0" lang="en-US" sz="1400" strike="noStrike" u="none">
                <a:solidFill>
                  <a:schemeClr val="lt2"/>
                </a:solidFill>
                <a:effectLst/>
                <a:uFillTx/>
                <a:latin typeface="Calibri"/>
              </a:rPr>
              <a:t>FastAPI con /health y POST /api/recommend.</a:t>
            </a:r>
            <a:endParaRPr b="0" lang="es-ES" sz="1400" strike="noStrike" u="none">
              <a:solidFill>
                <a:srgbClr val="ffffff"/>
              </a:solidFill>
              <a:effectLst/>
              <a:uFillTx/>
              <a:latin typeface="Arial"/>
            </a:endParaRPr>
          </a:p>
          <a:p>
            <a:pPr defTabSz="914400">
              <a:lnSpc>
                <a:spcPct val="100000"/>
              </a:lnSpc>
              <a:spcAft>
                <a:spcPts val="799"/>
              </a:spcAft>
              <a:tabLst>
                <a:tab algn="l" pos="0"/>
              </a:tabLst>
            </a:pPr>
            <a:r>
              <a:rPr b="1" lang="en-US" sz="1400" strike="noStrike" u="none">
                <a:solidFill>
                  <a:schemeClr val="lt1"/>
                </a:solidFill>
                <a:effectLst/>
                <a:uFillTx/>
                <a:latin typeface="Calibri"/>
              </a:rPr>
              <a:t>Pydantic v2: </a:t>
            </a:r>
            <a:r>
              <a:rPr b="0" lang="en-US" sz="1400" strike="noStrike" u="none">
                <a:solidFill>
                  <a:schemeClr val="lt2"/>
                </a:solidFill>
                <a:effectLst/>
                <a:uFillTx/>
                <a:latin typeface="Calibri"/>
              </a:rPr>
              <a:t>tastes obligatorio, de 1 a 500 caracteres tras quitar espacios.</a:t>
            </a:r>
            <a:endParaRPr b="0" lang="es-ES" sz="1400" strike="noStrike" u="none">
              <a:solidFill>
                <a:srgbClr val="ffffff"/>
              </a:solidFill>
              <a:effectLst/>
              <a:uFillTx/>
              <a:latin typeface="Arial"/>
            </a:endParaRPr>
          </a:p>
          <a:p>
            <a:pPr defTabSz="914400">
              <a:lnSpc>
                <a:spcPct val="100000"/>
              </a:lnSpc>
              <a:spcAft>
                <a:spcPts val="799"/>
              </a:spcAft>
              <a:tabLst>
                <a:tab algn="l" pos="0"/>
              </a:tabLst>
            </a:pPr>
            <a:r>
              <a:rPr b="1" lang="en-US" sz="1400" strike="noStrike" u="none">
                <a:solidFill>
                  <a:schemeClr val="lt1"/>
                </a:solidFill>
                <a:effectLst/>
                <a:uFillTx/>
                <a:latin typeface="Calibri"/>
              </a:rPr>
              <a:t>ai_client.py: </a:t>
            </a:r>
            <a:r>
              <a:rPr b="0" lang="en-US" sz="1400" strike="noStrike" u="none">
                <a:solidFill>
                  <a:schemeClr val="lt2"/>
                </a:solidFill>
                <a:effectLst/>
                <a:uFillTx/>
                <a:latin typeface="Calibri"/>
              </a:rPr>
              <a:t>una petición a Gemini con httpx, timeout de 25 s y 600 tokens como máximo.</a:t>
            </a:r>
            <a:endParaRPr b="0" lang="es-ES" sz="1400" strike="noStrike" u="none">
              <a:solidFill>
                <a:srgbClr val="ffffff"/>
              </a:solidFill>
              <a:effectLst/>
              <a:uFillTx/>
              <a:latin typeface="Arial"/>
            </a:endParaRPr>
          </a:p>
          <a:p>
            <a:pPr defTabSz="914400">
              <a:lnSpc>
                <a:spcPct val="100000"/>
              </a:lnSpc>
              <a:spcAft>
                <a:spcPts val="799"/>
              </a:spcAft>
              <a:tabLst>
                <a:tab algn="l" pos="0"/>
              </a:tabLst>
            </a:pPr>
            <a:r>
              <a:rPr b="1" lang="en-US" sz="1400" strike="noStrike" u="none">
                <a:solidFill>
                  <a:schemeClr val="lt1"/>
                </a:solidFill>
                <a:effectLst/>
                <a:uFillTx/>
                <a:latin typeface="Calibri"/>
              </a:rPr>
              <a:t>SYSTEM_PROMPT: </a:t>
            </a:r>
            <a:r>
              <a:rPr b="0" lang="en-US" sz="1400" strike="noStrike" u="none">
                <a:solidFill>
                  <a:schemeClr val="lt2"/>
                </a:solidFill>
                <a:effectLst/>
                <a:uFillTx/>
                <a:latin typeface="Calibri"/>
              </a:rPr>
              <a:t>de 3 a 5 artistas con el porqué y una canción, en español y sin HTML.</a:t>
            </a:r>
            <a:endParaRPr b="0" lang="es-ES" sz="1400" strike="noStrike" u="none">
              <a:solidFill>
                <a:srgbClr val="ffffff"/>
              </a:solidFill>
              <a:effectLst/>
              <a:uFillTx/>
              <a:latin typeface="Arial"/>
            </a:endParaRPr>
          </a:p>
          <a:p>
            <a:pPr defTabSz="914400">
              <a:lnSpc>
                <a:spcPct val="100000"/>
              </a:lnSpc>
              <a:spcAft>
                <a:spcPts val="799"/>
              </a:spcAft>
              <a:tabLst>
                <a:tab algn="l" pos="0"/>
              </a:tabLst>
            </a:pPr>
            <a:r>
              <a:rPr b="1" lang="en-US" sz="1400" strike="noStrike" u="none">
                <a:solidFill>
                  <a:schemeClr val="lt1"/>
                </a:solidFill>
                <a:effectLst/>
                <a:uFillTx/>
                <a:latin typeface="Calibri"/>
              </a:rPr>
              <a:t>Errores: </a:t>
            </a:r>
            <a:r>
              <a:rPr b="0" lang="en-US" sz="1400" strike="noStrike" u="none">
                <a:solidFill>
                  <a:schemeClr val="lt2"/>
                </a:solidFill>
                <a:effectLst/>
                <a:uFillTx/>
                <a:latin typeface="Calibri"/>
              </a:rPr>
              <a:t>timeout → 504; fallo del proveedor → 502; respuesta vacía → 502.</a:t>
            </a:r>
            <a:endParaRPr b="0" lang="es-ES" sz="1400" strike="noStrike" u="none">
              <a:solidFill>
                <a:srgbClr val="ffffff"/>
              </a:solidFill>
              <a:effectLst/>
              <a:uFillTx/>
              <a:latin typeface="Arial"/>
            </a:endParaRPr>
          </a:p>
          <a:p>
            <a:pPr defTabSz="914400">
              <a:lnSpc>
                <a:spcPct val="100000"/>
              </a:lnSpc>
              <a:spcAft>
                <a:spcPts val="799"/>
              </a:spcAft>
              <a:tabLst>
                <a:tab algn="l" pos="0"/>
              </a:tabLst>
            </a:pPr>
            <a:r>
              <a:rPr b="1" lang="en-US" sz="1400" strike="noStrike" u="none">
                <a:solidFill>
                  <a:schemeClr val="lt1"/>
                </a:solidFill>
                <a:effectLst/>
                <a:uFillTx/>
                <a:latin typeface="Calibri"/>
              </a:rPr>
              <a:t>Clave: </a:t>
            </a:r>
            <a:r>
              <a:rPr b="0" lang="en-US" sz="1400" strike="noStrike" u="none">
                <a:solidFill>
                  <a:schemeClr val="lt2"/>
                </a:solidFill>
                <a:effectLst/>
                <a:uFillTx/>
                <a:latin typeface="Calibri"/>
              </a:rPr>
              <a:t>GEMINI_API_KEY, leída del .env privado del backend.</a:t>
            </a:r>
            <a:endParaRPr b="0" lang="es-ES" sz="1400" strike="noStrike" u="none">
              <a:solidFill>
                <a:srgbClr val="ffffff"/>
              </a:solidFill>
              <a:effectLst/>
              <a:uFillTx/>
              <a:latin typeface="Arial"/>
            </a:endParaRPr>
          </a:p>
        </p:txBody>
      </p:sp>
      <p:sp>
        <p:nvSpPr>
          <p:cNvPr id="420" name="card371"/>
          <p:cNvSpPr/>
          <p:nvPr/>
        </p:nvSpPr>
        <p:spPr>
          <a:xfrm>
            <a:off x="6629400" y="1371600"/>
            <a:ext cx="5028840" cy="4663080"/>
          </a:xfrm>
          <a:prstGeom prst="roundRect">
            <a:avLst>
              <a:gd name="adj" fmla="val 2353"/>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21" name="txt372"/>
          <p:cNvSpPr/>
          <p:nvPr/>
        </p:nvSpPr>
        <p:spPr>
          <a:xfrm>
            <a:off x="6903720" y="1554480"/>
            <a:ext cx="457164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000" strike="noStrike" u="none">
                <a:solidFill>
                  <a:schemeClr val="accent1"/>
                </a:solidFill>
                <a:effectLst/>
                <a:uFillTx/>
                <a:latin typeface="Calibri"/>
              </a:rPr>
              <a:t>Un proveedor, tres intentos</a:t>
            </a:r>
            <a:endParaRPr b="0" lang="es-ES" sz="2000" strike="noStrike" u="none">
              <a:solidFill>
                <a:srgbClr val="ffffff"/>
              </a:solidFill>
              <a:effectLst/>
              <a:uFillTx/>
              <a:latin typeface="Arial"/>
            </a:endParaRPr>
          </a:p>
        </p:txBody>
      </p:sp>
      <p:sp>
        <p:nvSpPr>
          <p:cNvPr id="422" name="line373"/>
          <p:cNvSpPr/>
          <p:nvPr/>
        </p:nvSpPr>
        <p:spPr>
          <a:xfrm>
            <a:off x="7086600" y="2240280"/>
            <a:ext cx="360" cy="3337560"/>
          </a:xfrm>
          <a:prstGeom prst="line">
            <a:avLst/>
          </a:prstGeom>
          <a:ln w="15875">
            <a:solidFill>
              <a:srgbClr val="a9a9bf"/>
            </a:solidFill>
            <a:roun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423" name="tl374"/>
          <p:cNvSpPr/>
          <p:nvPr/>
        </p:nvSpPr>
        <p:spPr>
          <a:xfrm>
            <a:off x="6976800" y="2176200"/>
            <a:ext cx="219240" cy="219240"/>
          </a:xfrm>
          <a:prstGeom prst="ellipse">
            <a:avLst/>
          </a:prstGeom>
          <a:solidFill>
            <a:schemeClr val="bg1"/>
          </a:solidFill>
          <a:ln w="25400">
            <a:solidFill>
              <a:srgbClr val="171725"/>
            </a:solidFill>
            <a:round/>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424" name="txt375"/>
          <p:cNvSpPr/>
          <p:nvPr/>
        </p:nvSpPr>
        <p:spPr>
          <a:xfrm>
            <a:off x="7406640" y="2103120"/>
            <a:ext cx="4068720" cy="868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trike="noStrike" u="none">
                <a:solidFill>
                  <a:schemeClr val="lt1"/>
                </a:solidFill>
                <a:effectLst/>
                <a:uFillTx/>
                <a:latin typeface="Calibri"/>
              </a:rPr>
              <a:t>12/10  OpenRouter con meta-llama</a:t>
            </a:r>
            <a:endParaRPr b="0" lang="es-ES" sz="14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rPr>
              <a:t>Primer cliente de IA y endpoint con validaciones.</a:t>
            </a:r>
            <a:endParaRPr b="0" lang="es-ES" sz="1200" strike="noStrike" u="none">
              <a:solidFill>
                <a:srgbClr val="ffffff"/>
              </a:solidFill>
              <a:effectLst/>
              <a:uFillTx/>
              <a:latin typeface="Arial"/>
            </a:endParaRPr>
          </a:p>
        </p:txBody>
      </p:sp>
      <p:sp>
        <p:nvSpPr>
          <p:cNvPr id="425" name="tl376"/>
          <p:cNvSpPr/>
          <p:nvPr/>
        </p:nvSpPr>
        <p:spPr>
          <a:xfrm>
            <a:off x="6976800" y="3108960"/>
            <a:ext cx="219240" cy="219240"/>
          </a:xfrm>
          <a:prstGeom prst="ellipse">
            <a:avLst/>
          </a:prstGeom>
          <a:solidFill>
            <a:schemeClr val="accent4"/>
          </a:solidFill>
          <a:ln w="25400">
            <a:solidFill>
              <a:srgbClr val="171725"/>
            </a:solidFill>
            <a:round/>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426" name="txt377"/>
          <p:cNvSpPr/>
          <p:nvPr/>
        </p:nvSpPr>
        <p:spPr>
          <a:xfrm>
            <a:off x="7406640" y="3035880"/>
            <a:ext cx="4068720" cy="868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trike="noStrike" u="none">
                <a:solidFill>
                  <a:schemeClr val="accent4"/>
                </a:solidFill>
                <a:effectLst/>
                <a:uFillTx/>
                <a:latin typeface="Calibri"/>
              </a:rPr>
              <a:t>13/10  </a:t>
            </a:r>
            <a:r>
              <a:rPr b="1" lang="en-US" sz="1400" strike="noStrike" u="none">
                <a:solidFill>
                  <a:schemeClr val="lt1"/>
                </a:solidFill>
                <a:effectLst/>
                <a:uFillTx/>
                <a:latin typeface="Calibri"/>
              </a:rPr>
              <a:t>Error 402</a:t>
            </a:r>
            <a:endParaRPr b="0" lang="es-ES" sz="14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rPr>
              <a:t>Reservaba saldo para la respuesta máxima: limitamos MAX_TOKENS a 600.</a:t>
            </a:r>
            <a:endParaRPr b="0" lang="es-ES" sz="1200" strike="noStrike" u="none">
              <a:solidFill>
                <a:srgbClr val="ffffff"/>
              </a:solidFill>
              <a:effectLst/>
              <a:uFillTx/>
              <a:latin typeface="Arial"/>
            </a:endParaRPr>
          </a:p>
        </p:txBody>
      </p:sp>
      <p:sp>
        <p:nvSpPr>
          <p:cNvPr id="427" name="tl378"/>
          <p:cNvSpPr/>
          <p:nvPr/>
        </p:nvSpPr>
        <p:spPr>
          <a:xfrm>
            <a:off x="6976800" y="4041720"/>
            <a:ext cx="219240" cy="219240"/>
          </a:xfrm>
          <a:prstGeom prst="ellipse">
            <a:avLst/>
          </a:prstGeom>
          <a:solidFill>
            <a:schemeClr val="accent5"/>
          </a:solidFill>
          <a:ln w="25400">
            <a:solidFill>
              <a:srgbClr val="171725"/>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28" name="txt379"/>
          <p:cNvSpPr/>
          <p:nvPr/>
        </p:nvSpPr>
        <p:spPr>
          <a:xfrm>
            <a:off x="7406640" y="3968640"/>
            <a:ext cx="4068720" cy="868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trike="noStrike" u="none">
                <a:solidFill>
                  <a:schemeClr val="accent5"/>
                </a:solidFill>
                <a:effectLst/>
                <a:uFillTx/>
                <a:latin typeface="Calibri"/>
              </a:rPr>
              <a:t>19/10  </a:t>
            </a:r>
            <a:r>
              <a:rPr b="1" lang="en-US" sz="1400" strike="noStrike" u="none">
                <a:solidFill>
                  <a:schemeClr val="lt1"/>
                </a:solidFill>
                <a:effectLst/>
                <a:uFillTx/>
                <a:latin typeface="Calibri"/>
              </a:rPr>
              <a:t>Saldo agotado en Vercel</a:t>
            </a:r>
            <a:endParaRPr b="0" lang="es-ES" sz="14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rPr>
              <a:t>La app respondía que no quedaban más peticiones.</a:t>
            </a:r>
            <a:endParaRPr b="0" lang="es-ES" sz="1200" strike="noStrike" u="none">
              <a:solidFill>
                <a:srgbClr val="ffffff"/>
              </a:solidFill>
              <a:effectLst/>
              <a:uFillTx/>
              <a:latin typeface="Arial"/>
            </a:endParaRPr>
          </a:p>
        </p:txBody>
      </p:sp>
      <p:sp>
        <p:nvSpPr>
          <p:cNvPr id="429" name="tl380"/>
          <p:cNvSpPr/>
          <p:nvPr/>
        </p:nvSpPr>
        <p:spPr>
          <a:xfrm>
            <a:off x="6976800" y="4974480"/>
            <a:ext cx="219240" cy="219240"/>
          </a:xfrm>
          <a:prstGeom prst="ellipse">
            <a:avLst/>
          </a:prstGeom>
          <a:solidFill>
            <a:schemeClr val="accent6"/>
          </a:solidFill>
          <a:ln w="25400">
            <a:solidFill>
              <a:srgbClr val="171725"/>
            </a:solidFill>
            <a:round/>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430" name="txt381"/>
          <p:cNvSpPr/>
          <p:nvPr/>
        </p:nvSpPr>
        <p:spPr>
          <a:xfrm>
            <a:off x="7406640" y="4901040"/>
            <a:ext cx="4068720" cy="868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400" strike="noStrike" u="none">
                <a:solidFill>
                  <a:schemeClr val="accent6"/>
                </a:solidFill>
                <a:effectLst/>
                <a:uFillTx/>
                <a:latin typeface="Calibri"/>
              </a:rPr>
              <a:t>19/10  </a:t>
            </a:r>
            <a:r>
              <a:rPr b="1" lang="en-US" sz="1400" strike="noStrike" u="none">
                <a:solidFill>
                  <a:schemeClr val="lt1"/>
                </a:solidFill>
                <a:effectLst/>
                <a:uFillTx/>
                <a:latin typeface="Calibri"/>
              </a:rPr>
              <a:t>API de Gemini</a:t>
            </a:r>
            <a:endParaRPr b="0" lang="es-ES" sz="14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rPr>
              <a:t>gemini-3.5-flash-lite en el plan gratuito. Seguimos con una sola API de IA.</a:t>
            </a:r>
            <a:endParaRPr b="0" lang="es-ES" sz="1200" strike="noStrike" u="none">
              <a:solidFill>
                <a:srgbClr val="ffffff"/>
              </a:solidFill>
              <a:effectLst/>
              <a:uFillTx/>
              <a:latin typeface="Arial"/>
            </a:endParaRPr>
          </a:p>
        </p:txBody>
      </p:sp>
      <p:sp>
        <p:nvSpPr>
          <p:cNvPr id="431" name="PlaceHolder 3"/>
          <p:cNvSpPr>
            <a:spLocks noGrp="1"/>
          </p:cNvSpPr>
          <p:nvPr>
            <p:ph type="sldNum" idx="15"/>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F4A1F45D-A7EA-4F9B-AAE9-69E633CC3A07}"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2"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App 1 · Frontend y diseño</a:t>
            </a:r>
            <a:endParaRPr b="0" lang="es-ES" sz="3400" strike="noStrike" u="none">
              <a:solidFill>
                <a:schemeClr val="dk1"/>
              </a:solidFill>
              <a:effectLst/>
              <a:uFillTx/>
              <a:latin typeface="Calibri"/>
            </a:endParaRPr>
          </a:p>
        </p:txBody>
      </p:sp>
      <p:sp>
        <p:nvSpPr>
          <p:cNvPr id="433"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HECHA A MANO</a:t>
            </a:r>
            <a:endParaRPr b="0" lang="es-ES" sz="1200" strike="noStrike" u="none">
              <a:solidFill>
                <a:schemeClr val="dk1"/>
              </a:solidFill>
              <a:effectLst/>
              <a:uFillTx/>
              <a:latin typeface="Calibri"/>
            </a:endParaRPr>
          </a:p>
        </p:txBody>
      </p:sp>
      <p:sp>
        <p:nvSpPr>
          <p:cNvPr id="434" name="presenta382"/>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35" name="txt383"/>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Jose Antonio Nieto</a:t>
            </a:r>
            <a:endParaRPr b="0" lang="es-ES" sz="1100" strike="noStrike" u="none">
              <a:solidFill>
                <a:srgbClr val="ffffff"/>
              </a:solidFill>
              <a:effectLst/>
              <a:uFillTx/>
              <a:latin typeface="Arial"/>
            </a:endParaRPr>
          </a:p>
        </p:txBody>
      </p:sp>
      <p:sp>
        <p:nvSpPr>
          <p:cNvPr id="436" name="txt384"/>
          <p:cNvSpPr/>
          <p:nvPr/>
        </p:nvSpPr>
        <p:spPr>
          <a:xfrm>
            <a:off x="548640" y="1417320"/>
            <a:ext cx="5751360" cy="3802680"/>
          </a:xfrm>
          <a:prstGeom prst="rect">
            <a:avLst/>
          </a:prstGeom>
          <a:noFill/>
          <a:ln w="0">
            <a:noFill/>
          </a:ln>
        </p:spPr>
        <p:style>
          <a:lnRef idx="0"/>
          <a:fillRef idx="0"/>
          <a:effectRef idx="0"/>
          <a:fontRef idx="minor"/>
        </p:style>
        <p:txBody>
          <a:bodyPr lIns="0" rIns="0" tIns="0" bIns="0" anchor="t">
            <a:noAutofit/>
          </a:bodyPr>
          <a:p>
            <a:pPr defTabSz="914400">
              <a:lnSpc>
                <a:spcPct val="100000"/>
              </a:lnSpc>
              <a:spcAft>
                <a:spcPts val="1001"/>
              </a:spcAft>
              <a:tabLst>
                <a:tab algn="l" pos="0"/>
              </a:tabLst>
            </a:pPr>
            <a:r>
              <a:rPr b="1" lang="en-US" sz="1500" strike="noStrike" u="none">
                <a:solidFill>
                  <a:schemeClr val="lt1"/>
                </a:solidFill>
                <a:effectLst/>
                <a:uFillTx/>
                <a:latin typeface="Calibri"/>
              </a:rPr>
              <a:t>SPA en Vue 3 con Tailwind CSS 4: </a:t>
            </a:r>
            <a:r>
              <a:rPr b="0" lang="en-US" sz="1500" strike="noStrike" u="none">
                <a:solidFill>
                  <a:schemeClr val="lt2"/>
                </a:solidFill>
                <a:effectLst/>
                <a:uFillTx/>
                <a:latin typeface="Calibri"/>
              </a:rPr>
              <a:t>una sola pantalla, sin router.</a:t>
            </a:r>
            <a:endParaRPr b="0" lang="es-ES" sz="1500" strike="noStrike" u="none">
              <a:solidFill>
                <a:srgbClr val="ffffff"/>
              </a:solidFill>
              <a:effectLst/>
              <a:uFillTx/>
              <a:latin typeface="Arial"/>
            </a:endParaRPr>
          </a:p>
          <a:p>
            <a:pPr defTabSz="914400">
              <a:lnSpc>
                <a:spcPct val="100000"/>
              </a:lnSpc>
              <a:spcAft>
                <a:spcPts val="1001"/>
              </a:spcAft>
              <a:tabLst>
                <a:tab algn="l" pos="0"/>
              </a:tabLst>
            </a:pPr>
            <a:r>
              <a:rPr b="1" lang="en-US" sz="1500" strike="noStrike" u="none">
                <a:solidFill>
                  <a:schemeClr val="lt1"/>
                </a:solidFill>
                <a:effectLst/>
                <a:uFillTx/>
                <a:latin typeface="Calibri"/>
              </a:rPr>
              <a:t>Estética de tele antigua: </a:t>
            </a:r>
            <a:r>
              <a:rPr b="0" lang="en-US" sz="1500" strike="noStrike" u="none">
                <a:solidFill>
                  <a:schemeClr val="lt2"/>
                </a:solidFill>
                <a:effectLst/>
                <a:uFillTx/>
                <a:latin typeface="Calibri"/>
              </a:rPr>
              <a:t>título en WebGL, logo animado y animación de encendido.</a:t>
            </a:r>
            <a:endParaRPr b="0" lang="es-ES" sz="1500" strike="noStrike" u="none">
              <a:solidFill>
                <a:srgbClr val="ffffff"/>
              </a:solidFill>
              <a:effectLst/>
              <a:uFillTx/>
              <a:latin typeface="Arial"/>
            </a:endParaRPr>
          </a:p>
          <a:p>
            <a:pPr defTabSz="914400">
              <a:lnSpc>
                <a:spcPct val="100000"/>
              </a:lnSpc>
              <a:spcAft>
                <a:spcPts val="1001"/>
              </a:spcAft>
              <a:tabLst>
                <a:tab algn="l" pos="0"/>
              </a:tabLst>
            </a:pPr>
            <a:r>
              <a:rPr b="1" lang="en-US" sz="1500" strike="noStrike" u="none">
                <a:solidFill>
                  <a:schemeClr val="lt1"/>
                </a:solidFill>
                <a:effectLst/>
                <a:uFillTx/>
                <a:latin typeface="Calibri"/>
              </a:rPr>
              <a:t>12 botones de género (máximo 5) y texto libre, </a:t>
            </a:r>
            <a:r>
              <a:rPr b="0" lang="en-US" sz="1500" strike="noStrike" u="none">
                <a:solidFill>
                  <a:schemeClr val="lt2"/>
                </a:solidFill>
                <a:effectLst/>
                <a:uFillTx/>
                <a:latin typeface="Calibri"/>
              </a:rPr>
              <a:t>que se unen en el campo tastes.</a:t>
            </a:r>
            <a:endParaRPr b="0" lang="es-ES" sz="1500" strike="noStrike" u="none">
              <a:solidFill>
                <a:srgbClr val="ffffff"/>
              </a:solidFill>
              <a:effectLst/>
              <a:uFillTx/>
              <a:latin typeface="Arial"/>
            </a:endParaRPr>
          </a:p>
          <a:p>
            <a:pPr defTabSz="914400">
              <a:lnSpc>
                <a:spcPct val="100000"/>
              </a:lnSpc>
              <a:spcAft>
                <a:spcPts val="1001"/>
              </a:spcAft>
              <a:tabLst>
                <a:tab algn="l" pos="0"/>
              </a:tabLst>
            </a:pPr>
            <a:r>
              <a:rPr b="1" lang="en-US" sz="1500" strike="noStrike" u="none">
                <a:solidFill>
                  <a:schemeClr val="lt1"/>
                </a:solidFill>
                <a:effectLst/>
                <a:uFillTx/>
                <a:latin typeface="Calibri"/>
              </a:rPr>
              <a:t>Estados de espera, resultado y error. </a:t>
            </a:r>
            <a:r>
              <a:rPr b="0" lang="en-US" sz="1500" strike="noStrike" u="none">
                <a:solidFill>
                  <a:schemeClr val="lt2"/>
                </a:solidFill>
                <a:effectLst/>
                <a:uFillTx/>
                <a:latin typeface="Calibri"/>
              </a:rPr>
              <a:t>El botón se bloquea para evitar dobles envíos.</a:t>
            </a:r>
            <a:endParaRPr b="0" lang="es-ES" sz="1500" strike="noStrike" u="none">
              <a:solidFill>
                <a:srgbClr val="ffffff"/>
              </a:solidFill>
              <a:effectLst/>
              <a:uFillTx/>
              <a:latin typeface="Arial"/>
            </a:endParaRPr>
          </a:p>
          <a:p>
            <a:pPr defTabSz="914400">
              <a:lnSpc>
                <a:spcPct val="100000"/>
              </a:lnSpc>
              <a:spcAft>
                <a:spcPts val="1001"/>
              </a:spcAft>
              <a:tabLst>
                <a:tab algn="l" pos="0"/>
              </a:tabLst>
            </a:pPr>
            <a:r>
              <a:rPr b="1" lang="en-US" sz="1500" strike="noStrike" u="none">
                <a:solidFill>
                  <a:schemeClr val="lt1"/>
                </a:solidFill>
                <a:effectLst/>
                <a:uFillTx/>
                <a:latin typeface="Calibri"/>
              </a:rPr>
              <a:t>Artistas resaltados en color, </a:t>
            </a:r>
            <a:r>
              <a:rPr b="0" lang="en-US" sz="1500" strike="noStrike" u="none">
                <a:solidFill>
                  <a:schemeClr val="lt2"/>
                </a:solidFill>
                <a:effectLst/>
                <a:uFillTx/>
                <a:latin typeface="Calibri"/>
              </a:rPr>
              <a:t>pero la respuesta se muestra siempre como texto, nunca con v-html.</a:t>
            </a:r>
            <a:endParaRPr b="0" lang="es-ES" sz="1500" strike="noStrike" u="none">
              <a:solidFill>
                <a:srgbClr val="ffffff"/>
              </a:solidFill>
              <a:effectLst/>
              <a:uFillTx/>
              <a:latin typeface="Arial"/>
            </a:endParaRPr>
          </a:p>
          <a:p>
            <a:pPr defTabSz="914400">
              <a:lnSpc>
                <a:spcPct val="100000"/>
              </a:lnSpc>
              <a:spcBef>
                <a:spcPts val="1191"/>
              </a:spcBef>
              <a:spcAft>
                <a:spcPts val="992"/>
              </a:spcAft>
              <a:tabLst>
                <a:tab algn="l" pos="0"/>
              </a:tabLst>
            </a:pPr>
            <a:r>
              <a:rPr b="1" lang="en-US" sz="1500" strike="noStrike" u="none">
                <a:solidFill>
                  <a:schemeClr val="lt1"/>
                </a:solidFill>
                <a:effectLst/>
                <a:uFillTx/>
                <a:latin typeface="Calibri"/>
              </a:rPr>
              <a:t>Vercel: </a:t>
            </a:r>
            <a:r>
              <a:rPr b="0" lang="en-US" sz="1500" strike="noStrike" u="none">
                <a:solidFill>
                  <a:schemeClr val="lt2"/>
                </a:solidFill>
                <a:effectLst/>
                <a:uFillTx/>
                <a:latin typeface="Calibri"/>
              </a:rPr>
              <a:t>/api/recommend va al backend en la misma URL, sin CORS. En local, backend en localhost:8000. </a:t>
            </a:r>
            <a:endParaRPr b="0" lang="es-ES" sz="1500" strike="noStrike" u="none">
              <a:solidFill>
                <a:srgbClr val="ffffff"/>
              </a:solidFill>
              <a:effectLst/>
              <a:uFillTx/>
              <a:latin typeface="Arial"/>
            </a:endParaRPr>
          </a:p>
        </p:txBody>
      </p:sp>
      <p:sp>
        <p:nvSpPr>
          <p:cNvPr id="437" name="card385"/>
          <p:cNvSpPr/>
          <p:nvPr/>
        </p:nvSpPr>
        <p:spPr>
          <a:xfrm>
            <a:off x="548640" y="4846320"/>
            <a:ext cx="2788560" cy="1188360"/>
          </a:xfrm>
          <a:prstGeom prst="roundRect">
            <a:avLst>
              <a:gd name="adj" fmla="val 9231"/>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38" name="txt386"/>
          <p:cNvSpPr/>
          <p:nvPr/>
        </p:nvSpPr>
        <p:spPr>
          <a:xfrm>
            <a:off x="777240" y="4956120"/>
            <a:ext cx="2331360" cy="653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chemeClr val="accent1"/>
                </a:solidFill>
                <a:effectLst/>
                <a:uFillTx/>
                <a:latin typeface="Calibri"/>
              </a:rPr>
              <a:t>≈ 7,5 h</a:t>
            </a:r>
            <a:endParaRPr b="0" lang="es-ES" sz="3400" strike="noStrike" u="none">
              <a:solidFill>
                <a:srgbClr val="ffffff"/>
              </a:solidFill>
              <a:effectLst/>
              <a:uFillTx/>
              <a:latin typeface="Arial"/>
            </a:endParaRPr>
          </a:p>
        </p:txBody>
      </p:sp>
      <p:sp>
        <p:nvSpPr>
          <p:cNvPr id="439" name="txt387"/>
          <p:cNvSpPr/>
          <p:nvPr/>
        </p:nvSpPr>
        <p:spPr>
          <a:xfrm>
            <a:off x="777240" y="5559480"/>
            <a:ext cx="2331360" cy="427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de frontend (estimación)</a:t>
            </a:r>
            <a:endParaRPr b="0" lang="es-ES" sz="1300" strike="noStrike" u="none">
              <a:solidFill>
                <a:srgbClr val="ffffff"/>
              </a:solidFill>
              <a:effectLst/>
              <a:uFillTx/>
              <a:latin typeface="Arial"/>
            </a:endParaRPr>
          </a:p>
        </p:txBody>
      </p:sp>
      <p:sp>
        <p:nvSpPr>
          <p:cNvPr id="440" name="card388"/>
          <p:cNvSpPr/>
          <p:nvPr/>
        </p:nvSpPr>
        <p:spPr>
          <a:xfrm>
            <a:off x="3520440" y="4846320"/>
            <a:ext cx="2788560" cy="1188360"/>
          </a:xfrm>
          <a:prstGeom prst="roundRect">
            <a:avLst>
              <a:gd name="adj" fmla="val 9231"/>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41" name="txt389"/>
          <p:cNvSpPr/>
          <p:nvPr/>
        </p:nvSpPr>
        <p:spPr>
          <a:xfrm>
            <a:off x="3749040" y="4956120"/>
            <a:ext cx="2331360" cy="653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chemeClr val="accent1"/>
                </a:solidFill>
                <a:effectLst/>
                <a:uFillTx/>
                <a:latin typeface="Calibri"/>
              </a:rPr>
              <a:t>12</a:t>
            </a:r>
            <a:endParaRPr b="0" lang="es-ES" sz="3400" strike="noStrike" u="none">
              <a:solidFill>
                <a:srgbClr val="ffffff"/>
              </a:solidFill>
              <a:effectLst/>
              <a:uFillTx/>
              <a:latin typeface="Arial"/>
            </a:endParaRPr>
          </a:p>
        </p:txBody>
      </p:sp>
      <p:sp>
        <p:nvSpPr>
          <p:cNvPr id="442" name="txt390"/>
          <p:cNvSpPr/>
          <p:nvPr/>
        </p:nvSpPr>
        <p:spPr>
          <a:xfrm>
            <a:off x="3749040" y="5559480"/>
            <a:ext cx="2331360" cy="427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géneros, como en la App 2</a:t>
            </a:r>
            <a:endParaRPr b="0" lang="es-ES" sz="1300" strike="noStrike" u="none">
              <a:solidFill>
                <a:srgbClr val="ffffff"/>
              </a:solidFill>
              <a:effectLst/>
              <a:uFillTx/>
              <a:latin typeface="Arial"/>
            </a:endParaRPr>
          </a:p>
        </p:txBody>
      </p:sp>
      <p:sp>
        <p:nvSpPr>
          <p:cNvPr id="443" name="card391"/>
          <p:cNvSpPr/>
          <p:nvPr/>
        </p:nvSpPr>
        <p:spPr>
          <a:xfrm>
            <a:off x="6583680" y="1371600"/>
            <a:ext cx="5074560" cy="4663080"/>
          </a:xfrm>
          <a:prstGeom prst="roundRect">
            <a:avLst>
              <a:gd name="adj" fmla="val 2353"/>
            </a:avLst>
          </a:prstGeom>
          <a:solidFill>
            <a:schemeClr val="tx1"/>
          </a:solidFill>
          <a:ln w="9525">
            <a:solidFill>
              <a:schemeClr val="lt2">
                <a:alpha val="5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pic>
        <p:nvPicPr>
          <p:cNvPr id="444" name="capturaApp1" descr="Captura de la App 1 en Vercel con recomendaciones"/>
          <p:cNvPicPr/>
          <p:nvPr/>
        </p:nvPicPr>
        <p:blipFill>
          <a:blip r:embed="rId1"/>
          <a:stretch/>
        </p:blipFill>
        <p:spPr>
          <a:xfrm>
            <a:off x="7004160" y="1481400"/>
            <a:ext cx="4224240" cy="4443480"/>
          </a:xfrm>
          <a:prstGeom prst="rect">
            <a:avLst/>
          </a:prstGeom>
          <a:noFill/>
          <a:ln w="0">
            <a:noFill/>
          </a:ln>
        </p:spPr>
      </p:pic>
      <p:sp>
        <p:nvSpPr>
          <p:cNvPr id="445" name="PlaceHolder 3"/>
          <p:cNvSpPr>
            <a:spLocks noGrp="1"/>
          </p:cNvSpPr>
          <p:nvPr>
            <p:ph type="sldNum" idx="16"/>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49A5412A-6C57-47D7-B0A2-F60FB3D3777D}"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6"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Evolución en Git</a:t>
            </a:r>
            <a:endParaRPr b="0" lang="es-ES" sz="3400" strike="noStrike" u="none">
              <a:solidFill>
                <a:schemeClr val="dk1"/>
              </a:solidFill>
              <a:effectLst/>
              <a:uFillTx/>
              <a:latin typeface="Calibri"/>
            </a:endParaRPr>
          </a:p>
        </p:txBody>
      </p:sp>
      <p:sp>
        <p:nvSpPr>
          <p:cNvPr id="447"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HITOS H0 … H12</a:t>
            </a:r>
            <a:endParaRPr b="0" lang="es-ES" sz="1200" strike="noStrike" u="none">
              <a:solidFill>
                <a:schemeClr val="dk1"/>
              </a:solidFill>
              <a:effectLst/>
              <a:uFillTx/>
              <a:latin typeface="Calibri"/>
            </a:endParaRPr>
          </a:p>
        </p:txBody>
      </p:sp>
      <p:sp>
        <p:nvSpPr>
          <p:cNvPr id="448" name="presenta392"/>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49" name="txt393"/>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Jose Antonio Nieto</a:t>
            </a:r>
            <a:endParaRPr b="0" lang="es-ES" sz="1100" strike="noStrike" u="none">
              <a:solidFill>
                <a:srgbClr val="ffffff"/>
              </a:solidFill>
              <a:effectLst/>
              <a:uFillTx/>
              <a:latin typeface="Arial"/>
            </a:endParaRPr>
          </a:p>
        </p:txBody>
      </p:sp>
      <p:sp>
        <p:nvSpPr>
          <p:cNvPr id="450" name="card394"/>
          <p:cNvSpPr/>
          <p:nvPr/>
        </p:nvSpPr>
        <p:spPr>
          <a:xfrm>
            <a:off x="548640" y="1371600"/>
            <a:ext cx="3565800" cy="1188360"/>
          </a:xfrm>
          <a:prstGeom prst="roundRect">
            <a:avLst>
              <a:gd name="adj" fmla="val 9231"/>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51" name="txt395"/>
          <p:cNvSpPr/>
          <p:nvPr/>
        </p:nvSpPr>
        <p:spPr>
          <a:xfrm>
            <a:off x="777240" y="1481400"/>
            <a:ext cx="3108600" cy="653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chemeClr val="accent1"/>
                </a:solidFill>
                <a:effectLst/>
                <a:uFillTx/>
                <a:latin typeface="Calibri"/>
              </a:rPr>
              <a:t>61 commits</a:t>
            </a:r>
            <a:endParaRPr b="0" lang="es-ES" sz="3400" strike="noStrike" u="none">
              <a:solidFill>
                <a:srgbClr val="ffffff"/>
              </a:solidFill>
              <a:effectLst/>
              <a:uFillTx/>
              <a:latin typeface="Arial"/>
            </a:endParaRPr>
          </a:p>
        </p:txBody>
      </p:sp>
      <p:sp>
        <p:nvSpPr>
          <p:cNvPr id="452" name="txt396"/>
          <p:cNvSpPr/>
          <p:nvPr/>
        </p:nvSpPr>
        <p:spPr>
          <a:xfrm>
            <a:off x="777240" y="2084760"/>
            <a:ext cx="3108600" cy="427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de los tres integrantes, del 11/10 al 28/10</a:t>
            </a:r>
            <a:endParaRPr b="0" lang="es-ES" sz="1300" strike="noStrike" u="none">
              <a:solidFill>
                <a:srgbClr val="ffffff"/>
              </a:solidFill>
              <a:effectLst/>
              <a:uFillTx/>
              <a:latin typeface="Arial"/>
            </a:endParaRPr>
          </a:p>
        </p:txBody>
      </p:sp>
      <p:sp>
        <p:nvSpPr>
          <p:cNvPr id="453" name="card397"/>
          <p:cNvSpPr/>
          <p:nvPr/>
        </p:nvSpPr>
        <p:spPr>
          <a:xfrm>
            <a:off x="4316040" y="1371600"/>
            <a:ext cx="3565800" cy="1188360"/>
          </a:xfrm>
          <a:prstGeom prst="roundRect">
            <a:avLst>
              <a:gd name="adj" fmla="val 9231"/>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54" name="txt398"/>
          <p:cNvSpPr/>
          <p:nvPr/>
        </p:nvSpPr>
        <p:spPr>
          <a:xfrm>
            <a:off x="4544640" y="1481400"/>
            <a:ext cx="3108600" cy="653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chemeClr val="accent2"/>
                </a:solidFill>
                <a:effectLst/>
                <a:uFillTx/>
                <a:latin typeface="Calibri"/>
              </a:rPr>
              <a:t>25/10 → 27/10</a:t>
            </a:r>
            <a:endParaRPr b="0" lang="es-ES" sz="3400" strike="noStrike" u="none">
              <a:solidFill>
                <a:srgbClr val="ffffff"/>
              </a:solidFill>
              <a:effectLst/>
              <a:uFillTx/>
              <a:latin typeface="Arial"/>
            </a:endParaRPr>
          </a:p>
        </p:txBody>
      </p:sp>
      <p:sp>
        <p:nvSpPr>
          <p:cNvPr id="455" name="txt399"/>
          <p:cNvSpPr/>
          <p:nvPr/>
        </p:nvSpPr>
        <p:spPr>
          <a:xfrm>
            <a:off x="4544640" y="2084760"/>
            <a:ext cx="3108600" cy="427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la especificación entra en Git antes que el código</a:t>
            </a:r>
            <a:endParaRPr b="0" lang="es-ES" sz="1300" strike="noStrike" u="none">
              <a:solidFill>
                <a:srgbClr val="ffffff"/>
              </a:solidFill>
              <a:effectLst/>
              <a:uFillTx/>
              <a:latin typeface="Arial"/>
            </a:endParaRPr>
          </a:p>
        </p:txBody>
      </p:sp>
      <p:sp>
        <p:nvSpPr>
          <p:cNvPr id="456" name="card400"/>
          <p:cNvSpPr/>
          <p:nvPr/>
        </p:nvSpPr>
        <p:spPr>
          <a:xfrm>
            <a:off x="8092440" y="1371600"/>
            <a:ext cx="3565800" cy="1188360"/>
          </a:xfrm>
          <a:prstGeom prst="roundRect">
            <a:avLst>
              <a:gd name="adj" fmla="val 9231"/>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57" name="txt401"/>
          <p:cNvSpPr/>
          <p:nvPr/>
        </p:nvSpPr>
        <p:spPr>
          <a:xfrm>
            <a:off x="8321040" y="1481400"/>
            <a:ext cx="3108600" cy="653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chemeClr val="accent4"/>
                </a:solidFill>
                <a:effectLst/>
                <a:uFillTx/>
                <a:latin typeface="Calibri"/>
              </a:rPr>
              <a:t>Etiquetas</a:t>
            </a:r>
            <a:endParaRPr b="0" lang="es-ES" sz="3400" strike="noStrike" u="none">
              <a:solidFill>
                <a:srgbClr val="ffffff"/>
              </a:solidFill>
              <a:effectLst/>
              <a:uFillTx/>
              <a:latin typeface="Arial"/>
            </a:endParaRPr>
          </a:p>
        </p:txBody>
      </p:sp>
      <p:sp>
        <p:nvSpPr>
          <p:cNvPr id="458" name="txt402"/>
          <p:cNvSpPr/>
          <p:nvPr/>
        </p:nvSpPr>
        <p:spPr>
          <a:xfrm>
            <a:off x="8321040" y="2084760"/>
            <a:ext cx="3108600" cy="427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app1-final y entrega-ud1 (pendientes)</a:t>
            </a:r>
            <a:endParaRPr b="0" lang="es-ES" sz="1300" strike="noStrike" u="none">
              <a:solidFill>
                <a:srgbClr val="ffffff"/>
              </a:solidFill>
              <a:effectLst/>
              <a:uFillTx/>
              <a:latin typeface="Arial"/>
            </a:endParaRPr>
          </a:p>
        </p:txBody>
      </p:sp>
      <p:sp>
        <p:nvSpPr>
          <p:cNvPr id="459" name="line403"/>
          <p:cNvSpPr/>
          <p:nvPr/>
        </p:nvSpPr>
        <p:spPr>
          <a:xfrm>
            <a:off x="640080" y="3063240"/>
            <a:ext cx="10927080" cy="360"/>
          </a:xfrm>
          <a:prstGeom prst="line">
            <a:avLst/>
          </a:prstGeom>
          <a:ln w="15875">
            <a:solidFill>
              <a:srgbClr val="a9a9bf"/>
            </a:solidFill>
            <a:roun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460" name="hito404"/>
          <p:cNvSpPr/>
          <p:nvPr/>
        </p:nvSpPr>
        <p:spPr>
          <a:xfrm>
            <a:off x="1298520" y="2953440"/>
            <a:ext cx="219240" cy="219240"/>
          </a:xfrm>
          <a:prstGeom prst="ellipse">
            <a:avLst/>
          </a:prstGeom>
          <a:solidFill>
            <a:schemeClr val="bg1"/>
          </a:solidFill>
          <a:ln w="25400">
            <a:solidFill>
              <a:srgbClr val="0b0b12"/>
            </a:solidFill>
            <a:round/>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461" name="txt405"/>
          <p:cNvSpPr/>
          <p:nvPr/>
        </p:nvSpPr>
        <p:spPr>
          <a:xfrm>
            <a:off x="640080" y="2670120"/>
            <a:ext cx="1517400" cy="237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100" strike="noStrike" u="none">
                <a:solidFill>
                  <a:schemeClr val="lt1"/>
                </a:solidFill>
                <a:effectLst/>
                <a:uFillTx/>
                <a:latin typeface="Calibri"/>
              </a:rPr>
              <a:t>11/10</a:t>
            </a:r>
            <a:endParaRPr b="0" lang="es-ES" sz="1100" strike="noStrike" u="none">
              <a:solidFill>
                <a:srgbClr val="ffffff"/>
              </a:solidFill>
              <a:effectLst/>
              <a:uFillTx/>
              <a:latin typeface="Arial"/>
            </a:endParaRPr>
          </a:p>
        </p:txBody>
      </p:sp>
      <p:sp>
        <p:nvSpPr>
          <p:cNvPr id="462" name="card406"/>
          <p:cNvSpPr/>
          <p:nvPr/>
        </p:nvSpPr>
        <p:spPr>
          <a:xfrm>
            <a:off x="640080" y="3383280"/>
            <a:ext cx="1481040" cy="2102760"/>
          </a:xfrm>
          <a:prstGeom prst="roundRect">
            <a:avLst>
              <a:gd name="adj" fmla="val 7407"/>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63" name="txt407"/>
          <p:cNvSpPr/>
          <p:nvPr/>
        </p:nvSpPr>
        <p:spPr>
          <a:xfrm>
            <a:off x="749880" y="3520440"/>
            <a:ext cx="1279800" cy="2422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trike="noStrike" u="none">
                <a:solidFill>
                  <a:schemeClr val="lt1"/>
                </a:solidFill>
                <a:effectLst/>
                <a:uFillTx/>
                <a:latin typeface="Calibri"/>
              </a:rPr>
              <a:t>H0 · Inicio</a:t>
            </a:r>
            <a:endParaRPr b="0" lang="es-ES" sz="13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rPr>
              <a:t>Estructura, .gitignore, .env.example y frontend base</a:t>
            </a:r>
            <a:endParaRPr b="0" lang="es-ES" sz="1200" strike="noStrike" u="none">
              <a:solidFill>
                <a:srgbClr val="ffffff"/>
              </a:solidFill>
              <a:effectLst/>
              <a:uFillTx/>
              <a:latin typeface="Arial"/>
            </a:endParaRPr>
          </a:p>
        </p:txBody>
      </p:sp>
      <p:sp>
        <p:nvSpPr>
          <p:cNvPr id="464" name="hito408"/>
          <p:cNvSpPr/>
          <p:nvPr/>
        </p:nvSpPr>
        <p:spPr>
          <a:xfrm>
            <a:off x="2862000" y="2953440"/>
            <a:ext cx="219240" cy="219240"/>
          </a:xfrm>
          <a:prstGeom prst="ellipse">
            <a:avLst/>
          </a:prstGeom>
          <a:solidFill>
            <a:schemeClr val="bg1"/>
          </a:solidFill>
          <a:ln w="25400">
            <a:solidFill>
              <a:srgbClr val="0b0b12"/>
            </a:solidFill>
            <a:round/>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465" name="txt409"/>
          <p:cNvSpPr/>
          <p:nvPr/>
        </p:nvSpPr>
        <p:spPr>
          <a:xfrm>
            <a:off x="2203560" y="2670120"/>
            <a:ext cx="1517400" cy="237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100" strike="noStrike" u="none">
                <a:solidFill>
                  <a:schemeClr val="lt1"/>
                </a:solidFill>
                <a:effectLst/>
                <a:uFillTx/>
                <a:latin typeface="Calibri"/>
              </a:rPr>
              <a:t>12–13/10</a:t>
            </a:r>
            <a:endParaRPr b="0" lang="es-ES" sz="1100" strike="noStrike" u="none">
              <a:solidFill>
                <a:srgbClr val="ffffff"/>
              </a:solidFill>
              <a:effectLst/>
              <a:uFillTx/>
              <a:latin typeface="Arial"/>
            </a:endParaRPr>
          </a:p>
        </p:txBody>
      </p:sp>
      <p:sp>
        <p:nvSpPr>
          <p:cNvPr id="466" name="card410"/>
          <p:cNvSpPr/>
          <p:nvPr/>
        </p:nvSpPr>
        <p:spPr>
          <a:xfrm>
            <a:off x="2203560" y="3383280"/>
            <a:ext cx="1481040" cy="2102760"/>
          </a:xfrm>
          <a:prstGeom prst="roundRect">
            <a:avLst>
              <a:gd name="adj" fmla="val 7407"/>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67" name="txt411"/>
          <p:cNvSpPr/>
          <p:nvPr/>
        </p:nvSpPr>
        <p:spPr>
          <a:xfrm>
            <a:off x="2313360" y="3520440"/>
            <a:ext cx="1279800" cy="2422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trike="noStrike" u="none">
                <a:solidFill>
                  <a:schemeClr val="lt1"/>
                </a:solidFill>
                <a:effectLst/>
                <a:uFillTx/>
                <a:latin typeface="Calibri"/>
              </a:rPr>
              <a:t>H1–H3 · Backend</a:t>
            </a:r>
            <a:endParaRPr b="0" lang="es-ES" sz="13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rPr>
              <a:t>Endpoint con Pydantic, cliente de IA y 12 tests con mocks</a:t>
            </a:r>
            <a:endParaRPr b="0" lang="es-ES" sz="1200" strike="noStrike" u="none">
              <a:solidFill>
                <a:srgbClr val="ffffff"/>
              </a:solidFill>
              <a:effectLst/>
              <a:uFillTx/>
              <a:latin typeface="Arial"/>
            </a:endParaRPr>
          </a:p>
        </p:txBody>
      </p:sp>
      <p:sp>
        <p:nvSpPr>
          <p:cNvPr id="468" name="hito412"/>
          <p:cNvSpPr/>
          <p:nvPr/>
        </p:nvSpPr>
        <p:spPr>
          <a:xfrm>
            <a:off x="4425840" y="2953440"/>
            <a:ext cx="219240" cy="219240"/>
          </a:xfrm>
          <a:prstGeom prst="ellipse">
            <a:avLst/>
          </a:prstGeom>
          <a:solidFill>
            <a:schemeClr val="accent1"/>
          </a:solidFill>
          <a:ln w="25400">
            <a:solidFill>
              <a:srgbClr val="0b0b12"/>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69" name="txt413"/>
          <p:cNvSpPr/>
          <p:nvPr/>
        </p:nvSpPr>
        <p:spPr>
          <a:xfrm>
            <a:off x="3767400" y="2670120"/>
            <a:ext cx="1517400" cy="237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100" strike="noStrike" u="none">
                <a:solidFill>
                  <a:schemeClr val="accent1"/>
                </a:solidFill>
                <a:effectLst/>
                <a:uFillTx/>
                <a:latin typeface="Calibri"/>
              </a:rPr>
              <a:t>13–14/10</a:t>
            </a:r>
            <a:endParaRPr b="0" lang="es-ES" sz="1100" strike="noStrike" u="none">
              <a:solidFill>
                <a:srgbClr val="ffffff"/>
              </a:solidFill>
              <a:effectLst/>
              <a:uFillTx/>
              <a:latin typeface="Arial"/>
            </a:endParaRPr>
          </a:p>
        </p:txBody>
      </p:sp>
      <p:sp>
        <p:nvSpPr>
          <p:cNvPr id="470" name="card414"/>
          <p:cNvSpPr/>
          <p:nvPr/>
        </p:nvSpPr>
        <p:spPr>
          <a:xfrm>
            <a:off x="3767400" y="3383280"/>
            <a:ext cx="1481040" cy="2102760"/>
          </a:xfrm>
          <a:prstGeom prst="roundRect">
            <a:avLst>
              <a:gd name="adj" fmla="val 7407"/>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71" name="txt415"/>
          <p:cNvSpPr/>
          <p:nvPr/>
        </p:nvSpPr>
        <p:spPr>
          <a:xfrm>
            <a:off x="3877200" y="3520440"/>
            <a:ext cx="1279800" cy="2422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trike="noStrike" u="none">
                <a:solidFill>
                  <a:schemeClr val="accent1"/>
                </a:solidFill>
                <a:effectLst/>
                <a:uFillTx/>
                <a:latin typeface="Calibri"/>
              </a:rPr>
              <a:t>H4–H6 · Frontend</a:t>
            </a:r>
            <a:endParaRPr b="0" lang="es-ES" sz="13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rPr>
              <a:t>Géneros, resaltado de artistas y diseño</a:t>
            </a:r>
            <a:endParaRPr b="0" lang="es-ES" sz="1200" strike="noStrike" u="none">
              <a:solidFill>
                <a:srgbClr val="ffffff"/>
              </a:solidFill>
              <a:effectLst/>
              <a:uFillTx/>
              <a:latin typeface="Arial"/>
            </a:endParaRPr>
          </a:p>
        </p:txBody>
      </p:sp>
      <p:sp>
        <p:nvSpPr>
          <p:cNvPr id="472" name="hito416"/>
          <p:cNvSpPr/>
          <p:nvPr/>
        </p:nvSpPr>
        <p:spPr>
          <a:xfrm>
            <a:off x="5989320" y="2953440"/>
            <a:ext cx="219240" cy="219240"/>
          </a:xfrm>
          <a:prstGeom prst="ellipse">
            <a:avLst/>
          </a:prstGeom>
          <a:solidFill>
            <a:schemeClr val="accent3"/>
          </a:solidFill>
          <a:ln w="25400">
            <a:solidFill>
              <a:srgbClr val="0b0b12"/>
            </a:solidFill>
            <a:round/>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473" name="txt417"/>
          <p:cNvSpPr/>
          <p:nvPr/>
        </p:nvSpPr>
        <p:spPr>
          <a:xfrm>
            <a:off x="5330880" y="2670120"/>
            <a:ext cx="1517400" cy="237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100" strike="noStrike" u="none">
                <a:solidFill>
                  <a:schemeClr val="accent3"/>
                </a:solidFill>
                <a:effectLst/>
                <a:uFillTx/>
                <a:latin typeface="Calibri"/>
              </a:rPr>
              <a:t>15–19/10</a:t>
            </a:r>
            <a:endParaRPr b="0" lang="es-ES" sz="1100" strike="noStrike" u="none">
              <a:solidFill>
                <a:srgbClr val="ffffff"/>
              </a:solidFill>
              <a:effectLst/>
              <a:uFillTx/>
              <a:latin typeface="Arial"/>
            </a:endParaRPr>
          </a:p>
        </p:txBody>
      </p:sp>
      <p:sp>
        <p:nvSpPr>
          <p:cNvPr id="474" name="card418"/>
          <p:cNvSpPr/>
          <p:nvPr/>
        </p:nvSpPr>
        <p:spPr>
          <a:xfrm>
            <a:off x="5330880" y="3383280"/>
            <a:ext cx="1481040" cy="2102760"/>
          </a:xfrm>
          <a:prstGeom prst="roundRect">
            <a:avLst>
              <a:gd name="adj" fmla="val 7407"/>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75" name="txt419"/>
          <p:cNvSpPr/>
          <p:nvPr/>
        </p:nvSpPr>
        <p:spPr>
          <a:xfrm>
            <a:off x="5440680" y="3520440"/>
            <a:ext cx="1279800" cy="2422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trike="noStrike" u="none">
                <a:solidFill>
                  <a:schemeClr val="accent3"/>
                </a:solidFill>
                <a:effectLst/>
                <a:uFillTx/>
                <a:latin typeface="Calibri"/>
              </a:rPr>
              <a:t>H7 · Vercel</a:t>
            </a:r>
            <a:endParaRPr b="0" lang="es-ES" sz="13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rPr>
              <a:t>App 1 desplegada y cambio a Gemini</a:t>
            </a:r>
            <a:endParaRPr b="0" lang="es-ES" sz="1200" strike="noStrike" u="none">
              <a:solidFill>
                <a:srgbClr val="ffffff"/>
              </a:solidFill>
              <a:effectLst/>
              <a:uFillTx/>
              <a:latin typeface="Arial"/>
            </a:endParaRPr>
          </a:p>
        </p:txBody>
      </p:sp>
      <p:sp>
        <p:nvSpPr>
          <p:cNvPr id="476" name="hito420"/>
          <p:cNvSpPr/>
          <p:nvPr/>
        </p:nvSpPr>
        <p:spPr>
          <a:xfrm>
            <a:off x="7552800" y="2953440"/>
            <a:ext cx="219240" cy="219240"/>
          </a:xfrm>
          <a:prstGeom prst="ellipse">
            <a:avLst/>
          </a:prstGeom>
          <a:solidFill>
            <a:schemeClr val="accent2"/>
          </a:solidFill>
          <a:ln w="25400">
            <a:solidFill>
              <a:srgbClr val="0b0b12"/>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77" name="txt421"/>
          <p:cNvSpPr/>
          <p:nvPr/>
        </p:nvSpPr>
        <p:spPr>
          <a:xfrm>
            <a:off x="6894720" y="2670120"/>
            <a:ext cx="1517400" cy="237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100" strike="noStrike" u="none">
                <a:solidFill>
                  <a:schemeClr val="accent2"/>
                </a:solidFill>
                <a:effectLst/>
                <a:uFillTx/>
                <a:latin typeface="Calibri"/>
              </a:rPr>
              <a:t>25/10</a:t>
            </a:r>
            <a:endParaRPr b="0" lang="es-ES" sz="1100" strike="noStrike" u="none">
              <a:solidFill>
                <a:srgbClr val="ffffff"/>
              </a:solidFill>
              <a:effectLst/>
              <a:uFillTx/>
              <a:latin typeface="Arial"/>
            </a:endParaRPr>
          </a:p>
        </p:txBody>
      </p:sp>
      <p:sp>
        <p:nvSpPr>
          <p:cNvPr id="478" name="card422"/>
          <p:cNvSpPr/>
          <p:nvPr/>
        </p:nvSpPr>
        <p:spPr>
          <a:xfrm>
            <a:off x="6894720" y="3383280"/>
            <a:ext cx="1481040" cy="2102760"/>
          </a:xfrm>
          <a:prstGeom prst="roundRect">
            <a:avLst>
              <a:gd name="adj" fmla="val 7407"/>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79" name="txt423"/>
          <p:cNvSpPr/>
          <p:nvPr/>
        </p:nvSpPr>
        <p:spPr>
          <a:xfrm>
            <a:off x="7004160" y="3520440"/>
            <a:ext cx="1279800" cy="2422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trike="noStrike" u="none">
                <a:solidFill>
                  <a:schemeClr val="accent2"/>
                </a:solidFill>
                <a:effectLst/>
                <a:uFillTx/>
                <a:latin typeface="Calibri"/>
              </a:rPr>
              <a:t>H8 · Spec Kit</a:t>
            </a:r>
            <a:endParaRPr b="0" lang="es-ES" sz="13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rPr>
              <a:t>Constitución, spec, plan y tareas, antes del código</a:t>
            </a:r>
            <a:endParaRPr b="0" lang="es-ES" sz="1200" strike="noStrike" u="none">
              <a:solidFill>
                <a:srgbClr val="ffffff"/>
              </a:solidFill>
              <a:effectLst/>
              <a:uFillTx/>
              <a:latin typeface="Arial"/>
            </a:endParaRPr>
          </a:p>
        </p:txBody>
      </p:sp>
      <p:sp>
        <p:nvSpPr>
          <p:cNvPr id="480" name="hito424"/>
          <p:cNvSpPr/>
          <p:nvPr/>
        </p:nvSpPr>
        <p:spPr>
          <a:xfrm>
            <a:off x="9116640" y="2953440"/>
            <a:ext cx="219240" cy="219240"/>
          </a:xfrm>
          <a:prstGeom prst="ellipse">
            <a:avLst/>
          </a:prstGeom>
          <a:solidFill>
            <a:schemeClr val="accent2"/>
          </a:solidFill>
          <a:ln w="25400">
            <a:solidFill>
              <a:srgbClr val="0b0b12"/>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81" name="txt425"/>
          <p:cNvSpPr/>
          <p:nvPr/>
        </p:nvSpPr>
        <p:spPr>
          <a:xfrm>
            <a:off x="8458200" y="2670120"/>
            <a:ext cx="1517400" cy="237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100" strike="noStrike" u="none">
                <a:solidFill>
                  <a:schemeClr val="accent2"/>
                </a:solidFill>
                <a:effectLst/>
                <a:uFillTx/>
                <a:latin typeface="Calibri"/>
              </a:rPr>
              <a:t>27–28/10</a:t>
            </a:r>
            <a:endParaRPr b="0" lang="es-ES" sz="1100" strike="noStrike" u="none">
              <a:solidFill>
                <a:srgbClr val="ffffff"/>
              </a:solidFill>
              <a:effectLst/>
              <a:uFillTx/>
              <a:latin typeface="Arial"/>
            </a:endParaRPr>
          </a:p>
        </p:txBody>
      </p:sp>
      <p:sp>
        <p:nvSpPr>
          <p:cNvPr id="482" name="card426"/>
          <p:cNvSpPr/>
          <p:nvPr/>
        </p:nvSpPr>
        <p:spPr>
          <a:xfrm>
            <a:off x="8458200" y="3383280"/>
            <a:ext cx="1481040" cy="2102760"/>
          </a:xfrm>
          <a:prstGeom prst="roundRect">
            <a:avLst>
              <a:gd name="adj" fmla="val 7407"/>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83" name="txt427"/>
          <p:cNvSpPr/>
          <p:nvPr/>
        </p:nvSpPr>
        <p:spPr>
          <a:xfrm>
            <a:off x="8568000" y="3520440"/>
            <a:ext cx="1279800" cy="2422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trike="noStrike" u="none">
                <a:solidFill>
                  <a:schemeClr val="accent2"/>
                </a:solidFill>
                <a:effectLst/>
                <a:uFillTx/>
                <a:latin typeface="Calibri"/>
              </a:rPr>
              <a:t>H9–H10 · App 2</a:t>
            </a:r>
            <a:endParaRPr b="0" lang="es-ES" sz="13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rPr>
              <a:t>Implementación por fases, Clerk y Vercel</a:t>
            </a:r>
            <a:endParaRPr b="0" lang="es-ES" sz="1200" strike="noStrike" u="none">
              <a:solidFill>
                <a:srgbClr val="ffffff"/>
              </a:solidFill>
              <a:effectLst/>
              <a:uFillTx/>
              <a:latin typeface="Arial"/>
            </a:endParaRPr>
          </a:p>
        </p:txBody>
      </p:sp>
      <p:sp>
        <p:nvSpPr>
          <p:cNvPr id="484" name="hito428"/>
          <p:cNvSpPr/>
          <p:nvPr/>
        </p:nvSpPr>
        <p:spPr>
          <a:xfrm>
            <a:off x="10680120" y="2953440"/>
            <a:ext cx="219240" cy="219240"/>
          </a:xfrm>
          <a:prstGeom prst="ellipse">
            <a:avLst/>
          </a:prstGeom>
          <a:solidFill>
            <a:schemeClr val="accent4"/>
          </a:solidFill>
          <a:ln w="25400">
            <a:solidFill>
              <a:srgbClr val="0b0b12"/>
            </a:solidFill>
            <a:round/>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485" name="txt429"/>
          <p:cNvSpPr/>
          <p:nvPr/>
        </p:nvSpPr>
        <p:spPr>
          <a:xfrm>
            <a:off x="10021680" y="2670120"/>
            <a:ext cx="1517400" cy="237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100" strike="noStrike" u="none">
                <a:solidFill>
                  <a:schemeClr val="accent4"/>
                </a:solidFill>
                <a:effectLst/>
                <a:uFillTx/>
                <a:latin typeface="Calibri"/>
              </a:rPr>
              <a:t>Pendiente</a:t>
            </a:r>
            <a:endParaRPr b="0" lang="es-ES" sz="1100" strike="noStrike" u="none">
              <a:solidFill>
                <a:srgbClr val="ffffff"/>
              </a:solidFill>
              <a:effectLst/>
              <a:uFillTx/>
              <a:latin typeface="Arial"/>
            </a:endParaRPr>
          </a:p>
        </p:txBody>
      </p:sp>
      <p:sp>
        <p:nvSpPr>
          <p:cNvPr id="486" name="card430"/>
          <p:cNvSpPr/>
          <p:nvPr/>
        </p:nvSpPr>
        <p:spPr>
          <a:xfrm>
            <a:off x="10021680" y="3383280"/>
            <a:ext cx="1481040" cy="2102760"/>
          </a:xfrm>
          <a:prstGeom prst="roundRect">
            <a:avLst>
              <a:gd name="adj" fmla="val 7407"/>
            </a:avLst>
          </a:prstGeom>
          <a:solidFill>
            <a:schemeClr val="tx2"/>
          </a:solidFill>
          <a:ln w="9525">
            <a:solidFill>
              <a:srgbClr val="f5b84b"/>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87" name="txt431"/>
          <p:cNvSpPr/>
          <p:nvPr/>
        </p:nvSpPr>
        <p:spPr>
          <a:xfrm>
            <a:off x="10131480" y="3520440"/>
            <a:ext cx="1279800" cy="24228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trike="noStrike" u="none">
                <a:solidFill>
                  <a:schemeClr val="accent4"/>
                </a:solidFill>
                <a:effectLst/>
                <a:uFillTx/>
                <a:latin typeface="Calibri"/>
              </a:rPr>
              <a:t>H11–H12</a:t>
            </a:r>
            <a:endParaRPr b="0" lang="es-ES" sz="13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alibri"/>
              </a:rPr>
              <a:t>Docker, EC2 y cierre</a:t>
            </a:r>
            <a:endParaRPr b="0" lang="es-ES" sz="1200" strike="noStrike" u="none">
              <a:solidFill>
                <a:srgbClr val="ffffff"/>
              </a:solidFill>
              <a:effectLst/>
              <a:uFillTx/>
              <a:latin typeface="Arial"/>
            </a:endParaRPr>
          </a:p>
        </p:txBody>
      </p:sp>
      <p:sp>
        <p:nvSpPr>
          <p:cNvPr id="488" name="PlaceHolder 3"/>
          <p:cNvSpPr>
            <a:spLocks noGrp="1"/>
          </p:cNvSpPr>
          <p:nvPr>
            <p:ph type="sldNum" idx="17"/>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0C235850-ED49-41F3-B114-92B54460338E}"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9"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App 2 · Desarrollo con Spec Kit</a:t>
            </a:r>
            <a:endParaRPr b="0" lang="es-ES" sz="3400" strike="noStrike" u="none">
              <a:solidFill>
                <a:schemeClr val="dk1"/>
              </a:solidFill>
              <a:effectLst/>
              <a:uFillTx/>
              <a:latin typeface="Calibri"/>
            </a:endParaRPr>
          </a:p>
        </p:txBody>
      </p:sp>
      <p:sp>
        <p:nvSpPr>
          <p:cNvPr id="490"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SPEC KIT 1.2.4 + CLAUDE CODE</a:t>
            </a:r>
            <a:endParaRPr b="0" lang="es-ES" sz="1200" strike="noStrike" u="none">
              <a:solidFill>
                <a:schemeClr val="dk1"/>
              </a:solidFill>
              <a:effectLst/>
              <a:uFillTx/>
              <a:latin typeface="Calibri"/>
            </a:endParaRPr>
          </a:p>
        </p:txBody>
      </p:sp>
      <p:sp>
        <p:nvSpPr>
          <p:cNvPr id="491" name="presenta432"/>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92" name="txt433"/>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Jose Antonio Nieto</a:t>
            </a:r>
            <a:endParaRPr b="0" lang="es-ES" sz="1100" strike="noStrike" u="none">
              <a:solidFill>
                <a:srgbClr val="ffffff"/>
              </a:solidFill>
              <a:effectLst/>
              <a:uFillTx/>
              <a:latin typeface="Arial"/>
            </a:endParaRPr>
          </a:p>
        </p:txBody>
      </p:sp>
      <p:sp>
        <p:nvSpPr>
          <p:cNvPr id="493" name="card434"/>
          <p:cNvSpPr/>
          <p:nvPr/>
        </p:nvSpPr>
        <p:spPr>
          <a:xfrm>
            <a:off x="548640" y="1371600"/>
            <a:ext cx="1718640" cy="2239920"/>
          </a:xfrm>
          <a:prstGeom prst="roundRect">
            <a:avLst>
              <a:gd name="adj" fmla="val 6383"/>
            </a:avLst>
          </a:prstGeom>
          <a:solidFill>
            <a:schemeClr val="tx2"/>
          </a:solidFill>
          <a:ln w="9525">
            <a:solidFill>
              <a:schemeClr val="accent2">
                <a:alpha val="7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94" name="txt435"/>
          <p:cNvSpPr/>
          <p:nvPr/>
        </p:nvSpPr>
        <p:spPr>
          <a:xfrm>
            <a:off x="685800" y="1481400"/>
            <a:ext cx="146268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000" strike="noStrike" u="none">
                <a:solidFill>
                  <a:schemeClr val="lt2"/>
                </a:solidFill>
                <a:effectLst/>
                <a:uFillTx/>
                <a:latin typeface="Consolas"/>
                <a:ea typeface="Consolas"/>
              </a:rPr>
              <a:t>/speckit-</a:t>
            </a:r>
            <a:endParaRPr b="0" lang="es-ES" sz="1000" strike="noStrike" u="none">
              <a:solidFill>
                <a:srgbClr val="ffffff"/>
              </a:solidFill>
              <a:effectLst/>
              <a:uFillTx/>
              <a:latin typeface="Arial"/>
            </a:endParaRPr>
          </a:p>
          <a:p>
            <a:pPr defTabSz="914400">
              <a:lnSpc>
                <a:spcPct val="100000"/>
              </a:lnSpc>
              <a:tabLst>
                <a:tab algn="l" pos="0"/>
              </a:tabLst>
            </a:pPr>
            <a:r>
              <a:rPr b="1" lang="en-US" sz="1200" strike="noStrike" u="none">
                <a:solidFill>
                  <a:schemeClr val="accent2"/>
                </a:solidFill>
                <a:effectLst/>
                <a:uFillTx/>
                <a:latin typeface="Consolas"/>
                <a:ea typeface="Consolas"/>
              </a:rPr>
              <a:t>constitution</a:t>
            </a:r>
            <a:endParaRPr b="0" lang="es-ES" sz="1200" strike="noStrike" u="none">
              <a:solidFill>
                <a:srgbClr val="ffffff"/>
              </a:solidFill>
              <a:effectLst/>
              <a:uFillTx/>
              <a:latin typeface="Arial"/>
            </a:endParaRPr>
          </a:p>
        </p:txBody>
      </p:sp>
      <p:sp>
        <p:nvSpPr>
          <p:cNvPr id="495" name="txt436"/>
          <p:cNvSpPr/>
          <p:nvPr/>
        </p:nvSpPr>
        <p:spPr>
          <a:xfrm>
            <a:off x="685800" y="2011680"/>
            <a:ext cx="146268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1"/>
                </a:solidFill>
                <a:effectLst/>
                <a:uFillTx/>
                <a:latin typeface="Calibri"/>
              </a:rPr>
              <a:t>6 principios no negociables</a:t>
            </a:r>
            <a:endParaRPr b="0" lang="es-ES" sz="1300" strike="noStrike" u="none">
              <a:solidFill>
                <a:srgbClr val="ffffff"/>
              </a:solidFill>
              <a:effectLst/>
              <a:uFillTx/>
              <a:latin typeface="Arial"/>
            </a:endParaRPr>
          </a:p>
        </p:txBody>
      </p:sp>
      <p:sp>
        <p:nvSpPr>
          <p:cNvPr id="496" name="txt437"/>
          <p:cNvSpPr/>
          <p:nvPr/>
        </p:nvSpPr>
        <p:spPr>
          <a:xfrm>
            <a:off x="685800" y="3127320"/>
            <a:ext cx="146268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trike="noStrike" u="none">
                <a:solidFill>
                  <a:schemeClr val="accent2"/>
                </a:solidFill>
                <a:effectLst/>
                <a:uFillTx/>
                <a:latin typeface="Calibri"/>
              </a:rPr>
              <a:t>5 min</a:t>
            </a:r>
            <a:endParaRPr b="0" lang="es-ES" sz="1200" strike="noStrike" u="none">
              <a:solidFill>
                <a:srgbClr val="ffffff"/>
              </a:solidFill>
              <a:effectLst/>
              <a:uFillTx/>
              <a:latin typeface="Arial"/>
            </a:endParaRPr>
          </a:p>
        </p:txBody>
      </p:sp>
      <p:sp>
        <p:nvSpPr>
          <p:cNvPr id="497" name="line438"/>
          <p:cNvSpPr/>
          <p:nvPr/>
        </p:nvSpPr>
        <p:spPr>
          <a:xfrm>
            <a:off x="2267640" y="2486880"/>
            <a:ext cx="146160" cy="360"/>
          </a:xfrm>
          <a:prstGeom prst="line">
            <a:avLst/>
          </a:prstGeom>
          <a:ln w="15875">
            <a:solidFill>
              <a:srgbClr val="a9a9bf"/>
            </a:solidFill>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498" name="card439"/>
          <p:cNvSpPr/>
          <p:nvPr/>
        </p:nvSpPr>
        <p:spPr>
          <a:xfrm>
            <a:off x="2414160" y="1371600"/>
            <a:ext cx="1718640" cy="2239920"/>
          </a:xfrm>
          <a:prstGeom prst="roundRect">
            <a:avLst>
              <a:gd name="adj" fmla="val 6383"/>
            </a:avLst>
          </a:prstGeom>
          <a:solidFill>
            <a:schemeClr val="tx2"/>
          </a:solidFill>
          <a:ln w="9525">
            <a:solidFill>
              <a:schemeClr val="accent2">
                <a:alpha val="7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499" name="txt440"/>
          <p:cNvSpPr/>
          <p:nvPr/>
        </p:nvSpPr>
        <p:spPr>
          <a:xfrm>
            <a:off x="2551320" y="1481400"/>
            <a:ext cx="146268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000" strike="noStrike" u="none">
                <a:solidFill>
                  <a:schemeClr val="lt2"/>
                </a:solidFill>
                <a:effectLst/>
                <a:uFillTx/>
                <a:latin typeface="Consolas"/>
                <a:ea typeface="Consolas"/>
              </a:rPr>
              <a:t>/speckit-</a:t>
            </a:r>
            <a:endParaRPr b="0" lang="es-ES" sz="1000" strike="noStrike" u="none">
              <a:solidFill>
                <a:srgbClr val="ffffff"/>
              </a:solidFill>
              <a:effectLst/>
              <a:uFillTx/>
              <a:latin typeface="Arial"/>
            </a:endParaRPr>
          </a:p>
          <a:p>
            <a:pPr defTabSz="914400">
              <a:lnSpc>
                <a:spcPct val="100000"/>
              </a:lnSpc>
              <a:tabLst>
                <a:tab algn="l" pos="0"/>
              </a:tabLst>
            </a:pPr>
            <a:r>
              <a:rPr b="1" lang="en-US" sz="1200" strike="noStrike" u="none">
                <a:solidFill>
                  <a:schemeClr val="accent2"/>
                </a:solidFill>
                <a:effectLst/>
                <a:uFillTx/>
                <a:latin typeface="Consolas"/>
                <a:ea typeface="Consolas"/>
              </a:rPr>
              <a:t>specify</a:t>
            </a:r>
            <a:endParaRPr b="0" lang="es-ES" sz="1200" strike="noStrike" u="none">
              <a:solidFill>
                <a:srgbClr val="ffffff"/>
              </a:solidFill>
              <a:effectLst/>
              <a:uFillTx/>
              <a:latin typeface="Arial"/>
            </a:endParaRPr>
          </a:p>
        </p:txBody>
      </p:sp>
      <p:sp>
        <p:nvSpPr>
          <p:cNvPr id="500" name="txt441"/>
          <p:cNvSpPr/>
          <p:nvPr/>
        </p:nvSpPr>
        <p:spPr>
          <a:xfrm>
            <a:off x="2551320" y="2011680"/>
            <a:ext cx="146268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1"/>
                </a:solidFill>
                <a:effectLst/>
                <a:uFillTx/>
                <a:latin typeface="Calibri"/>
              </a:rPr>
              <a:t>4 historias y 29 requisitos trazados a la ERS</a:t>
            </a:r>
            <a:endParaRPr b="0" lang="es-ES" sz="1300" strike="noStrike" u="none">
              <a:solidFill>
                <a:srgbClr val="ffffff"/>
              </a:solidFill>
              <a:effectLst/>
              <a:uFillTx/>
              <a:latin typeface="Arial"/>
            </a:endParaRPr>
          </a:p>
        </p:txBody>
      </p:sp>
      <p:sp>
        <p:nvSpPr>
          <p:cNvPr id="501" name="txt442"/>
          <p:cNvSpPr/>
          <p:nvPr/>
        </p:nvSpPr>
        <p:spPr>
          <a:xfrm>
            <a:off x="2551320" y="3127320"/>
            <a:ext cx="146268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trike="noStrike" u="none">
                <a:solidFill>
                  <a:schemeClr val="accent2"/>
                </a:solidFill>
                <a:effectLst/>
                <a:uFillTx/>
                <a:latin typeface="Calibri"/>
              </a:rPr>
              <a:t>IA 1 min 22 s</a:t>
            </a:r>
            <a:endParaRPr b="0" lang="es-ES" sz="1200" strike="noStrike" u="none">
              <a:solidFill>
                <a:srgbClr val="ffffff"/>
              </a:solidFill>
              <a:effectLst/>
              <a:uFillTx/>
              <a:latin typeface="Arial"/>
            </a:endParaRPr>
          </a:p>
        </p:txBody>
      </p:sp>
      <p:sp>
        <p:nvSpPr>
          <p:cNvPr id="502" name="line443"/>
          <p:cNvSpPr/>
          <p:nvPr/>
        </p:nvSpPr>
        <p:spPr>
          <a:xfrm>
            <a:off x="4132800" y="2486880"/>
            <a:ext cx="146520" cy="360"/>
          </a:xfrm>
          <a:prstGeom prst="line">
            <a:avLst/>
          </a:prstGeom>
          <a:ln w="15875">
            <a:solidFill>
              <a:srgbClr val="a9a9bf"/>
            </a:solidFill>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503" name="card444"/>
          <p:cNvSpPr/>
          <p:nvPr/>
        </p:nvSpPr>
        <p:spPr>
          <a:xfrm>
            <a:off x="4279320" y="1371600"/>
            <a:ext cx="1718640" cy="2239920"/>
          </a:xfrm>
          <a:prstGeom prst="roundRect">
            <a:avLst>
              <a:gd name="adj" fmla="val 6383"/>
            </a:avLst>
          </a:prstGeom>
          <a:solidFill>
            <a:schemeClr val="tx2"/>
          </a:solidFill>
          <a:ln w="9525">
            <a:solidFill>
              <a:schemeClr val="accent2">
                <a:alpha val="7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04" name="txt445"/>
          <p:cNvSpPr/>
          <p:nvPr/>
        </p:nvSpPr>
        <p:spPr>
          <a:xfrm>
            <a:off x="4416480" y="1481400"/>
            <a:ext cx="146268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000" strike="noStrike" u="none">
                <a:solidFill>
                  <a:schemeClr val="lt2"/>
                </a:solidFill>
                <a:effectLst/>
                <a:uFillTx/>
                <a:latin typeface="Consolas"/>
                <a:ea typeface="Consolas"/>
              </a:rPr>
              <a:t>/speckit-</a:t>
            </a:r>
            <a:endParaRPr b="0" lang="es-ES" sz="1000" strike="noStrike" u="none">
              <a:solidFill>
                <a:srgbClr val="ffffff"/>
              </a:solidFill>
              <a:effectLst/>
              <a:uFillTx/>
              <a:latin typeface="Arial"/>
            </a:endParaRPr>
          </a:p>
          <a:p>
            <a:pPr defTabSz="914400">
              <a:lnSpc>
                <a:spcPct val="100000"/>
              </a:lnSpc>
              <a:tabLst>
                <a:tab algn="l" pos="0"/>
              </a:tabLst>
            </a:pPr>
            <a:r>
              <a:rPr b="1" lang="en-US" sz="1200" strike="noStrike" u="none">
                <a:solidFill>
                  <a:schemeClr val="accent2"/>
                </a:solidFill>
                <a:effectLst/>
                <a:uFillTx/>
                <a:latin typeface="Consolas"/>
                <a:ea typeface="Consolas"/>
              </a:rPr>
              <a:t>plan</a:t>
            </a:r>
            <a:endParaRPr b="0" lang="es-ES" sz="1200" strike="noStrike" u="none">
              <a:solidFill>
                <a:srgbClr val="ffffff"/>
              </a:solidFill>
              <a:effectLst/>
              <a:uFillTx/>
              <a:latin typeface="Arial"/>
            </a:endParaRPr>
          </a:p>
        </p:txBody>
      </p:sp>
      <p:sp>
        <p:nvSpPr>
          <p:cNvPr id="505" name="txt446"/>
          <p:cNvSpPr/>
          <p:nvPr/>
        </p:nvSpPr>
        <p:spPr>
          <a:xfrm>
            <a:off x="4416480" y="2011680"/>
            <a:ext cx="146268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1"/>
                </a:solidFill>
                <a:effectLst/>
                <a:uFillTx/>
                <a:latin typeface="Calibri"/>
              </a:rPr>
              <a:t>Contratos, modelo de datos y quickstart</a:t>
            </a:r>
            <a:endParaRPr b="0" lang="es-ES" sz="1300" strike="noStrike" u="none">
              <a:solidFill>
                <a:srgbClr val="ffffff"/>
              </a:solidFill>
              <a:effectLst/>
              <a:uFillTx/>
              <a:latin typeface="Arial"/>
            </a:endParaRPr>
          </a:p>
        </p:txBody>
      </p:sp>
      <p:sp>
        <p:nvSpPr>
          <p:cNvPr id="506" name="txt447"/>
          <p:cNvSpPr/>
          <p:nvPr/>
        </p:nvSpPr>
        <p:spPr>
          <a:xfrm>
            <a:off x="4416480" y="3127320"/>
            <a:ext cx="146268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trike="noStrike" u="none">
                <a:solidFill>
                  <a:schemeClr val="accent2"/>
                </a:solidFill>
                <a:effectLst/>
                <a:uFillTx/>
                <a:latin typeface="Calibri"/>
              </a:rPr>
              <a:t>IA 1 min 58 s</a:t>
            </a:r>
            <a:endParaRPr b="0" lang="es-ES" sz="1200" strike="noStrike" u="none">
              <a:solidFill>
                <a:srgbClr val="ffffff"/>
              </a:solidFill>
              <a:effectLst/>
              <a:uFillTx/>
              <a:latin typeface="Arial"/>
            </a:endParaRPr>
          </a:p>
        </p:txBody>
      </p:sp>
      <p:sp>
        <p:nvSpPr>
          <p:cNvPr id="507" name="line448"/>
          <p:cNvSpPr/>
          <p:nvPr/>
        </p:nvSpPr>
        <p:spPr>
          <a:xfrm>
            <a:off x="5998320" y="2486880"/>
            <a:ext cx="146160" cy="360"/>
          </a:xfrm>
          <a:prstGeom prst="line">
            <a:avLst/>
          </a:prstGeom>
          <a:ln w="15875">
            <a:solidFill>
              <a:srgbClr val="a9a9bf"/>
            </a:solidFill>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508" name="card449"/>
          <p:cNvSpPr/>
          <p:nvPr/>
        </p:nvSpPr>
        <p:spPr>
          <a:xfrm>
            <a:off x="6144840" y="1371600"/>
            <a:ext cx="1718640" cy="2239920"/>
          </a:xfrm>
          <a:prstGeom prst="roundRect">
            <a:avLst>
              <a:gd name="adj" fmla="val 6383"/>
            </a:avLst>
          </a:prstGeom>
          <a:solidFill>
            <a:schemeClr val="tx2"/>
          </a:solidFill>
          <a:ln w="9525">
            <a:solidFill>
              <a:schemeClr val="accent2">
                <a:alpha val="7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09" name="txt450"/>
          <p:cNvSpPr/>
          <p:nvPr/>
        </p:nvSpPr>
        <p:spPr>
          <a:xfrm>
            <a:off x="6282000" y="1481400"/>
            <a:ext cx="146268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000" strike="noStrike" u="none">
                <a:solidFill>
                  <a:schemeClr val="lt2"/>
                </a:solidFill>
                <a:effectLst/>
                <a:uFillTx/>
                <a:latin typeface="Consolas"/>
                <a:ea typeface="Consolas"/>
              </a:rPr>
              <a:t>/speckit-</a:t>
            </a:r>
            <a:endParaRPr b="0" lang="es-ES" sz="1000" strike="noStrike" u="none">
              <a:solidFill>
                <a:srgbClr val="ffffff"/>
              </a:solidFill>
              <a:effectLst/>
              <a:uFillTx/>
              <a:latin typeface="Arial"/>
            </a:endParaRPr>
          </a:p>
          <a:p>
            <a:pPr defTabSz="914400">
              <a:lnSpc>
                <a:spcPct val="100000"/>
              </a:lnSpc>
              <a:tabLst>
                <a:tab algn="l" pos="0"/>
              </a:tabLst>
            </a:pPr>
            <a:r>
              <a:rPr b="1" lang="en-US" sz="1200" strike="noStrike" u="none">
                <a:solidFill>
                  <a:schemeClr val="accent2"/>
                </a:solidFill>
                <a:effectLst/>
                <a:uFillTx/>
                <a:latin typeface="Consolas"/>
                <a:ea typeface="Consolas"/>
              </a:rPr>
              <a:t>tasks</a:t>
            </a:r>
            <a:endParaRPr b="0" lang="es-ES" sz="1200" strike="noStrike" u="none">
              <a:solidFill>
                <a:srgbClr val="ffffff"/>
              </a:solidFill>
              <a:effectLst/>
              <a:uFillTx/>
              <a:latin typeface="Arial"/>
            </a:endParaRPr>
          </a:p>
        </p:txBody>
      </p:sp>
      <p:sp>
        <p:nvSpPr>
          <p:cNvPr id="510" name="txt451"/>
          <p:cNvSpPr/>
          <p:nvPr/>
        </p:nvSpPr>
        <p:spPr>
          <a:xfrm>
            <a:off x="6282000" y="2011680"/>
            <a:ext cx="146268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1"/>
                </a:solidFill>
                <a:effectLst/>
                <a:uFillTx/>
                <a:latin typeface="Calibri"/>
              </a:rPr>
              <a:t>41 tareas en 7 fases</a:t>
            </a:r>
            <a:endParaRPr b="0" lang="es-ES" sz="1300" strike="noStrike" u="none">
              <a:solidFill>
                <a:srgbClr val="ffffff"/>
              </a:solidFill>
              <a:effectLst/>
              <a:uFillTx/>
              <a:latin typeface="Arial"/>
            </a:endParaRPr>
          </a:p>
        </p:txBody>
      </p:sp>
      <p:sp>
        <p:nvSpPr>
          <p:cNvPr id="511" name="txt452"/>
          <p:cNvSpPr/>
          <p:nvPr/>
        </p:nvSpPr>
        <p:spPr>
          <a:xfrm>
            <a:off x="6282000" y="3127320"/>
            <a:ext cx="146268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trike="noStrike" u="none">
                <a:solidFill>
                  <a:schemeClr val="accent2"/>
                </a:solidFill>
                <a:effectLst/>
                <a:uFillTx/>
                <a:latin typeface="Calibri"/>
              </a:rPr>
              <a:t>IA 2 min 29 s</a:t>
            </a:r>
            <a:endParaRPr b="0" lang="es-ES" sz="1200" strike="noStrike" u="none">
              <a:solidFill>
                <a:srgbClr val="ffffff"/>
              </a:solidFill>
              <a:effectLst/>
              <a:uFillTx/>
              <a:latin typeface="Arial"/>
            </a:endParaRPr>
          </a:p>
        </p:txBody>
      </p:sp>
      <p:sp>
        <p:nvSpPr>
          <p:cNvPr id="512" name="line453"/>
          <p:cNvSpPr/>
          <p:nvPr/>
        </p:nvSpPr>
        <p:spPr>
          <a:xfrm>
            <a:off x="7863840" y="2486880"/>
            <a:ext cx="146160" cy="360"/>
          </a:xfrm>
          <a:prstGeom prst="line">
            <a:avLst/>
          </a:prstGeom>
          <a:ln w="15875">
            <a:solidFill>
              <a:srgbClr val="a9a9bf"/>
            </a:solidFill>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513" name="card454"/>
          <p:cNvSpPr/>
          <p:nvPr/>
        </p:nvSpPr>
        <p:spPr>
          <a:xfrm>
            <a:off x="8010000" y="1371600"/>
            <a:ext cx="1718640" cy="2239920"/>
          </a:xfrm>
          <a:prstGeom prst="roundRect">
            <a:avLst>
              <a:gd name="adj" fmla="val 6383"/>
            </a:avLst>
          </a:prstGeom>
          <a:solidFill>
            <a:schemeClr val="tx2"/>
          </a:solidFill>
          <a:ln w="9525">
            <a:solidFill>
              <a:schemeClr val="accent6">
                <a:alpha val="7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14" name="txt455"/>
          <p:cNvSpPr/>
          <p:nvPr/>
        </p:nvSpPr>
        <p:spPr>
          <a:xfrm>
            <a:off x="8147160" y="1481400"/>
            <a:ext cx="146268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000" strike="noStrike" u="none">
                <a:solidFill>
                  <a:schemeClr val="lt2"/>
                </a:solidFill>
                <a:effectLst/>
                <a:uFillTx/>
                <a:latin typeface="Consolas"/>
                <a:ea typeface="Consolas"/>
              </a:rPr>
              <a:t> </a:t>
            </a:r>
            <a:endParaRPr b="0" lang="es-ES" sz="1000" strike="noStrike" u="none">
              <a:solidFill>
                <a:srgbClr val="ffffff"/>
              </a:solidFill>
              <a:effectLst/>
              <a:uFillTx/>
              <a:latin typeface="Arial"/>
            </a:endParaRPr>
          </a:p>
          <a:p>
            <a:pPr defTabSz="914400">
              <a:lnSpc>
                <a:spcPct val="100000"/>
              </a:lnSpc>
              <a:tabLst>
                <a:tab algn="l" pos="0"/>
              </a:tabLst>
            </a:pPr>
            <a:r>
              <a:rPr b="1" lang="en-US" sz="1200" strike="noStrike" u="none">
                <a:solidFill>
                  <a:schemeClr val="accent6"/>
                </a:solidFill>
                <a:effectLst/>
                <a:uFillTx/>
                <a:latin typeface="Consolas"/>
                <a:ea typeface="Consolas"/>
              </a:rPr>
              <a:t>git commit</a:t>
            </a:r>
            <a:endParaRPr b="0" lang="es-ES" sz="1200" strike="noStrike" u="none">
              <a:solidFill>
                <a:srgbClr val="ffffff"/>
              </a:solidFill>
              <a:effectLst/>
              <a:uFillTx/>
              <a:latin typeface="Arial"/>
            </a:endParaRPr>
          </a:p>
        </p:txBody>
      </p:sp>
      <p:sp>
        <p:nvSpPr>
          <p:cNvPr id="515" name="txt456"/>
          <p:cNvSpPr/>
          <p:nvPr/>
        </p:nvSpPr>
        <p:spPr>
          <a:xfrm>
            <a:off x="8147160" y="2011680"/>
            <a:ext cx="146268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1"/>
                </a:solidFill>
                <a:effectLst/>
                <a:uFillTx/>
                <a:latin typeface="Calibri"/>
              </a:rPr>
              <a:t>Spec, plan y tareas en Git el 25/10</a:t>
            </a:r>
            <a:endParaRPr b="0" lang="es-ES" sz="1300" strike="noStrike" u="none">
              <a:solidFill>
                <a:srgbClr val="ffffff"/>
              </a:solidFill>
              <a:effectLst/>
              <a:uFillTx/>
              <a:latin typeface="Arial"/>
            </a:endParaRPr>
          </a:p>
        </p:txBody>
      </p:sp>
      <p:sp>
        <p:nvSpPr>
          <p:cNvPr id="516" name="txt457"/>
          <p:cNvSpPr/>
          <p:nvPr/>
        </p:nvSpPr>
        <p:spPr>
          <a:xfrm>
            <a:off x="8147160" y="3127320"/>
            <a:ext cx="146268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trike="noStrike" u="none">
                <a:solidFill>
                  <a:schemeClr val="accent6"/>
                </a:solidFill>
                <a:effectLst/>
                <a:uFillTx/>
                <a:latin typeface="Calibri"/>
              </a:rPr>
              <a:t>antes del código</a:t>
            </a:r>
            <a:endParaRPr b="0" lang="es-ES" sz="1200" strike="noStrike" u="none">
              <a:solidFill>
                <a:srgbClr val="ffffff"/>
              </a:solidFill>
              <a:effectLst/>
              <a:uFillTx/>
              <a:latin typeface="Arial"/>
            </a:endParaRPr>
          </a:p>
        </p:txBody>
      </p:sp>
      <p:sp>
        <p:nvSpPr>
          <p:cNvPr id="517" name="line458"/>
          <p:cNvSpPr/>
          <p:nvPr/>
        </p:nvSpPr>
        <p:spPr>
          <a:xfrm>
            <a:off x="9729000" y="2486880"/>
            <a:ext cx="146520" cy="360"/>
          </a:xfrm>
          <a:prstGeom prst="line">
            <a:avLst/>
          </a:prstGeom>
          <a:ln w="15875">
            <a:solidFill>
              <a:srgbClr val="a9a9bf"/>
            </a:solidFill>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518" name="card459"/>
          <p:cNvSpPr/>
          <p:nvPr/>
        </p:nvSpPr>
        <p:spPr>
          <a:xfrm>
            <a:off x="9875520" y="1371600"/>
            <a:ext cx="1718640" cy="2239920"/>
          </a:xfrm>
          <a:prstGeom prst="roundRect">
            <a:avLst>
              <a:gd name="adj" fmla="val 6383"/>
            </a:avLst>
          </a:prstGeom>
          <a:solidFill>
            <a:schemeClr val="tx2"/>
          </a:solidFill>
          <a:ln w="9525">
            <a:solidFill>
              <a:schemeClr val="accent2">
                <a:alpha val="7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19" name="txt460"/>
          <p:cNvSpPr/>
          <p:nvPr/>
        </p:nvSpPr>
        <p:spPr>
          <a:xfrm>
            <a:off x="10012680" y="1481400"/>
            <a:ext cx="1462680" cy="5025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000" strike="noStrike" u="none">
                <a:solidFill>
                  <a:schemeClr val="lt2"/>
                </a:solidFill>
                <a:effectLst/>
                <a:uFillTx/>
                <a:latin typeface="Consolas"/>
                <a:ea typeface="Consolas"/>
              </a:rPr>
              <a:t>/speckit-</a:t>
            </a:r>
            <a:endParaRPr b="0" lang="es-ES" sz="1000" strike="noStrike" u="none">
              <a:solidFill>
                <a:srgbClr val="ffffff"/>
              </a:solidFill>
              <a:effectLst/>
              <a:uFillTx/>
              <a:latin typeface="Arial"/>
            </a:endParaRPr>
          </a:p>
          <a:p>
            <a:pPr defTabSz="914400">
              <a:lnSpc>
                <a:spcPct val="100000"/>
              </a:lnSpc>
              <a:tabLst>
                <a:tab algn="l" pos="0"/>
              </a:tabLst>
            </a:pPr>
            <a:r>
              <a:rPr b="1" lang="en-US" sz="1200" strike="noStrike" u="none">
                <a:solidFill>
                  <a:schemeClr val="accent2"/>
                </a:solidFill>
                <a:effectLst/>
                <a:uFillTx/>
                <a:latin typeface="Consolas"/>
                <a:ea typeface="Consolas"/>
              </a:rPr>
              <a:t>implement</a:t>
            </a:r>
            <a:endParaRPr b="0" lang="es-ES" sz="1200" strike="noStrike" u="none">
              <a:solidFill>
                <a:srgbClr val="ffffff"/>
              </a:solidFill>
              <a:effectLst/>
              <a:uFillTx/>
              <a:latin typeface="Arial"/>
            </a:endParaRPr>
          </a:p>
        </p:txBody>
      </p:sp>
      <p:sp>
        <p:nvSpPr>
          <p:cNvPr id="520" name="txt461"/>
          <p:cNvSpPr/>
          <p:nvPr/>
        </p:nvSpPr>
        <p:spPr>
          <a:xfrm>
            <a:off x="10012680" y="2011680"/>
            <a:ext cx="146268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1"/>
                </a:solidFill>
                <a:effectLst/>
                <a:uFillTx/>
                <a:latin typeface="Calibri"/>
              </a:rPr>
              <a:t>7 fases, revisadas y probadas una a una</a:t>
            </a:r>
            <a:endParaRPr b="0" lang="es-ES" sz="1300" strike="noStrike" u="none">
              <a:solidFill>
                <a:srgbClr val="ffffff"/>
              </a:solidFill>
              <a:effectLst/>
              <a:uFillTx/>
              <a:latin typeface="Arial"/>
            </a:endParaRPr>
          </a:p>
        </p:txBody>
      </p:sp>
      <p:sp>
        <p:nvSpPr>
          <p:cNvPr id="521" name="txt462"/>
          <p:cNvSpPr/>
          <p:nvPr/>
        </p:nvSpPr>
        <p:spPr>
          <a:xfrm>
            <a:off x="10012680" y="3127320"/>
            <a:ext cx="146268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trike="noStrike" u="none">
                <a:solidFill>
                  <a:schemeClr val="accent2"/>
                </a:solidFill>
                <a:effectLst/>
                <a:uFillTx/>
                <a:latin typeface="Calibri"/>
              </a:rPr>
              <a:t>IA ≈ 11 min</a:t>
            </a:r>
            <a:endParaRPr b="0" lang="es-ES" sz="1200" strike="noStrike" u="none">
              <a:solidFill>
                <a:srgbClr val="ffffff"/>
              </a:solidFill>
              <a:effectLst/>
              <a:uFillTx/>
              <a:latin typeface="Arial"/>
            </a:endParaRPr>
          </a:p>
        </p:txBody>
      </p:sp>
      <p:sp>
        <p:nvSpPr>
          <p:cNvPr id="522" name="card463"/>
          <p:cNvSpPr/>
          <p:nvPr/>
        </p:nvSpPr>
        <p:spPr>
          <a:xfrm>
            <a:off x="548640" y="3840480"/>
            <a:ext cx="3565800" cy="1234080"/>
          </a:xfrm>
          <a:prstGeom prst="roundRect">
            <a:avLst>
              <a:gd name="adj" fmla="val 8889"/>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23" name="txt464"/>
          <p:cNvSpPr/>
          <p:nvPr/>
        </p:nvSpPr>
        <p:spPr>
          <a:xfrm>
            <a:off x="777240" y="3950280"/>
            <a:ext cx="3108600" cy="67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chemeClr val="accent2"/>
                </a:solidFill>
                <a:effectLst/>
                <a:uFillTx/>
                <a:latin typeface="Calibri"/>
              </a:rPr>
              <a:t>≈ 11 min</a:t>
            </a:r>
            <a:endParaRPr b="0" lang="es-ES" sz="3400" strike="noStrike" u="none">
              <a:solidFill>
                <a:srgbClr val="ffffff"/>
              </a:solidFill>
              <a:effectLst/>
              <a:uFillTx/>
              <a:latin typeface="Arial"/>
            </a:endParaRPr>
          </a:p>
        </p:txBody>
      </p:sp>
      <p:sp>
        <p:nvSpPr>
          <p:cNvPr id="524" name="txt465"/>
          <p:cNvSpPr/>
          <p:nvPr/>
        </p:nvSpPr>
        <p:spPr>
          <a:xfrm>
            <a:off x="777240" y="4581000"/>
            <a:ext cx="3108600" cy="443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escribió la IA todo el código</a:t>
            </a:r>
            <a:endParaRPr b="0" lang="es-ES" sz="1300" strike="noStrike" u="none">
              <a:solidFill>
                <a:srgbClr val="ffffff"/>
              </a:solidFill>
              <a:effectLst/>
              <a:uFillTx/>
              <a:latin typeface="Arial"/>
            </a:endParaRPr>
          </a:p>
        </p:txBody>
      </p:sp>
      <p:sp>
        <p:nvSpPr>
          <p:cNvPr id="525" name="card466"/>
          <p:cNvSpPr/>
          <p:nvPr/>
        </p:nvSpPr>
        <p:spPr>
          <a:xfrm>
            <a:off x="4316040" y="3840480"/>
            <a:ext cx="3565800" cy="1234080"/>
          </a:xfrm>
          <a:prstGeom prst="roundRect">
            <a:avLst>
              <a:gd name="adj" fmla="val 8889"/>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26" name="txt467"/>
          <p:cNvSpPr/>
          <p:nvPr/>
        </p:nvSpPr>
        <p:spPr>
          <a:xfrm>
            <a:off x="4544640" y="3950280"/>
            <a:ext cx="3108600" cy="67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chemeClr val="accent1"/>
                </a:solidFill>
                <a:effectLst/>
                <a:uFillTx/>
                <a:latin typeface="Calibri"/>
              </a:rPr>
              <a:t>≈ 40 min</a:t>
            </a:r>
            <a:endParaRPr b="0" lang="es-ES" sz="3400" strike="noStrike" u="none">
              <a:solidFill>
                <a:srgbClr val="ffffff"/>
              </a:solidFill>
              <a:effectLst/>
              <a:uFillTx/>
              <a:latin typeface="Arial"/>
            </a:endParaRPr>
          </a:p>
        </p:txBody>
      </p:sp>
      <p:sp>
        <p:nvSpPr>
          <p:cNvPr id="527" name="txt468"/>
          <p:cNvSpPr/>
          <p:nvPr/>
        </p:nvSpPr>
        <p:spPr>
          <a:xfrm>
            <a:off x="4544640" y="4581000"/>
            <a:ext cx="3108600" cy="443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de revisión humana, fase a fase</a:t>
            </a:r>
            <a:endParaRPr b="0" lang="es-ES" sz="1300" strike="noStrike" u="none">
              <a:solidFill>
                <a:srgbClr val="ffffff"/>
              </a:solidFill>
              <a:effectLst/>
              <a:uFillTx/>
              <a:latin typeface="Arial"/>
            </a:endParaRPr>
          </a:p>
        </p:txBody>
      </p:sp>
      <p:sp>
        <p:nvSpPr>
          <p:cNvPr id="528" name="card469"/>
          <p:cNvSpPr/>
          <p:nvPr/>
        </p:nvSpPr>
        <p:spPr>
          <a:xfrm>
            <a:off x="8092440" y="3840480"/>
            <a:ext cx="3565800" cy="1234080"/>
          </a:xfrm>
          <a:prstGeom prst="roundRect">
            <a:avLst>
              <a:gd name="adj" fmla="val 8889"/>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29" name="txt470"/>
          <p:cNvSpPr/>
          <p:nvPr/>
        </p:nvSpPr>
        <p:spPr>
          <a:xfrm>
            <a:off x="8321040" y="3950280"/>
            <a:ext cx="3108600" cy="67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chemeClr val="accent6"/>
                </a:solidFill>
                <a:effectLst/>
                <a:uFillTx/>
                <a:latin typeface="Calibri"/>
              </a:rPr>
              <a:t>59</a:t>
            </a:r>
            <a:endParaRPr b="0" lang="es-ES" sz="3400" strike="noStrike" u="none">
              <a:solidFill>
                <a:srgbClr val="ffffff"/>
              </a:solidFill>
              <a:effectLst/>
              <a:uFillTx/>
              <a:latin typeface="Arial"/>
            </a:endParaRPr>
          </a:p>
        </p:txBody>
      </p:sp>
      <p:sp>
        <p:nvSpPr>
          <p:cNvPr id="530" name="txt471"/>
          <p:cNvSpPr/>
          <p:nvPr/>
        </p:nvSpPr>
        <p:spPr>
          <a:xfrm>
            <a:off x="8321040" y="4581000"/>
            <a:ext cx="3108600" cy="443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pruebas automáticas generadas</a:t>
            </a:r>
            <a:endParaRPr b="0" lang="es-ES" sz="1300" strike="noStrike" u="none">
              <a:solidFill>
                <a:srgbClr val="ffffff"/>
              </a:solidFill>
              <a:effectLst/>
              <a:uFillTx/>
              <a:latin typeface="Arial"/>
            </a:endParaRPr>
          </a:p>
        </p:txBody>
      </p:sp>
      <p:sp>
        <p:nvSpPr>
          <p:cNvPr id="531" name="card472"/>
          <p:cNvSpPr/>
          <p:nvPr/>
        </p:nvSpPr>
        <p:spPr>
          <a:xfrm>
            <a:off x="548640" y="5257800"/>
            <a:ext cx="11109600" cy="776880"/>
          </a:xfrm>
          <a:prstGeom prst="roundRect">
            <a:avLst>
              <a:gd name="adj" fmla="val 14118"/>
            </a:avLst>
          </a:prstGeom>
          <a:solidFill>
            <a:schemeClr val="tx1"/>
          </a:solidFill>
          <a:ln w="9525">
            <a:solidFill>
              <a:schemeClr val="lt2">
                <a:alpha val="5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32" name="txt473"/>
          <p:cNvSpPr/>
          <p:nvPr/>
        </p:nvSpPr>
        <p:spPr>
          <a:xfrm>
            <a:off x="777240" y="5257800"/>
            <a:ext cx="1069812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chemeClr val="accent2"/>
                </a:solidFill>
                <a:effectLst/>
                <a:uFillTx/>
                <a:latin typeface="Calibri"/>
              </a:rPr>
              <a:t>Constitución: </a:t>
            </a:r>
            <a:r>
              <a:rPr b="0" lang="en-US" sz="1300" strike="noStrike" u="none">
                <a:solidFill>
                  <a:schemeClr val="lt2"/>
                </a:solidFill>
                <a:effectLst/>
                <a:uFillTx/>
                <a:latin typeface="Calibri"/>
              </a:rPr>
              <a:t>I Secretos solo en el backend · II Sin persistencia · III Contrato fijo · IV Autenticación antes que todo · V pytest sin servicios reales · VI Alcance mínimo</a:t>
            </a:r>
            <a:endParaRPr b="0" lang="es-ES" sz="1300" strike="noStrike" u="none">
              <a:solidFill>
                <a:srgbClr val="ffffff"/>
              </a:solidFill>
              <a:effectLst/>
              <a:uFillTx/>
              <a:latin typeface="Arial"/>
            </a:endParaRPr>
          </a:p>
        </p:txBody>
      </p:sp>
      <p:sp>
        <p:nvSpPr>
          <p:cNvPr id="533" name="PlaceHolder 3"/>
          <p:cNvSpPr>
            <a:spLocks noGrp="1"/>
          </p:cNvSpPr>
          <p:nvPr>
            <p:ph type="sldNum" idx="18"/>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C9189293-41BD-4956-9D4E-084E611C98F7}"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4"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Revisión humana de la IA</a:t>
            </a:r>
            <a:endParaRPr b="0" lang="es-ES" sz="3400" strike="noStrike" u="none">
              <a:solidFill>
                <a:schemeClr val="dk1"/>
              </a:solidFill>
              <a:effectLst/>
              <a:uFillTx/>
              <a:latin typeface="Calibri"/>
            </a:endParaRPr>
          </a:p>
        </p:txBody>
      </p:sp>
      <p:sp>
        <p:nvSpPr>
          <p:cNvPr id="535"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QUÉ ACEPTAMOS Y QUÉ NO</a:t>
            </a:r>
            <a:endParaRPr b="0" lang="es-ES" sz="1200" strike="noStrike" u="none">
              <a:solidFill>
                <a:schemeClr val="dk1"/>
              </a:solidFill>
              <a:effectLst/>
              <a:uFillTx/>
              <a:latin typeface="Calibri"/>
            </a:endParaRPr>
          </a:p>
        </p:txBody>
      </p:sp>
      <p:sp>
        <p:nvSpPr>
          <p:cNvPr id="536" name="presenta474"/>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37" name="txt475"/>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Jose Antonio Nieto</a:t>
            </a:r>
            <a:endParaRPr b="0" lang="es-ES" sz="1100" strike="noStrike" u="none">
              <a:solidFill>
                <a:srgbClr val="ffffff"/>
              </a:solidFill>
              <a:effectLst/>
              <a:uFillTx/>
              <a:latin typeface="Arial"/>
            </a:endParaRPr>
          </a:p>
        </p:txBody>
      </p:sp>
      <p:sp>
        <p:nvSpPr>
          <p:cNvPr id="538" name="card476"/>
          <p:cNvSpPr/>
          <p:nvPr/>
        </p:nvSpPr>
        <p:spPr>
          <a:xfrm>
            <a:off x="548640" y="1371600"/>
            <a:ext cx="3611520" cy="3611520"/>
          </a:xfrm>
          <a:prstGeom prst="roundRect">
            <a:avLst>
              <a:gd name="adj" fmla="val 3038"/>
            </a:avLst>
          </a:prstGeom>
          <a:solidFill>
            <a:schemeClr val="tx2"/>
          </a:solidFill>
          <a:ln w="9525">
            <a:solidFill>
              <a:schemeClr val="accent6">
                <a:alpha val="8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39" name="badge477"/>
          <p:cNvSpPr/>
          <p:nvPr/>
        </p:nvSpPr>
        <p:spPr>
          <a:xfrm>
            <a:off x="777240" y="1572840"/>
            <a:ext cx="411120" cy="383760"/>
          </a:xfrm>
          <a:prstGeom prst="roundRect">
            <a:avLst>
              <a:gd name="adj" fmla="val 19048"/>
            </a:avLst>
          </a:prstGeom>
          <a:solidFill>
            <a:schemeClr val="accent6"/>
          </a:solidFill>
          <a:ln w="0">
            <a:noFill/>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540" name="txt478"/>
          <p:cNvSpPr/>
          <p:nvPr/>
        </p:nvSpPr>
        <p:spPr>
          <a:xfrm>
            <a:off x="777240" y="1572840"/>
            <a:ext cx="41112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chemeClr val="dk1"/>
                </a:solidFill>
                <a:effectLst/>
                <a:uFillTx/>
                <a:latin typeface="Calibri"/>
              </a:rPr>
              <a:t>✓</a:t>
            </a:r>
            <a:endParaRPr b="0" lang="es-ES" sz="1600" strike="noStrike" u="none">
              <a:solidFill>
                <a:srgbClr val="ffffff"/>
              </a:solidFill>
              <a:effectLst/>
              <a:uFillTx/>
              <a:latin typeface="Arial"/>
            </a:endParaRPr>
          </a:p>
        </p:txBody>
      </p:sp>
      <p:sp>
        <p:nvSpPr>
          <p:cNvPr id="541" name="txt479"/>
          <p:cNvSpPr/>
          <p:nvPr/>
        </p:nvSpPr>
        <p:spPr>
          <a:xfrm>
            <a:off x="1325880" y="1572840"/>
            <a:ext cx="25599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000" strike="noStrike" u="none">
                <a:solidFill>
                  <a:schemeClr val="accent6"/>
                </a:solidFill>
                <a:effectLst/>
                <a:uFillTx/>
                <a:latin typeface="Calibri"/>
              </a:rPr>
              <a:t>Acertó</a:t>
            </a:r>
            <a:endParaRPr b="0" lang="es-ES" sz="2000" strike="noStrike" u="none">
              <a:solidFill>
                <a:srgbClr val="ffffff"/>
              </a:solidFill>
              <a:effectLst/>
              <a:uFillTx/>
              <a:latin typeface="Arial"/>
            </a:endParaRPr>
          </a:p>
        </p:txBody>
      </p:sp>
      <p:sp>
        <p:nvSpPr>
          <p:cNvPr id="542" name="txt480"/>
          <p:cNvSpPr/>
          <p:nvPr/>
        </p:nvSpPr>
        <p:spPr>
          <a:xfrm>
            <a:off x="822960" y="2194560"/>
            <a:ext cx="3108600" cy="269712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0000"/>
              </a:lnSpc>
              <a:spcBef>
                <a:spcPts val="1191"/>
              </a:spcBef>
              <a:spcAft>
                <a:spcPts val="992"/>
              </a:spcAft>
              <a:buClr>
                <a:srgbClr val="ffffff"/>
              </a:buClr>
              <a:buFont typeface="Symbol" charset="2"/>
              <a:buChar char=""/>
            </a:pPr>
            <a:r>
              <a:rPr b="0" lang="en-US" sz="1300" strike="noStrike" u="none">
                <a:solidFill>
                  <a:schemeClr val="lt1"/>
                </a:solidFill>
                <a:effectLst/>
                <a:uFillTx/>
                <a:latin typeface="Calibri"/>
              </a:rPr>
              <a:t>Hizo justo lo que pedía la ERS, sin añadir pantallas ni funciones de más.</a:t>
            </a:r>
            <a:endParaRPr b="0" lang="es-ES" sz="1300" strike="noStrike" u="none">
              <a:solidFill>
                <a:srgbClr val="ffffff"/>
              </a:solidFill>
              <a:effectLst/>
              <a:uFillTx/>
              <a:latin typeface="Arial"/>
            </a:endParaRPr>
          </a:p>
          <a:p>
            <a:pPr marL="177840" indent="-177840" defTabSz="914400">
              <a:lnSpc>
                <a:spcPct val="100000"/>
              </a:lnSpc>
              <a:spcBef>
                <a:spcPts val="1191"/>
              </a:spcBef>
              <a:spcAft>
                <a:spcPts val="992"/>
              </a:spcAft>
              <a:buClr>
                <a:srgbClr val="ffffff"/>
              </a:buClr>
              <a:buFont typeface="Symbol" charset="2"/>
              <a:buChar char=""/>
            </a:pPr>
            <a:r>
              <a:rPr b="0" lang="en-US" sz="1300" strike="noStrike" u="none">
                <a:solidFill>
                  <a:schemeClr val="lt1"/>
                </a:solidFill>
                <a:effectLst/>
                <a:uFillTx/>
                <a:latin typeface="Calibri"/>
              </a:rPr>
              <a:t>Generó 59 pruebas, muchas más que las 12 de la App 1.</a:t>
            </a:r>
            <a:endParaRPr b="0" lang="es-ES" sz="1300" strike="noStrike" u="none">
              <a:solidFill>
                <a:srgbClr val="ffffff"/>
              </a:solidFill>
              <a:effectLst/>
              <a:uFillTx/>
              <a:latin typeface="Arial"/>
            </a:endParaRPr>
          </a:p>
          <a:p>
            <a:pPr marL="177840" indent="-177840" defTabSz="914400">
              <a:lnSpc>
                <a:spcPct val="100000"/>
              </a:lnSpc>
              <a:spcBef>
                <a:spcPts val="1191"/>
              </a:spcBef>
              <a:spcAft>
                <a:spcPts val="992"/>
              </a:spcAft>
              <a:buClr>
                <a:srgbClr val="ffffff"/>
              </a:buClr>
              <a:buFont typeface="Symbol" charset="2"/>
              <a:buChar char=""/>
            </a:pPr>
            <a:r>
              <a:rPr b="0" lang="en-US" sz="1300" strike="noStrike" u="none">
                <a:solidFill>
                  <a:schemeClr val="lt1"/>
                </a:solidFill>
                <a:effectLst/>
                <a:uFillTx/>
                <a:latin typeface="Calibri"/>
              </a:rPr>
              <a:t>Añadió algo por su cuenta que tenía sentido: si cierras sesión mientras esperas la respuesta, la respuesta se tira y no se muestra.</a:t>
            </a:r>
            <a:endParaRPr b="0" lang="es-ES" sz="1300" strike="noStrike" u="none">
              <a:solidFill>
                <a:srgbClr val="ffffff"/>
              </a:solidFill>
              <a:effectLst/>
              <a:uFillTx/>
              <a:latin typeface="Arial"/>
            </a:endParaRPr>
          </a:p>
        </p:txBody>
      </p:sp>
      <p:sp>
        <p:nvSpPr>
          <p:cNvPr id="543" name="card481"/>
          <p:cNvSpPr/>
          <p:nvPr/>
        </p:nvSpPr>
        <p:spPr>
          <a:xfrm>
            <a:off x="4343400" y="1371600"/>
            <a:ext cx="3611520" cy="3611520"/>
          </a:xfrm>
          <a:prstGeom prst="roundRect">
            <a:avLst>
              <a:gd name="adj" fmla="val 3038"/>
            </a:avLst>
          </a:prstGeom>
          <a:solidFill>
            <a:schemeClr val="tx2"/>
          </a:solidFill>
          <a:ln w="9525">
            <a:solidFill>
              <a:schemeClr val="accent4">
                <a:alpha val="8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44" name="badge482"/>
          <p:cNvSpPr/>
          <p:nvPr/>
        </p:nvSpPr>
        <p:spPr>
          <a:xfrm>
            <a:off x="4572000" y="1572840"/>
            <a:ext cx="411120" cy="383760"/>
          </a:xfrm>
          <a:prstGeom prst="roundRect">
            <a:avLst>
              <a:gd name="adj" fmla="val 19048"/>
            </a:avLst>
          </a:prstGeom>
          <a:solidFill>
            <a:schemeClr val="accent4"/>
          </a:solidFill>
          <a:ln w="0">
            <a:noFill/>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545" name="txt483"/>
          <p:cNvSpPr/>
          <p:nvPr/>
        </p:nvSpPr>
        <p:spPr>
          <a:xfrm>
            <a:off x="4572000" y="1572840"/>
            <a:ext cx="41112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chemeClr val="dk1"/>
                </a:solidFill>
                <a:effectLst/>
                <a:uFillTx/>
                <a:latin typeface="Calibri"/>
              </a:rPr>
              <a:t>~</a:t>
            </a:r>
            <a:endParaRPr b="0" lang="es-ES" sz="1600" strike="noStrike" u="none">
              <a:solidFill>
                <a:srgbClr val="ffffff"/>
              </a:solidFill>
              <a:effectLst/>
              <a:uFillTx/>
              <a:latin typeface="Arial"/>
            </a:endParaRPr>
          </a:p>
        </p:txBody>
      </p:sp>
      <p:sp>
        <p:nvSpPr>
          <p:cNvPr id="546" name="txt484"/>
          <p:cNvSpPr/>
          <p:nvPr/>
        </p:nvSpPr>
        <p:spPr>
          <a:xfrm>
            <a:off x="5120640" y="1572840"/>
            <a:ext cx="25599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000" strike="noStrike" u="none">
                <a:solidFill>
                  <a:schemeClr val="accent4"/>
                </a:solidFill>
                <a:effectLst/>
                <a:uFillTx/>
                <a:latin typeface="Calibri"/>
              </a:rPr>
              <a:t>Se desvió</a:t>
            </a:r>
            <a:endParaRPr b="0" lang="es-ES" sz="2000" strike="noStrike" u="none">
              <a:solidFill>
                <a:srgbClr val="ffffff"/>
              </a:solidFill>
              <a:effectLst/>
              <a:uFillTx/>
              <a:latin typeface="Arial"/>
            </a:endParaRPr>
          </a:p>
        </p:txBody>
      </p:sp>
      <p:sp>
        <p:nvSpPr>
          <p:cNvPr id="547" name="txt485"/>
          <p:cNvSpPr/>
          <p:nvPr/>
        </p:nvSpPr>
        <p:spPr>
          <a:xfrm>
            <a:off x="4617720" y="2194560"/>
            <a:ext cx="3108600" cy="269712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0000"/>
              </a:lnSpc>
              <a:spcBef>
                <a:spcPts val="1191"/>
              </a:spcBef>
              <a:spcAft>
                <a:spcPts val="992"/>
              </a:spcAft>
              <a:buClr>
                <a:srgbClr val="ffffff"/>
              </a:buClr>
              <a:buFont typeface="Symbol" charset="2"/>
              <a:buChar char=""/>
            </a:pPr>
            <a:r>
              <a:rPr b="0" lang="en-US" sz="1300" strike="noStrike" u="none">
                <a:solidFill>
                  <a:schemeClr val="lt1"/>
                </a:solidFill>
                <a:effectLst/>
                <a:uFillTx/>
                <a:latin typeface="Calibri"/>
              </a:rPr>
              <a:t>El plan usaba un componente de Clerk, &lt;SignedIn&gt;, que ya no existe en la versión actual. La IA lo vio y usó el nuevo, &lt;Show&gt;.</a:t>
            </a:r>
            <a:endParaRPr b="0" lang="es-ES" sz="1300" strike="noStrike" u="none">
              <a:solidFill>
                <a:srgbClr val="ffffff"/>
              </a:solidFill>
              <a:effectLst/>
              <a:uFillTx/>
              <a:latin typeface="Arial"/>
            </a:endParaRPr>
          </a:p>
          <a:p>
            <a:pPr marL="177840" indent="-177840" defTabSz="914400">
              <a:lnSpc>
                <a:spcPct val="100000"/>
              </a:lnSpc>
              <a:spcBef>
                <a:spcPts val="1191"/>
              </a:spcBef>
              <a:spcAft>
                <a:spcPts val="992"/>
              </a:spcAft>
              <a:buClr>
                <a:srgbClr val="ffffff"/>
              </a:buClr>
              <a:buFont typeface="Symbol" charset="2"/>
              <a:buChar char=""/>
            </a:pPr>
            <a:r>
              <a:rPr b="0" lang="en-US" sz="1300" strike="noStrike" u="none">
                <a:solidFill>
                  <a:schemeClr val="lt1"/>
                </a:solidFill>
                <a:effectLst/>
                <a:uFillTx/>
                <a:latin typeface="Calibri"/>
              </a:rPr>
              <a:t>El Dockerfile usaba Node 20, que ya no tiene soporte. Lo cambiamos a Node 22.</a:t>
            </a:r>
            <a:endParaRPr b="0" lang="es-ES" sz="1300" strike="noStrike" u="none">
              <a:solidFill>
                <a:srgbClr val="ffffff"/>
              </a:solidFill>
              <a:effectLst/>
              <a:uFillTx/>
              <a:latin typeface="Arial"/>
            </a:endParaRPr>
          </a:p>
          <a:p>
            <a:pPr marL="177840" indent="-177840" defTabSz="914400">
              <a:lnSpc>
                <a:spcPct val="100000"/>
              </a:lnSpc>
              <a:spcBef>
                <a:spcPts val="1191"/>
              </a:spcBef>
              <a:spcAft>
                <a:spcPts val="992"/>
              </a:spcAft>
              <a:buClr>
                <a:srgbClr val="ffffff"/>
              </a:buClr>
              <a:buFont typeface="Symbol" charset="2"/>
              <a:buChar char=""/>
            </a:pPr>
            <a:r>
              <a:rPr b="0" lang="en-US" sz="1300" strike="noStrike" u="none">
                <a:solidFill>
                  <a:schemeClr val="lt1"/>
                </a:solidFill>
                <a:effectLst/>
                <a:uFillTx/>
                <a:latin typeface="Calibri"/>
              </a:rPr>
              <a:t>Propuso otro modelo de IA, distinto del que ya teníamos probado en la App 1.</a:t>
            </a:r>
            <a:endParaRPr b="0" lang="es-ES" sz="1300" strike="noStrike" u="none">
              <a:solidFill>
                <a:srgbClr val="ffffff"/>
              </a:solidFill>
              <a:effectLst/>
              <a:uFillTx/>
              <a:latin typeface="Arial"/>
            </a:endParaRPr>
          </a:p>
          <a:p>
            <a:pPr marL="177840" indent="-177840" defTabSz="914400">
              <a:lnSpc>
                <a:spcPct val="100000"/>
              </a:lnSpc>
              <a:spcBef>
                <a:spcPts val="1191"/>
              </a:spcBef>
              <a:spcAft>
                <a:spcPts val="992"/>
              </a:spcAft>
              <a:buClr>
                <a:srgbClr val="ffffff"/>
              </a:buClr>
              <a:buFont typeface="Symbol" charset="2"/>
              <a:buChar char=""/>
            </a:pPr>
            <a:endParaRPr b="0" lang="es-ES" sz="1300" strike="noStrike" u="none">
              <a:solidFill>
                <a:srgbClr val="ffffff"/>
              </a:solidFill>
              <a:effectLst/>
              <a:uFillTx/>
              <a:latin typeface="Arial"/>
            </a:endParaRPr>
          </a:p>
        </p:txBody>
      </p:sp>
      <p:sp>
        <p:nvSpPr>
          <p:cNvPr id="548" name="card486"/>
          <p:cNvSpPr/>
          <p:nvPr/>
        </p:nvSpPr>
        <p:spPr>
          <a:xfrm>
            <a:off x="8138160" y="1371600"/>
            <a:ext cx="3611520" cy="3611520"/>
          </a:xfrm>
          <a:prstGeom prst="roundRect">
            <a:avLst>
              <a:gd name="adj" fmla="val 3038"/>
            </a:avLst>
          </a:prstGeom>
          <a:solidFill>
            <a:schemeClr val="tx2"/>
          </a:solidFill>
          <a:ln w="9525">
            <a:solidFill>
              <a:schemeClr val="accent5">
                <a:alpha val="8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49" name="badge487"/>
          <p:cNvSpPr/>
          <p:nvPr/>
        </p:nvSpPr>
        <p:spPr>
          <a:xfrm>
            <a:off x="8366760" y="1572840"/>
            <a:ext cx="411120" cy="383760"/>
          </a:xfrm>
          <a:prstGeom prst="roundRect">
            <a:avLst>
              <a:gd name="adj" fmla="val 19048"/>
            </a:avLst>
          </a:prstGeom>
          <a:solidFill>
            <a:schemeClr val="accent5"/>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50" name="txt488"/>
          <p:cNvSpPr/>
          <p:nvPr/>
        </p:nvSpPr>
        <p:spPr>
          <a:xfrm>
            <a:off x="8366760" y="1572840"/>
            <a:ext cx="41112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chemeClr val="dk1"/>
                </a:solidFill>
                <a:effectLst/>
                <a:uFillTx/>
                <a:latin typeface="Calibri"/>
              </a:rPr>
              <a:t>✕</a:t>
            </a:r>
            <a:endParaRPr b="0" lang="es-ES" sz="1600" strike="noStrike" u="none">
              <a:solidFill>
                <a:srgbClr val="ffffff"/>
              </a:solidFill>
              <a:effectLst/>
              <a:uFillTx/>
              <a:latin typeface="Arial"/>
            </a:endParaRPr>
          </a:p>
        </p:txBody>
      </p:sp>
      <p:sp>
        <p:nvSpPr>
          <p:cNvPr id="551" name="txt489"/>
          <p:cNvSpPr/>
          <p:nvPr/>
        </p:nvSpPr>
        <p:spPr>
          <a:xfrm>
            <a:off x="8915400" y="1572840"/>
            <a:ext cx="25599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000" strike="noStrike" u="none">
                <a:solidFill>
                  <a:schemeClr val="accent5"/>
                </a:solidFill>
                <a:effectLst/>
                <a:uFillTx/>
                <a:latin typeface="Calibri"/>
              </a:rPr>
              <a:t>Falló</a:t>
            </a:r>
            <a:endParaRPr b="0" lang="es-ES" sz="2000" strike="noStrike" u="none">
              <a:solidFill>
                <a:srgbClr val="ffffff"/>
              </a:solidFill>
              <a:effectLst/>
              <a:uFillTx/>
              <a:latin typeface="Arial"/>
            </a:endParaRPr>
          </a:p>
        </p:txBody>
      </p:sp>
      <p:sp>
        <p:nvSpPr>
          <p:cNvPr id="552" name="txt490"/>
          <p:cNvSpPr/>
          <p:nvPr/>
        </p:nvSpPr>
        <p:spPr>
          <a:xfrm>
            <a:off x="8412480" y="2194560"/>
            <a:ext cx="3108600" cy="269712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0000"/>
              </a:lnSpc>
              <a:spcBef>
                <a:spcPts val="1191"/>
              </a:spcBef>
              <a:spcAft>
                <a:spcPts val="992"/>
              </a:spcAft>
              <a:buClr>
                <a:srgbClr val="ffffff"/>
              </a:buClr>
              <a:buFont typeface="Symbol" charset="2"/>
              <a:buChar char=""/>
            </a:pPr>
            <a:r>
              <a:rPr b="0" lang="en-US" sz="1300" strike="noStrike" u="none">
                <a:solidFill>
                  <a:schemeClr val="lt1"/>
                </a:solidFill>
                <a:effectLst/>
                <a:uFillTx/>
                <a:latin typeface="Calibri"/>
              </a:rPr>
              <a:t>En local no cargaba el archivo .env. Al no leer los orígenes permitidos, CORS rechazaba todas las peticiones y la app decía “no se puede conectar”. </a:t>
            </a:r>
            <a:endParaRPr b="0" lang="es-ES" sz="1300" strike="noStrike" u="none">
              <a:solidFill>
                <a:srgbClr val="ffffff"/>
              </a:solidFill>
              <a:effectLst/>
              <a:uFillTx/>
              <a:latin typeface="Arial"/>
            </a:endParaRPr>
          </a:p>
          <a:p>
            <a:pPr marL="177840" indent="-177840" defTabSz="914400">
              <a:lnSpc>
                <a:spcPct val="100000"/>
              </a:lnSpc>
              <a:spcBef>
                <a:spcPts val="1191"/>
              </a:spcBef>
              <a:spcAft>
                <a:spcPts val="992"/>
              </a:spcAft>
              <a:buClr>
                <a:srgbClr val="ffffff"/>
              </a:buClr>
              <a:buFont typeface="Symbol" charset="2"/>
              <a:buChar char=""/>
            </a:pPr>
            <a:r>
              <a:rPr b="0" lang="en-US" sz="1300" strike="noStrike" u="none">
                <a:solidFill>
                  <a:schemeClr val="lt1"/>
                </a:solidFill>
                <a:effectLst/>
                <a:uFillTx/>
                <a:latin typeface="Calibri"/>
              </a:rPr>
              <a:t>El vercel.json que generó mandaba todas las peticiones a una ruta que no existía. En Vercel todo daba error 404.</a:t>
            </a:r>
            <a:endParaRPr b="0" lang="es-ES" sz="1300" strike="noStrike" u="none">
              <a:solidFill>
                <a:srgbClr val="ffffff"/>
              </a:solidFill>
              <a:effectLst/>
              <a:uFillTx/>
              <a:latin typeface="Arial"/>
            </a:endParaRPr>
          </a:p>
          <a:p>
            <a:pPr marL="177840" indent="-177840" defTabSz="914400">
              <a:lnSpc>
                <a:spcPct val="100000"/>
              </a:lnSpc>
              <a:spcAft>
                <a:spcPts val="901"/>
              </a:spcAft>
              <a:buClr>
                <a:srgbClr val="ffffff"/>
              </a:buClr>
              <a:buFont typeface="Symbol" charset="2"/>
              <a:buChar char=""/>
            </a:pPr>
            <a:r>
              <a:rPr b="0" lang="en-US" sz="1300" strike="noStrike" u="none">
                <a:solidFill>
                  <a:schemeClr val="lt1"/>
                </a:solidFill>
                <a:effectLst/>
                <a:uFillTx/>
                <a:latin typeface="Calibri"/>
              </a:rPr>
              <a:t>Sus 59 pruebas no detectaron ninguno de los dos.</a:t>
            </a:r>
            <a:endParaRPr b="0" lang="es-ES" sz="1300" strike="noStrike" u="none">
              <a:solidFill>
                <a:srgbClr val="ffffff"/>
              </a:solidFill>
              <a:effectLst/>
              <a:uFillTx/>
              <a:latin typeface="Arial"/>
            </a:endParaRPr>
          </a:p>
        </p:txBody>
      </p:sp>
      <p:sp>
        <p:nvSpPr>
          <p:cNvPr id="553" name="card491"/>
          <p:cNvSpPr/>
          <p:nvPr/>
        </p:nvSpPr>
        <p:spPr>
          <a:xfrm>
            <a:off x="548640" y="5166360"/>
            <a:ext cx="11109600" cy="868320"/>
          </a:xfrm>
          <a:prstGeom prst="roundRect">
            <a:avLst>
              <a:gd name="adj" fmla="val 12632"/>
            </a:avLst>
          </a:prstGeom>
          <a:solidFill>
            <a:schemeClr val="tx2"/>
          </a:solidFill>
          <a:ln w="9525">
            <a:solidFill>
              <a:schemeClr val="accent1">
                <a:alpha val="6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54" name="txt492"/>
          <p:cNvSpPr/>
          <p:nvPr/>
        </p:nvSpPr>
        <p:spPr>
          <a:xfrm>
            <a:off x="822960" y="5166360"/>
            <a:ext cx="10606680" cy="868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chemeClr val="accent1"/>
                </a:solidFill>
                <a:effectLst/>
                <a:uFillTx/>
                <a:latin typeface="Calibri"/>
              </a:rPr>
              <a:t>Lo que decidimos nosotros: </a:t>
            </a:r>
            <a:r>
              <a:rPr b="0" lang="en-US" sz="1400" strike="noStrike" u="none">
                <a:solidFill>
                  <a:schemeClr val="lt1"/>
                </a:solidFill>
                <a:effectLst/>
                <a:uFillTx/>
                <a:latin typeface="Calibri"/>
              </a:rPr>
              <a:t>mismo modelo y límites que la App 1 (gemini-3.5-flash-lite, 600 tokens), mismos 12 géneros, y aceptar &lt;Show&gt; y node:22 anotándolos en tasks.md.</a:t>
            </a:r>
            <a:endParaRPr b="0" lang="es-ES" sz="1400" strike="noStrike" u="none">
              <a:solidFill>
                <a:srgbClr val="ffffff"/>
              </a:solidFill>
              <a:effectLst/>
              <a:uFillTx/>
              <a:latin typeface="Arial"/>
            </a:endParaRPr>
          </a:p>
        </p:txBody>
      </p:sp>
      <p:sp>
        <p:nvSpPr>
          <p:cNvPr id="555" name="PlaceHolder 3"/>
          <p:cNvSpPr>
            <a:spLocks noGrp="1"/>
          </p:cNvSpPr>
          <p:nvPr>
            <p:ph type="sldNum" idx="19"/>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D63BE79F-92B9-4806-A69C-E5EC3CB1EA08}"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6"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Autenticación con Clerk</a:t>
            </a:r>
            <a:endParaRPr b="0" lang="es-ES" sz="3400" strike="noStrike" u="none">
              <a:solidFill>
                <a:schemeClr val="dk1"/>
              </a:solidFill>
              <a:effectLst/>
              <a:uFillTx/>
              <a:latin typeface="Calibri"/>
            </a:endParaRPr>
          </a:p>
        </p:txBody>
      </p:sp>
      <p:sp>
        <p:nvSpPr>
          <p:cNvPr id="557"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RF-06 · RNF-05</a:t>
            </a:r>
            <a:endParaRPr b="0" lang="es-ES" sz="1200" strike="noStrike" u="none">
              <a:solidFill>
                <a:schemeClr val="dk1"/>
              </a:solidFill>
              <a:effectLst/>
              <a:uFillTx/>
              <a:latin typeface="Calibri"/>
            </a:endParaRPr>
          </a:p>
        </p:txBody>
      </p:sp>
      <p:sp>
        <p:nvSpPr>
          <p:cNvPr id="558" name="presenta493"/>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59" name="txt494"/>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Mario Luna</a:t>
            </a:r>
            <a:endParaRPr b="0" lang="es-ES" sz="1100" strike="noStrike" u="none">
              <a:solidFill>
                <a:srgbClr val="ffffff"/>
              </a:solidFill>
              <a:effectLst/>
              <a:uFillTx/>
              <a:latin typeface="Arial"/>
            </a:endParaRPr>
          </a:p>
        </p:txBody>
      </p:sp>
      <p:sp>
        <p:nvSpPr>
          <p:cNvPr id="560" name="card495"/>
          <p:cNvSpPr/>
          <p:nvPr/>
        </p:nvSpPr>
        <p:spPr>
          <a:xfrm>
            <a:off x="548640" y="1371600"/>
            <a:ext cx="2605680" cy="1508400"/>
          </a:xfrm>
          <a:prstGeom prst="roundRect">
            <a:avLst>
              <a:gd name="adj" fmla="val 7273"/>
            </a:avLst>
          </a:prstGeom>
          <a:solidFill>
            <a:schemeClr val="tx2"/>
          </a:solidFill>
          <a:ln w="9525">
            <a:solidFill>
              <a:schemeClr val="accent2">
                <a:alpha val="7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61" name="badge496"/>
          <p:cNvSpPr/>
          <p:nvPr/>
        </p:nvSpPr>
        <p:spPr>
          <a:xfrm>
            <a:off x="731520" y="1536120"/>
            <a:ext cx="365400" cy="347040"/>
          </a:xfrm>
          <a:prstGeom prst="roundRect">
            <a:avLst>
              <a:gd name="adj" fmla="val 21053"/>
            </a:avLst>
          </a:prstGeom>
          <a:solidFill>
            <a:schemeClr val="accent2"/>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62" name="txt497"/>
          <p:cNvSpPr/>
          <p:nvPr/>
        </p:nvSpPr>
        <p:spPr>
          <a:xfrm>
            <a:off x="731520" y="1536120"/>
            <a:ext cx="36540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dk1"/>
                </a:solidFill>
                <a:effectLst/>
                <a:uFillTx/>
                <a:latin typeface="Calibri"/>
              </a:rPr>
              <a:t>1</a:t>
            </a:r>
            <a:endParaRPr b="0" lang="es-ES" sz="1300" strike="noStrike" u="none">
              <a:solidFill>
                <a:srgbClr val="ffffff"/>
              </a:solidFill>
              <a:effectLst/>
              <a:uFillTx/>
              <a:latin typeface="Arial"/>
            </a:endParaRPr>
          </a:p>
        </p:txBody>
      </p:sp>
      <p:sp>
        <p:nvSpPr>
          <p:cNvPr id="563" name="txt498"/>
          <p:cNvSpPr/>
          <p:nvPr/>
        </p:nvSpPr>
        <p:spPr>
          <a:xfrm>
            <a:off x="1234440" y="1508760"/>
            <a:ext cx="18284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chemeClr val="lt1"/>
                </a:solidFill>
                <a:effectLst/>
                <a:uFillTx/>
                <a:latin typeface="Calibri"/>
              </a:rPr>
              <a:t>Acceso en la misma pantalla</a:t>
            </a:r>
            <a:endParaRPr b="0" lang="es-ES" sz="1400" strike="noStrike" u="none">
              <a:solidFill>
                <a:srgbClr val="ffffff"/>
              </a:solidFill>
              <a:effectLst/>
              <a:uFillTx/>
              <a:latin typeface="Arial"/>
            </a:endParaRPr>
          </a:p>
        </p:txBody>
      </p:sp>
      <p:sp>
        <p:nvSpPr>
          <p:cNvPr id="564" name="txt499"/>
          <p:cNvSpPr/>
          <p:nvPr/>
        </p:nvSpPr>
        <p:spPr>
          <a:xfrm>
            <a:off x="731520" y="2103120"/>
            <a:ext cx="2285640" cy="7311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trike="noStrike" u="none">
                <a:solidFill>
                  <a:schemeClr val="lt2"/>
                </a:solidFill>
                <a:effectLst/>
                <a:uFillTx/>
                <a:latin typeface="Calibri"/>
              </a:rPr>
              <a:t>Componente modal de Clerk, sin rutas de login ni perfil.</a:t>
            </a:r>
            <a:endParaRPr b="0" lang="es-ES" sz="1200" strike="noStrike" u="none">
              <a:solidFill>
                <a:srgbClr val="ffffff"/>
              </a:solidFill>
              <a:effectLst/>
              <a:uFillTx/>
              <a:latin typeface="Arial"/>
            </a:endParaRPr>
          </a:p>
        </p:txBody>
      </p:sp>
      <p:sp>
        <p:nvSpPr>
          <p:cNvPr id="565" name="line500"/>
          <p:cNvSpPr/>
          <p:nvPr/>
        </p:nvSpPr>
        <p:spPr>
          <a:xfrm>
            <a:off x="3154680" y="2121120"/>
            <a:ext cx="228600" cy="360"/>
          </a:xfrm>
          <a:prstGeom prst="line">
            <a:avLst/>
          </a:prstGeom>
          <a:ln w="15875">
            <a:solidFill>
              <a:srgbClr val="9b8cff"/>
            </a:solidFill>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566" name="card501"/>
          <p:cNvSpPr/>
          <p:nvPr/>
        </p:nvSpPr>
        <p:spPr>
          <a:xfrm>
            <a:off x="3383280" y="1371600"/>
            <a:ext cx="2605680" cy="1508400"/>
          </a:xfrm>
          <a:prstGeom prst="roundRect">
            <a:avLst>
              <a:gd name="adj" fmla="val 7273"/>
            </a:avLst>
          </a:prstGeom>
          <a:solidFill>
            <a:schemeClr val="tx2"/>
          </a:solidFill>
          <a:ln w="9525">
            <a:solidFill>
              <a:schemeClr val="accent2">
                <a:alpha val="7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67" name="badge502"/>
          <p:cNvSpPr/>
          <p:nvPr/>
        </p:nvSpPr>
        <p:spPr>
          <a:xfrm>
            <a:off x="3566160" y="1536120"/>
            <a:ext cx="365400" cy="347040"/>
          </a:xfrm>
          <a:prstGeom prst="roundRect">
            <a:avLst>
              <a:gd name="adj" fmla="val 21053"/>
            </a:avLst>
          </a:prstGeom>
          <a:solidFill>
            <a:schemeClr val="accent2"/>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68" name="txt503"/>
          <p:cNvSpPr/>
          <p:nvPr/>
        </p:nvSpPr>
        <p:spPr>
          <a:xfrm>
            <a:off x="3566160" y="1536120"/>
            <a:ext cx="36540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dk1"/>
                </a:solidFill>
                <a:effectLst/>
                <a:uFillTx/>
                <a:latin typeface="Calibri"/>
              </a:rPr>
              <a:t>2</a:t>
            </a:r>
            <a:endParaRPr b="0" lang="es-ES" sz="1300" strike="noStrike" u="none">
              <a:solidFill>
                <a:srgbClr val="ffffff"/>
              </a:solidFill>
              <a:effectLst/>
              <a:uFillTx/>
              <a:latin typeface="Arial"/>
            </a:endParaRPr>
          </a:p>
        </p:txBody>
      </p:sp>
      <p:sp>
        <p:nvSpPr>
          <p:cNvPr id="569" name="txt504"/>
          <p:cNvSpPr/>
          <p:nvPr/>
        </p:nvSpPr>
        <p:spPr>
          <a:xfrm>
            <a:off x="4069080" y="1508760"/>
            <a:ext cx="18284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chemeClr val="lt1"/>
                </a:solidFill>
                <a:effectLst/>
                <a:uFillTx/>
                <a:latin typeface="Calibri"/>
              </a:rPr>
              <a:t>Token de sesión</a:t>
            </a:r>
            <a:endParaRPr b="0" lang="es-ES" sz="1400" strike="noStrike" u="none">
              <a:solidFill>
                <a:srgbClr val="ffffff"/>
              </a:solidFill>
              <a:effectLst/>
              <a:uFillTx/>
              <a:latin typeface="Arial"/>
            </a:endParaRPr>
          </a:p>
        </p:txBody>
      </p:sp>
      <p:sp>
        <p:nvSpPr>
          <p:cNvPr id="570" name="txt505"/>
          <p:cNvSpPr/>
          <p:nvPr/>
        </p:nvSpPr>
        <p:spPr>
          <a:xfrm>
            <a:off x="3566160" y="2103120"/>
            <a:ext cx="2285640" cy="7311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trike="noStrike" u="none">
                <a:solidFill>
                  <a:schemeClr val="lt2"/>
                </a:solidFill>
                <a:effectLst/>
                <a:uFillTx/>
                <a:latin typeface="Calibri"/>
              </a:rPr>
              <a:t>La SPA lo pide con getToken() antes de cada envío.</a:t>
            </a:r>
            <a:endParaRPr b="0" lang="es-ES" sz="1200" strike="noStrike" u="none">
              <a:solidFill>
                <a:srgbClr val="ffffff"/>
              </a:solidFill>
              <a:effectLst/>
              <a:uFillTx/>
              <a:latin typeface="Arial"/>
            </a:endParaRPr>
          </a:p>
        </p:txBody>
      </p:sp>
      <p:sp>
        <p:nvSpPr>
          <p:cNvPr id="571" name="line506"/>
          <p:cNvSpPr/>
          <p:nvPr/>
        </p:nvSpPr>
        <p:spPr>
          <a:xfrm>
            <a:off x="5989320" y="2121120"/>
            <a:ext cx="228600" cy="360"/>
          </a:xfrm>
          <a:prstGeom prst="line">
            <a:avLst/>
          </a:prstGeom>
          <a:ln w="15875">
            <a:solidFill>
              <a:srgbClr val="9b8cff"/>
            </a:solidFill>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572" name="card507"/>
          <p:cNvSpPr/>
          <p:nvPr/>
        </p:nvSpPr>
        <p:spPr>
          <a:xfrm>
            <a:off x="6217920" y="1371600"/>
            <a:ext cx="2605680" cy="1508400"/>
          </a:xfrm>
          <a:prstGeom prst="roundRect">
            <a:avLst>
              <a:gd name="adj" fmla="val 7273"/>
            </a:avLst>
          </a:prstGeom>
          <a:solidFill>
            <a:schemeClr val="tx2"/>
          </a:solidFill>
          <a:ln w="9525">
            <a:solidFill>
              <a:schemeClr val="accent2">
                <a:alpha val="7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73" name="badge508"/>
          <p:cNvSpPr/>
          <p:nvPr/>
        </p:nvSpPr>
        <p:spPr>
          <a:xfrm>
            <a:off x="6400800" y="1536120"/>
            <a:ext cx="365400" cy="347040"/>
          </a:xfrm>
          <a:prstGeom prst="roundRect">
            <a:avLst>
              <a:gd name="adj" fmla="val 21053"/>
            </a:avLst>
          </a:prstGeom>
          <a:solidFill>
            <a:schemeClr val="accent2"/>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74" name="txt509"/>
          <p:cNvSpPr/>
          <p:nvPr/>
        </p:nvSpPr>
        <p:spPr>
          <a:xfrm>
            <a:off x="6400800" y="1536120"/>
            <a:ext cx="36540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dk1"/>
                </a:solidFill>
                <a:effectLst/>
                <a:uFillTx/>
                <a:latin typeface="Calibri"/>
              </a:rPr>
              <a:t>3</a:t>
            </a:r>
            <a:endParaRPr b="0" lang="es-ES" sz="1300" strike="noStrike" u="none">
              <a:solidFill>
                <a:srgbClr val="ffffff"/>
              </a:solidFill>
              <a:effectLst/>
              <a:uFillTx/>
              <a:latin typeface="Arial"/>
            </a:endParaRPr>
          </a:p>
        </p:txBody>
      </p:sp>
      <p:sp>
        <p:nvSpPr>
          <p:cNvPr id="575" name="txt510"/>
          <p:cNvSpPr/>
          <p:nvPr/>
        </p:nvSpPr>
        <p:spPr>
          <a:xfrm>
            <a:off x="6903720" y="1508760"/>
            <a:ext cx="18284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chemeClr val="lt1"/>
                </a:solidFill>
                <a:effectLst/>
                <a:uFillTx/>
                <a:latin typeface="Calibri"/>
              </a:rPr>
              <a:t>Cabecera Authorization</a:t>
            </a:r>
            <a:endParaRPr b="0" lang="es-ES" sz="1400" strike="noStrike" u="none">
              <a:solidFill>
                <a:srgbClr val="ffffff"/>
              </a:solidFill>
              <a:effectLst/>
              <a:uFillTx/>
              <a:latin typeface="Arial"/>
            </a:endParaRPr>
          </a:p>
        </p:txBody>
      </p:sp>
      <p:sp>
        <p:nvSpPr>
          <p:cNvPr id="576" name="txt511"/>
          <p:cNvSpPr/>
          <p:nvPr/>
        </p:nvSpPr>
        <p:spPr>
          <a:xfrm>
            <a:off x="6400800" y="2103120"/>
            <a:ext cx="2285640" cy="7311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trike="noStrike" u="none">
                <a:solidFill>
                  <a:schemeClr val="lt2"/>
                </a:solidFill>
                <a:effectLst/>
                <a:uFillTx/>
                <a:latin typeface="Calibri"/>
              </a:rPr>
              <a:t>Bearer &lt;token&gt; en cada POST /api/recommend.</a:t>
            </a:r>
            <a:endParaRPr b="0" lang="es-ES" sz="1200" strike="noStrike" u="none">
              <a:solidFill>
                <a:srgbClr val="ffffff"/>
              </a:solidFill>
              <a:effectLst/>
              <a:uFillTx/>
              <a:latin typeface="Arial"/>
            </a:endParaRPr>
          </a:p>
        </p:txBody>
      </p:sp>
      <p:sp>
        <p:nvSpPr>
          <p:cNvPr id="577" name="line512"/>
          <p:cNvSpPr/>
          <p:nvPr/>
        </p:nvSpPr>
        <p:spPr>
          <a:xfrm>
            <a:off x="8823960" y="2121120"/>
            <a:ext cx="228600" cy="360"/>
          </a:xfrm>
          <a:prstGeom prst="line">
            <a:avLst/>
          </a:prstGeom>
          <a:ln w="15875">
            <a:solidFill>
              <a:srgbClr val="9b8cff"/>
            </a:solidFill>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578" name="card513"/>
          <p:cNvSpPr/>
          <p:nvPr/>
        </p:nvSpPr>
        <p:spPr>
          <a:xfrm>
            <a:off x="9052560" y="1371600"/>
            <a:ext cx="2605680" cy="1508400"/>
          </a:xfrm>
          <a:prstGeom prst="roundRect">
            <a:avLst>
              <a:gd name="adj" fmla="val 7273"/>
            </a:avLst>
          </a:prstGeom>
          <a:solidFill>
            <a:schemeClr val="tx2"/>
          </a:solidFill>
          <a:ln w="9525">
            <a:solidFill>
              <a:schemeClr val="accent2">
                <a:alpha val="7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79" name="badge514"/>
          <p:cNvSpPr/>
          <p:nvPr/>
        </p:nvSpPr>
        <p:spPr>
          <a:xfrm>
            <a:off x="9235440" y="1536120"/>
            <a:ext cx="365400" cy="347040"/>
          </a:xfrm>
          <a:prstGeom prst="roundRect">
            <a:avLst>
              <a:gd name="adj" fmla="val 21053"/>
            </a:avLst>
          </a:prstGeom>
          <a:solidFill>
            <a:schemeClr val="accent2"/>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80" name="txt515"/>
          <p:cNvSpPr/>
          <p:nvPr/>
        </p:nvSpPr>
        <p:spPr>
          <a:xfrm>
            <a:off x="9235440" y="1536120"/>
            <a:ext cx="36540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300" strike="noStrike" u="none">
                <a:solidFill>
                  <a:schemeClr val="dk1"/>
                </a:solidFill>
                <a:effectLst/>
                <a:uFillTx/>
                <a:latin typeface="Calibri"/>
              </a:rPr>
              <a:t>4</a:t>
            </a:r>
            <a:endParaRPr b="0" lang="es-ES" sz="1300" strike="noStrike" u="none">
              <a:solidFill>
                <a:srgbClr val="ffffff"/>
              </a:solidFill>
              <a:effectLst/>
              <a:uFillTx/>
              <a:latin typeface="Arial"/>
            </a:endParaRPr>
          </a:p>
        </p:txBody>
      </p:sp>
      <p:sp>
        <p:nvSpPr>
          <p:cNvPr id="581" name="txt516"/>
          <p:cNvSpPr/>
          <p:nvPr/>
        </p:nvSpPr>
        <p:spPr>
          <a:xfrm>
            <a:off x="9738360" y="1508760"/>
            <a:ext cx="18284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chemeClr val="lt1"/>
                </a:solidFill>
                <a:effectLst/>
                <a:uFillTx/>
                <a:latin typeface="Calibri"/>
              </a:rPr>
              <a:t>Verificación en FastAPI</a:t>
            </a:r>
            <a:endParaRPr b="0" lang="es-ES" sz="1400" strike="noStrike" u="none">
              <a:solidFill>
                <a:srgbClr val="ffffff"/>
              </a:solidFill>
              <a:effectLst/>
              <a:uFillTx/>
              <a:latin typeface="Arial"/>
            </a:endParaRPr>
          </a:p>
        </p:txBody>
      </p:sp>
      <p:sp>
        <p:nvSpPr>
          <p:cNvPr id="582" name="txt517"/>
          <p:cNvSpPr/>
          <p:nvPr/>
        </p:nvSpPr>
        <p:spPr>
          <a:xfrm>
            <a:off x="9235440" y="2103120"/>
            <a:ext cx="2285640" cy="7311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trike="noStrike" u="none">
                <a:solidFill>
                  <a:schemeClr val="lt2"/>
                </a:solidFill>
                <a:effectLst/>
                <a:uFillTx/>
                <a:latin typeface="Calibri"/>
              </a:rPr>
              <a:t>PyJWT con las claves públicas (JWKS) de Clerk.</a:t>
            </a:r>
            <a:endParaRPr b="0" lang="es-ES" sz="1200" strike="noStrike" u="none">
              <a:solidFill>
                <a:srgbClr val="ffffff"/>
              </a:solidFill>
              <a:effectLst/>
              <a:uFillTx/>
              <a:latin typeface="Arial"/>
            </a:endParaRPr>
          </a:p>
        </p:txBody>
      </p:sp>
      <p:sp>
        <p:nvSpPr>
          <p:cNvPr id="583" name="card518"/>
          <p:cNvSpPr/>
          <p:nvPr/>
        </p:nvSpPr>
        <p:spPr>
          <a:xfrm>
            <a:off x="548640" y="3108960"/>
            <a:ext cx="5486040" cy="2925720"/>
          </a:xfrm>
          <a:prstGeom prst="roundRect">
            <a:avLst>
              <a:gd name="adj" fmla="val 375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84" name="txt519"/>
          <p:cNvSpPr/>
          <p:nvPr/>
        </p:nvSpPr>
        <p:spPr>
          <a:xfrm>
            <a:off x="822960" y="3273480"/>
            <a:ext cx="493740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trike="noStrike" u="none">
                <a:solidFill>
                  <a:schemeClr val="accent2"/>
                </a:solidFill>
                <a:effectLst/>
                <a:uFillTx/>
                <a:latin typeface="Calibri"/>
              </a:rPr>
              <a:t>Qué comprueba el backend</a:t>
            </a:r>
            <a:endParaRPr b="0" lang="es-ES" sz="1800" strike="noStrike" u="none">
              <a:solidFill>
                <a:srgbClr val="ffffff"/>
              </a:solidFill>
              <a:effectLst/>
              <a:uFillTx/>
              <a:latin typeface="Arial"/>
            </a:endParaRPr>
          </a:p>
        </p:txBody>
      </p:sp>
      <p:sp>
        <p:nvSpPr>
          <p:cNvPr id="585" name="txt520"/>
          <p:cNvSpPr/>
          <p:nvPr/>
        </p:nvSpPr>
        <p:spPr>
          <a:xfrm>
            <a:off x="822960" y="3749040"/>
            <a:ext cx="4983120" cy="1462680"/>
          </a:xfrm>
          <a:prstGeom prst="rect">
            <a:avLst/>
          </a:prstGeom>
          <a:noFill/>
          <a:ln w="0">
            <a:noFill/>
          </a:ln>
        </p:spPr>
        <p:style>
          <a:lnRef idx="0"/>
          <a:fillRef idx="0"/>
          <a:effectRef idx="0"/>
          <a:fontRef idx="minor"/>
        </p:style>
        <p:txBody>
          <a:bodyPr lIns="0" rIns="0" tIns="0" bIns="0" anchor="t">
            <a:noAutofit/>
          </a:bodyPr>
          <a:p>
            <a:pPr defTabSz="914400">
              <a:lnSpc>
                <a:spcPct val="100000"/>
              </a:lnSpc>
              <a:spcAft>
                <a:spcPts val="400"/>
              </a:spcAft>
              <a:tabLst>
                <a:tab algn="l" pos="0"/>
              </a:tabLst>
            </a:pPr>
            <a:r>
              <a:rPr b="1" lang="en-US" sz="1400" strike="noStrike" u="none">
                <a:solidFill>
                  <a:schemeClr val="lt1"/>
                </a:solidFill>
                <a:effectLst/>
                <a:uFillTx/>
                <a:latin typeface="Calibri"/>
              </a:rPr>
              <a:t>Firma </a:t>
            </a:r>
            <a:r>
              <a:rPr b="0" lang="en-US" sz="1400" strike="noStrike" u="none">
                <a:solidFill>
                  <a:schemeClr val="lt2"/>
                </a:solidFill>
                <a:effectLst/>
                <a:uFillTx/>
                <a:latin typeface="Calibri"/>
              </a:rPr>
              <a:t>con las claves públicas del emisor.</a:t>
            </a:r>
            <a:endParaRPr b="0" lang="es-ES" sz="1400" strike="noStrike" u="none">
              <a:solidFill>
                <a:srgbClr val="ffffff"/>
              </a:solidFill>
              <a:effectLst/>
              <a:uFillTx/>
              <a:latin typeface="Arial"/>
            </a:endParaRPr>
          </a:p>
          <a:p>
            <a:pPr defTabSz="914400">
              <a:lnSpc>
                <a:spcPct val="100000"/>
              </a:lnSpc>
              <a:spcAft>
                <a:spcPts val="400"/>
              </a:spcAft>
              <a:tabLst>
                <a:tab algn="l" pos="0"/>
              </a:tabLst>
            </a:pPr>
            <a:r>
              <a:rPr b="1" lang="en-US" sz="1400" strike="noStrike" u="none">
                <a:solidFill>
                  <a:schemeClr val="lt1"/>
                </a:solidFill>
                <a:effectLst/>
                <a:uFillTx/>
                <a:latin typeface="Calibri"/>
              </a:rPr>
              <a:t>Emisor: </a:t>
            </a:r>
            <a:r>
              <a:rPr b="0" lang="en-US" sz="1400" strike="noStrike" u="none">
                <a:solidFill>
                  <a:schemeClr val="lt2"/>
                </a:solidFill>
                <a:effectLst/>
                <a:uFillTx/>
                <a:latin typeface="Calibri"/>
              </a:rPr>
              <a:t>CLERK_ISSUER.</a:t>
            </a:r>
            <a:endParaRPr b="0" lang="es-ES" sz="1400" strike="noStrike" u="none">
              <a:solidFill>
                <a:srgbClr val="ffffff"/>
              </a:solidFill>
              <a:effectLst/>
              <a:uFillTx/>
              <a:latin typeface="Arial"/>
            </a:endParaRPr>
          </a:p>
          <a:p>
            <a:pPr defTabSz="914400">
              <a:lnSpc>
                <a:spcPct val="100000"/>
              </a:lnSpc>
              <a:spcAft>
                <a:spcPts val="400"/>
              </a:spcAft>
              <a:tabLst>
                <a:tab algn="l" pos="0"/>
              </a:tabLst>
            </a:pPr>
            <a:r>
              <a:rPr b="1" lang="en-US" sz="1400" strike="noStrike" u="none">
                <a:solidFill>
                  <a:schemeClr val="lt1"/>
                </a:solidFill>
                <a:effectLst/>
                <a:uFillTx/>
                <a:latin typeface="Calibri"/>
              </a:rPr>
              <a:t>Caducidad </a:t>
            </a:r>
            <a:r>
              <a:rPr b="0" lang="en-US" sz="1400" strike="noStrike" u="none">
                <a:solidFill>
                  <a:schemeClr val="lt2"/>
                </a:solidFill>
                <a:effectLst/>
                <a:uFillTx/>
                <a:latin typeface="Calibri"/>
              </a:rPr>
              <a:t>del token.</a:t>
            </a:r>
            <a:endParaRPr b="0" lang="es-ES" sz="1400" strike="noStrike" u="none">
              <a:solidFill>
                <a:srgbClr val="ffffff"/>
              </a:solidFill>
              <a:effectLst/>
              <a:uFillTx/>
              <a:latin typeface="Arial"/>
            </a:endParaRPr>
          </a:p>
          <a:p>
            <a:pPr defTabSz="914400">
              <a:lnSpc>
                <a:spcPct val="100000"/>
              </a:lnSpc>
              <a:spcAft>
                <a:spcPts val="400"/>
              </a:spcAft>
              <a:tabLst>
                <a:tab algn="l" pos="0"/>
              </a:tabLst>
            </a:pPr>
            <a:r>
              <a:rPr b="1" lang="en-US" sz="1400" strike="noStrike" u="none">
                <a:solidFill>
                  <a:schemeClr val="lt1"/>
                </a:solidFill>
                <a:effectLst/>
                <a:uFillTx/>
                <a:latin typeface="Calibri"/>
              </a:rPr>
              <a:t>Origen autorizado: </a:t>
            </a:r>
            <a:r>
              <a:rPr b="0" lang="en-US" sz="1400" strike="noStrike" u="none">
                <a:solidFill>
                  <a:schemeClr val="lt2"/>
                </a:solidFill>
                <a:effectLst/>
                <a:uFillTx/>
                <a:latin typeface="Calibri"/>
              </a:rPr>
              <a:t>el azp debe estar en ALLOWED_ORIGINS.</a:t>
            </a:r>
            <a:endParaRPr b="0" lang="es-ES" sz="1400" strike="noStrike" u="none">
              <a:solidFill>
                <a:srgbClr val="ffffff"/>
              </a:solidFill>
              <a:effectLst/>
              <a:uFillTx/>
              <a:latin typeface="Arial"/>
            </a:endParaRPr>
          </a:p>
        </p:txBody>
      </p:sp>
      <p:sp>
        <p:nvSpPr>
          <p:cNvPr id="586" name="txt521"/>
          <p:cNvSpPr/>
          <p:nvPr/>
        </p:nvSpPr>
        <p:spPr>
          <a:xfrm>
            <a:off x="822960" y="5212080"/>
            <a:ext cx="4983120" cy="7311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trike="noStrike" u="none">
                <a:solidFill>
                  <a:schemeClr val="accent5"/>
                </a:solidFill>
                <a:effectLst/>
                <a:uFillTx/>
                <a:latin typeface="Calibri"/>
              </a:rPr>
              <a:t>Si algo falla: </a:t>
            </a:r>
            <a:r>
              <a:rPr b="0" lang="en-US" sz="1300" strike="noStrike" u="none">
                <a:solidFill>
                  <a:schemeClr val="lt1"/>
                </a:solidFill>
                <a:effectLst/>
                <a:uFillTx/>
                <a:latin typeface="Calibri"/>
              </a:rPr>
              <a:t>401 NO_AUTORIZADO y no se llama a la IA. La sesión se comprueba antes que la entrada.</a:t>
            </a:r>
            <a:endParaRPr b="0" lang="es-ES" sz="1300" strike="noStrike" u="none">
              <a:solidFill>
                <a:srgbClr val="ffffff"/>
              </a:solidFill>
              <a:effectLst/>
              <a:uFillTx/>
              <a:latin typeface="Arial"/>
            </a:endParaRPr>
          </a:p>
        </p:txBody>
      </p:sp>
      <p:sp>
        <p:nvSpPr>
          <p:cNvPr id="587" name="card522"/>
          <p:cNvSpPr/>
          <p:nvPr/>
        </p:nvSpPr>
        <p:spPr>
          <a:xfrm>
            <a:off x="6263640" y="3108960"/>
            <a:ext cx="5394600" cy="2925720"/>
          </a:xfrm>
          <a:prstGeom prst="roundRect">
            <a:avLst>
              <a:gd name="adj" fmla="val 375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88" name="txt523"/>
          <p:cNvSpPr/>
          <p:nvPr/>
        </p:nvSpPr>
        <p:spPr>
          <a:xfrm>
            <a:off x="6537960" y="3273480"/>
            <a:ext cx="484596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trike="noStrike" u="none">
                <a:solidFill>
                  <a:schemeClr val="accent1"/>
                </a:solidFill>
                <a:effectLst/>
                <a:uFillTx/>
                <a:latin typeface="Calibri"/>
              </a:rPr>
              <a:t>Lo que no hacemos</a:t>
            </a:r>
            <a:endParaRPr b="0" lang="es-ES" sz="1800" strike="noStrike" u="none">
              <a:solidFill>
                <a:srgbClr val="ffffff"/>
              </a:solidFill>
              <a:effectLst/>
              <a:uFillTx/>
              <a:latin typeface="Arial"/>
            </a:endParaRPr>
          </a:p>
        </p:txBody>
      </p:sp>
      <p:sp>
        <p:nvSpPr>
          <p:cNvPr id="589" name="txt524"/>
          <p:cNvSpPr/>
          <p:nvPr/>
        </p:nvSpPr>
        <p:spPr>
          <a:xfrm>
            <a:off x="6537960" y="3749040"/>
            <a:ext cx="4891680" cy="219420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0000"/>
              </a:lnSpc>
              <a:spcAft>
                <a:spcPts val="700"/>
              </a:spcAft>
              <a:buClr>
                <a:srgbClr val="ffffff"/>
              </a:buClr>
              <a:buFont typeface="Symbol" charset="2"/>
              <a:buChar char=""/>
            </a:pPr>
            <a:r>
              <a:rPr b="0" lang="en-US" sz="1400" strike="noStrike" u="none">
                <a:solidFill>
                  <a:schemeClr val="lt1"/>
                </a:solidFill>
                <a:effectLst/>
                <a:uFillTx/>
                <a:latin typeface="Calibri"/>
              </a:rPr>
              <a:t>Nada de tablas de usuarios, roles ni perfiles.</a:t>
            </a:r>
            <a:endParaRPr b="0" lang="es-ES" sz="1400" strike="noStrike" u="none">
              <a:solidFill>
                <a:srgbClr val="ffffff"/>
              </a:solidFill>
              <a:effectLst/>
              <a:uFillTx/>
              <a:latin typeface="Arial"/>
            </a:endParaRPr>
          </a:p>
          <a:p>
            <a:pPr marL="177840" indent="-177840" defTabSz="914400">
              <a:lnSpc>
                <a:spcPct val="100000"/>
              </a:lnSpc>
              <a:spcAft>
                <a:spcPts val="700"/>
              </a:spcAft>
              <a:buClr>
                <a:srgbClr val="ffffff"/>
              </a:buClr>
              <a:buFont typeface="Symbol" charset="2"/>
              <a:buChar char=""/>
            </a:pPr>
            <a:r>
              <a:rPr b="0" lang="en-US" sz="1400" strike="noStrike" u="none">
                <a:solidFill>
                  <a:schemeClr val="lt1"/>
                </a:solidFill>
                <a:effectLst/>
                <a:uFillTx/>
                <a:latin typeface="Calibri"/>
              </a:rPr>
              <a:t>No guardamos peticiones ni resultados en la sesión.</a:t>
            </a:r>
            <a:endParaRPr b="0" lang="es-ES" sz="1400" strike="noStrike" u="none">
              <a:solidFill>
                <a:srgbClr val="ffffff"/>
              </a:solidFill>
              <a:effectLst/>
              <a:uFillTx/>
              <a:latin typeface="Arial"/>
            </a:endParaRPr>
          </a:p>
          <a:p>
            <a:pPr marL="177840" indent="-177840" defTabSz="914400">
              <a:lnSpc>
                <a:spcPct val="100000"/>
              </a:lnSpc>
              <a:spcAft>
                <a:spcPts val="700"/>
              </a:spcAft>
              <a:buClr>
                <a:srgbClr val="ffffff"/>
              </a:buClr>
              <a:buFont typeface="Symbol" charset="2"/>
              <a:buChar char=""/>
            </a:pPr>
            <a:r>
              <a:rPr b="0" lang="en-US" sz="1400" strike="noStrike" u="none">
                <a:solidFill>
                  <a:schemeClr val="lt1"/>
                </a:solidFill>
                <a:effectLst/>
                <a:uFillTx/>
                <a:latin typeface="Calibri"/>
              </a:rPr>
              <a:t>Sin clave secreta de Clerk: en el frontend solo va la clave publishable.</a:t>
            </a:r>
            <a:endParaRPr b="0" lang="es-ES" sz="1400" strike="noStrike" u="none">
              <a:solidFill>
                <a:srgbClr val="ffffff"/>
              </a:solidFill>
              <a:effectLst/>
              <a:uFillTx/>
              <a:latin typeface="Arial"/>
            </a:endParaRPr>
          </a:p>
          <a:p>
            <a:pPr marL="177840" indent="-177840" defTabSz="914400">
              <a:lnSpc>
                <a:spcPct val="100000"/>
              </a:lnSpc>
              <a:spcAft>
                <a:spcPts val="700"/>
              </a:spcAft>
              <a:buClr>
                <a:srgbClr val="ffffff"/>
              </a:buClr>
              <a:buFont typeface="Symbol" charset="2"/>
              <a:buChar char=""/>
            </a:pPr>
            <a:r>
              <a:rPr b="0" lang="en-US" sz="1400" strike="noStrike" u="none">
                <a:solidFill>
                  <a:schemeClr val="lt1"/>
                </a:solidFill>
                <a:effectLst/>
                <a:uFillTx/>
                <a:latin typeface="Calibri"/>
              </a:rPr>
              <a:t>Ocultar el botón no protege: el backend rechaza la llamada directa sin token (PR-21).</a:t>
            </a:r>
            <a:endParaRPr b="0" lang="es-ES" sz="1400" strike="noStrike" u="none">
              <a:solidFill>
                <a:srgbClr val="ffffff"/>
              </a:solidFill>
              <a:effectLst/>
              <a:uFillTx/>
              <a:latin typeface="Arial"/>
            </a:endParaRPr>
          </a:p>
        </p:txBody>
      </p:sp>
      <p:sp>
        <p:nvSpPr>
          <p:cNvPr id="590" name="PlaceHolder 3"/>
          <p:cNvSpPr>
            <a:spLocks noGrp="1"/>
          </p:cNvSpPr>
          <p:nvPr>
            <p:ph type="sldNum" idx="20"/>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1919EA7C-9869-4E4F-BB3F-3BE5E1B773F8}"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1"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Pruebas automáticas con mocks</a:t>
            </a:r>
            <a:endParaRPr b="0" lang="es-ES" sz="3400" strike="noStrike" u="none">
              <a:solidFill>
                <a:schemeClr val="dk1"/>
              </a:solidFill>
              <a:effectLst/>
              <a:uFillTx/>
              <a:latin typeface="Calibri"/>
            </a:endParaRPr>
          </a:p>
        </p:txBody>
      </p:sp>
      <p:sp>
        <p:nvSpPr>
          <p:cNvPr id="592"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PYTEST</a:t>
            </a:r>
            <a:endParaRPr b="0" lang="es-ES" sz="1200" strike="noStrike" u="none">
              <a:solidFill>
                <a:schemeClr val="dk1"/>
              </a:solidFill>
              <a:effectLst/>
              <a:uFillTx/>
              <a:latin typeface="Calibri"/>
            </a:endParaRPr>
          </a:p>
        </p:txBody>
      </p:sp>
      <p:sp>
        <p:nvSpPr>
          <p:cNvPr id="593" name="presenta525"/>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94" name="txt526"/>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David Molina</a:t>
            </a:r>
            <a:endParaRPr b="0" lang="es-ES" sz="1100" strike="noStrike" u="none">
              <a:solidFill>
                <a:srgbClr val="ffffff"/>
              </a:solidFill>
              <a:effectLst/>
              <a:uFillTx/>
              <a:latin typeface="Arial"/>
            </a:endParaRPr>
          </a:p>
        </p:txBody>
      </p:sp>
      <p:sp>
        <p:nvSpPr>
          <p:cNvPr id="595" name="card527"/>
          <p:cNvSpPr/>
          <p:nvPr/>
        </p:nvSpPr>
        <p:spPr>
          <a:xfrm>
            <a:off x="548640" y="1371600"/>
            <a:ext cx="3565800" cy="1234080"/>
          </a:xfrm>
          <a:prstGeom prst="roundRect">
            <a:avLst>
              <a:gd name="adj" fmla="val 8889"/>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96" name="txt528"/>
          <p:cNvSpPr/>
          <p:nvPr/>
        </p:nvSpPr>
        <p:spPr>
          <a:xfrm>
            <a:off x="777240" y="1481400"/>
            <a:ext cx="3108600" cy="67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chemeClr val="accent1"/>
                </a:solidFill>
                <a:effectLst/>
                <a:uFillTx/>
                <a:latin typeface="Calibri"/>
              </a:rPr>
              <a:t>12</a:t>
            </a:r>
            <a:endParaRPr b="0" lang="es-ES" sz="3400" strike="noStrike" u="none">
              <a:solidFill>
                <a:srgbClr val="ffffff"/>
              </a:solidFill>
              <a:effectLst/>
              <a:uFillTx/>
              <a:latin typeface="Arial"/>
            </a:endParaRPr>
          </a:p>
        </p:txBody>
      </p:sp>
      <p:sp>
        <p:nvSpPr>
          <p:cNvPr id="597" name="txt529"/>
          <p:cNvSpPr/>
          <p:nvPr/>
        </p:nvSpPr>
        <p:spPr>
          <a:xfrm>
            <a:off x="777240" y="2112120"/>
            <a:ext cx="3108600" cy="443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pruebas en la App 1 (13/10)</a:t>
            </a:r>
            <a:endParaRPr b="0" lang="es-ES" sz="1300" strike="noStrike" u="none">
              <a:solidFill>
                <a:srgbClr val="ffffff"/>
              </a:solidFill>
              <a:effectLst/>
              <a:uFillTx/>
              <a:latin typeface="Arial"/>
            </a:endParaRPr>
          </a:p>
        </p:txBody>
      </p:sp>
      <p:sp>
        <p:nvSpPr>
          <p:cNvPr id="598" name="card530"/>
          <p:cNvSpPr/>
          <p:nvPr/>
        </p:nvSpPr>
        <p:spPr>
          <a:xfrm>
            <a:off x="4316040" y="1371600"/>
            <a:ext cx="3565800" cy="1234080"/>
          </a:xfrm>
          <a:prstGeom prst="roundRect">
            <a:avLst>
              <a:gd name="adj" fmla="val 8889"/>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599" name="txt531"/>
          <p:cNvSpPr/>
          <p:nvPr/>
        </p:nvSpPr>
        <p:spPr>
          <a:xfrm>
            <a:off x="4544640" y="1481400"/>
            <a:ext cx="3108600" cy="67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chemeClr val="accent2"/>
                </a:solidFill>
                <a:effectLst/>
                <a:uFillTx/>
                <a:latin typeface="Calibri"/>
              </a:rPr>
              <a:t>59</a:t>
            </a:r>
            <a:endParaRPr b="0" lang="es-ES" sz="3400" strike="noStrike" u="none">
              <a:solidFill>
                <a:srgbClr val="ffffff"/>
              </a:solidFill>
              <a:effectLst/>
              <a:uFillTx/>
              <a:latin typeface="Arial"/>
            </a:endParaRPr>
          </a:p>
        </p:txBody>
      </p:sp>
      <p:sp>
        <p:nvSpPr>
          <p:cNvPr id="600" name="txt532"/>
          <p:cNvSpPr/>
          <p:nvPr/>
        </p:nvSpPr>
        <p:spPr>
          <a:xfrm>
            <a:off x="4544640" y="2112120"/>
            <a:ext cx="3108600" cy="443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pruebas en la App 2 (27/10)</a:t>
            </a:r>
            <a:endParaRPr b="0" lang="es-ES" sz="1300" strike="noStrike" u="none">
              <a:solidFill>
                <a:srgbClr val="ffffff"/>
              </a:solidFill>
              <a:effectLst/>
              <a:uFillTx/>
              <a:latin typeface="Arial"/>
            </a:endParaRPr>
          </a:p>
        </p:txBody>
      </p:sp>
      <p:sp>
        <p:nvSpPr>
          <p:cNvPr id="601" name="card533"/>
          <p:cNvSpPr/>
          <p:nvPr/>
        </p:nvSpPr>
        <p:spPr>
          <a:xfrm>
            <a:off x="8092440" y="1371600"/>
            <a:ext cx="3565800" cy="1234080"/>
          </a:xfrm>
          <a:prstGeom prst="roundRect">
            <a:avLst>
              <a:gd name="adj" fmla="val 8889"/>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02" name="txt534"/>
          <p:cNvSpPr/>
          <p:nvPr/>
        </p:nvSpPr>
        <p:spPr>
          <a:xfrm>
            <a:off x="8321040" y="1481400"/>
            <a:ext cx="3108600" cy="678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chemeClr val="accent6"/>
                </a:solidFill>
                <a:effectLst/>
                <a:uFillTx/>
                <a:latin typeface="Calibri"/>
              </a:rPr>
              <a:t>0</a:t>
            </a:r>
            <a:endParaRPr b="0" lang="es-ES" sz="3400" strike="noStrike" u="none">
              <a:solidFill>
                <a:srgbClr val="ffffff"/>
              </a:solidFill>
              <a:effectLst/>
              <a:uFillTx/>
              <a:latin typeface="Arial"/>
            </a:endParaRPr>
          </a:p>
        </p:txBody>
      </p:sp>
      <p:sp>
        <p:nvSpPr>
          <p:cNvPr id="603" name="txt535"/>
          <p:cNvSpPr/>
          <p:nvPr/>
        </p:nvSpPr>
        <p:spPr>
          <a:xfrm>
            <a:off x="8321040" y="2112120"/>
            <a:ext cx="3108600" cy="443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llamadas a la IA real: se simulan la IA y Clerk</a:t>
            </a:r>
            <a:endParaRPr b="0" lang="es-ES" sz="1300" strike="noStrike" u="none">
              <a:solidFill>
                <a:srgbClr val="ffffff"/>
              </a:solidFill>
              <a:effectLst/>
              <a:uFillTx/>
              <a:latin typeface="Arial"/>
            </a:endParaRPr>
          </a:p>
        </p:txBody>
      </p:sp>
      <p:sp>
        <p:nvSpPr>
          <p:cNvPr id="604" name="card536"/>
          <p:cNvSpPr/>
          <p:nvPr/>
        </p:nvSpPr>
        <p:spPr>
          <a:xfrm>
            <a:off x="548640" y="2788920"/>
            <a:ext cx="5486040" cy="3245760"/>
          </a:xfrm>
          <a:prstGeom prst="roundRect">
            <a:avLst>
              <a:gd name="adj" fmla="val 338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05" name="txt537"/>
          <p:cNvSpPr/>
          <p:nvPr/>
        </p:nvSpPr>
        <p:spPr>
          <a:xfrm>
            <a:off x="822960" y="2944440"/>
            <a:ext cx="493740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trike="noStrike" u="none">
                <a:solidFill>
                  <a:schemeClr val="accent1"/>
                </a:solidFill>
                <a:effectLst/>
                <a:uFillTx/>
                <a:latin typeface="Calibri"/>
              </a:rPr>
              <a:t>Qué comprueban</a:t>
            </a:r>
            <a:endParaRPr b="0" lang="es-ES" sz="1800" strike="noStrike" u="none">
              <a:solidFill>
                <a:srgbClr val="ffffff"/>
              </a:solidFill>
              <a:effectLst/>
              <a:uFillTx/>
              <a:latin typeface="Arial"/>
            </a:endParaRPr>
          </a:p>
        </p:txBody>
      </p:sp>
      <p:sp>
        <p:nvSpPr>
          <p:cNvPr id="606" name="txt538"/>
          <p:cNvSpPr/>
          <p:nvPr/>
        </p:nvSpPr>
        <p:spPr>
          <a:xfrm>
            <a:off x="822960" y="3401640"/>
            <a:ext cx="4983120" cy="2559960"/>
          </a:xfrm>
          <a:prstGeom prst="rect">
            <a:avLst/>
          </a:prstGeom>
          <a:noFill/>
          <a:ln w="0">
            <a:noFill/>
          </a:ln>
        </p:spPr>
        <p:style>
          <a:lnRef idx="0"/>
          <a:fillRef idx="0"/>
          <a:effectRef idx="0"/>
          <a:fontRef idx="minor"/>
        </p:style>
        <p:txBody>
          <a:bodyPr lIns="0" rIns="0" tIns="0" bIns="0" anchor="t">
            <a:noAutofit/>
          </a:bodyPr>
          <a:p>
            <a:pPr defTabSz="914400">
              <a:lnSpc>
                <a:spcPct val="100000"/>
              </a:lnSpc>
              <a:spcAft>
                <a:spcPts val="601"/>
              </a:spcAft>
              <a:tabLst>
                <a:tab algn="l" pos="0"/>
              </a:tabLst>
            </a:pPr>
            <a:r>
              <a:rPr b="1" lang="en-US" sz="1300" strike="noStrike" u="none">
                <a:solidFill>
                  <a:schemeClr val="lt1"/>
                </a:solidFill>
                <a:effectLst/>
                <a:uFillTx/>
                <a:latin typeface="Calibri"/>
              </a:rPr>
              <a:t>Entrada válida: </a:t>
            </a:r>
            <a:r>
              <a:rPr b="0" lang="en-US" sz="1300" strike="noStrike" u="none">
                <a:solidFill>
                  <a:schemeClr val="lt2"/>
                </a:solidFill>
                <a:effectLst/>
                <a:uFillTx/>
                <a:latin typeface="Calibri"/>
              </a:rPr>
              <a:t>200 y una sola llamada al mock.</a:t>
            </a:r>
            <a:endParaRPr b="0" lang="es-ES" sz="1300" strike="noStrike" u="none">
              <a:solidFill>
                <a:srgbClr val="ffffff"/>
              </a:solidFill>
              <a:effectLst/>
              <a:uFillTx/>
              <a:latin typeface="Arial"/>
            </a:endParaRPr>
          </a:p>
          <a:p>
            <a:pPr defTabSz="914400">
              <a:lnSpc>
                <a:spcPct val="100000"/>
              </a:lnSpc>
              <a:spcAft>
                <a:spcPts val="601"/>
              </a:spcAft>
              <a:tabLst>
                <a:tab algn="l" pos="0"/>
              </a:tabLst>
            </a:pPr>
            <a:r>
              <a:rPr b="1" lang="en-US" sz="1300" strike="noStrike" u="none">
                <a:solidFill>
                  <a:schemeClr val="lt1"/>
                </a:solidFill>
                <a:effectLst/>
                <a:uFillTx/>
                <a:latin typeface="Calibri"/>
              </a:rPr>
              <a:t>Vacío, espacios o 501 caracteres: </a:t>
            </a:r>
            <a:r>
              <a:rPr b="0" lang="en-US" sz="1300" strike="noStrike" u="none">
                <a:solidFill>
                  <a:schemeClr val="lt2"/>
                </a:solidFill>
                <a:effectLst/>
                <a:uFillTx/>
                <a:latin typeface="Calibri"/>
              </a:rPr>
              <a:t>422 sin llamar a la IA (500 pasa).</a:t>
            </a:r>
            <a:endParaRPr b="0" lang="es-ES" sz="1300" strike="noStrike" u="none">
              <a:solidFill>
                <a:srgbClr val="ffffff"/>
              </a:solidFill>
              <a:effectLst/>
              <a:uFillTx/>
              <a:latin typeface="Arial"/>
            </a:endParaRPr>
          </a:p>
          <a:p>
            <a:pPr defTabSz="914400">
              <a:lnSpc>
                <a:spcPct val="100000"/>
              </a:lnSpc>
              <a:spcAft>
                <a:spcPts val="601"/>
              </a:spcAft>
              <a:tabLst>
                <a:tab algn="l" pos="0"/>
              </a:tabLst>
            </a:pPr>
            <a:r>
              <a:rPr b="1" lang="en-US" sz="1300" strike="noStrike" u="none">
                <a:solidFill>
                  <a:schemeClr val="lt1"/>
                </a:solidFill>
                <a:effectLst/>
                <a:uFillTx/>
                <a:latin typeface="Calibri"/>
              </a:rPr>
              <a:t>IA lenta, caída o rota: </a:t>
            </a:r>
            <a:r>
              <a:rPr b="0" lang="en-US" sz="1300" strike="noStrike" u="none">
                <a:solidFill>
                  <a:schemeClr val="lt2"/>
                </a:solidFill>
                <a:effectLst/>
                <a:uFillTx/>
                <a:latin typeface="Calibri"/>
              </a:rPr>
              <a:t>504 TIMEOUT o 502.</a:t>
            </a:r>
            <a:endParaRPr b="0" lang="es-ES" sz="1300" strike="noStrike" u="none">
              <a:solidFill>
                <a:srgbClr val="ffffff"/>
              </a:solidFill>
              <a:effectLst/>
              <a:uFillTx/>
              <a:latin typeface="Arial"/>
            </a:endParaRPr>
          </a:p>
          <a:p>
            <a:pPr defTabSz="914400">
              <a:lnSpc>
                <a:spcPct val="100000"/>
              </a:lnSpc>
              <a:spcAft>
                <a:spcPts val="601"/>
              </a:spcAft>
              <a:tabLst>
                <a:tab algn="l" pos="0"/>
              </a:tabLst>
            </a:pPr>
            <a:r>
              <a:rPr b="1" lang="en-US" sz="1300" strike="noStrike" u="none">
                <a:solidFill>
                  <a:schemeClr val="lt1"/>
                </a:solidFill>
                <a:effectLst/>
                <a:uFillTx/>
                <a:latin typeface="Calibri"/>
              </a:rPr>
              <a:t>App 2 · sin token, inválido o caducado: </a:t>
            </a:r>
            <a:r>
              <a:rPr b="0" lang="en-US" sz="1300" strike="noStrike" u="none">
                <a:solidFill>
                  <a:schemeClr val="lt2"/>
                </a:solidFill>
                <a:effectLst/>
                <a:uFillTx/>
                <a:latin typeface="Calibri"/>
              </a:rPr>
              <a:t>401 sin llamar a la IA.</a:t>
            </a:r>
            <a:endParaRPr b="0" lang="es-ES" sz="1300" strike="noStrike" u="none">
              <a:solidFill>
                <a:srgbClr val="ffffff"/>
              </a:solidFill>
              <a:effectLst/>
              <a:uFillTx/>
              <a:latin typeface="Arial"/>
            </a:endParaRPr>
          </a:p>
          <a:p>
            <a:pPr defTabSz="914400">
              <a:lnSpc>
                <a:spcPct val="100000"/>
              </a:lnSpc>
              <a:spcAft>
                <a:spcPts val="601"/>
              </a:spcAft>
              <a:tabLst>
                <a:tab algn="l" pos="0"/>
              </a:tabLst>
            </a:pPr>
            <a:r>
              <a:rPr b="1" lang="en-US" sz="1300" strike="noStrike" u="none">
                <a:solidFill>
                  <a:schemeClr val="lt1"/>
                </a:solidFill>
                <a:effectLst/>
                <a:uFillTx/>
                <a:latin typeface="Calibri"/>
              </a:rPr>
              <a:t>App 2 · verificador real de Clerk </a:t>
            </a:r>
            <a:r>
              <a:rPr b="0" lang="en-US" sz="1300" strike="noStrike" u="none">
                <a:solidFill>
                  <a:schemeClr val="lt2"/>
                </a:solidFill>
                <a:effectLst/>
                <a:uFillTx/>
                <a:latin typeface="Calibri"/>
              </a:rPr>
              <a:t>con claves de prueba y cliente de Gemini simulado.</a:t>
            </a:r>
            <a:endParaRPr b="0" lang="es-ES" sz="1300" strike="noStrike" u="none">
              <a:solidFill>
                <a:srgbClr val="ffffff"/>
              </a:solidFill>
              <a:effectLst/>
              <a:uFillTx/>
              <a:latin typeface="Arial"/>
            </a:endParaRPr>
          </a:p>
        </p:txBody>
      </p:sp>
      <p:sp>
        <p:nvSpPr>
          <p:cNvPr id="607" name="card539"/>
          <p:cNvSpPr/>
          <p:nvPr/>
        </p:nvSpPr>
        <p:spPr>
          <a:xfrm>
            <a:off x="6263640" y="2788920"/>
            <a:ext cx="5394600" cy="3245760"/>
          </a:xfrm>
          <a:prstGeom prst="roundRect">
            <a:avLst>
              <a:gd name="adj" fmla="val 338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pic>
        <p:nvPicPr>
          <p:cNvPr id="608" name="capturaPytest" descr="Ejecución de pytest con los 12 tests de la App 1 en verde"/>
          <p:cNvPicPr/>
          <p:nvPr/>
        </p:nvPicPr>
        <p:blipFill>
          <a:blip r:embed="rId1"/>
          <a:stretch/>
        </p:blipFill>
        <p:spPr>
          <a:xfrm>
            <a:off x="6446520" y="2971800"/>
            <a:ext cx="5028840" cy="920160"/>
          </a:xfrm>
          <a:prstGeom prst="rect">
            <a:avLst/>
          </a:prstGeom>
          <a:noFill/>
          <a:ln w="0">
            <a:noFill/>
          </a:ln>
        </p:spPr>
      </p:pic>
      <p:sp>
        <p:nvSpPr>
          <p:cNvPr id="609" name="txt540"/>
          <p:cNvSpPr/>
          <p:nvPr/>
        </p:nvSpPr>
        <p:spPr>
          <a:xfrm>
            <a:off x="6446520" y="3940920"/>
            <a:ext cx="5028840" cy="237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000" strike="noStrike" u="none">
                <a:solidFill>
                  <a:schemeClr val="lt2"/>
                </a:solidFill>
                <a:effectLst/>
                <a:uFillTx/>
                <a:latin typeface="Calibri"/>
              </a:rPr>
              <a:t>pytest de la App 1: 12 passed</a:t>
            </a:r>
            <a:endParaRPr b="0" lang="es-ES" sz="1000" strike="noStrike" u="none">
              <a:solidFill>
                <a:srgbClr val="ffffff"/>
              </a:solidFill>
              <a:effectLst/>
              <a:uFillTx/>
              <a:latin typeface="Arial"/>
            </a:endParaRPr>
          </a:p>
        </p:txBody>
      </p:sp>
      <p:sp>
        <p:nvSpPr>
          <p:cNvPr id="610" name="txt541"/>
          <p:cNvSpPr/>
          <p:nvPr/>
        </p:nvSpPr>
        <p:spPr>
          <a:xfrm>
            <a:off x="6446520" y="4297680"/>
            <a:ext cx="5028840" cy="776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trike="noStrike" u="none">
                <a:solidFill>
                  <a:schemeClr val="lt1"/>
                </a:solidFill>
                <a:effectLst/>
                <a:uFillTx/>
                <a:latin typeface="Calibri"/>
              </a:rPr>
              <a:t>Pruebas manuales PR-13 a PR-23: </a:t>
            </a:r>
            <a:r>
              <a:rPr b="0" lang="en-US" sz="1300" strike="noStrike" u="none">
                <a:solidFill>
                  <a:schemeClr val="lt2"/>
                </a:solidFill>
                <a:effectLst/>
                <a:uFillTx/>
                <a:latin typeface="Calibri"/>
              </a:rPr>
              <a:t>IA real con sesión real, accesibilidad a 320 px y ninguna clave en el repo ni en su historial.</a:t>
            </a:r>
            <a:endParaRPr b="0" lang="es-ES" sz="1300" strike="noStrike" u="none">
              <a:solidFill>
                <a:srgbClr val="ffffff"/>
              </a:solidFill>
              <a:effectLst/>
              <a:uFillTx/>
              <a:latin typeface="Arial"/>
            </a:endParaRPr>
          </a:p>
        </p:txBody>
      </p:sp>
      <p:sp>
        <p:nvSpPr>
          <p:cNvPr id="611" name="txt542"/>
          <p:cNvSpPr/>
          <p:nvPr/>
        </p:nvSpPr>
        <p:spPr>
          <a:xfrm>
            <a:off x="6446520" y="5166360"/>
            <a:ext cx="5028840" cy="7311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300" strike="noStrike" u="none">
                <a:solidFill>
                  <a:schemeClr val="accent4"/>
                </a:solidFill>
                <a:effectLst/>
                <a:uFillTx/>
                <a:latin typeface="Calibri"/>
              </a:rPr>
              <a:t>Lección: </a:t>
            </a:r>
            <a:r>
              <a:rPr b="0" lang="en-US" sz="1300" strike="noStrike" u="none">
                <a:solidFill>
                  <a:schemeClr val="lt1"/>
                </a:solidFill>
                <a:effectLst/>
                <a:uFillTx/>
                <a:latin typeface="Calibri"/>
              </a:rPr>
              <a:t>las 59 pruebas no vieron el fallo del .env. Hay que probar también la configuración real.</a:t>
            </a:r>
            <a:endParaRPr b="0" lang="es-ES" sz="1300" strike="noStrike" u="none">
              <a:solidFill>
                <a:srgbClr val="ffffff"/>
              </a:solidFill>
              <a:effectLst/>
              <a:uFillTx/>
              <a:latin typeface="Arial"/>
            </a:endParaRPr>
          </a:p>
        </p:txBody>
      </p:sp>
      <p:sp>
        <p:nvSpPr>
          <p:cNvPr id="612" name="PlaceHolder 3"/>
          <p:cNvSpPr>
            <a:spLocks noGrp="1"/>
          </p:cNvSpPr>
          <p:nvPr>
            <p:ph type="sldNum" idx="21"/>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03BE1926-E28C-4117-851C-DB0ACC1EBBA7}"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3"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Despliegue en Vercel</a:t>
            </a:r>
            <a:endParaRPr b="0" lang="es-ES" sz="3400" strike="noStrike" u="none">
              <a:solidFill>
                <a:schemeClr val="dk1"/>
              </a:solidFill>
              <a:effectLst/>
              <a:uFillTx/>
              <a:latin typeface="Calibri"/>
            </a:endParaRPr>
          </a:p>
        </p:txBody>
      </p:sp>
      <p:sp>
        <p:nvSpPr>
          <p:cNvPr id="614"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APP 1 Y APP 2</a:t>
            </a:r>
            <a:endParaRPr b="0" lang="es-ES" sz="1200" strike="noStrike" u="none">
              <a:solidFill>
                <a:schemeClr val="dk1"/>
              </a:solidFill>
              <a:effectLst/>
              <a:uFillTx/>
              <a:latin typeface="Calibri"/>
            </a:endParaRPr>
          </a:p>
        </p:txBody>
      </p:sp>
      <p:sp>
        <p:nvSpPr>
          <p:cNvPr id="615" name="presenta543"/>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16" name="txt544"/>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Jose Antonio Nieto</a:t>
            </a:r>
            <a:endParaRPr b="0" lang="es-ES" sz="1100" strike="noStrike" u="none">
              <a:solidFill>
                <a:srgbClr val="ffffff"/>
              </a:solidFill>
              <a:effectLst/>
              <a:uFillTx/>
              <a:latin typeface="Arial"/>
            </a:endParaRPr>
          </a:p>
        </p:txBody>
      </p:sp>
      <p:sp>
        <p:nvSpPr>
          <p:cNvPr id="617" name="card545"/>
          <p:cNvSpPr/>
          <p:nvPr/>
        </p:nvSpPr>
        <p:spPr>
          <a:xfrm>
            <a:off x="548640" y="1371600"/>
            <a:ext cx="5486040" cy="4160160"/>
          </a:xfrm>
          <a:prstGeom prst="roundRect">
            <a:avLst>
              <a:gd name="adj" fmla="val 2637"/>
            </a:avLst>
          </a:prstGeom>
          <a:solidFill>
            <a:schemeClr val="tx2"/>
          </a:solidFill>
          <a:ln w="9525">
            <a:solidFill>
              <a:schemeClr val="accent1">
                <a:alpha val="6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18" name="txt546"/>
          <p:cNvSpPr/>
          <p:nvPr/>
        </p:nvSpPr>
        <p:spPr>
          <a:xfrm>
            <a:off x="822960" y="1508760"/>
            <a:ext cx="4937400" cy="5940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trike="noStrike" u="none">
                <a:solidFill>
                  <a:schemeClr val="accent1"/>
                </a:solidFill>
                <a:effectLst/>
                <a:uFillTx/>
                <a:latin typeface="Calibri"/>
              </a:rPr>
              <a:t>App 1</a:t>
            </a:r>
            <a:endParaRPr b="0" lang="es-ES" sz="18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onsolas"/>
                <a:ea typeface="Consolas"/>
              </a:rPr>
              <a:t>proyectowebia.vercel.app</a:t>
            </a:r>
            <a:endParaRPr b="0" lang="es-ES" sz="1200" strike="noStrike" u="none">
              <a:solidFill>
                <a:srgbClr val="ffffff"/>
              </a:solidFill>
              <a:effectLst/>
              <a:uFillTx/>
              <a:latin typeface="Arial"/>
            </a:endParaRPr>
          </a:p>
        </p:txBody>
      </p:sp>
      <p:sp>
        <p:nvSpPr>
          <p:cNvPr id="619" name="txt547"/>
          <p:cNvSpPr/>
          <p:nvPr/>
        </p:nvSpPr>
        <p:spPr>
          <a:xfrm>
            <a:off x="822960" y="2194560"/>
            <a:ext cx="4937400" cy="146268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0000"/>
              </a:lnSpc>
              <a:spcAft>
                <a:spcPts val="499"/>
              </a:spcAft>
              <a:buClr>
                <a:srgbClr val="ffffff"/>
              </a:buClr>
              <a:buFont typeface="Symbol" charset="2"/>
              <a:buChar char=""/>
            </a:pPr>
            <a:r>
              <a:rPr b="0" lang="en-US" sz="1300" strike="noStrike" u="none">
                <a:solidFill>
                  <a:schemeClr val="lt1"/>
                </a:solidFill>
                <a:effectLst/>
                <a:uFillTx/>
                <a:latin typeface="Calibri"/>
              </a:rPr>
              <a:t>Un proyecto con dos servicios en vercel.json: frontend Vite y backend FastAPI.</a:t>
            </a:r>
            <a:endParaRPr b="0" lang="es-ES" sz="1300" strike="noStrike" u="none">
              <a:solidFill>
                <a:srgbClr val="ffffff"/>
              </a:solidFill>
              <a:effectLst/>
              <a:uFillTx/>
              <a:latin typeface="Arial"/>
            </a:endParaRPr>
          </a:p>
          <a:p>
            <a:pPr marL="177840" indent="-177840" defTabSz="914400">
              <a:lnSpc>
                <a:spcPct val="100000"/>
              </a:lnSpc>
              <a:spcAft>
                <a:spcPts val="499"/>
              </a:spcAft>
              <a:buClr>
                <a:srgbClr val="ffffff"/>
              </a:buClr>
              <a:buFont typeface="Symbol" charset="2"/>
              <a:buChar char=""/>
            </a:pPr>
            <a:r>
              <a:rPr b="0" lang="en-US" sz="1300" strike="noStrike" u="none">
                <a:solidFill>
                  <a:schemeClr val="lt1"/>
                </a:solidFill>
                <a:effectLst/>
                <a:uFillTx/>
                <a:latin typeface="Calibri"/>
              </a:rPr>
              <a:t>/api/* se reescribe al backend: una sola URL y sin CORS.</a:t>
            </a:r>
            <a:endParaRPr b="0" lang="es-ES" sz="1300" strike="noStrike" u="none">
              <a:solidFill>
                <a:srgbClr val="ffffff"/>
              </a:solidFill>
              <a:effectLst/>
              <a:uFillTx/>
              <a:latin typeface="Arial"/>
            </a:endParaRPr>
          </a:p>
          <a:p>
            <a:pPr marL="177840" indent="-177840" defTabSz="914400">
              <a:lnSpc>
                <a:spcPct val="100000"/>
              </a:lnSpc>
              <a:spcAft>
                <a:spcPts val="499"/>
              </a:spcAft>
              <a:buClr>
                <a:srgbClr val="ffffff"/>
              </a:buClr>
              <a:buFont typeface="Symbol" charset="2"/>
              <a:buChar char=""/>
            </a:pPr>
            <a:r>
              <a:rPr b="0" lang="en-US" sz="1300" strike="noStrike" u="none">
                <a:solidFill>
                  <a:schemeClr val="lt1"/>
                </a:solidFill>
                <a:effectLst/>
                <a:uFillTx/>
                <a:latin typeface="Calibri"/>
              </a:rPr>
              <a:t>Variables solo en Vercel: GEMINI_API_KEY, GEMINI_MODEL, MAX_TOKENS…</a:t>
            </a:r>
            <a:endParaRPr b="0" lang="es-ES" sz="1300" strike="noStrike" u="none">
              <a:solidFill>
                <a:srgbClr val="ffffff"/>
              </a:solidFill>
              <a:effectLst/>
              <a:uFillTx/>
              <a:latin typeface="Arial"/>
            </a:endParaRPr>
          </a:p>
        </p:txBody>
      </p:sp>
      <p:pic>
        <p:nvPicPr>
          <p:cNvPr id="620" name="img548" descr="Caso de error: 422 desde la URL pública"/>
          <p:cNvPicPr/>
          <p:nvPr/>
        </p:nvPicPr>
        <p:blipFill>
          <a:blip r:embed="rId1"/>
          <a:stretch/>
        </p:blipFill>
        <p:spPr>
          <a:xfrm>
            <a:off x="822960" y="3703320"/>
            <a:ext cx="4937400" cy="1514880"/>
          </a:xfrm>
          <a:prstGeom prst="rect">
            <a:avLst/>
          </a:prstGeom>
          <a:noFill/>
          <a:ln w="0">
            <a:noFill/>
          </a:ln>
        </p:spPr>
      </p:pic>
      <p:sp>
        <p:nvSpPr>
          <p:cNvPr id="621" name="txt549"/>
          <p:cNvSpPr/>
          <p:nvPr/>
        </p:nvSpPr>
        <p:spPr>
          <a:xfrm>
            <a:off x="822960" y="5264280"/>
            <a:ext cx="4937400" cy="228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000" strike="noStrike" u="none">
                <a:solidFill>
                  <a:schemeClr val="lt2"/>
                </a:solidFill>
                <a:effectLst/>
                <a:uFillTx/>
                <a:latin typeface="Calibri"/>
              </a:rPr>
              <a:t>Caso de error: 422 desde la URL pública</a:t>
            </a:r>
            <a:endParaRPr b="0" lang="es-ES" sz="1000" strike="noStrike" u="none">
              <a:solidFill>
                <a:srgbClr val="ffffff"/>
              </a:solidFill>
              <a:effectLst/>
              <a:uFillTx/>
              <a:latin typeface="Arial"/>
            </a:endParaRPr>
          </a:p>
        </p:txBody>
      </p:sp>
      <p:sp>
        <p:nvSpPr>
          <p:cNvPr id="622" name="card550"/>
          <p:cNvSpPr/>
          <p:nvPr/>
        </p:nvSpPr>
        <p:spPr>
          <a:xfrm>
            <a:off x="6263640" y="1371600"/>
            <a:ext cx="5394600" cy="4160160"/>
          </a:xfrm>
          <a:prstGeom prst="roundRect">
            <a:avLst>
              <a:gd name="adj" fmla="val 2637"/>
            </a:avLst>
          </a:prstGeom>
          <a:solidFill>
            <a:schemeClr val="tx2"/>
          </a:solidFill>
          <a:ln w="9525">
            <a:solidFill>
              <a:schemeClr val="accent2">
                <a:alpha val="6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23" name="txt551"/>
          <p:cNvSpPr/>
          <p:nvPr/>
        </p:nvSpPr>
        <p:spPr>
          <a:xfrm>
            <a:off x="6537960" y="1508760"/>
            <a:ext cx="4845960" cy="5940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800" strike="noStrike" u="none">
                <a:solidFill>
                  <a:schemeClr val="accent2"/>
                </a:solidFill>
                <a:effectLst/>
                <a:uFillTx/>
                <a:latin typeface="Calibri"/>
              </a:rPr>
              <a:t>App 2</a:t>
            </a:r>
            <a:endParaRPr b="0" lang="es-ES" sz="1800" strike="noStrike" u="none">
              <a:solidFill>
                <a:srgbClr val="ffffff"/>
              </a:solidFill>
              <a:effectLst/>
              <a:uFillTx/>
              <a:latin typeface="Arial"/>
            </a:endParaRPr>
          </a:p>
          <a:p>
            <a:pPr defTabSz="914400">
              <a:lnSpc>
                <a:spcPct val="100000"/>
              </a:lnSpc>
              <a:tabLst>
                <a:tab algn="l" pos="0"/>
              </a:tabLst>
            </a:pPr>
            <a:r>
              <a:rPr b="0" lang="en-US" sz="1200" strike="noStrike" u="none">
                <a:solidFill>
                  <a:schemeClr val="lt2"/>
                </a:solidFill>
                <a:effectLst/>
                <a:uFillTx/>
                <a:latin typeface="Consolas"/>
                <a:ea typeface="Consolas"/>
              </a:rPr>
              <a:t>musicfy-app2.vercel.app</a:t>
            </a:r>
            <a:endParaRPr b="0" lang="es-ES" sz="1200" strike="noStrike" u="none">
              <a:solidFill>
                <a:srgbClr val="ffffff"/>
              </a:solidFill>
              <a:effectLst/>
              <a:uFillTx/>
              <a:latin typeface="Arial"/>
            </a:endParaRPr>
          </a:p>
        </p:txBody>
      </p:sp>
      <p:sp>
        <p:nvSpPr>
          <p:cNvPr id="624" name="txt552"/>
          <p:cNvSpPr/>
          <p:nvPr/>
        </p:nvSpPr>
        <p:spPr>
          <a:xfrm>
            <a:off x="6537960" y="2194560"/>
            <a:ext cx="4845960" cy="146268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0000"/>
              </a:lnSpc>
              <a:spcAft>
                <a:spcPts val="499"/>
              </a:spcAft>
              <a:buClr>
                <a:srgbClr val="ffffff"/>
              </a:buClr>
              <a:buFont typeface="Symbol" charset="2"/>
              <a:buChar char=""/>
            </a:pPr>
            <a:r>
              <a:rPr b="0" lang="en-US" sz="1300" strike="noStrike" u="none">
                <a:solidFill>
                  <a:schemeClr val="lt1"/>
                </a:solidFill>
                <a:effectLst/>
                <a:uFillTx/>
                <a:latin typeface="Calibri"/>
              </a:rPr>
              <a:t>Dos proyectos: musicfy-app2 (Vite) y musicfy-app2-api (FastAPI).</a:t>
            </a:r>
            <a:endParaRPr b="0" lang="es-ES" sz="1300" strike="noStrike" u="none">
              <a:solidFill>
                <a:srgbClr val="ffffff"/>
              </a:solidFill>
              <a:effectLst/>
              <a:uFillTx/>
              <a:latin typeface="Arial"/>
            </a:endParaRPr>
          </a:p>
          <a:p>
            <a:pPr marL="177840" indent="-177840" defTabSz="914400">
              <a:lnSpc>
                <a:spcPct val="100000"/>
              </a:lnSpc>
              <a:spcAft>
                <a:spcPts val="499"/>
              </a:spcAft>
              <a:buClr>
                <a:srgbClr val="ffffff"/>
              </a:buClr>
              <a:buFont typeface="Symbol" charset="2"/>
              <a:buChar char=""/>
            </a:pPr>
            <a:r>
              <a:rPr b="0" lang="en-US" sz="1300" strike="noStrike" u="none">
                <a:solidFill>
                  <a:schemeClr val="lt1"/>
                </a:solidFill>
                <a:effectLst/>
                <a:uFillTx/>
                <a:latin typeface="Calibri"/>
              </a:rPr>
              <a:t>CORS con ALLOWED_ORIGINS, que también sirve para comprobar el origen del token.</a:t>
            </a:r>
            <a:endParaRPr b="0" lang="es-ES" sz="1300" strike="noStrike" u="none">
              <a:solidFill>
                <a:srgbClr val="ffffff"/>
              </a:solidFill>
              <a:effectLst/>
              <a:uFillTx/>
              <a:latin typeface="Arial"/>
            </a:endParaRPr>
          </a:p>
          <a:p>
            <a:pPr marL="177840" indent="-177840" defTabSz="914400">
              <a:lnSpc>
                <a:spcPct val="100000"/>
              </a:lnSpc>
              <a:spcAft>
                <a:spcPts val="499"/>
              </a:spcAft>
              <a:buClr>
                <a:srgbClr val="ffffff"/>
              </a:buClr>
              <a:buFont typeface="Symbol" charset="2"/>
              <a:buChar char=""/>
            </a:pPr>
            <a:r>
              <a:rPr b="0" lang="en-US" sz="1300" strike="noStrike" u="none">
                <a:solidFill>
                  <a:schemeClr val="lt1"/>
                </a:solidFill>
                <a:effectLst/>
                <a:uFillTx/>
                <a:latin typeface="Calibri"/>
              </a:rPr>
              <a:t>Frontend: solo VITE_CLERK_PUBLISHABLE_KEY y VITE_API_URL.</a:t>
            </a:r>
            <a:endParaRPr b="0" lang="es-ES" sz="1300" strike="noStrike" u="none">
              <a:solidFill>
                <a:srgbClr val="ffffff"/>
              </a:solidFill>
              <a:effectLst/>
              <a:uFillTx/>
              <a:latin typeface="Arial"/>
            </a:endParaRPr>
          </a:p>
        </p:txBody>
      </p:sp>
      <p:pic>
        <p:nvPicPr>
          <p:cNvPr id="625" name="img553" descr="Caso de error: 401 sin token"/>
          <p:cNvPicPr/>
          <p:nvPr/>
        </p:nvPicPr>
        <p:blipFill>
          <a:blip r:embed="rId2"/>
          <a:stretch/>
        </p:blipFill>
        <p:spPr>
          <a:xfrm>
            <a:off x="6537960" y="3703320"/>
            <a:ext cx="3634560" cy="999360"/>
          </a:xfrm>
          <a:prstGeom prst="rect">
            <a:avLst/>
          </a:prstGeom>
          <a:noFill/>
          <a:ln w="0">
            <a:noFill/>
          </a:ln>
        </p:spPr>
      </p:pic>
      <p:sp>
        <p:nvSpPr>
          <p:cNvPr id="626" name="txt554"/>
          <p:cNvSpPr/>
          <p:nvPr/>
        </p:nvSpPr>
        <p:spPr>
          <a:xfrm>
            <a:off x="6537960" y="4748760"/>
            <a:ext cx="4845960" cy="228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000" strike="noStrike" u="none">
                <a:solidFill>
                  <a:schemeClr val="lt2"/>
                </a:solidFill>
                <a:effectLst/>
                <a:uFillTx/>
                <a:latin typeface="Calibri"/>
              </a:rPr>
              <a:t>Caso de error: 401 sin token</a:t>
            </a:r>
            <a:endParaRPr b="0" lang="es-ES" sz="1000" strike="noStrike" u="none">
              <a:solidFill>
                <a:srgbClr val="ffffff"/>
              </a:solidFill>
              <a:effectLst/>
              <a:uFillTx/>
              <a:latin typeface="Arial"/>
            </a:endParaRPr>
          </a:p>
        </p:txBody>
      </p:sp>
      <p:sp>
        <p:nvSpPr>
          <p:cNvPr id="627" name="cambiar555"/>
          <p:cNvSpPr/>
          <p:nvPr/>
        </p:nvSpPr>
        <p:spPr>
          <a:xfrm>
            <a:off x="548640" y="5669280"/>
            <a:ext cx="11109600" cy="383760"/>
          </a:xfrm>
          <a:prstGeom prst="roundRect">
            <a:avLst>
              <a:gd name="adj" fmla="val 19048"/>
            </a:avLst>
          </a:prstGeom>
          <a:solidFill>
            <a:schemeClr val="dk2"/>
          </a:solidFill>
          <a:ln w="9525">
            <a:solidFill>
              <a:schemeClr val="accent6"/>
            </a:solidFill>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628" name="txt556"/>
          <p:cNvSpPr/>
          <p:nvPr/>
        </p:nvSpPr>
        <p:spPr>
          <a:xfrm>
            <a:off x="685800" y="5669280"/>
            <a:ext cx="1083528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trike="noStrike" u="none">
                <a:solidFill>
                  <a:schemeClr val="accent6"/>
                </a:solidFill>
                <a:effectLst/>
                <a:uFillTx/>
                <a:latin typeface="Calibri"/>
              </a:rPr>
              <a:t>✓ Vercel CLI 65.5.0:  </a:t>
            </a:r>
            <a:r>
              <a:rPr b="0" lang="en-US" sz="1200" strike="noStrike" u="none">
                <a:solidFill>
                  <a:schemeClr val="lt1"/>
                </a:solidFill>
                <a:effectLst/>
                <a:uFillTx/>
                <a:latin typeface="Calibri"/>
              </a:rPr>
              <a:t>vercel link · vercel env ls (valores ocultos) · vercel ls (despliegues Ready) → docs/evidencias/vercel-cli.png</a:t>
            </a:r>
            <a:endParaRPr b="0" lang="es-ES" sz="1200" strike="noStrike" u="none">
              <a:solidFill>
                <a:srgbClr val="ffffff"/>
              </a:solidFill>
              <a:effectLst/>
              <a:uFillTx/>
              <a:latin typeface="Arial"/>
            </a:endParaRPr>
          </a:p>
        </p:txBody>
      </p:sp>
      <p:sp>
        <p:nvSpPr>
          <p:cNvPr id="629" name="PlaceHolder 3"/>
          <p:cNvSpPr>
            <a:spLocks noGrp="1"/>
          </p:cNvSpPr>
          <p:nvPr>
            <p:ph type="sldNum" idx="22"/>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04286E67-22AB-446E-B61F-3EAFA83C6FF5}"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0"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Docker y AWS EC2</a:t>
            </a:r>
            <a:endParaRPr b="0" lang="es-ES" sz="3400" strike="noStrike" u="none">
              <a:solidFill>
                <a:schemeClr val="dk1"/>
              </a:solidFill>
              <a:effectLst/>
              <a:uFillTx/>
              <a:latin typeface="Calibri"/>
            </a:endParaRPr>
          </a:p>
        </p:txBody>
      </p:sp>
      <p:sp>
        <p:nvSpPr>
          <p:cNvPr id="631"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APP 2 EN CONTENEDORES</a:t>
            </a:r>
            <a:endParaRPr b="0" lang="es-ES" sz="1200" strike="noStrike" u="none">
              <a:solidFill>
                <a:schemeClr val="dk1"/>
              </a:solidFill>
              <a:effectLst/>
              <a:uFillTx/>
              <a:latin typeface="Calibri"/>
            </a:endParaRPr>
          </a:p>
        </p:txBody>
      </p:sp>
      <p:sp>
        <p:nvSpPr>
          <p:cNvPr id="632" name="presenta557"/>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33" name="txt558"/>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Mario Luna</a:t>
            </a:r>
            <a:endParaRPr b="0" lang="es-ES" sz="1100" strike="noStrike" u="none">
              <a:solidFill>
                <a:srgbClr val="ffffff"/>
              </a:solidFill>
              <a:effectLst/>
              <a:uFillTx/>
              <a:latin typeface="Arial"/>
            </a:endParaRPr>
          </a:p>
        </p:txBody>
      </p:sp>
      <p:sp>
        <p:nvSpPr>
          <p:cNvPr id="634" name="card559"/>
          <p:cNvSpPr/>
          <p:nvPr/>
        </p:nvSpPr>
        <p:spPr>
          <a:xfrm>
            <a:off x="548640" y="2377440"/>
            <a:ext cx="1691280" cy="1005480"/>
          </a:xfrm>
          <a:prstGeom prst="roundRect">
            <a:avLst>
              <a:gd name="adj" fmla="val 10909"/>
            </a:avLst>
          </a:prstGeom>
          <a:solidFill>
            <a:schemeClr val="tx2"/>
          </a:solidFill>
          <a:ln w="15875">
            <a:solidFill>
              <a:srgbClr val="ffff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35" name="txt560"/>
          <p:cNvSpPr/>
          <p:nvPr/>
        </p:nvSpPr>
        <p:spPr>
          <a:xfrm>
            <a:off x="621720" y="2377440"/>
            <a:ext cx="1545120" cy="10054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lt1"/>
                </a:solidFill>
                <a:effectLst/>
                <a:uFillTx/>
                <a:latin typeface="Calibri"/>
              </a:rPr>
              <a:t>Navegador</a:t>
            </a:r>
            <a:endParaRPr b="0" lang="es-ES" sz="1400" strike="noStrike" u="none">
              <a:solidFill>
                <a:srgbClr val="ffffff"/>
              </a:solidFill>
              <a:effectLst/>
              <a:uFillTx/>
              <a:latin typeface="Arial"/>
            </a:endParaRPr>
          </a:p>
          <a:p>
            <a:pPr algn="ctr" defTabSz="914400">
              <a:lnSpc>
                <a:spcPct val="100000"/>
              </a:lnSpc>
              <a:tabLst>
                <a:tab algn="l" pos="0"/>
              </a:tabLst>
            </a:pPr>
            <a:r>
              <a:rPr b="0" lang="en-US" sz="1100" strike="noStrike" u="none">
                <a:solidFill>
                  <a:schemeClr val="lt2"/>
                </a:solidFill>
                <a:effectLst/>
                <a:uFillTx/>
                <a:latin typeface="Calibri"/>
              </a:rPr>
              <a:t>otro dispositivo</a:t>
            </a:r>
            <a:endParaRPr b="0" lang="es-ES" sz="1100" strike="noStrike" u="none">
              <a:solidFill>
                <a:srgbClr val="ffffff"/>
              </a:solidFill>
              <a:effectLst/>
              <a:uFillTx/>
              <a:latin typeface="Arial"/>
            </a:endParaRPr>
          </a:p>
        </p:txBody>
      </p:sp>
      <p:sp>
        <p:nvSpPr>
          <p:cNvPr id="636" name="line561"/>
          <p:cNvSpPr/>
          <p:nvPr/>
        </p:nvSpPr>
        <p:spPr>
          <a:xfrm>
            <a:off x="2240280" y="2880360"/>
            <a:ext cx="548640" cy="360"/>
          </a:xfrm>
          <a:prstGeom prst="line">
            <a:avLst/>
          </a:prstGeom>
          <a:ln w="15875">
            <a:solidFill>
              <a:srgbClr val="4fd1e8"/>
            </a:solidFill>
            <a:round/>
            <a:tailEnd len="med" type="triangle" w="med"/>
          </a:ln>
        </p:spPr>
        <p:style>
          <a:lnRef idx="0"/>
          <a:fillRef idx="0"/>
          <a:effectRef idx="0"/>
          <a:fontRef idx="minor"/>
        </p:style>
        <p:txBody>
          <a:bodyPr lIns="90000" rIns="90000" tIns="-44640" bIns="-44640" anchor="t" anchorCtr="1">
            <a:noAutofit/>
          </a:bodyPr>
          <a:p>
            <a:endParaRPr b="0" lang="es-ES" sz="1800" strike="noStrike" u="none">
              <a:solidFill>
                <a:srgbClr val="ffffff"/>
              </a:solidFill>
              <a:effectLst/>
              <a:uFillTx/>
              <a:latin typeface="Arial"/>
            </a:endParaRPr>
          </a:p>
        </p:txBody>
      </p:sp>
      <p:sp>
        <p:nvSpPr>
          <p:cNvPr id="637" name="txt562"/>
          <p:cNvSpPr/>
          <p:nvPr/>
        </p:nvSpPr>
        <p:spPr>
          <a:xfrm>
            <a:off x="2194560" y="2587680"/>
            <a:ext cx="639720" cy="237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tabLst>
                <a:tab algn="l" pos="0"/>
              </a:tabLst>
            </a:pPr>
            <a:r>
              <a:rPr b="1" lang="en-US" sz="1000" strike="noStrike" u="none">
                <a:solidFill>
                  <a:schemeClr val="accent3"/>
                </a:solidFill>
                <a:effectLst/>
                <a:uFillTx/>
                <a:latin typeface="Calibri"/>
              </a:rPr>
              <a:t>HTTPS</a:t>
            </a:r>
            <a:endParaRPr b="0" lang="es-ES" sz="1000" strike="noStrike" u="none">
              <a:solidFill>
                <a:srgbClr val="ffffff"/>
              </a:solidFill>
              <a:effectLst/>
              <a:uFillTx/>
              <a:latin typeface="Arial"/>
            </a:endParaRPr>
          </a:p>
        </p:txBody>
      </p:sp>
      <p:sp>
        <p:nvSpPr>
          <p:cNvPr id="638" name="card563"/>
          <p:cNvSpPr/>
          <p:nvPr/>
        </p:nvSpPr>
        <p:spPr>
          <a:xfrm>
            <a:off x="2788920" y="1371600"/>
            <a:ext cx="4525920" cy="3337200"/>
          </a:xfrm>
          <a:prstGeom prst="roundRect">
            <a:avLst>
              <a:gd name="adj" fmla="val 3288"/>
            </a:avLst>
          </a:prstGeom>
          <a:solidFill>
            <a:schemeClr val="tx1"/>
          </a:solidFill>
          <a:ln w="9525">
            <a:solidFill>
              <a:srgbClr val="4fd1e8"/>
            </a:solidFill>
            <a:prstDash val="dash"/>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39" name="txt564"/>
          <p:cNvSpPr/>
          <p:nvPr/>
        </p:nvSpPr>
        <p:spPr>
          <a:xfrm>
            <a:off x="2971800" y="1444680"/>
            <a:ext cx="420588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200" strike="noStrike" u="none">
                <a:solidFill>
                  <a:schemeClr val="accent3"/>
                </a:solidFill>
                <a:effectLst/>
                <a:uFillTx/>
                <a:latin typeface="Calibri"/>
              </a:rPr>
              <a:t>Instancia EC2 · Linux · docker compose</a:t>
            </a:r>
            <a:endParaRPr b="0" lang="es-ES" sz="1200" strike="noStrike" u="none">
              <a:solidFill>
                <a:srgbClr val="ffffff"/>
              </a:solidFill>
              <a:effectLst/>
              <a:uFillTx/>
              <a:latin typeface="Arial"/>
            </a:endParaRPr>
          </a:p>
        </p:txBody>
      </p:sp>
      <p:sp>
        <p:nvSpPr>
          <p:cNvPr id="640" name="card565"/>
          <p:cNvSpPr/>
          <p:nvPr/>
        </p:nvSpPr>
        <p:spPr>
          <a:xfrm>
            <a:off x="3063240" y="1828800"/>
            <a:ext cx="3977280" cy="1096920"/>
          </a:xfrm>
          <a:prstGeom prst="roundRect">
            <a:avLst>
              <a:gd name="adj" fmla="val 10000"/>
            </a:avLst>
          </a:prstGeom>
          <a:solidFill>
            <a:schemeClr val="tx2"/>
          </a:solidFill>
          <a:ln w="1587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41" name="txt566"/>
          <p:cNvSpPr/>
          <p:nvPr/>
        </p:nvSpPr>
        <p:spPr>
          <a:xfrm>
            <a:off x="3136320" y="1828800"/>
            <a:ext cx="3831120" cy="10969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accent1"/>
                </a:solidFill>
                <a:effectLst/>
                <a:uFillTx/>
                <a:latin typeface="Calibri"/>
              </a:rPr>
              <a:t>web · Caddy</a:t>
            </a:r>
            <a:endParaRPr b="0" lang="es-ES" sz="1400" strike="noStrike" u="none">
              <a:solidFill>
                <a:srgbClr val="ffffff"/>
              </a:solidFill>
              <a:effectLst/>
              <a:uFillTx/>
              <a:latin typeface="Arial"/>
            </a:endParaRPr>
          </a:p>
          <a:p>
            <a:pPr algn="ctr" defTabSz="914400">
              <a:lnSpc>
                <a:spcPct val="100000"/>
              </a:lnSpc>
              <a:tabLst>
                <a:tab algn="l" pos="0"/>
              </a:tabLst>
            </a:pPr>
            <a:r>
              <a:rPr b="0" lang="en-US" sz="1100" strike="noStrike" u="none">
                <a:solidFill>
                  <a:schemeClr val="lt2"/>
                </a:solidFill>
                <a:effectLst/>
                <a:uFillTx/>
                <a:latin typeface="Calibri"/>
              </a:rPr>
              <a:t>sirve el frontend compilado, saca el certificado HTTPS y reenvía /api</a:t>
            </a:r>
            <a:endParaRPr b="0" lang="es-ES" sz="1100" strike="noStrike" u="none">
              <a:solidFill>
                <a:srgbClr val="ffffff"/>
              </a:solidFill>
              <a:effectLst/>
              <a:uFillTx/>
              <a:latin typeface="Arial"/>
            </a:endParaRPr>
          </a:p>
        </p:txBody>
      </p:sp>
      <p:sp>
        <p:nvSpPr>
          <p:cNvPr id="642" name="line567"/>
          <p:cNvSpPr/>
          <p:nvPr/>
        </p:nvSpPr>
        <p:spPr>
          <a:xfrm>
            <a:off x="5047200" y="2926080"/>
            <a:ext cx="360" cy="594360"/>
          </a:xfrm>
          <a:prstGeom prst="line">
            <a:avLst/>
          </a:prstGeom>
          <a:ln w="15875">
            <a:solidFill>
              <a:srgbClr val="a9a9bf"/>
            </a:solidFill>
            <a:round/>
            <a:tailEnd len="med" type="triangle" w="med"/>
          </a:ln>
        </p:spPr>
        <p:style>
          <a:lnRef idx="0"/>
          <a:fillRef idx="0"/>
          <a:effectRef idx="0"/>
          <a:fontRef idx="minor"/>
        </p:style>
        <p:txBody>
          <a:bodyPr lIns="90000" rIns="90000" tIns="45000" bIns="45000" anchor="t" anchorCtr="1">
            <a:noAutofit/>
          </a:bodyPr>
          <a:p>
            <a:endParaRPr b="0" lang="es-ES" sz="1800" strike="noStrike" u="none">
              <a:solidFill>
                <a:srgbClr val="ffffff"/>
              </a:solidFill>
              <a:effectLst/>
              <a:uFillTx/>
              <a:latin typeface="Arial"/>
            </a:endParaRPr>
          </a:p>
        </p:txBody>
      </p:sp>
      <p:sp>
        <p:nvSpPr>
          <p:cNvPr id="643" name="txt568"/>
          <p:cNvSpPr/>
          <p:nvPr/>
        </p:nvSpPr>
        <p:spPr>
          <a:xfrm>
            <a:off x="5166360" y="3090600"/>
            <a:ext cx="2102760" cy="2372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000" strike="noStrike" u="none">
                <a:solidFill>
                  <a:schemeClr val="lt2"/>
                </a:solidFill>
                <a:effectLst/>
                <a:uFillTx/>
                <a:latin typeface="Calibri"/>
              </a:rPr>
              <a:t>/api → api:8000 (red interna)</a:t>
            </a:r>
            <a:endParaRPr b="0" lang="es-ES" sz="1000" strike="noStrike" u="none">
              <a:solidFill>
                <a:srgbClr val="ffffff"/>
              </a:solidFill>
              <a:effectLst/>
              <a:uFillTx/>
              <a:latin typeface="Arial"/>
            </a:endParaRPr>
          </a:p>
        </p:txBody>
      </p:sp>
      <p:sp>
        <p:nvSpPr>
          <p:cNvPr id="644" name="card569"/>
          <p:cNvSpPr/>
          <p:nvPr/>
        </p:nvSpPr>
        <p:spPr>
          <a:xfrm>
            <a:off x="3063240" y="3520440"/>
            <a:ext cx="3977280" cy="959760"/>
          </a:xfrm>
          <a:prstGeom prst="roundRect">
            <a:avLst>
              <a:gd name="adj" fmla="val 11429"/>
            </a:avLst>
          </a:prstGeom>
          <a:solidFill>
            <a:schemeClr val="tx2"/>
          </a:solidFill>
          <a:ln w="15875">
            <a:solidFill>
              <a:srgbClr val="ffffff"/>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45" name="txt570"/>
          <p:cNvSpPr/>
          <p:nvPr/>
        </p:nvSpPr>
        <p:spPr>
          <a:xfrm>
            <a:off x="3136320" y="3520440"/>
            <a:ext cx="3831120" cy="959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lt1"/>
                </a:solidFill>
                <a:effectLst/>
                <a:uFillTx/>
                <a:latin typeface="Calibri"/>
              </a:rPr>
              <a:t>api · FastAPI + Uvicorn</a:t>
            </a:r>
            <a:endParaRPr b="0" lang="es-ES" sz="1400" strike="noStrike" u="none">
              <a:solidFill>
                <a:srgbClr val="ffffff"/>
              </a:solidFill>
              <a:effectLst/>
              <a:uFillTx/>
              <a:latin typeface="Arial"/>
            </a:endParaRPr>
          </a:p>
          <a:p>
            <a:pPr algn="ctr" defTabSz="914400">
              <a:lnSpc>
                <a:spcPct val="100000"/>
              </a:lnSpc>
              <a:tabLst>
                <a:tab algn="l" pos="0"/>
              </a:tabLst>
            </a:pPr>
            <a:r>
              <a:rPr b="0" lang="en-US" sz="1100" strike="noStrike" u="none">
                <a:solidFill>
                  <a:schemeClr val="lt2"/>
                </a:solidFill>
                <a:effectLst/>
                <a:uFillTx/>
                <a:latin typeface="Calibri"/>
              </a:rPr>
              <a:t>puerto 8000 solo dentro de Docker</a:t>
            </a:r>
            <a:endParaRPr b="0" lang="es-ES" sz="1100" strike="noStrike" u="none">
              <a:solidFill>
                <a:srgbClr val="ffffff"/>
              </a:solidFill>
              <a:effectLst/>
              <a:uFillTx/>
              <a:latin typeface="Arial"/>
            </a:endParaRPr>
          </a:p>
        </p:txBody>
      </p:sp>
      <p:sp>
        <p:nvSpPr>
          <p:cNvPr id="646" name="card571"/>
          <p:cNvSpPr/>
          <p:nvPr/>
        </p:nvSpPr>
        <p:spPr>
          <a:xfrm>
            <a:off x="548640" y="4892040"/>
            <a:ext cx="3291480" cy="639720"/>
          </a:xfrm>
          <a:prstGeom prst="roundRect">
            <a:avLst>
              <a:gd name="adj" fmla="val 17143"/>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47" name="txt572"/>
          <p:cNvSpPr/>
          <p:nvPr/>
        </p:nvSpPr>
        <p:spPr>
          <a:xfrm>
            <a:off x="731520" y="4892040"/>
            <a:ext cx="301716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trike="noStrike" u="none">
                <a:solidFill>
                  <a:schemeClr val="accent3"/>
                </a:solidFill>
                <a:effectLst/>
                <a:uFillTx/>
                <a:latin typeface="Calibri"/>
              </a:rPr>
              <a:t>Puertos: </a:t>
            </a:r>
            <a:r>
              <a:rPr b="0" lang="en-US" sz="1200" strike="noStrike" u="none">
                <a:solidFill>
                  <a:schemeClr val="lt2"/>
                </a:solidFill>
                <a:effectLst/>
                <a:uFillTx/>
                <a:latin typeface="Calibri"/>
              </a:rPr>
              <a:t>22 solo desde nuestra IP · 80 y 443</a:t>
            </a:r>
            <a:endParaRPr b="0" lang="es-ES" sz="1200" strike="noStrike" u="none">
              <a:solidFill>
                <a:srgbClr val="ffffff"/>
              </a:solidFill>
              <a:effectLst/>
              <a:uFillTx/>
              <a:latin typeface="Arial"/>
            </a:endParaRPr>
          </a:p>
        </p:txBody>
      </p:sp>
      <p:sp>
        <p:nvSpPr>
          <p:cNvPr id="648" name="card573"/>
          <p:cNvSpPr/>
          <p:nvPr/>
        </p:nvSpPr>
        <p:spPr>
          <a:xfrm>
            <a:off x="4023360" y="4892040"/>
            <a:ext cx="3291480" cy="639720"/>
          </a:xfrm>
          <a:prstGeom prst="roundRect">
            <a:avLst>
              <a:gd name="adj" fmla="val 17143"/>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49" name="txt574"/>
          <p:cNvSpPr/>
          <p:nvPr/>
        </p:nvSpPr>
        <p:spPr>
          <a:xfrm>
            <a:off x="4206240" y="4892040"/>
            <a:ext cx="3017160" cy="6397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trike="noStrike" u="none">
                <a:solidFill>
                  <a:schemeClr val="accent3"/>
                </a:solidFill>
                <a:effectLst/>
                <a:uFillTx/>
                <a:latin typeface="Calibri"/>
              </a:rPr>
              <a:t>Reinicio: </a:t>
            </a:r>
            <a:r>
              <a:rPr b="0" lang="en-US" sz="1200" strike="noStrike" u="none">
                <a:solidFill>
                  <a:schemeClr val="lt2"/>
                </a:solidFill>
                <a:effectLst/>
                <a:uFillTx/>
                <a:latin typeface="Calibri"/>
              </a:rPr>
              <a:t>restart: unless-stopped en los dos contenedores</a:t>
            </a:r>
            <a:endParaRPr b="0" lang="es-ES" sz="1200" strike="noStrike" u="none">
              <a:solidFill>
                <a:srgbClr val="ffffff"/>
              </a:solidFill>
              <a:effectLst/>
              <a:uFillTx/>
              <a:latin typeface="Arial"/>
            </a:endParaRPr>
          </a:p>
        </p:txBody>
      </p:sp>
      <p:sp>
        <p:nvSpPr>
          <p:cNvPr id="650" name="card575"/>
          <p:cNvSpPr/>
          <p:nvPr/>
        </p:nvSpPr>
        <p:spPr>
          <a:xfrm>
            <a:off x="7589520" y="1371600"/>
            <a:ext cx="4068720" cy="1782720"/>
          </a:xfrm>
          <a:prstGeom prst="roundRect">
            <a:avLst>
              <a:gd name="adj" fmla="val 4103"/>
            </a:avLst>
          </a:prstGeom>
          <a:solidFill>
            <a:schemeClr val="tx1"/>
          </a:solidFill>
          <a:ln w="9525">
            <a:solidFill>
              <a:schemeClr val="lt2">
                <a:alpha val="45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51" name="txt576"/>
          <p:cNvSpPr/>
          <p:nvPr/>
        </p:nvSpPr>
        <p:spPr>
          <a:xfrm>
            <a:off x="7772400" y="1508760"/>
            <a:ext cx="3702960" cy="1508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1"/>
                </a:solidFill>
                <a:effectLst/>
                <a:uFillTx/>
                <a:latin typeface="Consolas"/>
                <a:ea typeface="Consolas"/>
              </a:rPr>
              <a:t>docker compose build</a:t>
            </a:r>
            <a:endParaRPr b="0" lang="es-ES" sz="1300" strike="noStrike" u="none">
              <a:solidFill>
                <a:srgbClr val="ffffff"/>
              </a:solidFill>
              <a:effectLst/>
              <a:uFillTx/>
              <a:latin typeface="Arial"/>
            </a:endParaRPr>
          </a:p>
          <a:p>
            <a:pPr defTabSz="914400">
              <a:lnSpc>
                <a:spcPct val="100000"/>
              </a:lnSpc>
              <a:tabLst>
                <a:tab algn="l" pos="0"/>
              </a:tabLst>
            </a:pPr>
            <a:r>
              <a:rPr b="0" lang="en-US" sz="1300" strike="noStrike" u="none">
                <a:solidFill>
                  <a:schemeClr val="lt1"/>
                </a:solidFill>
                <a:effectLst/>
                <a:uFillTx/>
                <a:latin typeface="Consolas"/>
                <a:ea typeface="Consolas"/>
              </a:rPr>
              <a:t>docker compose up -d</a:t>
            </a:r>
            <a:endParaRPr b="0" lang="es-ES" sz="1300" strike="noStrike" u="none">
              <a:solidFill>
                <a:srgbClr val="ffffff"/>
              </a:solidFill>
              <a:effectLst/>
              <a:uFillTx/>
              <a:latin typeface="Arial"/>
            </a:endParaRPr>
          </a:p>
          <a:p>
            <a:pPr defTabSz="914400">
              <a:lnSpc>
                <a:spcPct val="100000"/>
              </a:lnSpc>
              <a:tabLst>
                <a:tab algn="l" pos="0"/>
              </a:tabLst>
            </a:pPr>
            <a:r>
              <a:rPr b="0" lang="en-US" sz="1300" strike="noStrike" u="none">
                <a:solidFill>
                  <a:schemeClr val="lt1"/>
                </a:solidFill>
                <a:effectLst/>
                <a:uFillTx/>
                <a:latin typeface="Consolas"/>
                <a:ea typeface="Consolas"/>
              </a:rPr>
              <a:t>docker compose ps</a:t>
            </a:r>
            <a:endParaRPr b="0" lang="es-ES" sz="1300" strike="noStrike" u="none">
              <a:solidFill>
                <a:srgbClr val="ffffff"/>
              </a:solidFill>
              <a:effectLst/>
              <a:uFillTx/>
              <a:latin typeface="Arial"/>
            </a:endParaRPr>
          </a:p>
          <a:p>
            <a:pPr defTabSz="914400">
              <a:lnSpc>
                <a:spcPct val="100000"/>
              </a:lnSpc>
              <a:tabLst>
                <a:tab algn="l" pos="0"/>
              </a:tabLst>
            </a:pPr>
            <a:r>
              <a:rPr b="0" lang="en-US" sz="1300" strike="noStrike" u="none">
                <a:solidFill>
                  <a:schemeClr val="lt1"/>
                </a:solidFill>
                <a:effectLst/>
                <a:uFillTx/>
                <a:latin typeface="Consolas"/>
                <a:ea typeface="Consolas"/>
              </a:rPr>
              <a:t>docker compose logs</a:t>
            </a:r>
            <a:endParaRPr b="0" lang="es-ES" sz="1300" strike="noStrike" u="none">
              <a:solidFill>
                <a:srgbClr val="ffffff"/>
              </a:solidFill>
              <a:effectLst/>
              <a:uFillTx/>
              <a:latin typeface="Arial"/>
            </a:endParaRPr>
          </a:p>
          <a:p>
            <a:pPr defTabSz="914400">
              <a:lnSpc>
                <a:spcPct val="100000"/>
              </a:lnSpc>
              <a:tabLst>
                <a:tab algn="l" pos="0"/>
              </a:tabLst>
            </a:pPr>
            <a:r>
              <a:rPr b="0" lang="en-US" sz="1300" strike="noStrike" u="none">
                <a:solidFill>
                  <a:schemeClr val="lt1"/>
                </a:solidFill>
                <a:effectLst/>
                <a:uFillTx/>
                <a:latin typeface="Consolas"/>
                <a:ea typeface="Consolas"/>
              </a:rPr>
              <a:t>docker compose down</a:t>
            </a:r>
            <a:endParaRPr b="0" lang="es-ES" sz="1300" strike="noStrike" u="none">
              <a:solidFill>
                <a:srgbClr val="ffffff"/>
              </a:solidFill>
              <a:effectLst/>
              <a:uFillTx/>
              <a:latin typeface="Arial"/>
            </a:endParaRPr>
          </a:p>
        </p:txBody>
      </p:sp>
      <p:sp>
        <p:nvSpPr>
          <p:cNvPr id="652" name="card577"/>
          <p:cNvSpPr/>
          <p:nvPr/>
        </p:nvSpPr>
        <p:spPr>
          <a:xfrm>
            <a:off x="7589520" y="3337560"/>
            <a:ext cx="4068720" cy="2194200"/>
          </a:xfrm>
          <a:prstGeom prst="roundRect">
            <a:avLst>
              <a:gd name="adj" fmla="val 50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53" name="txt578"/>
          <p:cNvSpPr/>
          <p:nvPr/>
        </p:nvSpPr>
        <p:spPr>
          <a:xfrm>
            <a:off x="7818120" y="3474720"/>
            <a:ext cx="3657240" cy="3196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600" strike="noStrike" u="none">
                <a:solidFill>
                  <a:schemeClr val="accent1"/>
                </a:solidFill>
                <a:effectLst/>
                <a:uFillTx/>
                <a:latin typeface="Calibri"/>
              </a:rPr>
              <a:t>Secretos</a:t>
            </a:r>
            <a:endParaRPr b="0" lang="es-ES" sz="1600" strike="noStrike" u="none">
              <a:solidFill>
                <a:srgbClr val="ffffff"/>
              </a:solidFill>
              <a:effectLst/>
              <a:uFillTx/>
              <a:latin typeface="Arial"/>
            </a:endParaRPr>
          </a:p>
        </p:txBody>
      </p:sp>
      <p:sp>
        <p:nvSpPr>
          <p:cNvPr id="654" name="txt579"/>
          <p:cNvSpPr/>
          <p:nvPr/>
        </p:nvSpPr>
        <p:spPr>
          <a:xfrm>
            <a:off x="7818120" y="3886200"/>
            <a:ext cx="3657240" cy="159984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0000"/>
              </a:lnSpc>
              <a:spcAft>
                <a:spcPts val="499"/>
              </a:spcAft>
              <a:buClr>
                <a:srgbClr val="ffffff"/>
              </a:buClr>
              <a:buFont typeface="Symbol" charset="2"/>
              <a:buChar char=""/>
            </a:pPr>
            <a:r>
              <a:rPr b="0" lang="en-US" sz="1200" strike="noStrike" u="none">
                <a:solidFill>
                  <a:schemeClr val="lt1"/>
                </a:solidFill>
                <a:effectLst/>
                <a:uFillTx/>
                <a:latin typeface="Calibri"/>
              </a:rPr>
              <a:t>backend/.env en el servidor, fuera del repositorio.</a:t>
            </a:r>
            <a:endParaRPr b="0" lang="es-ES" sz="1200" strike="noStrike" u="none">
              <a:solidFill>
                <a:srgbClr val="ffffff"/>
              </a:solidFill>
              <a:effectLst/>
              <a:uFillTx/>
              <a:latin typeface="Arial"/>
            </a:endParaRPr>
          </a:p>
          <a:p>
            <a:pPr marL="177840" indent="-177840" defTabSz="914400">
              <a:lnSpc>
                <a:spcPct val="100000"/>
              </a:lnSpc>
              <a:spcAft>
                <a:spcPts val="499"/>
              </a:spcAft>
              <a:buClr>
                <a:srgbClr val="ffffff"/>
              </a:buClr>
              <a:buFont typeface="Symbol" charset="2"/>
              <a:buChar char=""/>
            </a:pPr>
            <a:r>
              <a:rPr b="0" lang="en-US" sz="1200" strike="noStrike" u="none">
                <a:solidFill>
                  <a:schemeClr val="lt1"/>
                </a:solidFill>
                <a:effectLst/>
                <a:uFillTx/>
                <a:latin typeface="Calibri"/>
              </a:rPr>
              <a:t>.dockerignore excluye .env en las dos imágenes.</a:t>
            </a:r>
            <a:endParaRPr b="0" lang="es-ES" sz="1200" strike="noStrike" u="none">
              <a:solidFill>
                <a:srgbClr val="ffffff"/>
              </a:solidFill>
              <a:effectLst/>
              <a:uFillTx/>
              <a:latin typeface="Arial"/>
            </a:endParaRPr>
          </a:p>
          <a:p>
            <a:pPr marL="177840" indent="-177840" defTabSz="914400">
              <a:lnSpc>
                <a:spcPct val="100000"/>
              </a:lnSpc>
              <a:spcAft>
                <a:spcPts val="499"/>
              </a:spcAft>
              <a:buClr>
                <a:srgbClr val="ffffff"/>
              </a:buClr>
              <a:buFont typeface="Symbol" charset="2"/>
              <a:buChar char=""/>
            </a:pPr>
            <a:r>
              <a:rPr b="0" lang="en-US" sz="1200" strike="noStrike" u="none">
                <a:solidFill>
                  <a:schemeClr val="lt1"/>
                </a:solidFill>
                <a:effectLst/>
                <a:uFillTx/>
                <a:latin typeface="Calibri"/>
              </a:rPr>
              <a:t>En la imagen del frontend solo entra la clave publishable de Clerk.</a:t>
            </a:r>
            <a:endParaRPr b="0" lang="es-ES" sz="1200" strike="noStrike" u="none">
              <a:solidFill>
                <a:srgbClr val="ffffff"/>
              </a:solidFill>
              <a:effectLst/>
              <a:uFillTx/>
              <a:latin typeface="Arial"/>
            </a:endParaRPr>
          </a:p>
        </p:txBody>
      </p:sp>
      <p:sp>
        <p:nvSpPr>
          <p:cNvPr id="655" name="cambiar580"/>
          <p:cNvSpPr/>
          <p:nvPr/>
        </p:nvSpPr>
        <p:spPr>
          <a:xfrm>
            <a:off x="548640" y="5669280"/>
            <a:ext cx="11109600" cy="383760"/>
          </a:xfrm>
          <a:prstGeom prst="roundRect">
            <a:avLst>
              <a:gd name="adj" fmla="val 19048"/>
            </a:avLst>
          </a:prstGeom>
          <a:solidFill>
            <a:schemeClr val="accent4"/>
          </a:solidFill>
          <a:ln w="0">
            <a:noFill/>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656" name="txt581"/>
          <p:cNvSpPr/>
          <p:nvPr/>
        </p:nvSpPr>
        <p:spPr>
          <a:xfrm>
            <a:off x="685800" y="5669280"/>
            <a:ext cx="1083528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trike="noStrike" u="none">
                <a:solidFill>
                  <a:schemeClr val="dk1"/>
                </a:solidFill>
                <a:effectLst/>
                <a:uFillTx/>
                <a:latin typeface="Calibri"/>
              </a:rPr>
              <a:t>⚠ CAMBIAR  </a:t>
            </a:r>
            <a:r>
              <a:rPr b="0" lang="en-US" sz="1200" strike="noStrike" u="none">
                <a:solidFill>
                  <a:schemeClr val="dk1"/>
                </a:solidFill>
                <a:effectLst/>
                <a:uFillTx/>
                <a:latin typeface="Calibri"/>
              </a:rPr>
              <a:t>(Mario) URL HTTPS de EC2 · región y tipo de instancia · dominio (p. ej. sslip.io) · captura de la demo funcionando.</a:t>
            </a:r>
            <a:endParaRPr b="0" lang="es-ES" sz="1200" strike="noStrike" u="none">
              <a:solidFill>
                <a:srgbClr val="ffffff"/>
              </a:solidFill>
              <a:effectLst/>
              <a:uFillTx/>
              <a:latin typeface="Arial"/>
            </a:endParaRPr>
          </a:p>
        </p:txBody>
      </p:sp>
      <p:sp>
        <p:nvSpPr>
          <p:cNvPr id="657" name="PlaceHolder 3"/>
          <p:cNvSpPr>
            <a:spLocks noGrp="1"/>
          </p:cNvSpPr>
          <p:nvPr>
            <p:ph type="sldNum" idx="23"/>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BD9E1587-D925-495F-BD85-2BC472E36D11}"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8"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Verificación en producción</a:t>
            </a:r>
            <a:endParaRPr b="0" lang="es-ES" sz="3400" strike="noStrike" u="none">
              <a:solidFill>
                <a:schemeClr val="dk1"/>
              </a:solidFill>
              <a:effectLst/>
              <a:uFillTx/>
              <a:latin typeface="Calibri"/>
            </a:endParaRPr>
          </a:p>
        </p:txBody>
      </p:sp>
      <p:sp>
        <p:nvSpPr>
          <p:cNvPr id="659"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CHECKLIST</a:t>
            </a:r>
            <a:endParaRPr b="0" lang="es-ES" sz="1200" strike="noStrike" u="none">
              <a:solidFill>
                <a:schemeClr val="dk1"/>
              </a:solidFill>
              <a:effectLst/>
              <a:uFillTx/>
              <a:latin typeface="Calibri"/>
            </a:endParaRPr>
          </a:p>
        </p:txBody>
      </p:sp>
      <p:sp>
        <p:nvSpPr>
          <p:cNvPr id="660" name="presenta582"/>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61" name="txt583"/>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Mario Luna</a:t>
            </a:r>
            <a:endParaRPr b="0" lang="es-ES" sz="1100" strike="noStrike" u="none">
              <a:solidFill>
                <a:srgbClr val="ffffff"/>
              </a:solidFill>
              <a:effectLst/>
              <a:uFillTx/>
              <a:latin typeface="Arial"/>
            </a:endParaRPr>
          </a:p>
        </p:txBody>
      </p:sp>
      <p:sp>
        <p:nvSpPr>
          <p:cNvPr id="662" name="card584"/>
          <p:cNvSpPr/>
          <p:nvPr/>
        </p:nvSpPr>
        <p:spPr>
          <a:xfrm>
            <a:off x="548640" y="1371600"/>
            <a:ext cx="3611520" cy="2194200"/>
          </a:xfrm>
          <a:prstGeom prst="roundRect">
            <a:avLst>
              <a:gd name="adj" fmla="val 5000"/>
            </a:avLst>
          </a:prstGeom>
          <a:solidFill>
            <a:schemeClr val="tx2"/>
          </a:solidFill>
          <a:ln w="9525">
            <a:solidFill>
              <a:schemeClr val="accent6">
                <a:alpha val="4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63" name="badge585"/>
          <p:cNvSpPr/>
          <p:nvPr/>
        </p:nvSpPr>
        <p:spPr>
          <a:xfrm>
            <a:off x="777240" y="1600200"/>
            <a:ext cx="438480" cy="411120"/>
          </a:xfrm>
          <a:prstGeom prst="roundRect">
            <a:avLst>
              <a:gd name="adj" fmla="val 17778"/>
            </a:avLst>
          </a:prstGeom>
          <a:solidFill>
            <a:schemeClr val="accent6"/>
          </a:solidFill>
          <a:ln w="0">
            <a:noFill/>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664" name="txt586"/>
          <p:cNvSpPr/>
          <p:nvPr/>
        </p:nvSpPr>
        <p:spPr>
          <a:xfrm>
            <a:off x="777240" y="1600200"/>
            <a:ext cx="43848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chemeClr val="dk1"/>
                </a:solidFill>
                <a:effectLst/>
                <a:uFillTx/>
                <a:latin typeface="Calibri"/>
              </a:rPr>
              <a:t>✓</a:t>
            </a:r>
            <a:endParaRPr b="0" lang="es-ES" sz="1800" strike="noStrike" u="none">
              <a:solidFill>
                <a:srgbClr val="ffffff"/>
              </a:solidFill>
              <a:effectLst/>
              <a:uFillTx/>
              <a:latin typeface="Arial"/>
            </a:endParaRPr>
          </a:p>
        </p:txBody>
      </p:sp>
      <p:sp>
        <p:nvSpPr>
          <p:cNvPr id="665" name="txt587"/>
          <p:cNvSpPr/>
          <p:nvPr/>
        </p:nvSpPr>
        <p:spPr>
          <a:xfrm>
            <a:off x="822960" y="2194560"/>
            <a:ext cx="3108600" cy="548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600" strike="noStrike" u="none">
                <a:solidFill>
                  <a:schemeClr val="lt1"/>
                </a:solidFill>
                <a:effectLst/>
                <a:uFillTx/>
                <a:latin typeface="Calibri"/>
              </a:rPr>
              <a:t>App 1 en Vercel</a:t>
            </a:r>
            <a:endParaRPr b="0" lang="es-ES" sz="1600" strike="noStrike" u="none">
              <a:solidFill>
                <a:srgbClr val="ffffff"/>
              </a:solidFill>
              <a:effectLst/>
              <a:uFillTx/>
              <a:latin typeface="Arial"/>
            </a:endParaRPr>
          </a:p>
        </p:txBody>
      </p:sp>
      <p:sp>
        <p:nvSpPr>
          <p:cNvPr id="666" name="txt588"/>
          <p:cNvSpPr/>
          <p:nvPr/>
        </p:nvSpPr>
        <p:spPr>
          <a:xfrm>
            <a:off x="822960" y="2743200"/>
            <a:ext cx="3108600" cy="776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trike="noStrike" u="none">
                <a:solidFill>
                  <a:schemeClr val="lt2"/>
                </a:solidFill>
                <a:effectLst/>
                <a:uFillTx/>
                <a:latin typeface="Calibri"/>
              </a:rPr>
              <a:t>Caso válido 200 y error 422 desde la URL pública (19/10).</a:t>
            </a:r>
            <a:endParaRPr b="0" lang="es-ES" sz="1200" strike="noStrike" u="none">
              <a:solidFill>
                <a:srgbClr val="ffffff"/>
              </a:solidFill>
              <a:effectLst/>
              <a:uFillTx/>
              <a:latin typeface="Arial"/>
            </a:endParaRPr>
          </a:p>
        </p:txBody>
      </p:sp>
      <p:sp>
        <p:nvSpPr>
          <p:cNvPr id="667" name="card589"/>
          <p:cNvSpPr/>
          <p:nvPr/>
        </p:nvSpPr>
        <p:spPr>
          <a:xfrm>
            <a:off x="4343400" y="1371600"/>
            <a:ext cx="3611520" cy="2194200"/>
          </a:xfrm>
          <a:prstGeom prst="roundRect">
            <a:avLst>
              <a:gd name="adj" fmla="val 5000"/>
            </a:avLst>
          </a:prstGeom>
          <a:solidFill>
            <a:schemeClr val="tx2"/>
          </a:solidFill>
          <a:ln w="9525">
            <a:solidFill>
              <a:schemeClr val="accent6">
                <a:alpha val="4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68" name="badge590"/>
          <p:cNvSpPr/>
          <p:nvPr/>
        </p:nvSpPr>
        <p:spPr>
          <a:xfrm>
            <a:off x="4572000" y="1600200"/>
            <a:ext cx="438480" cy="411120"/>
          </a:xfrm>
          <a:prstGeom prst="roundRect">
            <a:avLst>
              <a:gd name="adj" fmla="val 17778"/>
            </a:avLst>
          </a:prstGeom>
          <a:solidFill>
            <a:schemeClr val="accent6"/>
          </a:solidFill>
          <a:ln w="0">
            <a:noFill/>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669" name="txt591"/>
          <p:cNvSpPr/>
          <p:nvPr/>
        </p:nvSpPr>
        <p:spPr>
          <a:xfrm>
            <a:off x="4572000" y="1600200"/>
            <a:ext cx="43848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chemeClr val="dk1"/>
                </a:solidFill>
                <a:effectLst/>
                <a:uFillTx/>
                <a:latin typeface="Calibri"/>
              </a:rPr>
              <a:t>✓</a:t>
            </a:r>
            <a:endParaRPr b="0" lang="es-ES" sz="1800" strike="noStrike" u="none">
              <a:solidFill>
                <a:srgbClr val="ffffff"/>
              </a:solidFill>
              <a:effectLst/>
              <a:uFillTx/>
              <a:latin typeface="Arial"/>
            </a:endParaRPr>
          </a:p>
        </p:txBody>
      </p:sp>
      <p:sp>
        <p:nvSpPr>
          <p:cNvPr id="670" name="txt592"/>
          <p:cNvSpPr/>
          <p:nvPr/>
        </p:nvSpPr>
        <p:spPr>
          <a:xfrm>
            <a:off x="4617720" y="2194560"/>
            <a:ext cx="3108600" cy="548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600" strike="noStrike" u="none">
                <a:solidFill>
                  <a:schemeClr val="lt1"/>
                </a:solidFill>
                <a:effectLst/>
                <a:uFillTx/>
                <a:latin typeface="Calibri"/>
              </a:rPr>
              <a:t>App 2 en Vercel</a:t>
            </a:r>
            <a:endParaRPr b="0" lang="es-ES" sz="1600" strike="noStrike" u="none">
              <a:solidFill>
                <a:srgbClr val="ffffff"/>
              </a:solidFill>
              <a:effectLst/>
              <a:uFillTx/>
              <a:latin typeface="Arial"/>
            </a:endParaRPr>
          </a:p>
        </p:txBody>
      </p:sp>
      <p:sp>
        <p:nvSpPr>
          <p:cNvPr id="671" name="txt593"/>
          <p:cNvSpPr/>
          <p:nvPr/>
        </p:nvSpPr>
        <p:spPr>
          <a:xfrm>
            <a:off x="4617720" y="2743200"/>
            <a:ext cx="3108600" cy="776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trike="noStrike" u="none">
                <a:solidFill>
                  <a:schemeClr val="lt2"/>
                </a:solidFill>
                <a:effectLst/>
                <a:uFillTx/>
                <a:latin typeface="Calibri"/>
              </a:rPr>
              <a:t>Con sesión: recomendaciones. Sin token: 401 NO_AUTORIZADO (28/10).</a:t>
            </a:r>
            <a:endParaRPr b="0" lang="es-ES" sz="1200" strike="noStrike" u="none">
              <a:solidFill>
                <a:srgbClr val="ffffff"/>
              </a:solidFill>
              <a:effectLst/>
              <a:uFillTx/>
              <a:latin typeface="Arial"/>
            </a:endParaRPr>
          </a:p>
        </p:txBody>
      </p:sp>
      <p:sp>
        <p:nvSpPr>
          <p:cNvPr id="672" name="card594"/>
          <p:cNvSpPr/>
          <p:nvPr/>
        </p:nvSpPr>
        <p:spPr>
          <a:xfrm>
            <a:off x="8138160" y="1371600"/>
            <a:ext cx="3611520" cy="2194200"/>
          </a:xfrm>
          <a:prstGeom prst="roundRect">
            <a:avLst>
              <a:gd name="adj" fmla="val 5000"/>
            </a:avLst>
          </a:prstGeom>
          <a:solidFill>
            <a:schemeClr val="tx2"/>
          </a:solidFill>
          <a:ln w="9525">
            <a:solidFill>
              <a:schemeClr val="accent6">
                <a:alpha val="40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73" name="badge595"/>
          <p:cNvSpPr/>
          <p:nvPr/>
        </p:nvSpPr>
        <p:spPr>
          <a:xfrm>
            <a:off x="8366760" y="1600200"/>
            <a:ext cx="438480" cy="411120"/>
          </a:xfrm>
          <a:prstGeom prst="roundRect">
            <a:avLst>
              <a:gd name="adj" fmla="val 17778"/>
            </a:avLst>
          </a:prstGeom>
          <a:solidFill>
            <a:schemeClr val="accent6"/>
          </a:solidFill>
          <a:ln w="0">
            <a:noFill/>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674" name="txt596"/>
          <p:cNvSpPr/>
          <p:nvPr/>
        </p:nvSpPr>
        <p:spPr>
          <a:xfrm>
            <a:off x="8366760" y="1600200"/>
            <a:ext cx="43848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chemeClr val="dk1"/>
                </a:solidFill>
                <a:effectLst/>
                <a:uFillTx/>
                <a:latin typeface="Calibri"/>
              </a:rPr>
              <a:t>✓</a:t>
            </a:r>
            <a:endParaRPr b="0" lang="es-ES" sz="1800" strike="noStrike" u="none">
              <a:solidFill>
                <a:srgbClr val="ffffff"/>
              </a:solidFill>
              <a:effectLst/>
              <a:uFillTx/>
              <a:latin typeface="Arial"/>
            </a:endParaRPr>
          </a:p>
        </p:txBody>
      </p:sp>
      <p:sp>
        <p:nvSpPr>
          <p:cNvPr id="675" name="txt597"/>
          <p:cNvSpPr/>
          <p:nvPr/>
        </p:nvSpPr>
        <p:spPr>
          <a:xfrm>
            <a:off x="8412480" y="2194560"/>
            <a:ext cx="3108600" cy="548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600" strike="noStrike" u="none">
                <a:solidFill>
                  <a:schemeClr val="lt1"/>
                </a:solidFill>
                <a:effectLst/>
                <a:uFillTx/>
                <a:latin typeface="Calibri"/>
              </a:rPr>
              <a:t>Sin claves expuestas</a:t>
            </a:r>
            <a:endParaRPr b="0" lang="es-ES" sz="1600" strike="noStrike" u="none">
              <a:solidFill>
                <a:srgbClr val="ffffff"/>
              </a:solidFill>
              <a:effectLst/>
              <a:uFillTx/>
              <a:latin typeface="Arial"/>
            </a:endParaRPr>
          </a:p>
        </p:txBody>
      </p:sp>
      <p:sp>
        <p:nvSpPr>
          <p:cNvPr id="676" name="txt598"/>
          <p:cNvSpPr/>
          <p:nvPr/>
        </p:nvSpPr>
        <p:spPr>
          <a:xfrm>
            <a:off x="8412480" y="2743200"/>
            <a:ext cx="3108600" cy="776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trike="noStrike" u="none">
                <a:solidFill>
                  <a:schemeClr val="lt2"/>
                </a:solidFill>
                <a:effectLst/>
                <a:uFillTx/>
                <a:latin typeface="Calibri"/>
              </a:rPr>
              <a:t>Solo .env.example en Git; la clave no está en el frontend compilado ni en el historial.</a:t>
            </a:r>
            <a:endParaRPr b="0" lang="es-ES" sz="1200" strike="noStrike" u="none">
              <a:solidFill>
                <a:srgbClr val="ffffff"/>
              </a:solidFill>
              <a:effectLst/>
              <a:uFillTx/>
              <a:latin typeface="Arial"/>
            </a:endParaRPr>
          </a:p>
        </p:txBody>
      </p:sp>
      <p:sp>
        <p:nvSpPr>
          <p:cNvPr id="677" name="card599"/>
          <p:cNvSpPr/>
          <p:nvPr/>
        </p:nvSpPr>
        <p:spPr>
          <a:xfrm>
            <a:off x="548640" y="3749040"/>
            <a:ext cx="3611520" cy="2194200"/>
          </a:xfrm>
          <a:prstGeom prst="roundRect">
            <a:avLst>
              <a:gd name="adj" fmla="val 5000"/>
            </a:avLst>
          </a:prstGeom>
          <a:solidFill>
            <a:schemeClr val="tx2"/>
          </a:solidFill>
          <a:ln w="9525">
            <a:solidFill>
              <a:srgbClr val="f5b84b"/>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78" name="badge600"/>
          <p:cNvSpPr/>
          <p:nvPr/>
        </p:nvSpPr>
        <p:spPr>
          <a:xfrm>
            <a:off x="777240" y="3977640"/>
            <a:ext cx="438480" cy="411120"/>
          </a:xfrm>
          <a:prstGeom prst="roundRect">
            <a:avLst>
              <a:gd name="adj" fmla="val 17778"/>
            </a:avLst>
          </a:prstGeom>
          <a:solidFill>
            <a:schemeClr val="accent4"/>
          </a:solidFill>
          <a:ln w="0">
            <a:noFill/>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679" name="txt601"/>
          <p:cNvSpPr/>
          <p:nvPr/>
        </p:nvSpPr>
        <p:spPr>
          <a:xfrm>
            <a:off x="777240" y="3977640"/>
            <a:ext cx="43848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chemeClr val="dk1"/>
                </a:solidFill>
                <a:effectLst/>
                <a:uFillTx/>
                <a:latin typeface="Calibri"/>
              </a:rPr>
              <a:t>!</a:t>
            </a:r>
            <a:endParaRPr b="0" lang="es-ES" sz="1800" strike="noStrike" u="none">
              <a:solidFill>
                <a:srgbClr val="ffffff"/>
              </a:solidFill>
              <a:effectLst/>
              <a:uFillTx/>
              <a:latin typeface="Arial"/>
            </a:endParaRPr>
          </a:p>
        </p:txBody>
      </p:sp>
      <p:sp>
        <p:nvSpPr>
          <p:cNvPr id="680" name="txt602"/>
          <p:cNvSpPr/>
          <p:nvPr/>
        </p:nvSpPr>
        <p:spPr>
          <a:xfrm>
            <a:off x="2926080" y="4023360"/>
            <a:ext cx="1005480" cy="3196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1100" strike="noStrike" u="none">
                <a:solidFill>
                  <a:schemeClr val="accent4"/>
                </a:solidFill>
                <a:effectLst/>
                <a:uFillTx/>
                <a:latin typeface="Calibri"/>
              </a:rPr>
              <a:t>CAMBIAR</a:t>
            </a:r>
            <a:endParaRPr b="0" lang="es-ES" sz="1100" strike="noStrike" u="none">
              <a:solidFill>
                <a:srgbClr val="ffffff"/>
              </a:solidFill>
              <a:effectLst/>
              <a:uFillTx/>
              <a:latin typeface="Arial"/>
            </a:endParaRPr>
          </a:p>
        </p:txBody>
      </p:sp>
      <p:sp>
        <p:nvSpPr>
          <p:cNvPr id="681" name="txt603"/>
          <p:cNvSpPr/>
          <p:nvPr/>
        </p:nvSpPr>
        <p:spPr>
          <a:xfrm>
            <a:off x="822960" y="4572000"/>
            <a:ext cx="3108600" cy="548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600" strike="noStrike" u="none">
                <a:solidFill>
                  <a:schemeClr val="lt1"/>
                </a:solidFill>
                <a:effectLst/>
                <a:uFillTx/>
                <a:latin typeface="Calibri"/>
              </a:rPr>
              <a:t>Claves en las imágenes Docker</a:t>
            </a:r>
            <a:endParaRPr b="0" lang="es-ES" sz="1600" strike="noStrike" u="none">
              <a:solidFill>
                <a:srgbClr val="ffffff"/>
              </a:solidFill>
              <a:effectLst/>
              <a:uFillTx/>
              <a:latin typeface="Arial"/>
            </a:endParaRPr>
          </a:p>
        </p:txBody>
      </p:sp>
      <p:sp>
        <p:nvSpPr>
          <p:cNvPr id="682" name="txt604"/>
          <p:cNvSpPr/>
          <p:nvPr/>
        </p:nvSpPr>
        <p:spPr>
          <a:xfrm>
            <a:off x="822960" y="5120640"/>
            <a:ext cx="3108600" cy="776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trike="noStrike" u="none">
                <a:solidFill>
                  <a:schemeClr val="lt2"/>
                </a:solidFill>
                <a:effectLst/>
                <a:uFillTx/>
                <a:latin typeface="Calibri"/>
              </a:rPr>
              <a:t>PR-14: revisar que las imágenes no contienen la clave de Gemini.</a:t>
            </a:r>
            <a:endParaRPr b="0" lang="es-ES" sz="1200" strike="noStrike" u="none">
              <a:solidFill>
                <a:srgbClr val="ffffff"/>
              </a:solidFill>
              <a:effectLst/>
              <a:uFillTx/>
              <a:latin typeface="Arial"/>
            </a:endParaRPr>
          </a:p>
        </p:txBody>
      </p:sp>
      <p:sp>
        <p:nvSpPr>
          <p:cNvPr id="683" name="card605"/>
          <p:cNvSpPr/>
          <p:nvPr/>
        </p:nvSpPr>
        <p:spPr>
          <a:xfrm>
            <a:off x="4343400" y="3749040"/>
            <a:ext cx="3611520" cy="2194200"/>
          </a:xfrm>
          <a:prstGeom prst="roundRect">
            <a:avLst>
              <a:gd name="adj" fmla="val 5000"/>
            </a:avLst>
          </a:prstGeom>
          <a:solidFill>
            <a:schemeClr val="tx2"/>
          </a:solidFill>
          <a:ln w="9525">
            <a:solidFill>
              <a:srgbClr val="f5b84b"/>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84" name="badge606"/>
          <p:cNvSpPr/>
          <p:nvPr/>
        </p:nvSpPr>
        <p:spPr>
          <a:xfrm>
            <a:off x="4572000" y="3977640"/>
            <a:ext cx="438480" cy="411120"/>
          </a:xfrm>
          <a:prstGeom prst="roundRect">
            <a:avLst>
              <a:gd name="adj" fmla="val 17778"/>
            </a:avLst>
          </a:prstGeom>
          <a:solidFill>
            <a:schemeClr val="accent4"/>
          </a:solidFill>
          <a:ln w="0">
            <a:noFill/>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685" name="txt607"/>
          <p:cNvSpPr/>
          <p:nvPr/>
        </p:nvSpPr>
        <p:spPr>
          <a:xfrm>
            <a:off x="4572000" y="3977640"/>
            <a:ext cx="43848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chemeClr val="dk1"/>
                </a:solidFill>
                <a:effectLst/>
                <a:uFillTx/>
                <a:latin typeface="Calibri"/>
              </a:rPr>
              <a:t>!</a:t>
            </a:r>
            <a:endParaRPr b="0" lang="es-ES" sz="1800" strike="noStrike" u="none">
              <a:solidFill>
                <a:srgbClr val="ffffff"/>
              </a:solidFill>
              <a:effectLst/>
              <a:uFillTx/>
              <a:latin typeface="Arial"/>
            </a:endParaRPr>
          </a:p>
        </p:txBody>
      </p:sp>
      <p:sp>
        <p:nvSpPr>
          <p:cNvPr id="686" name="txt608"/>
          <p:cNvSpPr/>
          <p:nvPr/>
        </p:nvSpPr>
        <p:spPr>
          <a:xfrm>
            <a:off x="6720840" y="4023360"/>
            <a:ext cx="1005480" cy="3196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1100" strike="noStrike" u="none">
                <a:solidFill>
                  <a:schemeClr val="accent4"/>
                </a:solidFill>
                <a:effectLst/>
                <a:uFillTx/>
                <a:latin typeface="Calibri"/>
              </a:rPr>
              <a:t>CAMBIAR</a:t>
            </a:r>
            <a:endParaRPr b="0" lang="es-ES" sz="1100" strike="noStrike" u="none">
              <a:solidFill>
                <a:srgbClr val="ffffff"/>
              </a:solidFill>
              <a:effectLst/>
              <a:uFillTx/>
              <a:latin typeface="Arial"/>
            </a:endParaRPr>
          </a:p>
        </p:txBody>
      </p:sp>
      <p:sp>
        <p:nvSpPr>
          <p:cNvPr id="687" name="txt609"/>
          <p:cNvSpPr/>
          <p:nvPr/>
        </p:nvSpPr>
        <p:spPr>
          <a:xfrm>
            <a:off x="4617720" y="4572000"/>
            <a:ext cx="3108600" cy="548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600" strike="noStrike" u="none">
                <a:solidFill>
                  <a:schemeClr val="lt1"/>
                </a:solidFill>
                <a:effectLst/>
                <a:uFillTx/>
                <a:latin typeface="Calibri"/>
              </a:rPr>
              <a:t>EC2 desde otro dispositivo</a:t>
            </a:r>
            <a:endParaRPr b="0" lang="es-ES" sz="1600" strike="noStrike" u="none">
              <a:solidFill>
                <a:srgbClr val="ffffff"/>
              </a:solidFill>
              <a:effectLst/>
              <a:uFillTx/>
              <a:latin typeface="Arial"/>
            </a:endParaRPr>
          </a:p>
        </p:txBody>
      </p:sp>
      <p:sp>
        <p:nvSpPr>
          <p:cNvPr id="688" name="txt610"/>
          <p:cNvSpPr/>
          <p:nvPr/>
        </p:nvSpPr>
        <p:spPr>
          <a:xfrm>
            <a:off x="4617720" y="5120640"/>
            <a:ext cx="3108600" cy="776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trike="noStrike" u="none">
                <a:solidFill>
                  <a:schemeClr val="lt2"/>
                </a:solidFill>
                <a:effectLst/>
                <a:uFillTx/>
                <a:latin typeface="Calibri"/>
              </a:rPr>
              <a:t>PR-23: acceso con Clerk, caso válido, error y reinicio de contenedores.</a:t>
            </a:r>
            <a:endParaRPr b="0" lang="es-ES" sz="1200" strike="noStrike" u="none">
              <a:solidFill>
                <a:srgbClr val="ffffff"/>
              </a:solidFill>
              <a:effectLst/>
              <a:uFillTx/>
              <a:latin typeface="Arial"/>
            </a:endParaRPr>
          </a:p>
        </p:txBody>
      </p:sp>
      <p:sp>
        <p:nvSpPr>
          <p:cNvPr id="689" name="card611"/>
          <p:cNvSpPr/>
          <p:nvPr/>
        </p:nvSpPr>
        <p:spPr>
          <a:xfrm>
            <a:off x="8138160" y="3749040"/>
            <a:ext cx="3611520" cy="2194200"/>
          </a:xfrm>
          <a:prstGeom prst="roundRect">
            <a:avLst>
              <a:gd name="adj" fmla="val 5000"/>
            </a:avLst>
          </a:prstGeom>
          <a:solidFill>
            <a:schemeClr val="tx2"/>
          </a:solidFill>
          <a:ln w="9525">
            <a:solidFill>
              <a:srgbClr val="f5b84b"/>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90" name="badge612"/>
          <p:cNvSpPr/>
          <p:nvPr/>
        </p:nvSpPr>
        <p:spPr>
          <a:xfrm>
            <a:off x="8366760" y="3977640"/>
            <a:ext cx="438480" cy="411120"/>
          </a:xfrm>
          <a:prstGeom prst="roundRect">
            <a:avLst>
              <a:gd name="adj" fmla="val 17778"/>
            </a:avLst>
          </a:prstGeom>
          <a:solidFill>
            <a:schemeClr val="accent4"/>
          </a:solidFill>
          <a:ln w="0">
            <a:noFill/>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691" name="txt613"/>
          <p:cNvSpPr/>
          <p:nvPr/>
        </p:nvSpPr>
        <p:spPr>
          <a:xfrm>
            <a:off x="8366760" y="3977640"/>
            <a:ext cx="438480" cy="411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800" strike="noStrike" u="none">
                <a:solidFill>
                  <a:schemeClr val="dk1"/>
                </a:solidFill>
                <a:effectLst/>
                <a:uFillTx/>
                <a:latin typeface="Calibri"/>
              </a:rPr>
              <a:t>!</a:t>
            </a:r>
            <a:endParaRPr b="0" lang="es-ES" sz="1800" strike="noStrike" u="none">
              <a:solidFill>
                <a:srgbClr val="ffffff"/>
              </a:solidFill>
              <a:effectLst/>
              <a:uFillTx/>
              <a:latin typeface="Arial"/>
            </a:endParaRPr>
          </a:p>
        </p:txBody>
      </p:sp>
      <p:sp>
        <p:nvSpPr>
          <p:cNvPr id="692" name="txt614"/>
          <p:cNvSpPr/>
          <p:nvPr/>
        </p:nvSpPr>
        <p:spPr>
          <a:xfrm>
            <a:off x="10515600" y="4023360"/>
            <a:ext cx="1005480" cy="31968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1100" strike="noStrike" u="none">
                <a:solidFill>
                  <a:schemeClr val="accent4"/>
                </a:solidFill>
                <a:effectLst/>
                <a:uFillTx/>
                <a:latin typeface="Calibri"/>
              </a:rPr>
              <a:t>CAMBIAR</a:t>
            </a:r>
            <a:endParaRPr b="0" lang="es-ES" sz="1100" strike="noStrike" u="none">
              <a:solidFill>
                <a:srgbClr val="ffffff"/>
              </a:solidFill>
              <a:effectLst/>
              <a:uFillTx/>
              <a:latin typeface="Arial"/>
            </a:endParaRPr>
          </a:p>
        </p:txBody>
      </p:sp>
      <p:sp>
        <p:nvSpPr>
          <p:cNvPr id="693" name="txt615"/>
          <p:cNvSpPr/>
          <p:nvPr/>
        </p:nvSpPr>
        <p:spPr>
          <a:xfrm>
            <a:off x="8412480" y="4572000"/>
            <a:ext cx="3108600" cy="5482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1600" strike="noStrike" u="none">
                <a:solidFill>
                  <a:schemeClr val="lt1"/>
                </a:solidFill>
                <a:effectLst/>
                <a:uFillTx/>
                <a:latin typeface="Calibri"/>
              </a:rPr>
              <a:t>Sin datos tras reiniciar y AWS retirado</a:t>
            </a:r>
            <a:endParaRPr b="0" lang="es-ES" sz="1600" strike="noStrike" u="none">
              <a:solidFill>
                <a:srgbClr val="ffffff"/>
              </a:solidFill>
              <a:effectLst/>
              <a:uFillTx/>
              <a:latin typeface="Arial"/>
            </a:endParaRPr>
          </a:p>
        </p:txBody>
      </p:sp>
      <p:sp>
        <p:nvSpPr>
          <p:cNvPr id="694" name="txt616"/>
          <p:cNvSpPr/>
          <p:nvPr/>
        </p:nvSpPr>
        <p:spPr>
          <a:xfrm>
            <a:off x="8412480" y="5120640"/>
            <a:ext cx="3108600" cy="776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200" strike="noStrike" u="none">
                <a:solidFill>
                  <a:schemeClr val="lt2"/>
                </a:solidFill>
                <a:effectLst/>
                <a:uFillTx/>
                <a:latin typeface="Calibri"/>
              </a:rPr>
              <a:t>PR-15: docker compose down / up. Borrar los recursos al acabar.</a:t>
            </a:r>
            <a:endParaRPr b="0" lang="es-ES" sz="1200" strike="noStrike" u="none">
              <a:solidFill>
                <a:srgbClr val="ffffff"/>
              </a:solidFill>
              <a:effectLst/>
              <a:uFillTx/>
              <a:latin typeface="Arial"/>
            </a:endParaRPr>
          </a:p>
        </p:txBody>
      </p:sp>
      <p:sp>
        <p:nvSpPr>
          <p:cNvPr id="695" name="PlaceHolder 3"/>
          <p:cNvSpPr>
            <a:spLocks noGrp="1"/>
          </p:cNvSpPr>
          <p:nvPr>
            <p:ph type="sldNum" idx="24"/>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FB2D0EFA-DDE0-4400-AC6D-3AD1C1538857}"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6"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Comparativa App 1 y App 2</a:t>
            </a:r>
            <a:endParaRPr b="0" lang="es-ES" sz="3400" strike="noStrike" u="none">
              <a:solidFill>
                <a:schemeClr val="dk1"/>
              </a:solidFill>
              <a:effectLst/>
              <a:uFillTx/>
              <a:latin typeface="Calibri"/>
            </a:endParaRPr>
          </a:p>
        </p:txBody>
      </p:sp>
      <p:sp>
        <p:nvSpPr>
          <p:cNvPr id="697"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MISMOS ESCENARIOS</a:t>
            </a:r>
            <a:endParaRPr b="0" lang="es-ES" sz="1200" strike="noStrike" u="none">
              <a:solidFill>
                <a:schemeClr val="dk1"/>
              </a:solidFill>
              <a:effectLst/>
              <a:uFillTx/>
              <a:latin typeface="Calibri"/>
            </a:endParaRPr>
          </a:p>
        </p:txBody>
      </p:sp>
      <p:sp>
        <p:nvSpPr>
          <p:cNvPr id="698" name="presenta617"/>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699" name="txt618"/>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David Molina</a:t>
            </a:r>
            <a:endParaRPr b="0" lang="es-ES" sz="1100" strike="noStrike" u="none">
              <a:solidFill>
                <a:srgbClr val="ffffff"/>
              </a:solidFill>
              <a:effectLst/>
              <a:uFillTx/>
              <a:latin typeface="Arial"/>
            </a:endParaRPr>
          </a:p>
        </p:txBody>
      </p:sp>
      <p:sp>
        <p:nvSpPr>
          <p:cNvPr id="700" name="card619"/>
          <p:cNvSpPr/>
          <p:nvPr/>
        </p:nvSpPr>
        <p:spPr>
          <a:xfrm>
            <a:off x="548640" y="1371600"/>
            <a:ext cx="3565800" cy="1142640"/>
          </a:xfrm>
          <a:prstGeom prst="roundRect">
            <a:avLst>
              <a:gd name="adj" fmla="val 96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01" name="txt620"/>
          <p:cNvSpPr/>
          <p:nvPr/>
        </p:nvSpPr>
        <p:spPr>
          <a:xfrm>
            <a:off x="777240" y="1481400"/>
            <a:ext cx="3108600" cy="6282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chemeClr val="accent1"/>
                </a:solidFill>
                <a:effectLst/>
                <a:uFillTx/>
                <a:latin typeface="Calibri"/>
              </a:rPr>
              <a:t>12 → 59</a:t>
            </a:r>
            <a:endParaRPr b="0" lang="es-ES" sz="3400" strike="noStrike" u="none">
              <a:solidFill>
                <a:srgbClr val="ffffff"/>
              </a:solidFill>
              <a:effectLst/>
              <a:uFillTx/>
              <a:latin typeface="Arial"/>
            </a:endParaRPr>
          </a:p>
        </p:txBody>
      </p:sp>
      <p:sp>
        <p:nvSpPr>
          <p:cNvPr id="702" name="txt621"/>
          <p:cNvSpPr/>
          <p:nvPr/>
        </p:nvSpPr>
        <p:spPr>
          <a:xfrm>
            <a:off x="777240" y="2057400"/>
            <a:ext cx="310860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pruebas automáticas</a:t>
            </a:r>
            <a:endParaRPr b="0" lang="es-ES" sz="1300" strike="noStrike" u="none">
              <a:solidFill>
                <a:srgbClr val="ffffff"/>
              </a:solidFill>
              <a:effectLst/>
              <a:uFillTx/>
              <a:latin typeface="Arial"/>
            </a:endParaRPr>
          </a:p>
        </p:txBody>
      </p:sp>
      <p:sp>
        <p:nvSpPr>
          <p:cNvPr id="703" name="card622"/>
          <p:cNvSpPr/>
          <p:nvPr/>
        </p:nvSpPr>
        <p:spPr>
          <a:xfrm>
            <a:off x="4316040" y="1371600"/>
            <a:ext cx="3565800" cy="1142640"/>
          </a:xfrm>
          <a:prstGeom prst="roundRect">
            <a:avLst>
              <a:gd name="adj" fmla="val 96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04" name="txt623"/>
          <p:cNvSpPr/>
          <p:nvPr/>
        </p:nvSpPr>
        <p:spPr>
          <a:xfrm>
            <a:off x="4544640" y="1481400"/>
            <a:ext cx="3108600" cy="6282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chemeClr val="accent2"/>
                </a:solidFill>
                <a:effectLst/>
                <a:uFillTx/>
                <a:latin typeface="Calibri"/>
              </a:rPr>
              <a:t>11 + 40 min</a:t>
            </a:r>
            <a:endParaRPr b="0" lang="es-ES" sz="3400" strike="noStrike" u="none">
              <a:solidFill>
                <a:srgbClr val="ffffff"/>
              </a:solidFill>
              <a:effectLst/>
              <a:uFillTx/>
              <a:latin typeface="Arial"/>
            </a:endParaRPr>
          </a:p>
        </p:txBody>
      </p:sp>
      <p:sp>
        <p:nvSpPr>
          <p:cNvPr id="705" name="txt624"/>
          <p:cNvSpPr/>
          <p:nvPr/>
        </p:nvSpPr>
        <p:spPr>
          <a:xfrm>
            <a:off x="4544640" y="2057400"/>
            <a:ext cx="310860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IA escribiendo · equipo revisando</a:t>
            </a:r>
            <a:endParaRPr b="0" lang="es-ES" sz="1300" strike="noStrike" u="none">
              <a:solidFill>
                <a:srgbClr val="ffffff"/>
              </a:solidFill>
              <a:effectLst/>
              <a:uFillTx/>
              <a:latin typeface="Arial"/>
            </a:endParaRPr>
          </a:p>
        </p:txBody>
      </p:sp>
      <p:sp>
        <p:nvSpPr>
          <p:cNvPr id="706" name="card625"/>
          <p:cNvSpPr/>
          <p:nvPr/>
        </p:nvSpPr>
        <p:spPr>
          <a:xfrm>
            <a:off x="8092440" y="1371600"/>
            <a:ext cx="3565800" cy="1142640"/>
          </a:xfrm>
          <a:prstGeom prst="roundRect">
            <a:avLst>
              <a:gd name="adj" fmla="val 9600"/>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07" name="txt626"/>
          <p:cNvSpPr/>
          <p:nvPr/>
        </p:nvSpPr>
        <p:spPr>
          <a:xfrm>
            <a:off x="8321040" y="1481400"/>
            <a:ext cx="3108600" cy="6282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chemeClr val="accent5"/>
                </a:solidFill>
                <a:effectLst/>
                <a:uFillTx/>
                <a:latin typeface="Calibri"/>
              </a:rPr>
              <a:t>2 fallos</a:t>
            </a:r>
            <a:endParaRPr b="0" lang="es-ES" sz="3400" strike="noStrike" u="none">
              <a:solidFill>
                <a:srgbClr val="ffffff"/>
              </a:solidFill>
              <a:effectLst/>
              <a:uFillTx/>
              <a:latin typeface="Arial"/>
            </a:endParaRPr>
          </a:p>
        </p:txBody>
      </p:sp>
      <p:sp>
        <p:nvSpPr>
          <p:cNvPr id="708" name="txt627"/>
          <p:cNvSpPr/>
          <p:nvPr/>
        </p:nvSpPr>
        <p:spPr>
          <a:xfrm>
            <a:off x="8321040" y="2057400"/>
            <a:ext cx="3108600" cy="4111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300" strike="noStrike" u="none">
                <a:solidFill>
                  <a:schemeClr val="lt2"/>
                </a:solidFill>
                <a:effectLst/>
                <a:uFillTx/>
                <a:latin typeface="Calibri"/>
              </a:rPr>
              <a:t>de la IA que solo salieron al ejecutar</a:t>
            </a:r>
            <a:endParaRPr b="0" lang="es-ES" sz="1300" strike="noStrike" u="none">
              <a:solidFill>
                <a:srgbClr val="ffffff"/>
              </a:solidFill>
              <a:effectLst/>
              <a:uFillTx/>
              <a:latin typeface="Arial"/>
            </a:endParaRPr>
          </a:p>
        </p:txBody>
      </p:sp>
      <p:graphicFrame>
        <p:nvGraphicFramePr>
          <p:cNvPr id="709" name="tablaComparativa"/>
          <p:cNvGraphicFramePr/>
          <p:nvPr/>
        </p:nvGraphicFramePr>
        <p:xfrm>
          <a:off x="548640" y="2697480"/>
          <a:ext cx="11109600" cy="2743200"/>
        </p:xfrm>
        <a:graphic>
          <a:graphicData uri="http://schemas.openxmlformats.org/drawingml/2006/table">
            <a:tbl>
              <a:tblPr/>
              <a:tblGrid>
                <a:gridCol w="1965960"/>
                <a:gridCol w="4572000"/>
                <a:gridCol w="4572000"/>
              </a:tblGrid>
              <a:tr h="457200">
                <a:tc>
                  <a:txBody>
                    <a:bodyPr lIns="109440" tIns="18000" bIns="18000" anchor="ctr">
                      <a:noAutofit/>
                    </a:bodyPr>
                    <a:p>
                      <a:pPr defTabSz="914400">
                        <a:lnSpc>
                          <a:spcPct val="100000"/>
                        </a:lnSpc>
                        <a:tabLst>
                          <a:tab algn="l" pos="0"/>
                        </a:tabLst>
                      </a:pPr>
                      <a:r>
                        <a:rPr b="1" lang="en-US" sz="1200" strike="noStrike" u="none">
                          <a:solidFill>
                            <a:srgbClr val="0b0b12"/>
                          </a:solidFill>
                          <a:effectLst/>
                          <a:uFillTx/>
                          <a:latin typeface="Calibri"/>
                        </a:rPr>
                        <a:t>Dimensión</a:t>
                      </a:r>
                      <a:endParaRPr b="0" lang="es-ES" sz="1200" strike="noStrike" u="none">
                        <a:solidFill>
                          <a:srgbClr val="ffffff"/>
                        </a:solidFill>
                        <a:effectLst/>
                        <a:uFillTx/>
                        <a:latin typeface="Arial"/>
                      </a:endParaRPr>
                    </a:p>
                  </a:txBody>
                  <a:tcPr anchor="ctr" marL="109440" marR="9144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e86cca"/>
                    </a:solidFill>
                  </a:tcPr>
                </a:tc>
                <a:tc>
                  <a:txBody>
                    <a:bodyPr lIns="109440" tIns="18000" bIns="18000" anchor="ctr">
                      <a:noAutofit/>
                    </a:bodyPr>
                    <a:p>
                      <a:pPr defTabSz="914400">
                        <a:lnSpc>
                          <a:spcPct val="100000"/>
                        </a:lnSpc>
                        <a:tabLst>
                          <a:tab algn="l" pos="0"/>
                        </a:tabLst>
                      </a:pPr>
                      <a:r>
                        <a:rPr b="1" lang="en-US" sz="1200" strike="noStrike" u="none">
                          <a:solidFill>
                            <a:srgbClr val="0b0b12"/>
                          </a:solidFill>
                          <a:effectLst/>
                          <a:uFillTx/>
                          <a:latin typeface="Calibri"/>
                        </a:rPr>
                        <a:t>App 1 · a mano</a:t>
                      </a:r>
                      <a:endParaRPr b="0" lang="es-ES" sz="1200" strike="noStrike" u="none">
                        <a:solidFill>
                          <a:srgbClr val="ffffff"/>
                        </a:solidFill>
                        <a:effectLst/>
                        <a:uFillTx/>
                        <a:latin typeface="Arial"/>
                      </a:endParaRPr>
                    </a:p>
                  </a:txBody>
                  <a:tcPr anchor="ctr" marL="109440" marR="9144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e86cca"/>
                    </a:solidFill>
                  </a:tcPr>
                </a:tc>
                <a:tc>
                  <a:txBody>
                    <a:bodyPr lIns="109440" tIns="18000" bIns="18000" anchor="ctr">
                      <a:noAutofit/>
                    </a:bodyPr>
                    <a:p>
                      <a:pPr defTabSz="914400">
                        <a:lnSpc>
                          <a:spcPct val="100000"/>
                        </a:lnSpc>
                        <a:tabLst>
                          <a:tab algn="l" pos="0"/>
                        </a:tabLst>
                      </a:pPr>
                      <a:r>
                        <a:rPr b="1" lang="en-US" sz="1200" strike="noStrike" u="none">
                          <a:solidFill>
                            <a:srgbClr val="0b0b12"/>
                          </a:solidFill>
                          <a:effectLst/>
                          <a:uFillTx/>
                          <a:latin typeface="Calibri"/>
                        </a:rPr>
                        <a:t>App 2 · Spec Kit + IA</a:t>
                      </a:r>
                      <a:endParaRPr b="0" lang="es-ES" sz="1200" strike="noStrike" u="none">
                        <a:solidFill>
                          <a:srgbClr val="ffffff"/>
                        </a:solidFill>
                        <a:effectLst/>
                        <a:uFillTx/>
                        <a:latin typeface="Arial"/>
                      </a:endParaRPr>
                    </a:p>
                  </a:txBody>
                  <a:tcPr anchor="ctr" marL="109440" marR="9144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9b8cff"/>
                    </a:solidFill>
                  </a:tcPr>
                </a:tc>
              </a:tr>
              <a:tr h="457200">
                <a:tc>
                  <a:txBody>
                    <a:bodyPr lIns="109440" tIns="18000" bIns="18000" anchor="ctr">
                      <a:noAutofit/>
                    </a:bodyPr>
                    <a:p>
                      <a:pPr defTabSz="914400">
                        <a:lnSpc>
                          <a:spcPct val="100000"/>
                        </a:lnSpc>
                        <a:tabLst>
                          <a:tab algn="l" pos="0"/>
                        </a:tabLst>
                      </a:pPr>
                      <a:r>
                        <a:rPr b="1" lang="en-US" sz="1200" strike="noStrike" u="none">
                          <a:solidFill>
                            <a:srgbClr val="e86cca"/>
                          </a:solidFill>
                          <a:effectLst/>
                          <a:uFillTx/>
                          <a:latin typeface="Calibri"/>
                        </a:rPr>
                        <a:t>Tiempo</a:t>
                      </a:r>
                      <a:endParaRPr b="0" lang="es-ES" sz="1200" strike="noStrike" u="none">
                        <a:solidFill>
                          <a:srgbClr val="ffffff"/>
                        </a:solidFill>
                        <a:effectLst/>
                        <a:uFillTx/>
                        <a:latin typeface="Arial"/>
                      </a:endParaRPr>
                    </a:p>
                  </a:txBody>
                  <a:tcPr anchor="ctr" marL="109440" marR="9144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lIns="109440" tIns="18000" bIns="18000" anchor="ctr">
                      <a:noAutofit/>
                    </a:bodyPr>
                    <a:p>
                      <a:pPr defTabSz="914400">
                        <a:lnSpc>
                          <a:spcPct val="100000"/>
                        </a:lnSpc>
                        <a:tabLst>
                          <a:tab algn="l" pos="0"/>
                        </a:tabLst>
                      </a:pPr>
                      <a:r>
                        <a:rPr b="0" lang="en-US" sz="1200" strike="noStrike" u="none">
                          <a:solidFill>
                            <a:srgbClr val="ffffff"/>
                          </a:solidFill>
                          <a:effectLst/>
                          <a:uFillTx/>
                          <a:latin typeface="Calibri"/>
                        </a:rPr>
                        <a:t>Horas por fase: frontend ≈ 7,5 h, pruebas ≈ 5 h (estimaciones).</a:t>
                      </a:r>
                      <a:endParaRPr b="0" lang="es-ES" sz="1200" strike="noStrike" u="none">
                        <a:solidFill>
                          <a:srgbClr val="ffffff"/>
                        </a:solidFill>
                        <a:effectLst/>
                        <a:uFillTx/>
                        <a:latin typeface="Arial"/>
                      </a:endParaRPr>
                    </a:p>
                  </a:txBody>
                  <a:tcPr anchor="ctr" marL="109440" marR="9144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lIns="109440" tIns="18000" bIns="18000" anchor="ctr">
                      <a:noAutofit/>
                    </a:bodyPr>
                    <a:p>
                      <a:pPr defTabSz="914400">
                        <a:lnSpc>
                          <a:spcPct val="100000"/>
                        </a:lnSpc>
                        <a:tabLst>
                          <a:tab algn="l" pos="0"/>
                        </a:tabLst>
                      </a:pPr>
                      <a:r>
                        <a:rPr b="0" lang="en-US" sz="1200" strike="noStrike" u="none">
                          <a:solidFill>
                            <a:srgbClr val="ffffff"/>
                          </a:solidFill>
                          <a:effectLst/>
                          <a:uFillTx/>
                          <a:latin typeface="Calibri"/>
                        </a:rPr>
                        <a:t>Especificación en 31 min y código en ≈ 11 min; el coste está en revisar y probar.</a:t>
                      </a:r>
                      <a:endParaRPr b="0" lang="es-ES" sz="1200" strike="noStrike" u="none">
                        <a:solidFill>
                          <a:srgbClr val="ffffff"/>
                        </a:solidFill>
                        <a:effectLst/>
                        <a:uFillTx/>
                        <a:latin typeface="Arial"/>
                      </a:endParaRPr>
                    </a:p>
                  </a:txBody>
                  <a:tcPr anchor="ctr" marL="109440" marR="9144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r>
              <a:tr h="457200">
                <a:tc>
                  <a:txBody>
                    <a:bodyPr lIns="109440" tIns="18000" bIns="18000" anchor="ctr">
                      <a:noAutofit/>
                    </a:bodyPr>
                    <a:p>
                      <a:pPr defTabSz="914400">
                        <a:lnSpc>
                          <a:spcPct val="100000"/>
                        </a:lnSpc>
                        <a:tabLst>
                          <a:tab algn="l" pos="0"/>
                        </a:tabLst>
                      </a:pPr>
                      <a:r>
                        <a:rPr b="1" lang="en-US" sz="1200" strike="noStrike" u="none">
                          <a:solidFill>
                            <a:srgbClr val="e86cca"/>
                          </a:solidFill>
                          <a:effectLst/>
                          <a:uFillTx/>
                          <a:latin typeface="Calibri"/>
                        </a:rPr>
                        <a:t>Calidad</a:t>
                      </a:r>
                      <a:endParaRPr b="0" lang="es-ES" sz="1200" strike="noStrike" u="none">
                        <a:solidFill>
                          <a:srgbClr val="ffffff"/>
                        </a:solidFill>
                        <a:effectLst/>
                        <a:uFillTx/>
                        <a:latin typeface="Arial"/>
                      </a:endParaRPr>
                    </a:p>
                  </a:txBody>
                  <a:tcPr anchor="ctr" marL="109440" marR="9144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lIns="109440" tIns="18000" bIns="18000" anchor="ctr">
                      <a:noAutofit/>
                    </a:bodyPr>
                    <a:p>
                      <a:pPr defTabSz="914400">
                        <a:lnSpc>
                          <a:spcPct val="100000"/>
                        </a:lnSpc>
                        <a:tabLst>
                          <a:tab algn="l" pos="0"/>
                        </a:tabLst>
                      </a:pPr>
                      <a:r>
                        <a:rPr b="0" lang="en-US" sz="1200" strike="noStrike" u="none">
                          <a:solidFill>
                            <a:srgbClr val="ffffff"/>
                          </a:solidFill>
                          <a:effectLst/>
                          <a:uFillTx/>
                          <a:latin typeface="Calibri"/>
                        </a:rPr>
                        <a:t>Contrato estable, 12 pruebas y trazabilidad completa en la ERS.</a:t>
                      </a:r>
                      <a:endParaRPr b="0" lang="es-ES" sz="1200" strike="noStrike" u="none">
                        <a:solidFill>
                          <a:srgbClr val="ffffff"/>
                        </a:solidFill>
                        <a:effectLst/>
                        <a:uFillTx/>
                        <a:latin typeface="Arial"/>
                      </a:endParaRPr>
                    </a:p>
                  </a:txBody>
                  <a:tcPr anchor="ctr" marL="109440" marR="9144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lIns="109440" tIns="18000" bIns="18000" anchor="ctr">
                      <a:noAutofit/>
                    </a:bodyPr>
                    <a:p>
                      <a:pPr defTabSz="914400">
                        <a:lnSpc>
                          <a:spcPct val="100000"/>
                        </a:lnSpc>
                        <a:tabLst>
                          <a:tab algn="l" pos="0"/>
                        </a:tabLst>
                      </a:pPr>
                      <a:r>
                        <a:rPr b="0" lang="en-US" sz="1200" strike="noStrike" u="none">
                          <a:solidFill>
                            <a:srgbClr val="ffffff"/>
                          </a:solidFill>
                          <a:effectLst/>
                          <a:uFillTx/>
                          <a:latin typeface="Calibri"/>
                        </a:rPr>
                        <a:t>Mismo contrato + 401, 59 pruebas y requisitos trazados a la ERS.</a:t>
                      </a:r>
                      <a:endParaRPr b="0" lang="es-ES" sz="1200" strike="noStrike" u="none">
                        <a:solidFill>
                          <a:srgbClr val="ffffff"/>
                        </a:solidFill>
                        <a:effectLst/>
                        <a:uFillTx/>
                        <a:latin typeface="Arial"/>
                      </a:endParaRPr>
                    </a:p>
                  </a:txBody>
                  <a:tcPr anchor="ctr" marL="109440" marR="9144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r>
              <a:tr h="457200">
                <a:tc>
                  <a:txBody>
                    <a:bodyPr lIns="109440" tIns="18000" bIns="18000" anchor="ctr">
                      <a:noAutofit/>
                    </a:bodyPr>
                    <a:p>
                      <a:pPr defTabSz="914400">
                        <a:lnSpc>
                          <a:spcPct val="100000"/>
                        </a:lnSpc>
                        <a:tabLst>
                          <a:tab algn="l" pos="0"/>
                        </a:tabLst>
                      </a:pPr>
                      <a:r>
                        <a:rPr b="1" lang="en-US" sz="1200" strike="noStrike" u="none">
                          <a:solidFill>
                            <a:srgbClr val="e86cca"/>
                          </a:solidFill>
                          <a:effectLst/>
                          <a:uFillTx/>
                          <a:latin typeface="Calibri"/>
                        </a:rPr>
                        <a:t>Errores</a:t>
                      </a:r>
                      <a:endParaRPr b="0" lang="es-ES" sz="1200" strike="noStrike" u="none">
                        <a:solidFill>
                          <a:srgbClr val="ffffff"/>
                        </a:solidFill>
                        <a:effectLst/>
                        <a:uFillTx/>
                        <a:latin typeface="Arial"/>
                      </a:endParaRPr>
                    </a:p>
                  </a:txBody>
                  <a:tcPr anchor="ctr" marL="109440" marR="9144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lIns="109440" tIns="18000" bIns="18000" anchor="ctr">
                      <a:noAutofit/>
                    </a:bodyPr>
                    <a:p>
                      <a:pPr defTabSz="914400">
                        <a:lnSpc>
                          <a:spcPct val="100000"/>
                        </a:lnSpc>
                        <a:tabLst>
                          <a:tab algn="l" pos="0"/>
                        </a:tabLst>
                      </a:pPr>
                      <a:r>
                        <a:rPr b="0" lang="en-US" sz="1200" strike="noStrike" u="none">
                          <a:solidFill>
                            <a:srgbClr val="ffffff"/>
                          </a:solidFill>
                          <a:effectLst/>
                          <a:uFillTx/>
                          <a:latin typeface="Calibri"/>
                        </a:rPr>
                        <a:t>Nuestros: 402 de OpenRouter, saldo agotado, carpetas reorganizadas.</a:t>
                      </a:r>
                      <a:endParaRPr b="0" lang="es-ES" sz="1200" strike="noStrike" u="none">
                        <a:solidFill>
                          <a:srgbClr val="ffffff"/>
                        </a:solidFill>
                        <a:effectLst/>
                        <a:uFillTx/>
                        <a:latin typeface="Arial"/>
                      </a:endParaRPr>
                    </a:p>
                  </a:txBody>
                  <a:tcPr anchor="ctr" marL="109440" marR="9144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lIns="109440" tIns="18000" bIns="18000" anchor="ctr">
                      <a:noAutofit/>
                    </a:bodyPr>
                    <a:p>
                      <a:pPr defTabSz="914400">
                        <a:lnSpc>
                          <a:spcPct val="100000"/>
                        </a:lnSpc>
                        <a:tabLst>
                          <a:tab algn="l" pos="0"/>
                        </a:tabLst>
                      </a:pPr>
                      <a:r>
                        <a:rPr b="0" lang="en-US" sz="1200" strike="noStrike" u="none">
                          <a:solidFill>
                            <a:srgbClr val="ffffff"/>
                          </a:solidFill>
                          <a:effectLst/>
                          <a:uFillTx/>
                          <a:latin typeface="Calibri"/>
                        </a:rPr>
                        <a:t>De la IA: plan desfasado, .env sin cargar y vercel.json con 404.</a:t>
                      </a:r>
                      <a:endParaRPr b="0" lang="es-ES" sz="1200" strike="noStrike" u="none">
                        <a:solidFill>
                          <a:srgbClr val="ffffff"/>
                        </a:solidFill>
                        <a:effectLst/>
                        <a:uFillTx/>
                        <a:latin typeface="Arial"/>
                      </a:endParaRPr>
                    </a:p>
                  </a:txBody>
                  <a:tcPr anchor="ctr" marL="109440" marR="9144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r>
              <a:tr h="457200">
                <a:tc>
                  <a:txBody>
                    <a:bodyPr lIns="109440" tIns="18000" bIns="18000" anchor="ctr">
                      <a:noAutofit/>
                    </a:bodyPr>
                    <a:p>
                      <a:pPr defTabSz="914400">
                        <a:lnSpc>
                          <a:spcPct val="100000"/>
                        </a:lnSpc>
                        <a:tabLst>
                          <a:tab algn="l" pos="0"/>
                        </a:tabLst>
                      </a:pPr>
                      <a:r>
                        <a:rPr b="1" lang="en-US" sz="1200" strike="noStrike" u="none">
                          <a:solidFill>
                            <a:srgbClr val="e86cca"/>
                          </a:solidFill>
                          <a:effectLst/>
                          <a:uFillTx/>
                          <a:latin typeface="Calibri"/>
                        </a:rPr>
                        <a:t>Mantenibilidad</a:t>
                      </a:r>
                      <a:endParaRPr b="0" lang="es-ES" sz="1200" strike="noStrike" u="none">
                        <a:solidFill>
                          <a:srgbClr val="ffffff"/>
                        </a:solidFill>
                        <a:effectLst/>
                        <a:uFillTx/>
                        <a:latin typeface="Arial"/>
                      </a:endParaRPr>
                    </a:p>
                  </a:txBody>
                  <a:tcPr anchor="ctr" marL="109440" marR="9144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lIns="109440" tIns="18000" bIns="18000" anchor="ctr">
                      <a:noAutofit/>
                    </a:bodyPr>
                    <a:p>
                      <a:pPr defTabSz="914400">
                        <a:lnSpc>
                          <a:spcPct val="100000"/>
                        </a:lnSpc>
                        <a:tabLst>
                          <a:tab algn="l" pos="0"/>
                        </a:tabLst>
                      </a:pPr>
                      <a:r>
                        <a:rPr b="0" lang="en-US" sz="1200" strike="noStrike" u="none">
                          <a:solidFill>
                            <a:srgbClr val="ffffff"/>
                          </a:solidFill>
                          <a:effectLst/>
                          <a:uFillTx/>
                          <a:latin typeface="Calibri"/>
                        </a:rPr>
                        <a:t>Cambiar de proveedor fue fácil: los tests simulan ask_model.</a:t>
                      </a:r>
                      <a:endParaRPr b="0" lang="es-ES" sz="1200" strike="noStrike" u="none">
                        <a:solidFill>
                          <a:srgbClr val="ffffff"/>
                        </a:solidFill>
                        <a:effectLst/>
                        <a:uFillTx/>
                        <a:latin typeface="Arial"/>
                      </a:endParaRPr>
                    </a:p>
                  </a:txBody>
                  <a:tcPr anchor="ctr" marL="109440" marR="9144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lIns="109440" tIns="18000" bIns="18000" anchor="ctr">
                      <a:noAutofit/>
                    </a:bodyPr>
                    <a:p>
                      <a:pPr defTabSz="914400">
                        <a:lnSpc>
                          <a:spcPct val="100000"/>
                        </a:lnSpc>
                        <a:tabLst>
                          <a:tab algn="l" pos="0"/>
                        </a:tabLst>
                      </a:pPr>
                      <a:r>
                        <a:rPr b="0" lang="en-US" sz="1200" strike="noStrike" u="none">
                          <a:solidFill>
                            <a:srgbClr val="ffffff"/>
                          </a:solidFill>
                          <a:effectLst/>
                          <a:uFillTx/>
                          <a:latin typeface="Calibri"/>
                        </a:rPr>
                        <a:t>Modelo y límites por variables de entorno, sin tocar código.</a:t>
                      </a:r>
                      <a:endParaRPr b="0" lang="es-ES" sz="1200" strike="noStrike" u="none">
                        <a:solidFill>
                          <a:srgbClr val="ffffff"/>
                        </a:solidFill>
                        <a:effectLst/>
                        <a:uFillTx/>
                        <a:latin typeface="Arial"/>
                      </a:endParaRPr>
                    </a:p>
                  </a:txBody>
                  <a:tcPr anchor="ctr" marL="109440" marR="9144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r>
              <a:tr h="457200">
                <a:tc>
                  <a:txBody>
                    <a:bodyPr lIns="109440" tIns="18000" bIns="18000" anchor="ctr">
                      <a:noAutofit/>
                    </a:bodyPr>
                    <a:p>
                      <a:pPr defTabSz="914400">
                        <a:lnSpc>
                          <a:spcPct val="100000"/>
                        </a:lnSpc>
                        <a:tabLst>
                          <a:tab algn="l" pos="0"/>
                        </a:tabLst>
                      </a:pPr>
                      <a:r>
                        <a:rPr b="1" lang="en-US" sz="1200" strike="noStrike" u="none">
                          <a:solidFill>
                            <a:srgbClr val="e86cca"/>
                          </a:solidFill>
                          <a:effectLst/>
                          <a:uFillTx/>
                          <a:latin typeface="Calibri"/>
                        </a:rPr>
                        <a:t>Utilidad de la IA</a:t>
                      </a:r>
                      <a:endParaRPr b="0" lang="es-ES" sz="1200" strike="noStrike" u="none">
                        <a:solidFill>
                          <a:srgbClr val="ffffff"/>
                        </a:solidFill>
                        <a:effectLst/>
                        <a:uFillTx/>
                        <a:latin typeface="Arial"/>
                      </a:endParaRPr>
                    </a:p>
                  </a:txBody>
                  <a:tcPr anchor="ctr" marL="109440" marR="9144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lIns="109440" tIns="18000" bIns="18000" anchor="ctr">
                      <a:noAutofit/>
                    </a:bodyPr>
                    <a:p>
                      <a:pPr defTabSz="914400">
                        <a:lnSpc>
                          <a:spcPct val="100000"/>
                        </a:lnSpc>
                        <a:tabLst>
                          <a:tab algn="l" pos="0"/>
                        </a:tabLst>
                      </a:pPr>
                      <a:r>
                        <a:rPr b="0" lang="en-US" sz="1200" strike="noStrike" u="none">
                          <a:solidFill>
                            <a:srgbClr val="ffffff"/>
                          </a:solidFill>
                          <a:effectLst/>
                          <a:uFillTx/>
                          <a:latin typeface="Calibri"/>
                        </a:rPr>
                        <a:t>Consultas puntuales: pytest, mocks y diagnóstico del 402.</a:t>
                      </a:r>
                      <a:endParaRPr b="0" lang="es-ES" sz="1200" strike="noStrike" u="none">
                        <a:solidFill>
                          <a:srgbClr val="ffffff"/>
                        </a:solidFill>
                        <a:effectLst/>
                        <a:uFillTx/>
                        <a:latin typeface="Arial"/>
                      </a:endParaRPr>
                    </a:p>
                  </a:txBody>
                  <a:tcPr anchor="ctr" marL="109440" marR="9144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c>
                  <a:txBody>
                    <a:bodyPr lIns="109440" tIns="18000" bIns="18000" anchor="ctr">
                      <a:noAutofit/>
                    </a:bodyPr>
                    <a:p>
                      <a:pPr defTabSz="914400">
                        <a:lnSpc>
                          <a:spcPct val="100000"/>
                        </a:lnSpc>
                        <a:tabLst>
                          <a:tab algn="l" pos="0"/>
                        </a:tabLst>
                      </a:pPr>
                      <a:r>
                        <a:rPr b="0" lang="en-US" sz="1200" strike="noStrike" u="none">
                          <a:solidFill>
                            <a:srgbClr val="ffffff"/>
                          </a:solidFill>
                          <a:effectLst/>
                          <a:uFillTx/>
                          <a:latin typeface="Calibri"/>
                        </a:rPr>
                        <a:t>Lo escribió todo; el equipo decidió modelo, géneros y desviaciones.</a:t>
                      </a:r>
                      <a:endParaRPr b="0" lang="es-ES" sz="1200" strike="noStrike" u="none">
                        <a:solidFill>
                          <a:srgbClr val="ffffff"/>
                        </a:solidFill>
                        <a:effectLst/>
                        <a:uFillTx/>
                        <a:latin typeface="Arial"/>
                      </a:endParaRPr>
                    </a:p>
                  </a:txBody>
                  <a:tcPr anchor="ctr" marL="109440" marR="91440">
                    <a:lnL w="18720">
                      <a:solidFill>
                        <a:srgbClr val="0b0b12"/>
                      </a:solidFill>
                      <a:prstDash val="solid"/>
                    </a:lnL>
                    <a:lnR w="18720">
                      <a:solidFill>
                        <a:srgbClr val="0b0b12"/>
                      </a:solidFill>
                      <a:prstDash val="solid"/>
                    </a:lnR>
                    <a:lnT w="18720">
                      <a:solidFill>
                        <a:srgbClr val="0b0b12"/>
                      </a:solidFill>
                      <a:prstDash val="solid"/>
                    </a:lnT>
                    <a:lnB w="18720">
                      <a:solidFill>
                        <a:srgbClr val="0b0b12"/>
                      </a:solidFill>
                      <a:prstDash val="solid"/>
                    </a:lnB>
                    <a:solidFill>
                      <a:srgbClr val="171725"/>
                    </a:solidFill>
                  </a:tcPr>
                </a:tc>
              </a:tr>
            </a:tbl>
          </a:graphicData>
        </a:graphic>
      </p:graphicFrame>
      <p:sp>
        <p:nvSpPr>
          <p:cNvPr id="710" name="cambiar628"/>
          <p:cNvSpPr/>
          <p:nvPr/>
        </p:nvSpPr>
        <p:spPr>
          <a:xfrm>
            <a:off x="548640" y="5669280"/>
            <a:ext cx="11109600" cy="383760"/>
          </a:xfrm>
          <a:prstGeom prst="roundRect">
            <a:avLst>
              <a:gd name="adj" fmla="val 19048"/>
            </a:avLst>
          </a:prstGeom>
          <a:solidFill>
            <a:schemeClr val="accent4"/>
          </a:solidFill>
          <a:ln w="0">
            <a:noFill/>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711" name="txt629"/>
          <p:cNvSpPr/>
          <p:nvPr/>
        </p:nvSpPr>
        <p:spPr>
          <a:xfrm>
            <a:off x="685800" y="5669280"/>
            <a:ext cx="1083528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trike="noStrike" u="none">
                <a:solidFill>
                  <a:schemeClr val="dk1"/>
                </a:solidFill>
                <a:effectLst/>
                <a:uFillTx/>
                <a:latin typeface="Calibri"/>
              </a:rPr>
              <a:t>⚠ CAMBIAR  </a:t>
            </a:r>
            <a:r>
              <a:rPr b="0" lang="en-US" sz="1200" strike="noStrike" u="none">
                <a:solidFill>
                  <a:schemeClr val="dk1"/>
                </a:solidFill>
                <a:effectLst/>
                <a:uFillTx/>
                <a:latin typeface="Calibri"/>
              </a:rPr>
              <a:t>completar con los totales de tiempo y las conclusiones de comparativa.md (aún en «Pendiente»).</a:t>
            </a:r>
            <a:endParaRPr b="0" lang="es-ES" sz="1200" strike="noStrike" u="none">
              <a:solidFill>
                <a:srgbClr val="ffffff"/>
              </a:solidFill>
              <a:effectLst/>
              <a:uFillTx/>
              <a:latin typeface="Arial"/>
            </a:endParaRPr>
          </a:p>
        </p:txBody>
      </p:sp>
      <p:sp>
        <p:nvSpPr>
          <p:cNvPr id="712" name="PlaceHolder 3"/>
          <p:cNvSpPr>
            <a:spLocks noGrp="1"/>
          </p:cNvSpPr>
          <p:nvPr>
            <p:ph type="sldNum" idx="25"/>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DB0E49FC-2AAB-43F8-9283-7A154A263EEA}"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3"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Demo en directo</a:t>
            </a:r>
            <a:endParaRPr b="0" lang="es-ES" sz="3400" strike="noStrike" u="none">
              <a:solidFill>
                <a:schemeClr val="dk1"/>
              </a:solidFill>
              <a:effectLst/>
              <a:uFillTx/>
              <a:latin typeface="Calibri"/>
            </a:endParaRPr>
          </a:p>
        </p:txBody>
      </p:sp>
      <p:sp>
        <p:nvSpPr>
          <p:cNvPr id="714"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5 PUNTOS DEL ENUNCIADO</a:t>
            </a:r>
            <a:endParaRPr b="0" lang="es-ES" sz="1200" strike="noStrike" u="none">
              <a:solidFill>
                <a:schemeClr val="dk1"/>
              </a:solidFill>
              <a:effectLst/>
              <a:uFillTx/>
              <a:latin typeface="Calibri"/>
            </a:endParaRPr>
          </a:p>
        </p:txBody>
      </p:sp>
      <p:sp>
        <p:nvSpPr>
          <p:cNvPr id="715" name="presenta630"/>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16" name="txt631"/>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todo el equipo</a:t>
            </a:r>
            <a:endParaRPr b="0" lang="es-ES" sz="1100" strike="noStrike" u="none">
              <a:solidFill>
                <a:srgbClr val="ffffff"/>
              </a:solidFill>
              <a:effectLst/>
              <a:uFillTx/>
              <a:latin typeface="Arial"/>
            </a:endParaRPr>
          </a:p>
        </p:txBody>
      </p:sp>
      <p:sp>
        <p:nvSpPr>
          <p:cNvPr id="717" name="card632"/>
          <p:cNvSpPr/>
          <p:nvPr/>
        </p:nvSpPr>
        <p:spPr>
          <a:xfrm>
            <a:off x="548640" y="1371600"/>
            <a:ext cx="7589160" cy="767880"/>
          </a:xfrm>
          <a:prstGeom prst="roundRect">
            <a:avLst>
              <a:gd name="adj" fmla="val 14286"/>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18" name="badge633"/>
          <p:cNvSpPr/>
          <p:nvPr/>
        </p:nvSpPr>
        <p:spPr>
          <a:xfrm>
            <a:off x="731520" y="1554480"/>
            <a:ext cx="411120" cy="402120"/>
          </a:xfrm>
          <a:prstGeom prst="roundRect">
            <a:avLst>
              <a:gd name="adj" fmla="val 18182"/>
            </a:avLst>
          </a:prstGeom>
          <a:solidFill>
            <a:schemeClr val="accent1"/>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19" name="txt634"/>
          <p:cNvSpPr/>
          <p:nvPr/>
        </p:nvSpPr>
        <p:spPr>
          <a:xfrm>
            <a:off x="731520" y="1554480"/>
            <a:ext cx="411120" cy="402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dk1"/>
                </a:solidFill>
                <a:effectLst/>
                <a:uFillTx/>
                <a:latin typeface="Calibri"/>
              </a:rPr>
              <a:t>1</a:t>
            </a:r>
            <a:endParaRPr b="0" lang="es-ES" sz="1400" strike="noStrike" u="none">
              <a:solidFill>
                <a:srgbClr val="ffffff"/>
              </a:solidFill>
              <a:effectLst/>
              <a:uFillTx/>
              <a:latin typeface="Arial"/>
            </a:endParaRPr>
          </a:p>
        </p:txBody>
      </p:sp>
      <p:sp>
        <p:nvSpPr>
          <p:cNvPr id="720" name="txt635"/>
          <p:cNvSpPr/>
          <p:nvPr/>
        </p:nvSpPr>
        <p:spPr>
          <a:xfrm>
            <a:off x="1325880" y="1371600"/>
            <a:ext cx="5394600" cy="767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chemeClr val="lt1"/>
                </a:solidFill>
                <a:effectLst/>
                <a:uFillTx/>
                <a:latin typeface="Calibri"/>
              </a:rPr>
              <a:t>Entrada válida en la App 1 (Vercel): géneros y texto → recomendaciones en la misma pantalla.</a:t>
            </a:r>
            <a:endParaRPr b="0" lang="es-ES" sz="1400" strike="noStrike" u="none">
              <a:solidFill>
                <a:srgbClr val="ffffff"/>
              </a:solidFill>
              <a:effectLst/>
              <a:uFillTx/>
              <a:latin typeface="Arial"/>
            </a:endParaRPr>
          </a:p>
        </p:txBody>
      </p:sp>
      <p:sp>
        <p:nvSpPr>
          <p:cNvPr id="721" name="pill636"/>
          <p:cNvSpPr/>
          <p:nvPr/>
        </p:nvSpPr>
        <p:spPr>
          <a:xfrm>
            <a:off x="6858000" y="1581840"/>
            <a:ext cx="1096920" cy="347040"/>
          </a:xfrm>
          <a:prstGeom prst="roundRect">
            <a:avLst>
              <a:gd name="adj" fmla="val 50000"/>
            </a:avLst>
          </a:prstGeom>
          <a:solidFill>
            <a:schemeClr val="tx2"/>
          </a:solidFill>
          <a:ln w="12700">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22" name="txt637"/>
          <p:cNvSpPr/>
          <p:nvPr/>
        </p:nvSpPr>
        <p:spPr>
          <a:xfrm>
            <a:off x="6858000" y="1581840"/>
            <a:ext cx="109692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chemeClr val="accent1"/>
                </a:solidFill>
                <a:effectLst/>
                <a:uFillTx/>
                <a:latin typeface="Calibri"/>
              </a:rPr>
              <a:t>Jose</a:t>
            </a:r>
            <a:endParaRPr b="0" lang="es-ES" sz="1200" strike="noStrike" u="none">
              <a:solidFill>
                <a:srgbClr val="ffffff"/>
              </a:solidFill>
              <a:effectLst/>
              <a:uFillTx/>
              <a:latin typeface="Arial"/>
            </a:endParaRPr>
          </a:p>
        </p:txBody>
      </p:sp>
      <p:sp>
        <p:nvSpPr>
          <p:cNvPr id="723" name="card638"/>
          <p:cNvSpPr/>
          <p:nvPr/>
        </p:nvSpPr>
        <p:spPr>
          <a:xfrm>
            <a:off x="548640" y="2267640"/>
            <a:ext cx="7589160" cy="767880"/>
          </a:xfrm>
          <a:prstGeom prst="roundRect">
            <a:avLst>
              <a:gd name="adj" fmla="val 14286"/>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24" name="badge639"/>
          <p:cNvSpPr/>
          <p:nvPr/>
        </p:nvSpPr>
        <p:spPr>
          <a:xfrm>
            <a:off x="731520" y="2450520"/>
            <a:ext cx="411120" cy="402120"/>
          </a:xfrm>
          <a:prstGeom prst="roundRect">
            <a:avLst>
              <a:gd name="adj" fmla="val 18182"/>
            </a:avLst>
          </a:prstGeom>
          <a:solidFill>
            <a:schemeClr val="accent1"/>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25" name="txt640"/>
          <p:cNvSpPr/>
          <p:nvPr/>
        </p:nvSpPr>
        <p:spPr>
          <a:xfrm>
            <a:off x="731520" y="2450520"/>
            <a:ext cx="411120" cy="402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dk1"/>
                </a:solidFill>
                <a:effectLst/>
                <a:uFillTx/>
                <a:latin typeface="Calibri"/>
              </a:rPr>
              <a:t>2</a:t>
            </a:r>
            <a:endParaRPr b="0" lang="es-ES" sz="1400" strike="noStrike" u="none">
              <a:solidFill>
                <a:srgbClr val="ffffff"/>
              </a:solidFill>
              <a:effectLst/>
              <a:uFillTx/>
              <a:latin typeface="Arial"/>
            </a:endParaRPr>
          </a:p>
        </p:txBody>
      </p:sp>
      <p:sp>
        <p:nvSpPr>
          <p:cNvPr id="726" name="txt641"/>
          <p:cNvSpPr/>
          <p:nvPr/>
        </p:nvSpPr>
        <p:spPr>
          <a:xfrm>
            <a:off x="1325880" y="2267640"/>
            <a:ext cx="5394600" cy="767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chemeClr val="lt1"/>
                </a:solidFill>
                <a:effectLst/>
                <a:uFillTx/>
                <a:latin typeface="Calibri"/>
              </a:rPr>
              <a:t>Error controlado: formulario vacío (aviso) y 422 desde la consola del navegador.</a:t>
            </a:r>
            <a:endParaRPr b="0" lang="es-ES" sz="1400" strike="noStrike" u="none">
              <a:solidFill>
                <a:srgbClr val="ffffff"/>
              </a:solidFill>
              <a:effectLst/>
              <a:uFillTx/>
              <a:latin typeface="Arial"/>
            </a:endParaRPr>
          </a:p>
        </p:txBody>
      </p:sp>
      <p:sp>
        <p:nvSpPr>
          <p:cNvPr id="727" name="pill642"/>
          <p:cNvSpPr/>
          <p:nvPr/>
        </p:nvSpPr>
        <p:spPr>
          <a:xfrm>
            <a:off x="6858000" y="2477880"/>
            <a:ext cx="1096920" cy="347040"/>
          </a:xfrm>
          <a:prstGeom prst="roundRect">
            <a:avLst>
              <a:gd name="adj" fmla="val 50000"/>
            </a:avLst>
          </a:prstGeom>
          <a:solidFill>
            <a:schemeClr val="tx2"/>
          </a:solidFill>
          <a:ln w="12700">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28" name="txt643"/>
          <p:cNvSpPr/>
          <p:nvPr/>
        </p:nvSpPr>
        <p:spPr>
          <a:xfrm>
            <a:off x="6858000" y="2477880"/>
            <a:ext cx="109692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chemeClr val="accent1"/>
                </a:solidFill>
                <a:effectLst/>
                <a:uFillTx/>
                <a:latin typeface="Calibri"/>
              </a:rPr>
              <a:t>Jose</a:t>
            </a:r>
            <a:endParaRPr b="0" lang="es-ES" sz="1200" strike="noStrike" u="none">
              <a:solidFill>
                <a:srgbClr val="ffffff"/>
              </a:solidFill>
              <a:effectLst/>
              <a:uFillTx/>
              <a:latin typeface="Arial"/>
            </a:endParaRPr>
          </a:p>
        </p:txBody>
      </p:sp>
      <p:sp>
        <p:nvSpPr>
          <p:cNvPr id="729" name="card644"/>
          <p:cNvSpPr/>
          <p:nvPr/>
        </p:nvSpPr>
        <p:spPr>
          <a:xfrm>
            <a:off x="548640" y="3163680"/>
            <a:ext cx="7589160" cy="767880"/>
          </a:xfrm>
          <a:prstGeom prst="roundRect">
            <a:avLst>
              <a:gd name="adj" fmla="val 14286"/>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30" name="badge645"/>
          <p:cNvSpPr/>
          <p:nvPr/>
        </p:nvSpPr>
        <p:spPr>
          <a:xfrm>
            <a:off x="731520" y="3346560"/>
            <a:ext cx="411120" cy="402120"/>
          </a:xfrm>
          <a:prstGeom prst="roundRect">
            <a:avLst>
              <a:gd name="adj" fmla="val 18182"/>
            </a:avLst>
          </a:prstGeom>
          <a:solidFill>
            <a:schemeClr val="accent1"/>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31" name="txt646"/>
          <p:cNvSpPr/>
          <p:nvPr/>
        </p:nvSpPr>
        <p:spPr>
          <a:xfrm>
            <a:off x="731520" y="3346560"/>
            <a:ext cx="411120" cy="402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dk1"/>
                </a:solidFill>
                <a:effectLst/>
                <a:uFillTx/>
                <a:latin typeface="Calibri"/>
              </a:rPr>
              <a:t>3</a:t>
            </a:r>
            <a:endParaRPr b="0" lang="es-ES" sz="1400" strike="noStrike" u="none">
              <a:solidFill>
                <a:srgbClr val="ffffff"/>
              </a:solidFill>
              <a:effectLst/>
              <a:uFillTx/>
              <a:latin typeface="Arial"/>
            </a:endParaRPr>
          </a:p>
        </p:txBody>
      </p:sp>
      <p:sp>
        <p:nvSpPr>
          <p:cNvPr id="732" name="txt647"/>
          <p:cNvSpPr/>
          <p:nvPr/>
        </p:nvSpPr>
        <p:spPr>
          <a:xfrm>
            <a:off x="1325880" y="3163680"/>
            <a:ext cx="5394600" cy="767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chemeClr val="lt1"/>
                </a:solidFill>
                <a:effectLst/>
                <a:uFillTx/>
                <a:latin typeface="Calibri"/>
              </a:rPr>
              <a:t>App 2: inicio de sesión con Clerk y llamada sin token → 401.</a:t>
            </a:r>
            <a:endParaRPr b="0" lang="es-ES" sz="1400" strike="noStrike" u="none">
              <a:solidFill>
                <a:srgbClr val="ffffff"/>
              </a:solidFill>
              <a:effectLst/>
              <a:uFillTx/>
              <a:latin typeface="Arial"/>
            </a:endParaRPr>
          </a:p>
        </p:txBody>
      </p:sp>
      <p:sp>
        <p:nvSpPr>
          <p:cNvPr id="733" name="pill648"/>
          <p:cNvSpPr/>
          <p:nvPr/>
        </p:nvSpPr>
        <p:spPr>
          <a:xfrm>
            <a:off x="6858000" y="3374280"/>
            <a:ext cx="1096920" cy="347040"/>
          </a:xfrm>
          <a:prstGeom prst="roundRect">
            <a:avLst>
              <a:gd name="adj" fmla="val 50000"/>
            </a:avLst>
          </a:prstGeom>
          <a:solidFill>
            <a:schemeClr val="tx2"/>
          </a:solidFill>
          <a:ln w="12700">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34" name="txt649"/>
          <p:cNvSpPr/>
          <p:nvPr/>
        </p:nvSpPr>
        <p:spPr>
          <a:xfrm>
            <a:off x="6858000" y="3374280"/>
            <a:ext cx="109692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chemeClr val="accent1"/>
                </a:solidFill>
                <a:effectLst/>
                <a:uFillTx/>
                <a:latin typeface="Calibri"/>
              </a:rPr>
              <a:t>Mario</a:t>
            </a:r>
            <a:endParaRPr b="0" lang="es-ES" sz="1200" strike="noStrike" u="none">
              <a:solidFill>
                <a:srgbClr val="ffffff"/>
              </a:solidFill>
              <a:effectLst/>
              <a:uFillTx/>
              <a:latin typeface="Arial"/>
            </a:endParaRPr>
          </a:p>
        </p:txBody>
      </p:sp>
      <p:sp>
        <p:nvSpPr>
          <p:cNvPr id="735" name="card650"/>
          <p:cNvSpPr/>
          <p:nvPr/>
        </p:nvSpPr>
        <p:spPr>
          <a:xfrm>
            <a:off x="548640" y="4060080"/>
            <a:ext cx="7589160" cy="767880"/>
          </a:xfrm>
          <a:prstGeom prst="roundRect">
            <a:avLst>
              <a:gd name="adj" fmla="val 14286"/>
            </a:avLst>
          </a:prstGeom>
          <a:solidFill>
            <a:schemeClr val="tx2"/>
          </a:solidFill>
          <a:ln w="9525">
            <a:solidFill>
              <a:srgbClr val="f5b84b"/>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36" name="badge651"/>
          <p:cNvSpPr/>
          <p:nvPr/>
        </p:nvSpPr>
        <p:spPr>
          <a:xfrm>
            <a:off x="731520" y="4242960"/>
            <a:ext cx="411120" cy="402120"/>
          </a:xfrm>
          <a:prstGeom prst="roundRect">
            <a:avLst>
              <a:gd name="adj" fmla="val 18182"/>
            </a:avLst>
          </a:prstGeom>
          <a:solidFill>
            <a:schemeClr val="accent4"/>
          </a:solidFill>
          <a:ln w="0">
            <a:noFill/>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737" name="txt652"/>
          <p:cNvSpPr/>
          <p:nvPr/>
        </p:nvSpPr>
        <p:spPr>
          <a:xfrm>
            <a:off x="731520" y="4242960"/>
            <a:ext cx="411120" cy="402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dk1"/>
                </a:solidFill>
                <a:effectLst/>
                <a:uFillTx/>
                <a:latin typeface="Calibri"/>
              </a:rPr>
              <a:t>4</a:t>
            </a:r>
            <a:endParaRPr b="0" lang="es-ES" sz="1400" strike="noStrike" u="none">
              <a:solidFill>
                <a:srgbClr val="ffffff"/>
              </a:solidFill>
              <a:effectLst/>
              <a:uFillTx/>
              <a:latin typeface="Arial"/>
            </a:endParaRPr>
          </a:p>
        </p:txBody>
      </p:sp>
      <p:sp>
        <p:nvSpPr>
          <p:cNvPr id="738" name="txt653"/>
          <p:cNvSpPr/>
          <p:nvPr/>
        </p:nvSpPr>
        <p:spPr>
          <a:xfrm>
            <a:off x="1325880" y="4060080"/>
            <a:ext cx="5394600" cy="767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chemeClr val="lt1"/>
                </a:solidFill>
                <a:effectLst/>
                <a:uFillTx/>
                <a:latin typeface="Calibri"/>
              </a:rPr>
              <a:t>App 2 funcionando en EC2 con HTTPS.</a:t>
            </a:r>
            <a:endParaRPr b="0" lang="es-ES" sz="1400" strike="noStrike" u="none">
              <a:solidFill>
                <a:srgbClr val="ffffff"/>
              </a:solidFill>
              <a:effectLst/>
              <a:uFillTx/>
              <a:latin typeface="Arial"/>
            </a:endParaRPr>
          </a:p>
        </p:txBody>
      </p:sp>
      <p:sp>
        <p:nvSpPr>
          <p:cNvPr id="739" name="pill654"/>
          <p:cNvSpPr/>
          <p:nvPr/>
        </p:nvSpPr>
        <p:spPr>
          <a:xfrm>
            <a:off x="6858000" y="4270320"/>
            <a:ext cx="1096920" cy="347040"/>
          </a:xfrm>
          <a:prstGeom prst="roundRect">
            <a:avLst>
              <a:gd name="adj" fmla="val 50000"/>
            </a:avLst>
          </a:prstGeom>
          <a:solidFill>
            <a:schemeClr val="tx2"/>
          </a:solidFill>
          <a:ln w="12700">
            <a:solidFill>
              <a:srgbClr val="f5b84b"/>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40" name="txt655"/>
          <p:cNvSpPr/>
          <p:nvPr/>
        </p:nvSpPr>
        <p:spPr>
          <a:xfrm>
            <a:off x="6858000" y="4270320"/>
            <a:ext cx="109692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chemeClr val="accent4"/>
                </a:solidFill>
                <a:effectLst/>
                <a:uFillTx/>
                <a:latin typeface="Calibri"/>
              </a:rPr>
              <a:t>Mario ⚠</a:t>
            </a:r>
            <a:endParaRPr b="0" lang="es-ES" sz="1200" strike="noStrike" u="none">
              <a:solidFill>
                <a:srgbClr val="ffffff"/>
              </a:solidFill>
              <a:effectLst/>
              <a:uFillTx/>
              <a:latin typeface="Arial"/>
            </a:endParaRPr>
          </a:p>
        </p:txBody>
      </p:sp>
      <p:sp>
        <p:nvSpPr>
          <p:cNvPr id="741" name="card656"/>
          <p:cNvSpPr/>
          <p:nvPr/>
        </p:nvSpPr>
        <p:spPr>
          <a:xfrm>
            <a:off x="548640" y="4956120"/>
            <a:ext cx="7589160" cy="767880"/>
          </a:xfrm>
          <a:prstGeom prst="roundRect">
            <a:avLst>
              <a:gd name="adj" fmla="val 14286"/>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42" name="badge657"/>
          <p:cNvSpPr/>
          <p:nvPr/>
        </p:nvSpPr>
        <p:spPr>
          <a:xfrm>
            <a:off x="731520" y="5139000"/>
            <a:ext cx="411120" cy="402120"/>
          </a:xfrm>
          <a:prstGeom prst="roundRect">
            <a:avLst>
              <a:gd name="adj" fmla="val 18182"/>
            </a:avLst>
          </a:prstGeom>
          <a:solidFill>
            <a:schemeClr val="accent1"/>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43" name="txt658"/>
          <p:cNvSpPr/>
          <p:nvPr/>
        </p:nvSpPr>
        <p:spPr>
          <a:xfrm>
            <a:off x="731520" y="5139000"/>
            <a:ext cx="411120" cy="40212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dk1"/>
                </a:solidFill>
                <a:effectLst/>
                <a:uFillTx/>
                <a:latin typeface="Calibri"/>
              </a:rPr>
              <a:t>5</a:t>
            </a:r>
            <a:endParaRPr b="0" lang="es-ES" sz="1400" strike="noStrike" u="none">
              <a:solidFill>
                <a:srgbClr val="ffffff"/>
              </a:solidFill>
              <a:effectLst/>
              <a:uFillTx/>
              <a:latin typeface="Arial"/>
            </a:endParaRPr>
          </a:p>
        </p:txBody>
      </p:sp>
      <p:sp>
        <p:nvSpPr>
          <p:cNvPr id="744" name="txt659"/>
          <p:cNvSpPr/>
          <p:nvPr/>
        </p:nvSpPr>
        <p:spPr>
          <a:xfrm>
            <a:off x="1325880" y="4956120"/>
            <a:ext cx="5394600" cy="767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chemeClr val="lt1"/>
                </a:solidFill>
                <a:effectLst/>
                <a:uFillTx/>
                <a:latin typeface="Calibri"/>
              </a:rPr>
              <a:t>Un test con mock (pytest -k timeout) y el commit de la especificación anterior al código.</a:t>
            </a:r>
            <a:endParaRPr b="0" lang="es-ES" sz="1400" strike="noStrike" u="none">
              <a:solidFill>
                <a:srgbClr val="ffffff"/>
              </a:solidFill>
              <a:effectLst/>
              <a:uFillTx/>
              <a:latin typeface="Arial"/>
            </a:endParaRPr>
          </a:p>
        </p:txBody>
      </p:sp>
      <p:sp>
        <p:nvSpPr>
          <p:cNvPr id="745" name="pill660"/>
          <p:cNvSpPr/>
          <p:nvPr/>
        </p:nvSpPr>
        <p:spPr>
          <a:xfrm>
            <a:off x="6858000" y="5166360"/>
            <a:ext cx="1096920" cy="347040"/>
          </a:xfrm>
          <a:prstGeom prst="roundRect">
            <a:avLst>
              <a:gd name="adj" fmla="val 50000"/>
            </a:avLst>
          </a:prstGeom>
          <a:solidFill>
            <a:schemeClr val="tx2"/>
          </a:solidFill>
          <a:ln w="12700">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46" name="txt661"/>
          <p:cNvSpPr/>
          <p:nvPr/>
        </p:nvSpPr>
        <p:spPr>
          <a:xfrm>
            <a:off x="6858000" y="5166360"/>
            <a:ext cx="1096920" cy="34704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trike="noStrike" u="none">
                <a:solidFill>
                  <a:schemeClr val="accent1"/>
                </a:solidFill>
                <a:effectLst/>
                <a:uFillTx/>
                <a:latin typeface="Calibri"/>
              </a:rPr>
              <a:t>David</a:t>
            </a:r>
            <a:endParaRPr b="0" lang="es-ES" sz="1200" strike="noStrike" u="none">
              <a:solidFill>
                <a:srgbClr val="ffffff"/>
              </a:solidFill>
              <a:effectLst/>
              <a:uFillTx/>
              <a:latin typeface="Arial"/>
            </a:endParaRPr>
          </a:p>
        </p:txBody>
      </p:sp>
      <p:sp>
        <p:nvSpPr>
          <p:cNvPr id="747" name="card662"/>
          <p:cNvSpPr/>
          <p:nvPr/>
        </p:nvSpPr>
        <p:spPr>
          <a:xfrm>
            <a:off x="8366760" y="1371600"/>
            <a:ext cx="3291480" cy="4334040"/>
          </a:xfrm>
          <a:prstGeom prst="roundRect">
            <a:avLst>
              <a:gd name="adj" fmla="val 3333"/>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48" name="txt663"/>
          <p:cNvSpPr/>
          <p:nvPr/>
        </p:nvSpPr>
        <p:spPr>
          <a:xfrm>
            <a:off x="8595360" y="1554480"/>
            <a:ext cx="2834280" cy="36540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1" lang="en-US" sz="2000" strike="noStrike" u="none">
                <a:solidFill>
                  <a:schemeClr val="accent1"/>
                </a:solidFill>
                <a:effectLst/>
                <a:uFillTx/>
                <a:latin typeface="Calibri"/>
              </a:rPr>
              <a:t>Plan B</a:t>
            </a:r>
            <a:endParaRPr b="0" lang="es-ES" sz="2000" strike="noStrike" u="none">
              <a:solidFill>
                <a:srgbClr val="ffffff"/>
              </a:solidFill>
              <a:effectLst/>
              <a:uFillTx/>
              <a:latin typeface="Arial"/>
            </a:endParaRPr>
          </a:p>
        </p:txBody>
      </p:sp>
      <p:sp>
        <p:nvSpPr>
          <p:cNvPr id="749" name="txt664"/>
          <p:cNvSpPr/>
          <p:nvPr/>
        </p:nvSpPr>
        <p:spPr>
          <a:xfrm>
            <a:off x="8595360" y="2057400"/>
            <a:ext cx="2880000" cy="2742840"/>
          </a:xfrm>
          <a:prstGeom prst="rect">
            <a:avLst/>
          </a:prstGeom>
          <a:noFill/>
          <a:ln w="0">
            <a:noFill/>
          </a:ln>
        </p:spPr>
        <p:style>
          <a:lnRef idx="0"/>
          <a:fillRef idx="0"/>
          <a:effectRef idx="0"/>
          <a:fontRef idx="minor"/>
        </p:style>
        <p:txBody>
          <a:bodyPr lIns="0" rIns="0" tIns="0" bIns="0" anchor="t">
            <a:noAutofit/>
          </a:bodyPr>
          <a:p>
            <a:pPr marL="177840" indent="-177840" defTabSz="914400">
              <a:lnSpc>
                <a:spcPct val="100000"/>
              </a:lnSpc>
              <a:spcAft>
                <a:spcPts val="901"/>
              </a:spcAft>
              <a:buClr>
                <a:srgbClr val="ffffff"/>
              </a:buClr>
              <a:buFont typeface="Symbol" charset="2"/>
              <a:buChar char=""/>
            </a:pPr>
            <a:r>
              <a:rPr b="0" lang="en-US" sz="1300" strike="noStrike" u="none">
                <a:solidFill>
                  <a:schemeClr val="lt1"/>
                </a:solidFill>
                <a:effectLst/>
                <a:uFillTx/>
                <a:latin typeface="Calibri"/>
              </a:rPr>
              <a:t>Si falla Gemini, Clerk o la red: capturas de docs/evidencias, presentadas como capturas.</a:t>
            </a:r>
            <a:endParaRPr b="0" lang="es-ES" sz="1300" strike="noStrike" u="none">
              <a:solidFill>
                <a:srgbClr val="ffffff"/>
              </a:solidFill>
              <a:effectLst/>
              <a:uFillTx/>
              <a:latin typeface="Arial"/>
            </a:endParaRPr>
          </a:p>
          <a:p>
            <a:pPr marL="177840" indent="-177840" defTabSz="914400">
              <a:lnSpc>
                <a:spcPct val="100000"/>
              </a:lnSpc>
              <a:spcAft>
                <a:spcPts val="901"/>
              </a:spcAft>
              <a:buClr>
                <a:srgbClr val="ffffff"/>
              </a:buClr>
              <a:buFont typeface="Symbol" charset="2"/>
              <a:buChar char=""/>
            </a:pPr>
            <a:r>
              <a:rPr b="0" lang="en-US" sz="1300" strike="noStrike" u="none">
                <a:solidFill>
                  <a:schemeClr val="lt1"/>
                </a:solidFill>
                <a:effectLst/>
                <a:uFillTx/>
                <a:latin typeface="Calibri"/>
              </a:rPr>
              <a:t>Nunca un mock como si fuera la IA real.</a:t>
            </a:r>
            <a:endParaRPr b="0" lang="es-ES" sz="1300" strike="noStrike" u="none">
              <a:solidFill>
                <a:srgbClr val="ffffff"/>
              </a:solidFill>
              <a:effectLst/>
              <a:uFillTx/>
              <a:latin typeface="Arial"/>
            </a:endParaRPr>
          </a:p>
          <a:p>
            <a:pPr marL="177840" indent="-177840" defTabSz="914400">
              <a:lnSpc>
                <a:spcPct val="100000"/>
              </a:lnSpc>
              <a:spcAft>
                <a:spcPts val="901"/>
              </a:spcAft>
              <a:buClr>
                <a:srgbClr val="ffffff"/>
              </a:buClr>
              <a:buFont typeface="Symbol" charset="2"/>
              <a:buChar char=""/>
            </a:pPr>
            <a:r>
              <a:rPr b="0" lang="en-US" sz="1300" strike="noStrike" u="none">
                <a:solidFill>
                  <a:schemeClr val="lt1"/>
                </a:solidFill>
                <a:effectLst/>
                <a:uFillTx/>
                <a:latin typeface="Calibri"/>
              </a:rPr>
              <a:t>Datos ficticios en todas las entradas.</a:t>
            </a:r>
            <a:endParaRPr b="0" lang="es-ES" sz="1300" strike="noStrike" u="none">
              <a:solidFill>
                <a:srgbClr val="ffffff"/>
              </a:solidFill>
              <a:effectLst/>
              <a:uFillTx/>
              <a:latin typeface="Arial"/>
            </a:endParaRPr>
          </a:p>
        </p:txBody>
      </p:sp>
      <p:sp>
        <p:nvSpPr>
          <p:cNvPr id="750" name="txt665"/>
          <p:cNvSpPr/>
          <p:nvPr/>
        </p:nvSpPr>
        <p:spPr>
          <a:xfrm>
            <a:off x="548640" y="5897880"/>
            <a:ext cx="7589160" cy="2739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100" strike="noStrike" u="none">
                <a:solidFill>
                  <a:schemeClr val="lt2"/>
                </a:solidFill>
                <a:effectLst/>
                <a:uFillTx/>
                <a:latin typeface="Consolas"/>
                <a:ea typeface="Consolas"/>
              </a:rPr>
              <a:t>Hito Git: 16aa54a (spec, 25/10) → 8924e16 (código, 27/10)</a:t>
            </a:r>
            <a:endParaRPr b="0" lang="es-ES" sz="1100" strike="noStrike" u="none">
              <a:solidFill>
                <a:srgbClr val="ffffff"/>
              </a:solidFill>
              <a:effectLst/>
              <a:uFillTx/>
              <a:latin typeface="Arial"/>
            </a:endParaRPr>
          </a:p>
        </p:txBody>
      </p:sp>
      <p:sp>
        <p:nvSpPr>
          <p:cNvPr id="751" name="PlaceHolder 3"/>
          <p:cNvSpPr>
            <a:spLocks noGrp="1"/>
          </p:cNvSpPr>
          <p:nvPr>
            <p:ph type="sldNum" idx="26"/>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DA97C68C-0B69-4B28-A65F-BD8BA54B4BE2}"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2" name="PlaceHolder 1"/>
          <p:cNvSpPr>
            <a:spLocks noGrp="1"/>
          </p:cNvSpPr>
          <p:nvPr>
            <p:ph type="title"/>
          </p:nvPr>
        </p:nvSpPr>
        <p:spPr>
          <a:xfrm>
            <a:off x="548640" y="320040"/>
            <a:ext cx="8503560" cy="776880"/>
          </a:xfrm>
          <a:prstGeom prst="rect">
            <a:avLst/>
          </a:prstGeom>
          <a:noFill/>
          <a:ln w="0">
            <a:noFill/>
          </a:ln>
        </p:spPr>
        <p:txBody>
          <a:bodyPr lIns="0" rIns="0" tIns="0" bIns="0" anchor="ctr">
            <a:noAutofit/>
          </a:bodyPr>
          <a:p>
            <a:pPr indent="0" defTabSz="914400">
              <a:lnSpc>
                <a:spcPct val="100000"/>
              </a:lnSpc>
              <a:buNone/>
              <a:tabLst>
                <a:tab algn="l" pos="0"/>
              </a:tabLst>
            </a:pPr>
            <a:r>
              <a:rPr b="1" lang="en-US" sz="3400" strike="noStrike" u="none">
                <a:solidFill>
                  <a:schemeClr val="lt1"/>
                </a:solidFill>
                <a:effectLst/>
                <a:uFillTx/>
                <a:latin typeface="Calibri"/>
              </a:rPr>
              <a:t>Conclusiones</a:t>
            </a:r>
            <a:endParaRPr b="0" lang="es-ES" sz="3400" strike="noStrike" u="none">
              <a:solidFill>
                <a:schemeClr val="dk1"/>
              </a:solidFill>
              <a:effectLst/>
              <a:uFillTx/>
              <a:latin typeface="Calibri"/>
            </a:endParaRPr>
          </a:p>
        </p:txBody>
      </p:sp>
      <p:sp>
        <p:nvSpPr>
          <p:cNvPr id="753" name="PlaceHolder 2"/>
          <p:cNvSpPr>
            <a:spLocks noGrp="1"/>
          </p:cNvSpPr>
          <p:nvPr>
            <p:ph/>
          </p:nvPr>
        </p:nvSpPr>
        <p:spPr>
          <a:xfrm>
            <a:off x="9052560" y="502920"/>
            <a:ext cx="2605680" cy="411120"/>
          </a:xfrm>
          <a:prstGeom prst="rect">
            <a:avLst/>
          </a:prstGeom>
          <a:noFill/>
          <a:ln w="0">
            <a:noFill/>
          </a:ln>
        </p:spPr>
        <p:txBody>
          <a:bodyPr lIns="0" rIns="0" tIns="0" bIns="0" anchor="ctr">
            <a:noAutofit/>
          </a:bodyPr>
          <a:p>
            <a:pPr indent="0" algn="r" defTabSz="914400">
              <a:lnSpc>
                <a:spcPct val="100000"/>
              </a:lnSpc>
              <a:spcBef>
                <a:spcPts val="241"/>
              </a:spcBef>
              <a:buNone/>
              <a:tabLst>
                <a:tab algn="l" pos="0"/>
              </a:tabLst>
            </a:pPr>
            <a:r>
              <a:rPr b="1" lang="en-US" sz="1200" spc="150" strike="noStrike" u="none">
                <a:solidFill>
                  <a:schemeClr val="accent1"/>
                </a:solidFill>
                <a:effectLst/>
                <a:uFillTx/>
                <a:latin typeface="Calibri"/>
              </a:rPr>
              <a:t>CIERRE</a:t>
            </a:r>
            <a:endParaRPr b="0" lang="es-ES" sz="1200" strike="noStrike" u="none">
              <a:solidFill>
                <a:schemeClr val="dk1"/>
              </a:solidFill>
              <a:effectLst/>
              <a:uFillTx/>
              <a:latin typeface="Calibri"/>
            </a:endParaRPr>
          </a:p>
        </p:txBody>
      </p:sp>
      <p:sp>
        <p:nvSpPr>
          <p:cNvPr id="754" name="presenta666"/>
          <p:cNvSpPr/>
          <p:nvPr/>
        </p:nvSpPr>
        <p:spPr>
          <a:xfrm>
            <a:off x="8001000" y="6327720"/>
            <a:ext cx="3062880" cy="319680"/>
          </a:xfrm>
          <a:prstGeom prst="roundRect">
            <a:avLst>
              <a:gd name="adj" fmla="val 48571"/>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55" name="txt667"/>
          <p:cNvSpPr/>
          <p:nvPr/>
        </p:nvSpPr>
        <p:spPr>
          <a:xfrm>
            <a:off x="8001000" y="632772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100" strike="noStrike" u="none">
                <a:solidFill>
                  <a:schemeClr val="lt2"/>
                </a:solidFill>
                <a:effectLst/>
                <a:uFillTx/>
                <a:latin typeface="Calibri"/>
              </a:rPr>
              <a:t>Presenta · </a:t>
            </a:r>
            <a:r>
              <a:rPr b="1" lang="en-US" sz="1100" strike="noStrike" u="none">
                <a:solidFill>
                  <a:schemeClr val="accent1"/>
                </a:solidFill>
                <a:effectLst/>
                <a:uFillTx/>
                <a:latin typeface="Calibri"/>
              </a:rPr>
              <a:t>David Molina</a:t>
            </a:r>
            <a:endParaRPr b="0" lang="es-ES" sz="1100" strike="noStrike" u="none">
              <a:solidFill>
                <a:srgbClr val="ffffff"/>
              </a:solidFill>
              <a:effectLst/>
              <a:uFillTx/>
              <a:latin typeface="Arial"/>
            </a:endParaRPr>
          </a:p>
        </p:txBody>
      </p:sp>
      <p:sp>
        <p:nvSpPr>
          <p:cNvPr id="756" name="card668"/>
          <p:cNvSpPr/>
          <p:nvPr/>
        </p:nvSpPr>
        <p:spPr>
          <a:xfrm>
            <a:off x="548640" y="1371600"/>
            <a:ext cx="5486040" cy="1737000"/>
          </a:xfrm>
          <a:prstGeom prst="roundRect">
            <a:avLst>
              <a:gd name="adj" fmla="val 6316"/>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57" name="badge669"/>
          <p:cNvSpPr/>
          <p:nvPr/>
        </p:nvSpPr>
        <p:spPr>
          <a:xfrm>
            <a:off x="822960" y="1645920"/>
            <a:ext cx="456840" cy="383760"/>
          </a:xfrm>
          <a:prstGeom prst="roundRect">
            <a:avLst>
              <a:gd name="adj" fmla="val 19048"/>
            </a:avLst>
          </a:prstGeom>
          <a:solidFill>
            <a:schemeClr val="accent1"/>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58" name="txt670"/>
          <p:cNvSpPr/>
          <p:nvPr/>
        </p:nvSpPr>
        <p:spPr>
          <a:xfrm>
            <a:off x="822960" y="1645920"/>
            <a:ext cx="45684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dk1"/>
                </a:solidFill>
                <a:effectLst/>
                <a:uFillTx/>
                <a:latin typeface="Calibri"/>
              </a:rPr>
              <a:t>1</a:t>
            </a:r>
            <a:endParaRPr b="0" lang="es-ES" sz="1400" strike="noStrike" u="none">
              <a:solidFill>
                <a:srgbClr val="ffffff"/>
              </a:solidFill>
              <a:effectLst/>
              <a:uFillTx/>
              <a:latin typeface="Arial"/>
            </a:endParaRPr>
          </a:p>
        </p:txBody>
      </p:sp>
      <p:sp>
        <p:nvSpPr>
          <p:cNvPr id="759" name="txt671"/>
          <p:cNvSpPr/>
          <p:nvPr/>
        </p:nvSpPr>
        <p:spPr>
          <a:xfrm>
            <a:off x="1463040" y="1645920"/>
            <a:ext cx="43887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chemeClr val="lt1"/>
                </a:solidFill>
                <a:effectLst/>
                <a:uFillTx/>
                <a:latin typeface="Calibri"/>
              </a:rPr>
              <a:t>Mismo resultado, procesos distintos</a:t>
            </a:r>
            <a:endParaRPr b="0" lang="es-ES" sz="1800" strike="noStrike" u="none">
              <a:solidFill>
                <a:srgbClr val="ffffff"/>
              </a:solidFill>
              <a:effectLst/>
              <a:uFillTx/>
              <a:latin typeface="Arial"/>
            </a:endParaRPr>
          </a:p>
        </p:txBody>
      </p:sp>
      <p:sp>
        <p:nvSpPr>
          <p:cNvPr id="760" name="txt672"/>
          <p:cNvSpPr/>
          <p:nvPr/>
        </p:nvSpPr>
        <p:spPr>
          <a:xfrm>
            <a:off x="1463040" y="2148840"/>
            <a:ext cx="4343040" cy="868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chemeClr val="lt2"/>
                </a:solidFill>
                <a:effectLst/>
                <a:uFillTx/>
                <a:latin typeface="Calibri"/>
              </a:rPr>
              <a:t>Las dos apps cumplen los mismos escenarios de aceptación; lo que cambia es cómo llegamos a ellos.</a:t>
            </a:r>
            <a:endParaRPr b="0" lang="es-ES" sz="1400" strike="noStrike" u="none">
              <a:solidFill>
                <a:srgbClr val="ffffff"/>
              </a:solidFill>
              <a:effectLst/>
              <a:uFillTx/>
              <a:latin typeface="Arial"/>
            </a:endParaRPr>
          </a:p>
        </p:txBody>
      </p:sp>
      <p:sp>
        <p:nvSpPr>
          <p:cNvPr id="761" name="card673"/>
          <p:cNvSpPr/>
          <p:nvPr/>
        </p:nvSpPr>
        <p:spPr>
          <a:xfrm>
            <a:off x="6172200" y="1371600"/>
            <a:ext cx="5486040" cy="1737000"/>
          </a:xfrm>
          <a:prstGeom prst="roundRect">
            <a:avLst>
              <a:gd name="adj" fmla="val 6316"/>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62" name="badge674"/>
          <p:cNvSpPr/>
          <p:nvPr/>
        </p:nvSpPr>
        <p:spPr>
          <a:xfrm>
            <a:off x="6446520" y="1645920"/>
            <a:ext cx="456840" cy="383760"/>
          </a:xfrm>
          <a:prstGeom prst="roundRect">
            <a:avLst>
              <a:gd name="adj" fmla="val 19048"/>
            </a:avLst>
          </a:prstGeom>
          <a:solidFill>
            <a:schemeClr val="accent1"/>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63" name="txt675"/>
          <p:cNvSpPr/>
          <p:nvPr/>
        </p:nvSpPr>
        <p:spPr>
          <a:xfrm>
            <a:off x="6446520" y="1645920"/>
            <a:ext cx="45684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dk1"/>
                </a:solidFill>
                <a:effectLst/>
                <a:uFillTx/>
                <a:latin typeface="Calibri"/>
              </a:rPr>
              <a:t>2</a:t>
            </a:r>
            <a:endParaRPr b="0" lang="es-ES" sz="1400" strike="noStrike" u="none">
              <a:solidFill>
                <a:srgbClr val="ffffff"/>
              </a:solidFill>
              <a:effectLst/>
              <a:uFillTx/>
              <a:latin typeface="Arial"/>
            </a:endParaRPr>
          </a:p>
        </p:txBody>
      </p:sp>
      <p:sp>
        <p:nvSpPr>
          <p:cNvPr id="764" name="txt676"/>
          <p:cNvSpPr/>
          <p:nvPr/>
        </p:nvSpPr>
        <p:spPr>
          <a:xfrm>
            <a:off x="7086600" y="1645920"/>
            <a:ext cx="43887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chemeClr val="lt1"/>
                </a:solidFill>
                <a:effectLst/>
                <a:uFillTx/>
                <a:latin typeface="Calibri"/>
              </a:rPr>
              <a:t>La IA acelera, pero no se revisa sola</a:t>
            </a:r>
            <a:endParaRPr b="0" lang="es-ES" sz="1800" strike="noStrike" u="none">
              <a:solidFill>
                <a:srgbClr val="ffffff"/>
              </a:solidFill>
              <a:effectLst/>
              <a:uFillTx/>
              <a:latin typeface="Arial"/>
            </a:endParaRPr>
          </a:p>
        </p:txBody>
      </p:sp>
      <p:sp>
        <p:nvSpPr>
          <p:cNvPr id="765" name="txt677"/>
          <p:cNvSpPr/>
          <p:nvPr/>
        </p:nvSpPr>
        <p:spPr>
          <a:xfrm>
            <a:off x="7086600" y="2148840"/>
            <a:ext cx="4343040" cy="868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chemeClr val="lt2"/>
                </a:solidFill>
                <a:effectLst/>
                <a:uFillTx/>
                <a:latin typeface="Calibri"/>
              </a:rPr>
              <a:t>Escribió el código en minutos, pero sus fallos solo aparecieron al ejecutar y desplegar.</a:t>
            </a:r>
            <a:endParaRPr b="0" lang="es-ES" sz="1400" strike="noStrike" u="none">
              <a:solidFill>
                <a:srgbClr val="ffffff"/>
              </a:solidFill>
              <a:effectLst/>
              <a:uFillTx/>
              <a:latin typeface="Arial"/>
            </a:endParaRPr>
          </a:p>
        </p:txBody>
      </p:sp>
      <p:sp>
        <p:nvSpPr>
          <p:cNvPr id="766" name="card678"/>
          <p:cNvSpPr/>
          <p:nvPr/>
        </p:nvSpPr>
        <p:spPr>
          <a:xfrm>
            <a:off x="548640" y="3246120"/>
            <a:ext cx="5486040" cy="1737000"/>
          </a:xfrm>
          <a:prstGeom prst="roundRect">
            <a:avLst>
              <a:gd name="adj" fmla="val 6316"/>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67" name="badge679"/>
          <p:cNvSpPr/>
          <p:nvPr/>
        </p:nvSpPr>
        <p:spPr>
          <a:xfrm>
            <a:off x="822960" y="3520440"/>
            <a:ext cx="456840" cy="383760"/>
          </a:xfrm>
          <a:prstGeom prst="roundRect">
            <a:avLst>
              <a:gd name="adj" fmla="val 19048"/>
            </a:avLst>
          </a:prstGeom>
          <a:solidFill>
            <a:schemeClr val="accent1"/>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68" name="txt680"/>
          <p:cNvSpPr/>
          <p:nvPr/>
        </p:nvSpPr>
        <p:spPr>
          <a:xfrm>
            <a:off x="822960" y="3520440"/>
            <a:ext cx="45684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dk1"/>
                </a:solidFill>
                <a:effectLst/>
                <a:uFillTx/>
                <a:latin typeface="Calibri"/>
              </a:rPr>
              <a:t>3</a:t>
            </a:r>
            <a:endParaRPr b="0" lang="es-ES" sz="1400" strike="noStrike" u="none">
              <a:solidFill>
                <a:srgbClr val="ffffff"/>
              </a:solidFill>
              <a:effectLst/>
              <a:uFillTx/>
              <a:latin typeface="Arial"/>
            </a:endParaRPr>
          </a:p>
        </p:txBody>
      </p:sp>
      <p:sp>
        <p:nvSpPr>
          <p:cNvPr id="769" name="txt681"/>
          <p:cNvSpPr/>
          <p:nvPr/>
        </p:nvSpPr>
        <p:spPr>
          <a:xfrm>
            <a:off x="1463040" y="3520440"/>
            <a:ext cx="43887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chemeClr val="lt1"/>
                </a:solidFill>
                <a:effectLst/>
                <a:uFillTx/>
                <a:latin typeface="Calibri"/>
              </a:rPr>
              <a:t>Especificar primero obliga a decidir</a:t>
            </a:r>
            <a:endParaRPr b="0" lang="es-ES" sz="1800" strike="noStrike" u="none">
              <a:solidFill>
                <a:srgbClr val="ffffff"/>
              </a:solidFill>
              <a:effectLst/>
              <a:uFillTx/>
              <a:latin typeface="Arial"/>
            </a:endParaRPr>
          </a:p>
        </p:txBody>
      </p:sp>
      <p:sp>
        <p:nvSpPr>
          <p:cNvPr id="770" name="txt682"/>
          <p:cNvSpPr/>
          <p:nvPr/>
        </p:nvSpPr>
        <p:spPr>
          <a:xfrm>
            <a:off x="1463040" y="4023360"/>
            <a:ext cx="4343040" cy="868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chemeClr val="lt2"/>
                </a:solidFill>
                <a:effectLst/>
                <a:uFillTx/>
                <a:latin typeface="Calibri"/>
              </a:rPr>
              <a:t>Contrato, 401 y límites quedaron fijados antes de escribir una línea de código.</a:t>
            </a:r>
            <a:endParaRPr b="0" lang="es-ES" sz="1400" strike="noStrike" u="none">
              <a:solidFill>
                <a:srgbClr val="ffffff"/>
              </a:solidFill>
              <a:effectLst/>
              <a:uFillTx/>
              <a:latin typeface="Arial"/>
            </a:endParaRPr>
          </a:p>
        </p:txBody>
      </p:sp>
      <p:sp>
        <p:nvSpPr>
          <p:cNvPr id="771" name="card683"/>
          <p:cNvSpPr/>
          <p:nvPr/>
        </p:nvSpPr>
        <p:spPr>
          <a:xfrm>
            <a:off x="6172200" y="3246120"/>
            <a:ext cx="5486040" cy="1737000"/>
          </a:xfrm>
          <a:prstGeom prst="roundRect">
            <a:avLst>
              <a:gd name="adj" fmla="val 6316"/>
            </a:avLst>
          </a:prstGeom>
          <a:solidFill>
            <a:schemeClr val="tx2"/>
          </a:solidFill>
          <a:ln w="9525">
            <a:solidFill>
              <a:schemeClr val="lt2">
                <a:alpha val="28000"/>
              </a:schemeClr>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72" name="badge684"/>
          <p:cNvSpPr/>
          <p:nvPr/>
        </p:nvSpPr>
        <p:spPr>
          <a:xfrm>
            <a:off x="6446520" y="3520440"/>
            <a:ext cx="456840" cy="383760"/>
          </a:xfrm>
          <a:prstGeom prst="roundRect">
            <a:avLst>
              <a:gd name="adj" fmla="val 19048"/>
            </a:avLst>
          </a:prstGeom>
          <a:solidFill>
            <a:schemeClr val="accent1"/>
          </a:solidFill>
          <a:ln w="0">
            <a:noFill/>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sp>
        <p:nvSpPr>
          <p:cNvPr id="773" name="txt685"/>
          <p:cNvSpPr/>
          <p:nvPr/>
        </p:nvSpPr>
        <p:spPr>
          <a:xfrm>
            <a:off x="6446520" y="3520440"/>
            <a:ext cx="456840" cy="38376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400" strike="noStrike" u="none">
                <a:solidFill>
                  <a:schemeClr val="dk1"/>
                </a:solidFill>
                <a:effectLst/>
                <a:uFillTx/>
                <a:latin typeface="Calibri"/>
              </a:rPr>
              <a:t>4</a:t>
            </a:r>
            <a:endParaRPr b="0" lang="es-ES" sz="1400" strike="noStrike" u="none">
              <a:solidFill>
                <a:srgbClr val="ffffff"/>
              </a:solidFill>
              <a:effectLst/>
              <a:uFillTx/>
              <a:latin typeface="Arial"/>
            </a:endParaRPr>
          </a:p>
        </p:txBody>
      </p:sp>
      <p:sp>
        <p:nvSpPr>
          <p:cNvPr id="774" name="txt686"/>
          <p:cNvSpPr/>
          <p:nvPr/>
        </p:nvSpPr>
        <p:spPr>
          <a:xfrm>
            <a:off x="7086600" y="3520440"/>
            <a:ext cx="438876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chemeClr val="lt1"/>
                </a:solidFill>
                <a:effectLst/>
                <a:uFillTx/>
                <a:latin typeface="Calibri"/>
              </a:rPr>
              <a:t>Seguridad por diseño</a:t>
            </a:r>
            <a:endParaRPr b="0" lang="es-ES" sz="1800" strike="noStrike" u="none">
              <a:solidFill>
                <a:srgbClr val="ffffff"/>
              </a:solidFill>
              <a:effectLst/>
              <a:uFillTx/>
              <a:latin typeface="Arial"/>
            </a:endParaRPr>
          </a:p>
        </p:txBody>
      </p:sp>
      <p:sp>
        <p:nvSpPr>
          <p:cNvPr id="775" name="txt687"/>
          <p:cNvSpPr/>
          <p:nvPr/>
        </p:nvSpPr>
        <p:spPr>
          <a:xfrm>
            <a:off x="7086600" y="4023360"/>
            <a:ext cx="4343040" cy="8683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chemeClr val="lt2"/>
                </a:solidFill>
                <a:effectLst/>
                <a:uFillTx/>
                <a:latin typeface="Calibri"/>
              </a:rPr>
              <a:t>La clave solo en el backend, el token antes que la IA y ningún dato guardado.</a:t>
            </a:r>
            <a:endParaRPr b="0" lang="es-ES" sz="1400" strike="noStrike" u="none">
              <a:solidFill>
                <a:srgbClr val="ffffff"/>
              </a:solidFill>
              <a:effectLst/>
              <a:uFillTx/>
              <a:latin typeface="Arial"/>
            </a:endParaRPr>
          </a:p>
        </p:txBody>
      </p:sp>
      <p:sp>
        <p:nvSpPr>
          <p:cNvPr id="776" name="cambiar688"/>
          <p:cNvSpPr/>
          <p:nvPr/>
        </p:nvSpPr>
        <p:spPr>
          <a:xfrm>
            <a:off x="548640" y="5166360"/>
            <a:ext cx="11109600" cy="365400"/>
          </a:xfrm>
          <a:prstGeom prst="roundRect">
            <a:avLst>
              <a:gd name="adj" fmla="val 20000"/>
            </a:avLst>
          </a:prstGeom>
          <a:solidFill>
            <a:schemeClr val="accent4"/>
          </a:solidFill>
          <a:ln w="0">
            <a:noFill/>
          </a:ln>
        </p:spPr>
        <p:style>
          <a:lnRef idx="0"/>
          <a:fillRef idx="0"/>
          <a:effectRef idx="0"/>
          <a:fontRef idx="minor"/>
        </p:style>
        <p:txBody>
          <a:bodyPr lIns="90000" rIns="90000" tIns="45000" bIns="45000" anchor="t">
            <a:noAutofit/>
          </a:bodyPr>
          <a:p>
            <a:endParaRPr b="0" lang="es-ES" sz="1800" strike="noStrike" u="none">
              <a:solidFill>
                <a:srgbClr val="000000"/>
              </a:solidFill>
              <a:effectLst/>
              <a:uFillTx/>
              <a:latin typeface="Arial"/>
            </a:endParaRPr>
          </a:p>
        </p:txBody>
      </p:sp>
      <p:sp>
        <p:nvSpPr>
          <p:cNvPr id="777" name="txt689"/>
          <p:cNvSpPr/>
          <p:nvPr/>
        </p:nvSpPr>
        <p:spPr>
          <a:xfrm>
            <a:off x="685800" y="5166360"/>
            <a:ext cx="108352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trike="noStrike" u="none">
                <a:solidFill>
                  <a:schemeClr val="dk1"/>
                </a:solidFill>
                <a:effectLst/>
                <a:uFillTx/>
                <a:latin typeface="Calibri"/>
              </a:rPr>
              <a:t>⚠ CAMBIAR  </a:t>
            </a:r>
            <a:r>
              <a:rPr b="0" lang="en-US" sz="1200" strike="noStrike" u="none">
                <a:solidFill>
                  <a:schemeClr val="dk1"/>
                </a:solidFill>
                <a:effectLst/>
                <a:uFillTx/>
                <a:latin typeface="Calibri"/>
              </a:rPr>
              <a:t>ajustar con las conclusiones finales de comparativa.md cuando estén cerradas.</a:t>
            </a:r>
            <a:endParaRPr b="0" lang="es-ES" sz="1200" strike="noStrike" u="none">
              <a:solidFill>
                <a:srgbClr val="ffffff"/>
              </a:solidFill>
              <a:effectLst/>
              <a:uFillTx/>
              <a:latin typeface="Arial"/>
            </a:endParaRPr>
          </a:p>
        </p:txBody>
      </p:sp>
      <p:sp>
        <p:nvSpPr>
          <p:cNvPr id="778" name="card690"/>
          <p:cNvSpPr/>
          <p:nvPr/>
        </p:nvSpPr>
        <p:spPr>
          <a:xfrm>
            <a:off x="548640" y="5623560"/>
            <a:ext cx="11109600" cy="548280"/>
          </a:xfrm>
          <a:prstGeom prst="roundRect">
            <a:avLst>
              <a:gd name="adj" fmla="val 20000"/>
            </a:avLst>
          </a:prstGeom>
          <a:solidFill>
            <a:schemeClr val="tx2"/>
          </a:solidFill>
          <a:ln w="9525">
            <a:solidFill>
              <a:srgbClr val="e86cca"/>
            </a:solidFill>
            <a:round/>
          </a:ln>
        </p:spPr>
        <p:style>
          <a:lnRef idx="0"/>
          <a:fillRef idx="0"/>
          <a:effectRef idx="0"/>
          <a:fontRef idx="minor"/>
        </p:style>
        <p:txBody>
          <a:bodyPr lIns="90000" rIns="90000" tIns="45000" bIns="45000" anchor="t">
            <a:noAutofit/>
          </a:bodyPr>
          <a:p>
            <a:endParaRPr b="0" lang="es-ES" sz="1800" strike="noStrike" u="none">
              <a:solidFill>
                <a:srgbClr val="ffffff"/>
              </a:solidFill>
              <a:effectLst/>
              <a:uFillTx/>
              <a:latin typeface="Arial"/>
            </a:endParaRPr>
          </a:p>
        </p:txBody>
      </p:sp>
      <p:pic>
        <p:nvPicPr>
          <p:cNvPr id="779" name="logoCierre" descr="Logo de Musicfy"/>
          <p:cNvPicPr/>
          <p:nvPr/>
        </p:nvPicPr>
        <p:blipFill>
          <a:blip r:embed="rId1"/>
          <a:stretch/>
        </p:blipFill>
        <p:spPr>
          <a:xfrm>
            <a:off x="777240" y="5669280"/>
            <a:ext cx="1206720" cy="456840"/>
          </a:xfrm>
          <a:prstGeom prst="rect">
            <a:avLst/>
          </a:prstGeom>
          <a:noFill/>
          <a:ln w="0">
            <a:noFill/>
          </a:ln>
        </p:spPr>
      </p:pic>
      <p:sp>
        <p:nvSpPr>
          <p:cNvPr id="780" name="txt691"/>
          <p:cNvSpPr/>
          <p:nvPr/>
        </p:nvSpPr>
        <p:spPr>
          <a:xfrm>
            <a:off x="2194560" y="5623560"/>
            <a:ext cx="923508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lang="en-US" sz="1800" strike="noStrike" u="none">
                <a:solidFill>
                  <a:schemeClr val="lt2"/>
                </a:solidFill>
                <a:effectLst/>
                <a:uFillTx/>
                <a:latin typeface="Calibri"/>
              </a:rPr>
              <a:t>tus gustos, tus artistas, una sola pantalla  ·  </a:t>
            </a:r>
            <a:r>
              <a:rPr b="1" lang="en-US" sz="1800" strike="noStrike" u="none">
                <a:solidFill>
                  <a:schemeClr val="accent1"/>
                </a:solidFill>
                <a:effectLst/>
                <a:uFillTx/>
                <a:latin typeface="Calibri"/>
              </a:rPr>
              <a:t>¡Gracias! ¿Preguntas?</a:t>
            </a:r>
            <a:endParaRPr b="0" lang="es-ES" sz="1800" strike="noStrike" u="none">
              <a:solidFill>
                <a:srgbClr val="ffffff"/>
              </a:solidFill>
              <a:effectLst/>
              <a:uFillTx/>
              <a:latin typeface="Arial"/>
            </a:endParaRPr>
          </a:p>
        </p:txBody>
      </p:sp>
      <p:sp>
        <p:nvSpPr>
          <p:cNvPr id="781" name="PlaceHolder 3"/>
          <p:cNvSpPr>
            <a:spLocks noGrp="1"/>
          </p:cNvSpPr>
          <p:nvPr>
            <p:ph type="sldNum" idx="27"/>
          </p:nvPr>
        </p:nvSpPr>
        <p:spPr>
          <a:xfrm>
            <a:off x="11201400" y="6336720"/>
            <a:ext cx="456840" cy="301320"/>
          </a:xfrm>
          <a:prstGeom prst="rect">
            <a:avLst/>
          </a:prstGeom>
          <a:noFill/>
          <a:ln w="0">
            <a:noFill/>
          </a:ln>
        </p:spPr>
        <p:txBody>
          <a:bodyPr lIns="90000" rIns="90000" tIns="45000" bIns="45000" anchor="t">
            <a:noAutofit/>
          </a:bodyPr>
          <a:lstStyle>
            <a:lvl1pPr indent="0" algn="r" defTabSz="914400">
              <a:lnSpc>
                <a:spcPct val="100000"/>
              </a:lnSpc>
              <a:buNone/>
              <a:defRPr b="0" lang="en-US" sz="1000" strike="noStrike" u="none">
                <a:solidFill>
                  <a:schemeClr val="lt2"/>
                </a:solidFill>
                <a:effectLst/>
                <a:uFillTx/>
                <a:latin typeface="Calibri"/>
              </a:defRPr>
            </a:lvl1pPr>
          </a:lstStyle>
          <a:p>
            <a:pPr indent="0" algn="r" defTabSz="914400">
              <a:lnSpc>
                <a:spcPct val="100000"/>
              </a:lnSpc>
              <a:buNone/>
            </a:pPr>
            <a:fld id="{15B6C086-6E6B-4600-AE98-B3D0552F48F9}" type="slidenum">
              <a:rPr b="0" lang="en-US" sz="1000" strike="noStrike" u="none">
                <a:solidFill>
                  <a:schemeClr val="lt2"/>
                </a:solidFill>
                <a:effectLst/>
                <a:uFillTx/>
                <a:latin typeface="Calibri"/>
              </a:rPr>
              <a:t>&lt;número&gt;</a:t>
            </a:fld>
            <a:endParaRPr b="0" lang="es-ES" sz="1000" strike="noStrike" u="non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Musicfy">
  <a:themeElements>
    <a:clrScheme name="Musicfy">
      <a:dk1>
        <a:srgbClr val="0b0b12"/>
      </a:dk1>
      <a:lt1>
        <a:srgbClr val="ffffff"/>
      </a:lt1>
      <a:dk2>
        <a:srgbClr val="171725"/>
      </a:dk2>
      <a:lt2>
        <a:srgbClr val="a9a9bf"/>
      </a:lt2>
      <a:accent1>
        <a:srgbClr val="e86cca"/>
      </a:accent1>
      <a:accent2>
        <a:srgbClr val="9b8cff"/>
      </a:accent2>
      <a:accent3>
        <a:srgbClr val="4fd1e8"/>
      </a:accent3>
      <a:accent4>
        <a:srgbClr val="f5b84b"/>
      </a:accent4>
      <a:accent5>
        <a:srgbClr val="f2667a"/>
      </a:accent5>
      <a:accent6>
        <a:srgbClr val="4ade80"/>
      </a:accent6>
      <a:hlink>
        <a:srgbClr val="e86cca"/>
      </a:hlink>
      <a:folHlink>
        <a:srgbClr val="9b8cff"/>
      </a:folHlink>
    </a:clrScheme>
    <a:fontScheme name="Musicfy">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9</TotalTime>
  <Application>LibreOffice/25.2.7.2$Windows_X86_64 LibreOffice_project/5cbfd1ab6520636bb5f7b99185aa69bd7456825d</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2026-10-28T16:48:28Z</dcterms:created>
  <dc:creator>Mario Luna Lopez, Jose Antonio Nieto Perez, David Molina Castillo</dc:creator>
  <dc:description/>
  <dc:language>es-ES</dc:language>
  <cp:lastModifiedBy/>
  <dcterms:modified xsi:type="dcterms:W3CDTF">2026-10-28T19:39:51Z</dcterms:modified>
  <cp:revision>2</cp:revision>
  <dc:subject>PptxGenJS Presentation</dc:subject>
  <dc:title>Musicfy · Presentación UD1</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24</vt:i4>
  </property>
  <property fmtid="{D5CDD505-2E9C-101B-9397-08002B2CF9AE}" pid="3" name="PresentationFormat">
    <vt:lpwstr>On-screen Show (16:9)</vt:lpwstr>
  </property>
  <property fmtid="{D5CDD505-2E9C-101B-9397-08002B2CF9AE}" pid="4" name="Slides">
    <vt:i4>24</vt:i4>
  </property>
</Properties>
</file>